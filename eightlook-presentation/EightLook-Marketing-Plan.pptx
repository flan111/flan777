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charts/chart1.xml" ContentType="application/vnd.openxmlformats-officedocument.drawingml.chart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</p:sldIdLst>
  <p:notesMasterIdLst>
    <p:notesMasterId r:id="rId6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notesMaster" Target="notesMasters/notesMaster1.xml"/><Relationship Id="rId70" Type="http://schemas.openxmlformats.org/officeDocument/2006/relationships/presProps" Target="presProps.xml"/><Relationship Id="rId71" Type="http://schemas.openxmlformats.org/officeDocument/2006/relationships/viewProps" Target="viewProps.xml"/><Relationship Id="rId72" Type="http://schemas.openxmlformats.org/officeDocument/2006/relationships/theme" Target="theme/theme1.xml"/><Relationship Id="rId7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التوزيع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43644B"/>
              </a:solidFill>
              <a:ln w="381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FF8D26"/>
              </a:solidFill>
              <a:ln w="381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F6C342"/>
              </a:solidFill>
              <a:ln w="381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A1B2A5"/>
              </a:solidFill>
              <a:ln w="381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4"/>
            <c:bubble3D val="0"/>
            <c:spPr>
              <a:solidFill>
                <a:srgbClr val="1E2A36"/>
              </a:solidFill>
              <a:ln w="381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تعليمي وتوعوي</c:v>
                </c:pt>
                <c:pt idx="1">
                  <c:v>حلول ومشكلات العملاء</c:v>
                </c:pt>
                <c:pt idx="2">
                  <c:v>بناء ثقة ومشاريع وتجارب</c:v>
                </c:pt>
                <c:pt idx="3">
                  <c:v>منتجات وباقات ومبيعات</c:v>
                </c:pt>
                <c:pt idx="4">
                  <c:v>محتوى تفاعلي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30</c:v>
                </c:pt>
                <c:pt idx="1">
                  <c:v>25</c:v>
                </c:pt>
                <c:pt idx="2">
                  <c:v>20</c:v>
                </c:pt>
                <c:pt idx="3">
                  <c:v>20</c:v>
                </c:pt>
                <c:pt idx="4">
                  <c:v>5</c:v>
                </c:pt>
              </c:numCache>
            </c:numRef>
          </c:val>
        </c:ser>
        <c:firstSliceAng val="0"/>
        <c:holeSize val="62"/>
      </c:doughnutChart>
      <c:spPr>
        <a:solidFill>
          <a:srgbClr val="FFFFFF">
            <a:alpha val="0"/>
          </a:srgbClr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jpe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jpe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image" Target="../media/image-1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image" Target="../media/image-1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image" Target="../media/image-2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jpe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image" Target="../media/image-2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jpe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image" Target="../media/image-24-6.png"/><Relationship Id="rId7" Type="http://schemas.openxmlformats.org/officeDocument/2006/relationships/image" Target="../media/image-24-7.png"/><Relationship Id="rId8" Type="http://schemas.openxmlformats.org/officeDocument/2006/relationships/image" Target="../media/image-2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jpe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image" Target="../media/image-25-6.png"/><Relationship Id="rId7" Type="http://schemas.openxmlformats.org/officeDocument/2006/relationships/image" Target="../media/image-2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image" Target="../media/image-27-5.png"/><Relationship Id="rId6" Type="http://schemas.openxmlformats.org/officeDocument/2006/relationships/image" Target="../media/image-27-6.png"/><Relationship Id="rId7" Type="http://schemas.openxmlformats.org/officeDocument/2006/relationships/image" Target="../media/image-27-7.png"/><Relationship Id="rId8" Type="http://schemas.openxmlformats.org/officeDocument/2006/relationships/image" Target="../media/image-27-8.png"/><Relationship Id="rId9" Type="http://schemas.openxmlformats.org/officeDocument/2006/relationships/image" Target="../media/image-27-9.png"/><Relationship Id="rId10" Type="http://schemas.openxmlformats.org/officeDocument/2006/relationships/image" Target="../media/image-27-10.png"/><Relationship Id="rId11" Type="http://schemas.openxmlformats.org/officeDocument/2006/relationships/image" Target="../media/image-27-11.png"/><Relationship Id="rId12" Type="http://schemas.openxmlformats.org/officeDocument/2006/relationships/image" Target="../media/image-27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image" Target="../media/image-28-5.png"/><Relationship Id="rId6" Type="http://schemas.openxmlformats.org/officeDocument/2006/relationships/image" Target="../media/image-28-6.png"/><Relationship Id="rId7" Type="http://schemas.openxmlformats.org/officeDocument/2006/relationships/image" Target="../media/image-28-7.png"/><Relationship Id="rId8" Type="http://schemas.openxmlformats.org/officeDocument/2006/relationships/image" Target="../media/image-28-8.png"/><Relationship Id="rId9" Type="http://schemas.openxmlformats.org/officeDocument/2006/relationships/image" Target="../media/image-28-9.png"/><Relationship Id="rId10" Type="http://schemas.openxmlformats.org/officeDocument/2006/relationships/image" Target="../media/image-28-10.png"/><Relationship Id="rId11" Type="http://schemas.openxmlformats.org/officeDocument/2006/relationships/image" Target="../media/image-28-11.png"/><Relationship Id="rId12" Type="http://schemas.openxmlformats.org/officeDocument/2006/relationships/image" Target="../media/image-28-12.png"/><Relationship Id="rId13" Type="http://schemas.openxmlformats.org/officeDocument/2006/relationships/image" Target="../media/image-28-13.png"/><Relationship Id="rId14" Type="http://schemas.openxmlformats.org/officeDocument/2006/relationships/image" Target="../media/image-28-14.png"/><Relationship Id="rId15" Type="http://schemas.openxmlformats.org/officeDocument/2006/relationships/image" Target="../media/image-28-15.png"/><Relationship Id="rId16" Type="http://schemas.openxmlformats.org/officeDocument/2006/relationships/image" Target="../media/image-28-16.png"/><Relationship Id="rId17" Type="http://schemas.openxmlformats.org/officeDocument/2006/relationships/image" Target="../media/image-28-17.png"/><Relationship Id="rId18" Type="http://schemas.openxmlformats.org/officeDocument/2006/relationships/image" Target="../media/image-28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image" Target="../media/image-29-4.png"/><Relationship Id="rId5" Type="http://schemas.openxmlformats.org/officeDocument/2006/relationships/image" Target="../media/image-29-5.png"/><Relationship Id="rId6" Type="http://schemas.openxmlformats.org/officeDocument/2006/relationships/image" Target="../media/image-29-6.png"/><Relationship Id="rId7" Type="http://schemas.openxmlformats.org/officeDocument/2006/relationships/image" Target="../media/image-29-7.png"/><Relationship Id="rId8" Type="http://schemas.openxmlformats.org/officeDocument/2006/relationships/image" Target="../media/image-29-8.png"/><Relationship Id="rId9" Type="http://schemas.openxmlformats.org/officeDocument/2006/relationships/image" Target="../media/image-29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image" Target="../media/image-30-5.png"/><Relationship Id="rId6" Type="http://schemas.openxmlformats.org/officeDocument/2006/relationships/image" Target="../media/image-30-6.png"/><Relationship Id="rId7" Type="http://schemas.openxmlformats.org/officeDocument/2006/relationships/image" Target="../media/image-30-7.png"/><Relationship Id="rId8" Type="http://schemas.openxmlformats.org/officeDocument/2006/relationships/image" Target="../media/image-30-8.png"/><Relationship Id="rId9" Type="http://schemas.openxmlformats.org/officeDocument/2006/relationships/image" Target="../media/image-30-9.png"/><Relationship Id="rId10" Type="http://schemas.openxmlformats.org/officeDocument/2006/relationships/image" Target="../media/image-30-10.png"/><Relationship Id="rId11" Type="http://schemas.openxmlformats.org/officeDocument/2006/relationships/image" Target="../media/image-30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jpe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image" Target="../media/image-31-4.png"/><Relationship Id="rId5" Type="http://schemas.openxmlformats.org/officeDocument/2006/relationships/image" Target="../media/image-31-5.png"/><Relationship Id="rId6" Type="http://schemas.openxmlformats.org/officeDocument/2006/relationships/image" Target="../media/image-31-6.png"/><Relationship Id="rId7" Type="http://schemas.openxmlformats.org/officeDocument/2006/relationships/image" Target="../media/image-31-7.png"/><Relationship Id="rId8" Type="http://schemas.openxmlformats.org/officeDocument/2006/relationships/image" Target="../media/image-31-8.png"/><Relationship Id="rId9" Type="http://schemas.openxmlformats.org/officeDocument/2006/relationships/image" Target="../media/image-31-9.png"/><Relationship Id="rId10" Type="http://schemas.openxmlformats.org/officeDocument/2006/relationships/image" Target="../media/image-31-10.png"/><Relationship Id="rId11" Type="http://schemas.openxmlformats.org/officeDocument/2006/relationships/image" Target="../media/image-31-11.png"/><Relationship Id="rId12" Type="http://schemas.openxmlformats.org/officeDocument/2006/relationships/image" Target="../media/image-31-12.png"/><Relationship Id="rId13" Type="http://schemas.openxmlformats.org/officeDocument/2006/relationships/image" Target="../media/image-31-13.png"/><Relationship Id="rId14" Type="http://schemas.openxmlformats.org/officeDocument/2006/relationships/image" Target="../media/image-31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jpe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image" Target="../media/image-32-4.png"/><Relationship Id="rId5" Type="http://schemas.openxmlformats.org/officeDocument/2006/relationships/image" Target="../media/image-32-5.png"/><Relationship Id="rId6" Type="http://schemas.openxmlformats.org/officeDocument/2006/relationships/image" Target="../media/image-32-6.png"/><Relationship Id="rId7" Type="http://schemas.openxmlformats.org/officeDocument/2006/relationships/image" Target="../media/image-3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image" Target="../media/image-33-4.png"/><Relationship Id="rId5" Type="http://schemas.openxmlformats.org/officeDocument/2006/relationships/image" Target="../media/image-3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image" Target="../media/image-34-3.png"/><Relationship Id="rId4" Type="http://schemas.openxmlformats.org/officeDocument/2006/relationships/image" Target="../media/image-34-4.png"/><Relationship Id="rId5" Type="http://schemas.openxmlformats.org/officeDocument/2006/relationships/image" Target="../media/image-34-5.png"/><Relationship Id="rId6" Type="http://schemas.openxmlformats.org/officeDocument/2006/relationships/image" Target="../media/image-34-6.png"/><Relationship Id="rId7" Type="http://schemas.openxmlformats.org/officeDocument/2006/relationships/image" Target="../media/image-34-7.png"/><Relationship Id="rId8" Type="http://schemas.openxmlformats.org/officeDocument/2006/relationships/image" Target="../media/image-34-8.png"/><Relationship Id="rId9" Type="http://schemas.openxmlformats.org/officeDocument/2006/relationships/image" Target="../media/image-3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image" Target="../media/image-35-3.png"/><Relationship Id="rId4" Type="http://schemas.openxmlformats.org/officeDocument/2006/relationships/image" Target="../media/image-35-4.png"/><Relationship Id="rId5" Type="http://schemas.openxmlformats.org/officeDocument/2006/relationships/image" Target="../media/image-35-5.png"/><Relationship Id="rId6" Type="http://schemas.openxmlformats.org/officeDocument/2006/relationships/image" Target="../media/image-35-6.png"/><Relationship Id="rId7" Type="http://schemas.openxmlformats.org/officeDocument/2006/relationships/image" Target="../media/image-35-7.png"/><Relationship Id="rId8" Type="http://schemas.openxmlformats.org/officeDocument/2006/relationships/image" Target="../media/image-35-8.png"/><Relationship Id="rId9" Type="http://schemas.openxmlformats.org/officeDocument/2006/relationships/image" Target="../media/image-35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image" Target="../media/image-36-3.png"/><Relationship Id="rId4" Type="http://schemas.openxmlformats.org/officeDocument/2006/relationships/image" Target="../media/image-36-4.png"/><Relationship Id="rId5" Type="http://schemas.openxmlformats.org/officeDocument/2006/relationships/image" Target="../media/image-36-5.png"/><Relationship Id="rId6" Type="http://schemas.openxmlformats.org/officeDocument/2006/relationships/image" Target="../media/image-36-6.png"/><Relationship Id="rId7" Type="http://schemas.openxmlformats.org/officeDocument/2006/relationships/image" Target="../media/image-36-7.png"/><Relationship Id="rId8" Type="http://schemas.openxmlformats.org/officeDocument/2006/relationships/image" Target="../media/image-36-8.png"/><Relationship Id="rId9" Type="http://schemas.openxmlformats.org/officeDocument/2006/relationships/image" Target="../media/image-36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image" Target="../media/image-37-3.png"/><Relationship Id="rId4" Type="http://schemas.openxmlformats.org/officeDocument/2006/relationships/image" Target="../media/image-37-4.png"/><Relationship Id="rId5" Type="http://schemas.openxmlformats.org/officeDocument/2006/relationships/image" Target="../media/image-37-5.png"/><Relationship Id="rId6" Type="http://schemas.openxmlformats.org/officeDocument/2006/relationships/image" Target="../media/image-37-6.png"/><Relationship Id="rId7" Type="http://schemas.openxmlformats.org/officeDocument/2006/relationships/image" Target="../media/image-37-7.png"/><Relationship Id="rId8" Type="http://schemas.openxmlformats.org/officeDocument/2006/relationships/image" Target="../media/image-37-8.png"/><Relationship Id="rId9" Type="http://schemas.openxmlformats.org/officeDocument/2006/relationships/image" Target="../media/image-37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5" Type="http://schemas.openxmlformats.org/officeDocument/2006/relationships/chart" Target="/ppt/charts/chart1.xml"/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image" Target="../media/image-38-3.png"/><Relationship Id="rId4" Type="http://schemas.openxmlformats.org/officeDocument/2006/relationships/image" Target="../media/image-38-4.png"/><Relationship Id="rId6" Type="http://schemas.openxmlformats.org/officeDocument/2006/relationships/image" Target="../media/image-38-5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3" Type="http://schemas.openxmlformats.org/officeDocument/2006/relationships/image" Target="../media/image-39-3.png"/><Relationship Id="rId4" Type="http://schemas.openxmlformats.org/officeDocument/2006/relationships/image" Target="../media/image-39-4.png"/><Relationship Id="rId5" Type="http://schemas.openxmlformats.org/officeDocument/2006/relationships/image" Target="../media/image-39-5.png"/><Relationship Id="rId6" Type="http://schemas.openxmlformats.org/officeDocument/2006/relationships/image" Target="../media/image-39-6.png"/><Relationship Id="rId7" Type="http://schemas.openxmlformats.org/officeDocument/2006/relationships/image" Target="../media/image-39-7.png"/><Relationship Id="rId8" Type="http://schemas.openxmlformats.org/officeDocument/2006/relationships/image" Target="../media/image-39-8.png"/><Relationship Id="rId9" Type="http://schemas.openxmlformats.org/officeDocument/2006/relationships/image" Target="../media/image-39-9.png"/><Relationship Id="rId10" Type="http://schemas.openxmlformats.org/officeDocument/2006/relationships/image" Target="../media/image-39-10.png"/><Relationship Id="rId11" Type="http://schemas.openxmlformats.org/officeDocument/2006/relationships/image" Target="../media/image-39-11.png"/><Relationship Id="rId12" Type="http://schemas.openxmlformats.org/officeDocument/2006/relationships/image" Target="../media/image-39-12.png"/><Relationship Id="rId13" Type="http://schemas.openxmlformats.org/officeDocument/2006/relationships/image" Target="../media/image-39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jpeg"/><Relationship Id="rId2" Type="http://schemas.openxmlformats.org/officeDocument/2006/relationships/image" Target="../media/image-40-2.png"/><Relationship Id="rId3" Type="http://schemas.openxmlformats.org/officeDocument/2006/relationships/image" Target="../media/image-40-3.png"/><Relationship Id="rId4" Type="http://schemas.openxmlformats.org/officeDocument/2006/relationships/image" Target="../media/image-40-4.png"/><Relationship Id="rId5" Type="http://schemas.openxmlformats.org/officeDocument/2006/relationships/image" Target="../media/image-40-5.png"/><Relationship Id="rId6" Type="http://schemas.openxmlformats.org/officeDocument/2006/relationships/image" Target="../media/image-40-6.png"/><Relationship Id="rId7" Type="http://schemas.openxmlformats.org/officeDocument/2006/relationships/image" Target="../media/image-4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png"/><Relationship Id="rId3" Type="http://schemas.openxmlformats.org/officeDocument/2006/relationships/image" Target="../media/image-41-3.png"/><Relationship Id="rId4" Type="http://schemas.openxmlformats.org/officeDocument/2006/relationships/image" Target="../media/image-41-4.png"/><Relationship Id="rId5" Type="http://schemas.openxmlformats.org/officeDocument/2006/relationships/image" Target="../media/image-41-5.png"/><Relationship Id="rId6" Type="http://schemas.openxmlformats.org/officeDocument/2006/relationships/image" Target="../media/image-41-6.png"/><Relationship Id="rId7" Type="http://schemas.openxmlformats.org/officeDocument/2006/relationships/image" Target="../media/image-41-7.png"/><Relationship Id="rId8" Type="http://schemas.openxmlformats.org/officeDocument/2006/relationships/image" Target="../media/image-41-8.png"/><Relationship Id="rId9" Type="http://schemas.openxmlformats.org/officeDocument/2006/relationships/image" Target="../media/image-41-9.png"/><Relationship Id="rId10" Type="http://schemas.openxmlformats.org/officeDocument/2006/relationships/image" Target="../media/image-41-10.png"/><Relationship Id="rId11" Type="http://schemas.openxmlformats.org/officeDocument/2006/relationships/image" Target="../media/image-41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png"/><Relationship Id="rId3" Type="http://schemas.openxmlformats.org/officeDocument/2006/relationships/image" Target="../media/image-42-3.png"/><Relationship Id="rId4" Type="http://schemas.openxmlformats.org/officeDocument/2006/relationships/image" Target="../media/image-42-4.png"/><Relationship Id="rId5" Type="http://schemas.openxmlformats.org/officeDocument/2006/relationships/image" Target="../media/image-42-5.png"/><Relationship Id="rId6" Type="http://schemas.openxmlformats.org/officeDocument/2006/relationships/image" Target="../media/image-42-6.png"/><Relationship Id="rId7" Type="http://schemas.openxmlformats.org/officeDocument/2006/relationships/image" Target="../media/image-42-7.png"/><Relationship Id="rId8" Type="http://schemas.openxmlformats.org/officeDocument/2006/relationships/image" Target="../media/image-42-8.png"/><Relationship Id="rId9" Type="http://schemas.openxmlformats.org/officeDocument/2006/relationships/image" Target="../media/image-42-9.png"/><Relationship Id="rId10" Type="http://schemas.openxmlformats.org/officeDocument/2006/relationships/image" Target="../media/image-42-10.png"/><Relationship Id="rId11" Type="http://schemas.openxmlformats.org/officeDocument/2006/relationships/image" Target="../media/image-42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image" Target="../media/image-43-2.png"/><Relationship Id="rId3" Type="http://schemas.openxmlformats.org/officeDocument/2006/relationships/image" Target="../media/image-43-3.png"/><Relationship Id="rId4" Type="http://schemas.openxmlformats.org/officeDocument/2006/relationships/image" Target="../media/image-43-4.png"/><Relationship Id="rId5" Type="http://schemas.openxmlformats.org/officeDocument/2006/relationships/image" Target="../media/image-43-5.png"/><Relationship Id="rId6" Type="http://schemas.openxmlformats.org/officeDocument/2006/relationships/image" Target="../media/image-43-6.png"/><Relationship Id="rId7" Type="http://schemas.openxmlformats.org/officeDocument/2006/relationships/image" Target="../media/image-43-7.png"/><Relationship Id="rId8" Type="http://schemas.openxmlformats.org/officeDocument/2006/relationships/image" Target="../media/image-43-8.png"/><Relationship Id="rId9" Type="http://schemas.openxmlformats.org/officeDocument/2006/relationships/image" Target="../media/image-43-9.png"/><Relationship Id="rId10" Type="http://schemas.openxmlformats.org/officeDocument/2006/relationships/image" Target="../media/image-43-10.png"/><Relationship Id="rId11" Type="http://schemas.openxmlformats.org/officeDocument/2006/relationships/image" Target="../media/image-43-11.png"/><Relationship Id="rId12" Type="http://schemas.openxmlformats.org/officeDocument/2006/relationships/image" Target="../media/image-43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image" Target="../media/image-44-2.png"/><Relationship Id="rId3" Type="http://schemas.openxmlformats.org/officeDocument/2006/relationships/image" Target="../media/image-44-3.png"/><Relationship Id="rId4" Type="http://schemas.openxmlformats.org/officeDocument/2006/relationships/image" Target="../media/image-44-4.png"/><Relationship Id="rId5" Type="http://schemas.openxmlformats.org/officeDocument/2006/relationships/image" Target="../media/image-4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image" Target="../media/image-45-2.png"/><Relationship Id="rId3" Type="http://schemas.openxmlformats.org/officeDocument/2006/relationships/image" Target="../media/image-45-3.png"/><Relationship Id="rId4" Type="http://schemas.openxmlformats.org/officeDocument/2006/relationships/image" Target="../media/image-45-4.png"/><Relationship Id="rId5" Type="http://schemas.openxmlformats.org/officeDocument/2006/relationships/image" Target="../media/image-45-5.png"/><Relationship Id="rId6" Type="http://schemas.openxmlformats.org/officeDocument/2006/relationships/image" Target="../media/image-45-6.png"/><Relationship Id="rId7" Type="http://schemas.openxmlformats.org/officeDocument/2006/relationships/image" Target="../media/image-45-7.png"/><Relationship Id="rId8" Type="http://schemas.openxmlformats.org/officeDocument/2006/relationships/image" Target="../media/image-45-8.png"/><Relationship Id="rId9" Type="http://schemas.openxmlformats.org/officeDocument/2006/relationships/image" Target="../media/image-45-9.png"/><Relationship Id="rId10" Type="http://schemas.openxmlformats.org/officeDocument/2006/relationships/image" Target="../media/image-45-10.png"/><Relationship Id="rId11" Type="http://schemas.openxmlformats.org/officeDocument/2006/relationships/image" Target="../media/image-45-11.png"/><Relationship Id="rId12" Type="http://schemas.openxmlformats.org/officeDocument/2006/relationships/image" Target="../media/image-45-12.png"/><Relationship Id="rId13" Type="http://schemas.openxmlformats.org/officeDocument/2006/relationships/image" Target="../media/image-45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image" Target="../media/image-46-2.png"/><Relationship Id="rId3" Type="http://schemas.openxmlformats.org/officeDocument/2006/relationships/image" Target="../media/image-46-3.png"/><Relationship Id="rId4" Type="http://schemas.openxmlformats.org/officeDocument/2006/relationships/image" Target="../media/image-46-4.png"/><Relationship Id="rId5" Type="http://schemas.openxmlformats.org/officeDocument/2006/relationships/image" Target="../media/image-46-5.png"/><Relationship Id="rId6" Type="http://schemas.openxmlformats.org/officeDocument/2006/relationships/image" Target="../media/image-46-6.png"/><Relationship Id="rId7" Type="http://schemas.openxmlformats.org/officeDocument/2006/relationships/image" Target="../media/image-46-7.png"/><Relationship Id="rId8" Type="http://schemas.openxmlformats.org/officeDocument/2006/relationships/image" Target="../media/image-46-8.png"/><Relationship Id="rId9" Type="http://schemas.openxmlformats.org/officeDocument/2006/relationships/image" Target="../media/image-46-9.png"/><Relationship Id="rId10" Type="http://schemas.openxmlformats.org/officeDocument/2006/relationships/image" Target="../media/image-46-10.png"/><Relationship Id="rId11" Type="http://schemas.openxmlformats.org/officeDocument/2006/relationships/image" Target="../media/image-46-11.png"/><Relationship Id="rId12" Type="http://schemas.openxmlformats.org/officeDocument/2006/relationships/image" Target="../media/image-46-12.png"/><Relationship Id="rId13" Type="http://schemas.openxmlformats.org/officeDocument/2006/relationships/image" Target="../media/image-46-13.png"/><Relationship Id="rId14" Type="http://schemas.openxmlformats.org/officeDocument/2006/relationships/image" Target="../media/image-46-14.png"/><Relationship Id="rId15" Type="http://schemas.openxmlformats.org/officeDocument/2006/relationships/image" Target="../media/image-46-15.png"/><Relationship Id="rId16" Type="http://schemas.openxmlformats.org/officeDocument/2006/relationships/image" Target="../media/image-46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7-image-1.jpeg"/><Relationship Id="rId2" Type="http://schemas.openxmlformats.org/officeDocument/2006/relationships/image" Target="../media/image-47-2.png"/><Relationship Id="rId3" Type="http://schemas.openxmlformats.org/officeDocument/2006/relationships/image" Target="../media/image-47-3.png"/><Relationship Id="rId4" Type="http://schemas.openxmlformats.org/officeDocument/2006/relationships/image" Target="../media/image-47-4.png"/><Relationship Id="rId5" Type="http://schemas.openxmlformats.org/officeDocument/2006/relationships/image" Target="../media/image-47-5.png"/><Relationship Id="rId6" Type="http://schemas.openxmlformats.org/officeDocument/2006/relationships/image" Target="../media/image-47-6.png"/><Relationship Id="rId7" Type="http://schemas.openxmlformats.org/officeDocument/2006/relationships/image" Target="../media/image-4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image" Target="../media/image-48-2.png"/><Relationship Id="rId3" Type="http://schemas.openxmlformats.org/officeDocument/2006/relationships/image" Target="../media/image-48-3.png"/><Relationship Id="rId4" Type="http://schemas.openxmlformats.org/officeDocument/2006/relationships/image" Target="../media/image-48-4.png"/><Relationship Id="rId5" Type="http://schemas.openxmlformats.org/officeDocument/2006/relationships/image" Target="../media/image-48-5.png"/><Relationship Id="rId6" Type="http://schemas.openxmlformats.org/officeDocument/2006/relationships/image" Target="../media/image-48-6.png"/><Relationship Id="rId7" Type="http://schemas.openxmlformats.org/officeDocument/2006/relationships/image" Target="../media/image-48-7.png"/><Relationship Id="rId8" Type="http://schemas.openxmlformats.org/officeDocument/2006/relationships/image" Target="../media/image-48-8.png"/><Relationship Id="rId9" Type="http://schemas.openxmlformats.org/officeDocument/2006/relationships/image" Target="../media/image-48-9.png"/><Relationship Id="rId10" Type="http://schemas.openxmlformats.org/officeDocument/2006/relationships/image" Target="../media/image-48-10.png"/><Relationship Id="rId11" Type="http://schemas.openxmlformats.org/officeDocument/2006/relationships/image" Target="../media/image-48-11.png"/><Relationship Id="rId12" Type="http://schemas.openxmlformats.org/officeDocument/2006/relationships/image" Target="../media/image-48-12.png"/><Relationship Id="rId13" Type="http://schemas.openxmlformats.org/officeDocument/2006/relationships/image" Target="../media/image-48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image" Target="../media/image-49-2.png"/><Relationship Id="rId3" Type="http://schemas.openxmlformats.org/officeDocument/2006/relationships/image" Target="../media/image-49-3.png"/><Relationship Id="rId4" Type="http://schemas.openxmlformats.org/officeDocument/2006/relationships/image" Target="../media/image-49-4.png"/><Relationship Id="rId5" Type="http://schemas.openxmlformats.org/officeDocument/2006/relationships/image" Target="../media/image-49-5.png"/><Relationship Id="rId6" Type="http://schemas.openxmlformats.org/officeDocument/2006/relationships/image" Target="../media/image-49-6.png"/><Relationship Id="rId7" Type="http://schemas.openxmlformats.org/officeDocument/2006/relationships/image" Target="../media/image-49-7.png"/><Relationship Id="rId8" Type="http://schemas.openxmlformats.org/officeDocument/2006/relationships/image" Target="../media/image-49-8.png"/><Relationship Id="rId9" Type="http://schemas.openxmlformats.org/officeDocument/2006/relationships/image" Target="../media/image-49-9.png"/><Relationship Id="rId10" Type="http://schemas.openxmlformats.org/officeDocument/2006/relationships/image" Target="../media/image-49-10.png"/><Relationship Id="rId11" Type="http://schemas.openxmlformats.org/officeDocument/2006/relationships/image" Target="../media/image-49-11.png"/><Relationship Id="rId12" Type="http://schemas.openxmlformats.org/officeDocument/2006/relationships/image" Target="../media/image-49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image" Target="../media/image-50-2.png"/><Relationship Id="rId3" Type="http://schemas.openxmlformats.org/officeDocument/2006/relationships/image" Target="../media/image-50-3.png"/><Relationship Id="rId4" Type="http://schemas.openxmlformats.org/officeDocument/2006/relationships/image" Target="../media/image-50-4.png"/><Relationship Id="rId5" Type="http://schemas.openxmlformats.org/officeDocument/2006/relationships/image" Target="../media/image-50-5.png"/><Relationship Id="rId6" Type="http://schemas.openxmlformats.org/officeDocument/2006/relationships/image" Target="../media/image-50-6.png"/><Relationship Id="rId7" Type="http://schemas.openxmlformats.org/officeDocument/2006/relationships/image" Target="../media/image-50-7.png"/><Relationship Id="rId8" Type="http://schemas.openxmlformats.org/officeDocument/2006/relationships/image" Target="../media/image-50-8.png"/><Relationship Id="rId9" Type="http://schemas.openxmlformats.org/officeDocument/2006/relationships/image" Target="../media/image-50-9.png"/><Relationship Id="rId10" Type="http://schemas.openxmlformats.org/officeDocument/2006/relationships/image" Target="../media/image-50-10.png"/><Relationship Id="rId11" Type="http://schemas.openxmlformats.org/officeDocument/2006/relationships/image" Target="../media/image-50-11.png"/><Relationship Id="rId12" Type="http://schemas.openxmlformats.org/officeDocument/2006/relationships/image" Target="../media/image-50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image" Target="../media/image-51-2.png"/><Relationship Id="rId3" Type="http://schemas.openxmlformats.org/officeDocument/2006/relationships/image" Target="../media/image-51-3.png"/><Relationship Id="rId4" Type="http://schemas.openxmlformats.org/officeDocument/2006/relationships/image" Target="../media/image-51-4.png"/><Relationship Id="rId5" Type="http://schemas.openxmlformats.org/officeDocument/2006/relationships/image" Target="../media/image-51-5.png"/><Relationship Id="rId6" Type="http://schemas.openxmlformats.org/officeDocument/2006/relationships/image" Target="../media/image-51-6.png"/><Relationship Id="rId7" Type="http://schemas.openxmlformats.org/officeDocument/2006/relationships/image" Target="../media/image-51-7.png"/><Relationship Id="rId8" Type="http://schemas.openxmlformats.org/officeDocument/2006/relationships/image" Target="../media/image-51-8.png"/><Relationship Id="rId9" Type="http://schemas.openxmlformats.org/officeDocument/2006/relationships/image" Target="../media/image-51-9.png"/><Relationship Id="rId10" Type="http://schemas.openxmlformats.org/officeDocument/2006/relationships/image" Target="../media/image-51-10.png"/><Relationship Id="rId11" Type="http://schemas.openxmlformats.org/officeDocument/2006/relationships/image" Target="../media/image-51-11.png"/><Relationship Id="rId12" Type="http://schemas.openxmlformats.org/officeDocument/2006/relationships/image" Target="../media/image-51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image" Target="../media/image-52-2.png"/><Relationship Id="rId3" Type="http://schemas.openxmlformats.org/officeDocument/2006/relationships/image" Target="../media/image-52-3.png"/><Relationship Id="rId4" Type="http://schemas.openxmlformats.org/officeDocument/2006/relationships/image" Target="../media/image-52-4.png"/><Relationship Id="rId5" Type="http://schemas.openxmlformats.org/officeDocument/2006/relationships/image" Target="../media/image-52-5.png"/><Relationship Id="rId6" Type="http://schemas.openxmlformats.org/officeDocument/2006/relationships/image" Target="../media/image-52-6.png"/><Relationship Id="rId7" Type="http://schemas.openxmlformats.org/officeDocument/2006/relationships/image" Target="../media/image-52-7.png"/><Relationship Id="rId8" Type="http://schemas.openxmlformats.org/officeDocument/2006/relationships/image" Target="../media/image-52-8.png"/><Relationship Id="rId9" Type="http://schemas.openxmlformats.org/officeDocument/2006/relationships/image" Target="../media/image-5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image" Target="../media/image-53-2.png"/><Relationship Id="rId3" Type="http://schemas.openxmlformats.org/officeDocument/2006/relationships/image" Target="../media/image-53-3.png"/><Relationship Id="rId4" Type="http://schemas.openxmlformats.org/officeDocument/2006/relationships/image" Target="../media/image-53-4.png"/><Relationship Id="rId5" Type="http://schemas.openxmlformats.org/officeDocument/2006/relationships/image" Target="../media/image-53-5.png"/><Relationship Id="rId6" Type="http://schemas.openxmlformats.org/officeDocument/2006/relationships/image" Target="../media/image-53-6.png"/><Relationship Id="rId7" Type="http://schemas.openxmlformats.org/officeDocument/2006/relationships/image" Target="../media/image-53-7.png"/><Relationship Id="rId8" Type="http://schemas.openxmlformats.org/officeDocument/2006/relationships/image" Target="../media/image-53-8.png"/><Relationship Id="rId9" Type="http://schemas.openxmlformats.org/officeDocument/2006/relationships/image" Target="../media/image-53-9.png"/><Relationship Id="rId10" Type="http://schemas.openxmlformats.org/officeDocument/2006/relationships/image" Target="../media/image-53-10.png"/><Relationship Id="rId11" Type="http://schemas.openxmlformats.org/officeDocument/2006/relationships/image" Target="../media/image-53-11.png"/><Relationship Id="rId12" Type="http://schemas.openxmlformats.org/officeDocument/2006/relationships/image" Target="../media/image-53-12.png"/><Relationship Id="rId13" Type="http://schemas.openxmlformats.org/officeDocument/2006/relationships/image" Target="../media/image-53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image" Target="../media/image-54-2.png"/><Relationship Id="rId3" Type="http://schemas.openxmlformats.org/officeDocument/2006/relationships/image" Target="../media/image-54-3.png"/><Relationship Id="rId4" Type="http://schemas.openxmlformats.org/officeDocument/2006/relationships/image" Target="../media/image-54-4.png"/><Relationship Id="rId5" Type="http://schemas.openxmlformats.org/officeDocument/2006/relationships/image" Target="../media/image-54-5.png"/><Relationship Id="rId6" Type="http://schemas.openxmlformats.org/officeDocument/2006/relationships/image" Target="../media/image-54-6.png"/><Relationship Id="rId7" Type="http://schemas.openxmlformats.org/officeDocument/2006/relationships/image" Target="../media/image-54-7.png"/><Relationship Id="rId8" Type="http://schemas.openxmlformats.org/officeDocument/2006/relationships/image" Target="../media/image-5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image" Target="../media/image-55-2.png"/><Relationship Id="rId3" Type="http://schemas.openxmlformats.org/officeDocument/2006/relationships/image" Target="../media/image-55-3.png"/><Relationship Id="rId4" Type="http://schemas.openxmlformats.org/officeDocument/2006/relationships/image" Target="../media/image-55-4.png"/><Relationship Id="rId5" Type="http://schemas.openxmlformats.org/officeDocument/2006/relationships/image" Target="../media/image-55-5.png"/><Relationship Id="rId6" Type="http://schemas.openxmlformats.org/officeDocument/2006/relationships/image" Target="../media/image-55-6.png"/><Relationship Id="rId7" Type="http://schemas.openxmlformats.org/officeDocument/2006/relationships/image" Target="../media/image-55-7.png"/><Relationship Id="rId8" Type="http://schemas.openxmlformats.org/officeDocument/2006/relationships/image" Target="../media/image-55-8.png"/><Relationship Id="rId9" Type="http://schemas.openxmlformats.org/officeDocument/2006/relationships/image" Target="../media/image-55-9.png"/><Relationship Id="rId10" Type="http://schemas.openxmlformats.org/officeDocument/2006/relationships/image" Target="../media/image-55-10.png"/><Relationship Id="rId11" Type="http://schemas.openxmlformats.org/officeDocument/2006/relationships/image" Target="../media/image-55-11.png"/><Relationship Id="rId12" Type="http://schemas.openxmlformats.org/officeDocument/2006/relationships/image" Target="../media/image-55-12.png"/><Relationship Id="rId13" Type="http://schemas.openxmlformats.org/officeDocument/2006/relationships/image" Target="../media/image-55-13.png"/><Relationship Id="rId14" Type="http://schemas.openxmlformats.org/officeDocument/2006/relationships/image" Target="../media/image-55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image" Target="../media/image-56-2.png"/><Relationship Id="rId3" Type="http://schemas.openxmlformats.org/officeDocument/2006/relationships/image" Target="../media/image-56-3.png"/><Relationship Id="rId4" Type="http://schemas.openxmlformats.org/officeDocument/2006/relationships/image" Target="../media/image-56-4.png"/><Relationship Id="rId5" Type="http://schemas.openxmlformats.org/officeDocument/2006/relationships/image" Target="../media/image-56-5.png"/><Relationship Id="rId6" Type="http://schemas.openxmlformats.org/officeDocument/2006/relationships/image" Target="../media/image-56-6.png"/><Relationship Id="rId7" Type="http://schemas.openxmlformats.org/officeDocument/2006/relationships/image" Target="../media/image-56-7.png"/><Relationship Id="rId8" Type="http://schemas.openxmlformats.org/officeDocument/2006/relationships/image" Target="../media/image-5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image" Target="../media/image-57-2.png"/><Relationship Id="rId3" Type="http://schemas.openxmlformats.org/officeDocument/2006/relationships/image" Target="../media/image-57-3.png"/><Relationship Id="rId4" Type="http://schemas.openxmlformats.org/officeDocument/2006/relationships/image" Target="../media/image-57-4.png"/><Relationship Id="rId5" Type="http://schemas.openxmlformats.org/officeDocument/2006/relationships/image" Target="../media/image-57-5.png"/><Relationship Id="rId6" Type="http://schemas.openxmlformats.org/officeDocument/2006/relationships/image" Target="../media/image-57-6.png"/><Relationship Id="rId7" Type="http://schemas.openxmlformats.org/officeDocument/2006/relationships/image" Target="../media/image-5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8-image-1.jpeg"/><Relationship Id="rId2" Type="http://schemas.openxmlformats.org/officeDocument/2006/relationships/image" Target="../media/image-58-2.png"/><Relationship Id="rId3" Type="http://schemas.openxmlformats.org/officeDocument/2006/relationships/image" Target="../media/image-58-3.png"/><Relationship Id="rId4" Type="http://schemas.openxmlformats.org/officeDocument/2006/relationships/image" Target="../media/image-58-4.png"/><Relationship Id="rId5" Type="http://schemas.openxmlformats.org/officeDocument/2006/relationships/image" Target="../media/image-58-5.png"/><Relationship Id="rId6" Type="http://schemas.openxmlformats.org/officeDocument/2006/relationships/image" Target="../media/image-58-6.png"/><Relationship Id="rId7" Type="http://schemas.openxmlformats.org/officeDocument/2006/relationships/image" Target="../media/image-5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image" Target="../media/image-59-2.png"/><Relationship Id="rId3" Type="http://schemas.openxmlformats.org/officeDocument/2006/relationships/image" Target="../media/image-59-3.png"/><Relationship Id="rId4" Type="http://schemas.openxmlformats.org/officeDocument/2006/relationships/image" Target="../media/image-59-4.png"/><Relationship Id="rId5" Type="http://schemas.openxmlformats.org/officeDocument/2006/relationships/image" Target="../media/image-59-5.png"/><Relationship Id="rId6" Type="http://schemas.openxmlformats.org/officeDocument/2006/relationships/image" Target="../media/image-59-6.png"/><Relationship Id="rId7" Type="http://schemas.openxmlformats.org/officeDocument/2006/relationships/image" Target="../media/image-59-7.png"/><Relationship Id="rId8" Type="http://schemas.openxmlformats.org/officeDocument/2006/relationships/image" Target="../media/image-59-8.png"/><Relationship Id="rId9" Type="http://schemas.openxmlformats.org/officeDocument/2006/relationships/image" Target="../media/image-59-9.png"/><Relationship Id="rId10" Type="http://schemas.openxmlformats.org/officeDocument/2006/relationships/image" Target="../media/image-59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0-image-1.jpeg"/><Relationship Id="rId2" Type="http://schemas.openxmlformats.org/officeDocument/2006/relationships/image" Target="../media/image-60-2.png"/><Relationship Id="rId3" Type="http://schemas.openxmlformats.org/officeDocument/2006/relationships/image" Target="../media/image-60-3.png"/><Relationship Id="rId4" Type="http://schemas.openxmlformats.org/officeDocument/2006/relationships/image" Target="../media/image-60-4.png"/><Relationship Id="rId5" Type="http://schemas.openxmlformats.org/officeDocument/2006/relationships/image" Target="../media/image-60-5.png"/><Relationship Id="rId6" Type="http://schemas.openxmlformats.org/officeDocument/2006/relationships/image" Target="../media/image-60-6.png"/><Relationship Id="rId7" Type="http://schemas.openxmlformats.org/officeDocument/2006/relationships/image" Target="../media/image-6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image" Target="../media/image-61-2.png"/><Relationship Id="rId3" Type="http://schemas.openxmlformats.org/officeDocument/2006/relationships/image" Target="../media/image-61-3.png"/><Relationship Id="rId4" Type="http://schemas.openxmlformats.org/officeDocument/2006/relationships/image" Target="../media/image-61-4.png"/><Relationship Id="rId5" Type="http://schemas.openxmlformats.org/officeDocument/2006/relationships/image" Target="../media/image-61-5.png"/><Relationship Id="rId6" Type="http://schemas.openxmlformats.org/officeDocument/2006/relationships/image" Target="../media/image-61-6.png"/><Relationship Id="rId7" Type="http://schemas.openxmlformats.org/officeDocument/2006/relationships/image" Target="../media/image-61-7.png"/><Relationship Id="rId8" Type="http://schemas.openxmlformats.org/officeDocument/2006/relationships/image" Target="../media/image-61-8.png"/><Relationship Id="rId9" Type="http://schemas.openxmlformats.org/officeDocument/2006/relationships/image" Target="../media/image-6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image" Target="../media/image-62-2.png"/><Relationship Id="rId3" Type="http://schemas.openxmlformats.org/officeDocument/2006/relationships/image" Target="../media/image-62-3.png"/><Relationship Id="rId4" Type="http://schemas.openxmlformats.org/officeDocument/2006/relationships/image" Target="../media/image-62-4.png"/><Relationship Id="rId5" Type="http://schemas.openxmlformats.org/officeDocument/2006/relationships/image" Target="../media/image-62-5.png"/><Relationship Id="rId6" Type="http://schemas.openxmlformats.org/officeDocument/2006/relationships/image" Target="../media/image-62-6.png"/><Relationship Id="rId7" Type="http://schemas.openxmlformats.org/officeDocument/2006/relationships/image" Target="../media/image-62-7.png"/><Relationship Id="rId8" Type="http://schemas.openxmlformats.org/officeDocument/2006/relationships/image" Target="../media/image-62-8.png"/><Relationship Id="rId9" Type="http://schemas.openxmlformats.org/officeDocument/2006/relationships/image" Target="../media/image-62-9.png"/><Relationship Id="rId10" Type="http://schemas.openxmlformats.org/officeDocument/2006/relationships/image" Target="../media/image-62-10.png"/><Relationship Id="rId11" Type="http://schemas.openxmlformats.org/officeDocument/2006/relationships/image" Target="../media/image-62-11.png"/><Relationship Id="rId12" Type="http://schemas.openxmlformats.org/officeDocument/2006/relationships/image" Target="../media/image-62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image" Target="../media/image-63-2.png"/><Relationship Id="rId3" Type="http://schemas.openxmlformats.org/officeDocument/2006/relationships/image" Target="../media/image-63-3.png"/><Relationship Id="rId4" Type="http://schemas.openxmlformats.org/officeDocument/2006/relationships/image" Target="../media/image-63-4.png"/><Relationship Id="rId5" Type="http://schemas.openxmlformats.org/officeDocument/2006/relationships/image" Target="../media/image-63-5.png"/><Relationship Id="rId6" Type="http://schemas.openxmlformats.org/officeDocument/2006/relationships/image" Target="../media/image-63-6.png"/><Relationship Id="rId7" Type="http://schemas.openxmlformats.org/officeDocument/2006/relationships/image" Target="../media/image-63-7.png"/><Relationship Id="rId8" Type="http://schemas.openxmlformats.org/officeDocument/2006/relationships/image" Target="../media/image-63-8.png"/><Relationship Id="rId9" Type="http://schemas.openxmlformats.org/officeDocument/2006/relationships/image" Target="../media/image-63-9.png"/><Relationship Id="rId10" Type="http://schemas.openxmlformats.org/officeDocument/2006/relationships/image" Target="../media/image-63-10.png"/><Relationship Id="rId11" Type="http://schemas.openxmlformats.org/officeDocument/2006/relationships/image" Target="../media/image-63-11.png"/><Relationship Id="rId12" Type="http://schemas.openxmlformats.org/officeDocument/2006/relationships/image" Target="../media/image-63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image" Target="../media/image-64-2.png"/><Relationship Id="rId3" Type="http://schemas.openxmlformats.org/officeDocument/2006/relationships/image" Target="../media/image-64-3.png"/><Relationship Id="rId4" Type="http://schemas.openxmlformats.org/officeDocument/2006/relationships/image" Target="../media/image-64-4.png"/><Relationship Id="rId5" Type="http://schemas.openxmlformats.org/officeDocument/2006/relationships/image" Target="../media/image-64-5.png"/><Relationship Id="rId6" Type="http://schemas.openxmlformats.org/officeDocument/2006/relationships/image" Target="../media/image-64-6.png"/><Relationship Id="rId7" Type="http://schemas.openxmlformats.org/officeDocument/2006/relationships/image" Target="../media/image-64-7.png"/><Relationship Id="rId8" Type="http://schemas.openxmlformats.org/officeDocument/2006/relationships/image" Target="../media/image-64-8.png"/><Relationship Id="rId9" Type="http://schemas.openxmlformats.org/officeDocument/2006/relationships/image" Target="../media/image-64-9.png"/><Relationship Id="rId10" Type="http://schemas.openxmlformats.org/officeDocument/2006/relationships/image" Target="../media/image-64-10.png"/><Relationship Id="rId11" Type="http://schemas.openxmlformats.org/officeDocument/2006/relationships/image" Target="../media/image-64-11.png"/><Relationship Id="rId12" Type="http://schemas.openxmlformats.org/officeDocument/2006/relationships/image" Target="../media/image-64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5-image-1.jpeg"/><Relationship Id="rId2" Type="http://schemas.openxmlformats.org/officeDocument/2006/relationships/image" Target="../media/image-65-2.png"/><Relationship Id="rId3" Type="http://schemas.openxmlformats.org/officeDocument/2006/relationships/image" Target="../media/image-65-3.png"/><Relationship Id="rId4" Type="http://schemas.openxmlformats.org/officeDocument/2006/relationships/image" Target="../media/image-65-4.png"/><Relationship Id="rId5" Type="http://schemas.openxmlformats.org/officeDocument/2006/relationships/image" Target="../media/image-65-5.png"/><Relationship Id="rId6" Type="http://schemas.openxmlformats.org/officeDocument/2006/relationships/image" Target="../media/image-65-6.png"/><Relationship Id="rId7" Type="http://schemas.openxmlformats.org/officeDocument/2006/relationships/image" Target="../media/image-6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image" Target="../media/image-66-2.png"/><Relationship Id="rId3" Type="http://schemas.openxmlformats.org/officeDocument/2006/relationships/image" Target="../media/image-66-3.png"/><Relationship Id="rId4" Type="http://schemas.openxmlformats.org/officeDocument/2006/relationships/image" Target="../media/image-66-4.png"/><Relationship Id="rId5" Type="http://schemas.openxmlformats.org/officeDocument/2006/relationships/image" Target="../media/image-66-5.png"/><Relationship Id="rId6" Type="http://schemas.openxmlformats.org/officeDocument/2006/relationships/image" Target="../media/image-66-6.png"/><Relationship Id="rId7" Type="http://schemas.openxmlformats.org/officeDocument/2006/relationships/image" Target="../media/image-66-7.png"/><Relationship Id="rId8" Type="http://schemas.openxmlformats.org/officeDocument/2006/relationships/image" Target="../media/image-66-8.png"/><Relationship Id="rId9" Type="http://schemas.openxmlformats.org/officeDocument/2006/relationships/image" Target="../media/image-66-9.png"/><Relationship Id="rId10" Type="http://schemas.openxmlformats.org/officeDocument/2006/relationships/image" Target="../media/image-66-10.png"/><Relationship Id="rId11" Type="http://schemas.openxmlformats.org/officeDocument/2006/relationships/image" Target="../media/image-66-11.png"/><Relationship Id="rId12" Type="http://schemas.openxmlformats.org/officeDocument/2006/relationships/image" Target="../media/image-66-12.png"/><Relationship Id="rId13" Type="http://schemas.openxmlformats.org/officeDocument/2006/relationships/image" Target="../media/image-66-13.png"/><Relationship Id="rId14" Type="http://schemas.openxmlformats.org/officeDocument/2006/relationships/image" Target="../media/image-66-14.png"/><Relationship Id="rId15" Type="http://schemas.openxmlformats.org/officeDocument/2006/relationships/image" Target="../media/image-66-15.png"/><Relationship Id="rId16" Type="http://schemas.openxmlformats.org/officeDocument/2006/relationships/image" Target="../media/image-66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7-image-1.jpeg"/><Relationship Id="rId2" Type="http://schemas.openxmlformats.org/officeDocument/2006/relationships/image" Target="../media/image-67-2.png"/><Relationship Id="rId3" Type="http://schemas.openxmlformats.org/officeDocument/2006/relationships/image" Target="../media/image-67-3.png"/><Relationship Id="rId4" Type="http://schemas.openxmlformats.org/officeDocument/2006/relationships/image" Target="../media/image-67-4.png"/><Relationship Id="rId5" Type="http://schemas.openxmlformats.org/officeDocument/2006/relationships/image" Target="../media/image-67-5.png"/><Relationship Id="rId6" Type="http://schemas.openxmlformats.org/officeDocument/2006/relationships/image" Target="../media/image-67-6.png"/><Relationship Id="rId7" Type="http://schemas.openxmlformats.org/officeDocument/2006/relationships/image" Target="../media/image-67-7.png"/><Relationship Id="rId8" Type="http://schemas.openxmlformats.org/officeDocument/2006/relationships/image" Target="../media/image-67-8.png"/><Relationship Id="rId9" Type="http://schemas.openxmlformats.org/officeDocument/2006/relationships/image" Target="../media/image-67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67.xml"/></Relationships>
</file>

<file path=ppt/slides/slide1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lens"/>
          <p:cNvSpPr/>
          <p:nvPr/>
        </p:nvSpPr>
        <p:spPr>
          <a:xfrm>
            <a:off x="-1905000" y="-1333500"/>
            <a:ext cx="9017000" cy="9017000"/>
          </a:xfrm>
          <a:prstGeom prst="ellipse">
            <a:avLst/>
          </a:prstGeom>
          <a:solidFill>
            <a:srgbClr val="EEF2EF"/>
          </a:solidFill>
          <a:ln/>
        </p:spPr>
      </p:sp>
      <p:sp>
        <p:nvSpPr>
          <p:cNvPr id="3" name="!!lens2"/>
          <p:cNvSpPr/>
          <p:nvPr/>
        </p:nvSpPr>
        <p:spPr>
          <a:xfrm>
            <a:off x="254000" y="762000"/>
            <a:ext cx="5334000" cy="53340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" name="s1-snap-2" descr="s1-snap-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073150"/>
            <a:ext cx="4140200" cy="4711700"/>
          </a:xfrm>
          <a:prstGeom prst="rect">
            <a:avLst/>
          </a:prstGeom>
        </p:spPr>
      </p:pic>
      <p:pic>
        <p:nvPicPr>
          <p:cNvPr id="5" name="!!mt" descr="شعار نظرة ثمانية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2215" y="1366490"/>
            <a:ext cx="2717800" cy="2673350"/>
          </a:xfrm>
          <a:prstGeom prst="rect">
            <a:avLst/>
          </a:prstGeom>
        </p:spPr>
      </p:pic>
      <p:pic>
        <p:nvPicPr>
          <p:cNvPr id="6" name="!!mb" descr="شعار نظرة ثمانية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9998" y="2887911"/>
            <a:ext cx="2647950" cy="2603500"/>
          </a:xfrm>
          <a:prstGeom prst="rect">
            <a:avLst/>
          </a:prstGeom>
        </p:spPr>
      </p:pic>
      <p:pic>
        <p:nvPicPr>
          <p:cNvPr id="7" name="!!ma" descr="شعار نظرة ثمانية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9153" y="2281535"/>
            <a:ext cx="482600" cy="425450"/>
          </a:xfrm>
          <a:prstGeom prst="rect">
            <a:avLst/>
          </a:prstGeom>
        </p:spPr>
      </p:pic>
      <p:sp>
        <p:nvSpPr>
          <p:cNvPr id="8" name="!!dot"/>
          <p:cNvSpPr/>
          <p:nvPr/>
        </p:nvSpPr>
        <p:spPr>
          <a:xfrm>
            <a:off x="4826000" y="1206500"/>
            <a:ext cx="393700" cy="393700"/>
          </a:xfrm>
          <a:prstGeom prst="ellipse">
            <a:avLst/>
          </a:prstGeom>
          <a:solidFill>
            <a:srgbClr val="F6C342"/>
          </a:solidFill>
          <a:ln/>
        </p:spPr>
      </p:sp>
      <p:pic>
        <p:nvPicPr>
          <p:cNvPr id="9" name="s1-asset-7" descr="شعار بصمة وعي للتدريب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57841" y="469900"/>
            <a:ext cx="1936750" cy="520700"/>
          </a:xfrm>
          <a:prstGeom prst="rect">
            <a:avLst/>
          </a:prstGeom>
        </p:spPr>
      </p:pic>
      <p:pic>
        <p:nvPicPr>
          <p:cNvPr id="10" name="!!hud" descr="!!hud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7800" y="177800"/>
            <a:ext cx="11836400" cy="6502400"/>
          </a:xfrm>
          <a:prstGeom prst="rect">
            <a:avLst/>
          </a:prstGeom>
        </p:spPr>
      </p:pic>
      <p:sp>
        <p:nvSpPr>
          <p:cNvPr id="11" name="!!rec"/>
          <p:cNvSpPr/>
          <p:nvPr/>
        </p:nvSpPr>
        <p:spPr>
          <a:xfrm>
            <a:off x="635000" y="6337300"/>
            <a:ext cx="101600" cy="101600"/>
          </a:xfrm>
          <a:prstGeom prst="ellipse">
            <a:avLst/>
          </a:prstGeom>
          <a:solidFill>
            <a:srgbClr val="FF8D26"/>
          </a:solidFill>
          <a:ln/>
        </p:spPr>
      </p:sp>
      <p:sp>
        <p:nvSpPr>
          <p:cNvPr id="12" name="!!num"/>
          <p:cNvSpPr txBox="1"/>
          <p:nvPr/>
        </p:nvSpPr>
        <p:spPr>
          <a:xfrm>
            <a:off x="825500" y="6281750"/>
            <a:ext cx="687784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altLang="en-US" sz="1200" dirty="0">
                <a:solidFill>
                  <a:srgbClr val="5E6D7C"/>
                </a:solidFill>
                <a:latin typeface="Sakkal Saad TN Trial Light"/>
                <a:cs typeface="Sakkal Saad TN Trial Light"/>
              </a:rPr>
              <a:t>REC · 01</a:t>
            </a:r>
            <a:endParaRPr lang="en-US" sz="1200" dirty="0"/>
          </a:p>
        </p:txBody>
      </p:sp>
      <p:pic>
        <p:nvPicPr>
          <p:cNvPr id="13" name="s1-snap-11" descr="s1-snap-11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78400" y="1327150"/>
            <a:ext cx="6553200" cy="1377652"/>
          </a:xfrm>
          <a:prstGeom prst="rect">
            <a:avLst/>
          </a:prstGeom>
        </p:spPr>
      </p:pic>
      <p:sp>
        <p:nvSpPr>
          <p:cNvPr id="14" name="s1-text-12"/>
          <p:cNvSpPr txBox="1"/>
          <p:nvPr/>
        </p:nvSpPr>
        <p:spPr>
          <a:xfrm>
            <a:off x="4498340" y="2522888"/>
            <a:ext cx="6995160" cy="690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5040"/>
              </a:lnSpc>
              <a:buNone/>
            </a:pPr>
            <a:r>
              <a:rPr lang="ar-SA" altLang="en-US" sz="36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لمشروع </a:t>
            </a:r>
            <a:r>
              <a:rPr lang="ar-SA" altLang="en-US" sz="3600" b="1" dirty="0">
                <a:solidFill>
                  <a:srgbClr val="E9720C"/>
                </a:solidFill>
                <a:latin typeface="Sakkal Saad TN Trial Light"/>
                <a:cs typeface="Sakkal Saad TN Trial Light"/>
              </a:rPr>
              <a:t>نظرة ثمانية</a:t>
            </a:r>
            <a:r>
              <a:rPr lang="ar-SA" altLang="en-US" sz="36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 – Eightlook</a:t>
            </a:r>
            <a:endParaRPr lang="ar-SA" sz="3600" dirty="0"/>
          </a:p>
        </p:txBody>
      </p:sp>
      <p:pic>
        <p:nvPicPr>
          <p:cNvPr id="15" name="s1-snap-13" descr="s1-snap-13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22000" y="4028976"/>
            <a:ext cx="609600" cy="609600"/>
          </a:xfrm>
          <a:prstGeom prst="rect">
            <a:avLst/>
          </a:prstGeom>
        </p:spPr>
      </p:pic>
      <p:sp>
        <p:nvSpPr>
          <p:cNvPr id="16" name="s1-text-14"/>
          <p:cNvSpPr txBox="1"/>
          <p:nvPr/>
        </p:nvSpPr>
        <p:spPr>
          <a:xfrm>
            <a:off x="9234916" y="4010482"/>
            <a:ext cx="1585484" cy="281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820"/>
              </a:lnSpc>
              <a:buNone/>
            </a:pPr>
            <a:r>
              <a:rPr lang="ar-SA" altLang="en-US" sz="1400" dirty="0">
                <a:solidFill>
                  <a:srgbClr val="5E6D7C"/>
                </a:solidFill>
                <a:latin typeface="Sakkal Saad TN Trial Light"/>
                <a:cs typeface="Sakkal Saad TN Trial Light"/>
              </a:rPr>
              <a:t>اسم المشروع</a:t>
            </a:r>
            <a:endParaRPr lang="ar-SA" sz="1400" dirty="0"/>
          </a:p>
        </p:txBody>
      </p:sp>
      <p:sp>
        <p:nvSpPr>
          <p:cNvPr id="17" name="s1-text-15"/>
          <p:cNvSpPr txBox="1"/>
          <p:nvPr/>
        </p:nvSpPr>
        <p:spPr>
          <a:xfrm>
            <a:off x="9234916" y="4223135"/>
            <a:ext cx="1585484" cy="359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430"/>
              </a:lnSpc>
              <a:buNone/>
            </a:pPr>
            <a:r>
              <a:rPr lang="ar-SA" altLang="en-US" sz="18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نظرة ثمانية Eightlook</a:t>
            </a:r>
            <a:endParaRPr lang="ar-SA" sz="1800" dirty="0"/>
          </a:p>
        </p:txBody>
      </p:sp>
      <p:pic>
        <p:nvPicPr>
          <p:cNvPr id="18" name="s1-snap-16" descr="s1-snap-16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15609" y="4028976"/>
            <a:ext cx="609600" cy="609600"/>
          </a:xfrm>
          <a:prstGeom prst="rect">
            <a:avLst/>
          </a:prstGeom>
        </p:spPr>
      </p:pic>
      <p:sp>
        <p:nvSpPr>
          <p:cNvPr id="19" name="s1-text-17"/>
          <p:cNvSpPr txBox="1"/>
          <p:nvPr/>
        </p:nvSpPr>
        <p:spPr>
          <a:xfrm>
            <a:off x="5781246" y="4010482"/>
            <a:ext cx="1532763" cy="281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820"/>
              </a:lnSpc>
              <a:buNone/>
            </a:pPr>
            <a:r>
              <a:rPr lang="ar-SA" altLang="en-US" sz="1400" dirty="0">
                <a:solidFill>
                  <a:srgbClr val="5E6D7C"/>
                </a:solidFill>
                <a:latin typeface="Sakkal Saad TN Trial Light"/>
                <a:cs typeface="Sakkal Saad TN Trial Light"/>
              </a:rPr>
              <a:t>إعداد المتدربة</a:t>
            </a:r>
            <a:endParaRPr lang="ar-SA" sz="1400" dirty="0"/>
          </a:p>
        </p:txBody>
      </p:sp>
      <p:sp>
        <p:nvSpPr>
          <p:cNvPr id="20" name="s1-text-18"/>
          <p:cNvSpPr txBox="1"/>
          <p:nvPr/>
        </p:nvSpPr>
        <p:spPr>
          <a:xfrm>
            <a:off x="5781246" y="4223135"/>
            <a:ext cx="1532763" cy="359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430"/>
              </a:lnSpc>
              <a:buNone/>
            </a:pPr>
            <a:r>
              <a:rPr lang="ar-SA" altLang="en-US" sz="18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زينب عبدالله الشراعي</a:t>
            </a:r>
            <a:endParaRPr lang="ar-SA" sz="1800" dirty="0"/>
          </a:p>
        </p:txBody>
      </p:sp>
      <p:pic>
        <p:nvPicPr>
          <p:cNvPr id="21" name="s1-snap-19" descr="s1-snap-19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22000" y="4976912"/>
            <a:ext cx="609600" cy="609600"/>
          </a:xfrm>
          <a:prstGeom prst="rect">
            <a:avLst/>
          </a:prstGeom>
        </p:spPr>
      </p:pic>
      <p:sp>
        <p:nvSpPr>
          <p:cNvPr id="22" name="s1-text-20"/>
          <p:cNvSpPr txBox="1"/>
          <p:nvPr/>
        </p:nvSpPr>
        <p:spPr>
          <a:xfrm>
            <a:off x="8034766" y="4804133"/>
            <a:ext cx="2785634" cy="281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820"/>
              </a:lnSpc>
              <a:buNone/>
            </a:pPr>
            <a:r>
              <a:rPr lang="ar-SA" altLang="en-US" sz="1400" dirty="0">
                <a:solidFill>
                  <a:srgbClr val="5E6D7C"/>
                </a:solidFill>
                <a:latin typeface="Sakkal Saad TN Trial Light"/>
                <a:cs typeface="Sakkal Saad TN Trial Light"/>
              </a:rPr>
              <a:t>اسم الدبلوم</a:t>
            </a:r>
            <a:endParaRPr lang="ar-SA" sz="1400" dirty="0"/>
          </a:p>
        </p:txBody>
      </p:sp>
      <p:sp>
        <p:nvSpPr>
          <p:cNvPr id="23" name="s1-text-21"/>
          <p:cNvSpPr txBox="1"/>
          <p:nvPr/>
        </p:nvSpPr>
        <p:spPr>
          <a:xfrm>
            <a:off x="8034766" y="5016786"/>
            <a:ext cx="2785634" cy="668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430"/>
              </a:lnSpc>
              <a:buNone/>
            </a:pPr>
            <a:r>
              <a:rPr lang="ar-SA" altLang="en-US" sz="18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التسويق الرقمي المدعوم بالذكاء</a:t>
            </a:r>
            <a:endParaRPr lang="ar-SA" sz="1800" dirty="0"/>
          </a:p>
          <a:p>
            <a:pPr rtl="1" algn="r" indent="0" marL="0">
              <a:lnSpc>
                <a:spcPts val="2430"/>
              </a:lnSpc>
              <a:buNone/>
            </a:pPr>
            <a:r>
              <a:rPr lang="ar-SA" altLang="en-US" sz="18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الاصطناعي – الدفعة 13</a:t>
            </a:r>
            <a:endParaRPr lang="ar-SA" sz="1800" dirty="0"/>
          </a:p>
        </p:txBody>
      </p:sp>
      <p:pic>
        <p:nvPicPr>
          <p:cNvPr id="24" name="s1-snap-22" descr="s1-snap-22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15609" y="4976912"/>
            <a:ext cx="609600" cy="609600"/>
          </a:xfrm>
          <a:prstGeom prst="rect">
            <a:avLst/>
          </a:prstGeom>
        </p:spPr>
      </p:pic>
      <p:sp>
        <p:nvSpPr>
          <p:cNvPr id="25" name="s1-text-23"/>
          <p:cNvSpPr txBox="1"/>
          <p:nvPr/>
        </p:nvSpPr>
        <p:spPr>
          <a:xfrm>
            <a:off x="6436221" y="4958418"/>
            <a:ext cx="877788" cy="281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820"/>
              </a:lnSpc>
              <a:buNone/>
            </a:pPr>
            <a:r>
              <a:rPr lang="ar-SA" altLang="en-US" sz="1400" dirty="0">
                <a:solidFill>
                  <a:srgbClr val="5E6D7C"/>
                </a:solidFill>
                <a:latin typeface="Sakkal Saad TN Trial Light"/>
                <a:cs typeface="Sakkal Saad TN Trial Light"/>
              </a:rPr>
              <a:t>تاريخ التسليم</a:t>
            </a:r>
            <a:endParaRPr lang="ar-SA" sz="1400" dirty="0"/>
          </a:p>
        </p:txBody>
      </p:sp>
      <p:sp>
        <p:nvSpPr>
          <p:cNvPr id="26" name="s1-text-24"/>
          <p:cNvSpPr txBox="1"/>
          <p:nvPr/>
        </p:nvSpPr>
        <p:spPr>
          <a:xfrm>
            <a:off x="6436221" y="5171071"/>
            <a:ext cx="877788" cy="359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430"/>
              </a:lnSpc>
              <a:buNone/>
            </a:pPr>
            <a:r>
              <a:rPr lang="ar-SA" altLang="en-US" sz="18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3/10/2026</a:t>
            </a:r>
            <a:endParaRPr lang="ar-SA" sz="1800" dirty="0"/>
          </a:p>
        </p:txBody>
      </p:sp>
    </p:spTree>
  </p:cSld>
  <p:clrMapOvr>
    <a:masterClrMapping/>
  </p:clrMapOvr>
  <p:transition spd="slow" p14:dur="9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 decel="100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 decel="100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35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1" dur="12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4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 decel="100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 decel="100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200" fill="hold" decel="100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5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200" fill="hold" decel="100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5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200" fill="hold" decel="100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11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1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200" fill="hold" decel="100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5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200" fill="hold" decel="100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5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200" fill="hold" decel="100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11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9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35" dur="63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75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75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75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75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75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75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75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75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75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75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75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75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75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75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53" presetClass="entr" presetSubtype="16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27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75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75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75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75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75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75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53" presetClass="entr" presetSubtype="16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89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700" fill="hold" decel="100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700" fill="hold" decel="100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53" presetClass="entr" presetSubtype="16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225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75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75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42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750" fill="hold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750" fill="hold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42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750" fill="hold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750" fill="hold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1" grpId="0" animBg="1"/>
      <p:bldP spid="3" grpId="0" animBg="1"/>
      <p:bldP spid="14" grpId="0"/>
      <p:bldP spid="16" grpId="0"/>
      <p:bldP spid="17" grpId="0"/>
      <p:bldP spid="19" grpId="0"/>
      <p:bldP spid="20" grpId="0"/>
      <p:bldP spid="22" grpId="0"/>
      <p:bldP spid="23" grpId="0"/>
      <p:bldP spid="8" grpId="0" animBg="1"/>
      <p:bldP spid="25" grpId="0"/>
      <p:bldP spid="26" grpId="0"/>
    </p:bldLst>
  </p:timing>
</p:sld>
</file>

<file path=ppt/slides/slide2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lens"/>
          <p:cNvSpPr/>
          <p:nvPr/>
        </p:nvSpPr>
        <p:spPr>
          <a:xfrm>
            <a:off x="368300" y="127000"/>
            <a:ext cx="1206500" cy="1206500"/>
          </a:xfrm>
          <a:prstGeom prst="ellipse">
            <a:avLst/>
          </a:prstGeom>
          <a:solidFill>
            <a:srgbClr val="EEF2EF"/>
          </a:solidFill>
          <a:ln/>
        </p:spPr>
      </p:sp>
      <p:pic>
        <p:nvPicPr>
          <p:cNvPr id="3" name="!!mt" descr="شعار نظرة ثماني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5400000">
            <a:off x="833735" y="467668"/>
            <a:ext cx="546100" cy="533400"/>
          </a:xfrm>
          <a:prstGeom prst="rect">
            <a:avLst/>
          </a:prstGeom>
        </p:spPr>
      </p:pic>
      <p:pic>
        <p:nvPicPr>
          <p:cNvPr id="4" name="!!mb" descr="شعار نظرة ثمانية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546050" y="458688"/>
            <a:ext cx="527050" cy="520700"/>
          </a:xfrm>
          <a:prstGeom prst="rect">
            <a:avLst/>
          </a:prstGeom>
        </p:spPr>
      </p:pic>
      <p:pic>
        <p:nvPicPr>
          <p:cNvPr id="5" name="!!ma" descr="شعار نظرة ثمانية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101328" y="728911"/>
            <a:ext cx="95250" cy="82550"/>
          </a:xfrm>
          <a:prstGeom prst="rect">
            <a:avLst/>
          </a:prstGeom>
        </p:spPr>
      </p:pic>
      <p:pic>
        <p:nvPicPr>
          <p:cNvPr id="6" name="!!hud" descr="!!hu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800" y="177800"/>
            <a:ext cx="11836400" cy="6502400"/>
          </a:xfrm>
          <a:prstGeom prst="rect">
            <a:avLst/>
          </a:prstGeom>
        </p:spPr>
      </p:pic>
      <p:sp>
        <p:nvSpPr>
          <p:cNvPr id="7" name="!!rec"/>
          <p:cNvSpPr/>
          <p:nvPr/>
        </p:nvSpPr>
        <p:spPr>
          <a:xfrm>
            <a:off x="635000" y="6337300"/>
            <a:ext cx="101600" cy="101600"/>
          </a:xfrm>
          <a:prstGeom prst="ellipse">
            <a:avLst/>
          </a:prstGeom>
          <a:solidFill>
            <a:srgbClr val="FF8D26"/>
          </a:solidFill>
          <a:ln/>
        </p:spPr>
      </p:sp>
      <p:sp>
        <p:nvSpPr>
          <p:cNvPr id="8" name="!!num"/>
          <p:cNvSpPr txBox="1"/>
          <p:nvPr/>
        </p:nvSpPr>
        <p:spPr>
          <a:xfrm>
            <a:off x="825500" y="6281750"/>
            <a:ext cx="698996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altLang="en-US" sz="1200" dirty="0">
                <a:solidFill>
                  <a:srgbClr val="5E6D7C"/>
                </a:solidFill>
                <a:latin typeface="Sakkal Saad TN Trial Light"/>
                <a:cs typeface="Sakkal Saad TN Trial Light"/>
              </a:rPr>
              <a:t>REC · 02</a:t>
            </a:r>
            <a:endParaRPr lang="en-US" sz="1200" dirty="0"/>
          </a:p>
        </p:txBody>
      </p:sp>
      <p:sp>
        <p:nvSpPr>
          <p:cNvPr id="9" name="s2-text-7"/>
          <p:cNvSpPr txBox="1"/>
          <p:nvPr/>
        </p:nvSpPr>
        <p:spPr>
          <a:xfrm>
            <a:off x="9625937" y="578612"/>
            <a:ext cx="1931063" cy="873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6480"/>
              </a:lnSpc>
              <a:buNone/>
            </a:pPr>
            <a:r>
              <a:rPr lang="ar-SA" altLang="en-US" sz="4800" b="1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المحتويات</a:t>
            </a:r>
            <a:endParaRPr lang="ar-SA" sz="4800" dirty="0"/>
          </a:p>
        </p:txBody>
      </p:sp>
      <p:sp>
        <p:nvSpPr>
          <p:cNvPr id="10" name="s2-text-8"/>
          <p:cNvSpPr txBox="1"/>
          <p:nvPr/>
        </p:nvSpPr>
        <p:spPr>
          <a:xfrm>
            <a:off x="10883900" y="1911896"/>
            <a:ext cx="609600" cy="459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3220"/>
              </a:lnSpc>
              <a:buNone/>
            </a:pPr>
            <a:r>
              <a:rPr lang="ar-SA" altLang="en-US" sz="2300" b="1" dirty="0">
                <a:solidFill>
                  <a:srgbClr val="FF8D26"/>
                </a:solidFill>
                <a:latin typeface="Sakkal Saad TN Trial Light"/>
                <a:cs typeface="Sakkal Saad TN Trial Light"/>
              </a:rPr>
              <a:t>01</a:t>
            </a:r>
            <a:endParaRPr lang="ar-SA" sz="2300" dirty="0"/>
          </a:p>
        </p:txBody>
      </p:sp>
      <p:sp>
        <p:nvSpPr>
          <p:cNvPr id="11" name="s2-text-9"/>
          <p:cNvSpPr txBox="1"/>
          <p:nvPr/>
        </p:nvSpPr>
        <p:spPr>
          <a:xfrm>
            <a:off x="9804598" y="1971421"/>
            <a:ext cx="99040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600"/>
              </a:lnSpc>
              <a:buNone/>
            </a:pPr>
            <a:r>
              <a:rPr lang="ar-SA" altLang="en-US" sz="20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مقدمة عامة</a:t>
            </a:r>
            <a:endParaRPr lang="ar-SA" sz="2000" dirty="0"/>
          </a:p>
        </p:txBody>
      </p:sp>
      <p:sp>
        <p:nvSpPr>
          <p:cNvPr id="12" name="s2-text-10"/>
          <p:cNvSpPr txBox="1"/>
          <p:nvPr/>
        </p:nvSpPr>
        <p:spPr>
          <a:xfrm>
            <a:off x="10883900" y="2534196"/>
            <a:ext cx="609600" cy="459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3220"/>
              </a:lnSpc>
              <a:buNone/>
            </a:pPr>
            <a:r>
              <a:rPr lang="ar-SA" altLang="en-US" sz="2300" b="1" dirty="0">
                <a:solidFill>
                  <a:srgbClr val="FF8D26"/>
                </a:solidFill>
                <a:latin typeface="Sakkal Saad TN Trial Light"/>
                <a:cs typeface="Sakkal Saad TN Trial Light"/>
              </a:rPr>
              <a:t>02</a:t>
            </a:r>
            <a:endParaRPr lang="ar-SA" sz="2300" dirty="0"/>
          </a:p>
        </p:txBody>
      </p:sp>
      <p:sp>
        <p:nvSpPr>
          <p:cNvPr id="13" name="s2-text-11"/>
          <p:cNvSpPr txBox="1"/>
          <p:nvPr/>
        </p:nvSpPr>
        <p:spPr>
          <a:xfrm>
            <a:off x="8870152" y="2593721"/>
            <a:ext cx="192484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600"/>
              </a:lnSpc>
              <a:buNone/>
            </a:pPr>
            <a:r>
              <a:rPr lang="ar-SA" altLang="en-US" sz="20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معلومات عن نظرة ثمانية</a:t>
            </a:r>
            <a:endParaRPr lang="ar-SA" sz="2000" dirty="0"/>
          </a:p>
        </p:txBody>
      </p:sp>
      <p:sp>
        <p:nvSpPr>
          <p:cNvPr id="14" name="s2-text-12"/>
          <p:cNvSpPr txBox="1"/>
          <p:nvPr/>
        </p:nvSpPr>
        <p:spPr>
          <a:xfrm>
            <a:off x="10883900" y="3156496"/>
            <a:ext cx="609600" cy="459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3220"/>
              </a:lnSpc>
              <a:buNone/>
            </a:pPr>
            <a:r>
              <a:rPr lang="ar-SA" altLang="en-US" sz="2300" b="1" dirty="0">
                <a:solidFill>
                  <a:srgbClr val="FF8D26"/>
                </a:solidFill>
                <a:latin typeface="Sakkal Saad TN Trial Light"/>
                <a:cs typeface="Sakkal Saad TN Trial Light"/>
              </a:rPr>
              <a:t>03</a:t>
            </a:r>
            <a:endParaRPr lang="ar-SA" sz="2300" dirty="0"/>
          </a:p>
        </p:txBody>
      </p:sp>
      <p:sp>
        <p:nvSpPr>
          <p:cNvPr id="15" name="s2-text-13"/>
          <p:cNvSpPr txBox="1"/>
          <p:nvPr/>
        </p:nvSpPr>
        <p:spPr>
          <a:xfrm>
            <a:off x="9407327" y="3216021"/>
            <a:ext cx="138767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600"/>
              </a:lnSpc>
              <a:buNone/>
            </a:pPr>
            <a:r>
              <a:rPr lang="ar-SA" altLang="en-US" sz="20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دراسة نظرة ثمانية</a:t>
            </a:r>
            <a:endParaRPr lang="ar-SA" sz="2000" dirty="0"/>
          </a:p>
        </p:txBody>
      </p:sp>
      <p:sp>
        <p:nvSpPr>
          <p:cNvPr id="16" name="s2-text-14"/>
          <p:cNvSpPr txBox="1"/>
          <p:nvPr/>
        </p:nvSpPr>
        <p:spPr>
          <a:xfrm>
            <a:off x="10883900" y="3778796"/>
            <a:ext cx="609600" cy="459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3220"/>
              </a:lnSpc>
              <a:buNone/>
            </a:pPr>
            <a:r>
              <a:rPr lang="ar-SA" altLang="en-US" sz="2300" b="1" dirty="0">
                <a:solidFill>
                  <a:srgbClr val="FF8D26"/>
                </a:solidFill>
                <a:latin typeface="Sakkal Saad TN Trial Light"/>
                <a:cs typeface="Sakkal Saad TN Trial Light"/>
              </a:rPr>
              <a:t>04</a:t>
            </a:r>
            <a:endParaRPr lang="ar-SA" sz="2300" dirty="0"/>
          </a:p>
        </p:txBody>
      </p:sp>
      <p:sp>
        <p:nvSpPr>
          <p:cNvPr id="17" name="s2-text-15"/>
          <p:cNvSpPr txBox="1"/>
          <p:nvPr/>
        </p:nvSpPr>
        <p:spPr>
          <a:xfrm>
            <a:off x="8812074" y="3838321"/>
            <a:ext cx="198292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600"/>
              </a:lnSpc>
              <a:buNone/>
            </a:pPr>
            <a:r>
              <a:rPr lang="ar-SA" altLang="en-US" sz="20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تحليل الجمهور المستهدف</a:t>
            </a:r>
            <a:endParaRPr lang="ar-SA" sz="2000" dirty="0"/>
          </a:p>
        </p:txBody>
      </p:sp>
      <p:sp>
        <p:nvSpPr>
          <p:cNvPr id="18" name="s2-text-16"/>
          <p:cNvSpPr txBox="1"/>
          <p:nvPr/>
        </p:nvSpPr>
        <p:spPr>
          <a:xfrm>
            <a:off x="10883900" y="4401096"/>
            <a:ext cx="609600" cy="459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3220"/>
              </a:lnSpc>
              <a:buNone/>
            </a:pPr>
            <a:r>
              <a:rPr lang="ar-SA" altLang="en-US" sz="2300" b="1" dirty="0">
                <a:solidFill>
                  <a:srgbClr val="FF8D26"/>
                </a:solidFill>
                <a:latin typeface="Sakkal Saad TN Trial Light"/>
                <a:cs typeface="Sakkal Saad TN Trial Light"/>
              </a:rPr>
              <a:t>05</a:t>
            </a:r>
            <a:endParaRPr lang="ar-SA" sz="2300" dirty="0"/>
          </a:p>
        </p:txBody>
      </p:sp>
      <p:sp>
        <p:nvSpPr>
          <p:cNvPr id="19" name="s2-text-17"/>
          <p:cNvSpPr txBox="1"/>
          <p:nvPr/>
        </p:nvSpPr>
        <p:spPr>
          <a:xfrm>
            <a:off x="9474795" y="4460621"/>
            <a:ext cx="132020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600"/>
              </a:lnSpc>
              <a:buNone/>
            </a:pPr>
            <a:r>
              <a:rPr lang="ar-SA" altLang="en-US" sz="20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تحليل المنافسين</a:t>
            </a:r>
            <a:endParaRPr lang="ar-SA" sz="2000" dirty="0"/>
          </a:p>
        </p:txBody>
      </p:sp>
      <p:sp>
        <p:nvSpPr>
          <p:cNvPr id="20" name="s2-text-18"/>
          <p:cNvSpPr txBox="1"/>
          <p:nvPr/>
        </p:nvSpPr>
        <p:spPr>
          <a:xfrm>
            <a:off x="10883900" y="5023396"/>
            <a:ext cx="609600" cy="459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3220"/>
              </a:lnSpc>
              <a:buNone/>
            </a:pPr>
            <a:r>
              <a:rPr lang="ar-SA" altLang="en-US" sz="2300" b="1" dirty="0">
                <a:solidFill>
                  <a:srgbClr val="FF8D26"/>
                </a:solidFill>
                <a:latin typeface="Sakkal Saad TN Trial Light"/>
                <a:cs typeface="Sakkal Saad TN Trial Light"/>
              </a:rPr>
              <a:t>06</a:t>
            </a:r>
            <a:endParaRPr lang="ar-SA" sz="2300" dirty="0"/>
          </a:p>
        </p:txBody>
      </p:sp>
      <p:sp>
        <p:nvSpPr>
          <p:cNvPr id="21" name="s2-text-19"/>
          <p:cNvSpPr txBox="1"/>
          <p:nvPr/>
        </p:nvSpPr>
        <p:spPr>
          <a:xfrm>
            <a:off x="9612015" y="5082921"/>
            <a:ext cx="118298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600"/>
              </a:lnSpc>
              <a:buNone/>
            </a:pPr>
            <a:r>
              <a:rPr lang="ar-SA" altLang="en-US" sz="20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تحليل SWOT</a:t>
            </a:r>
            <a:endParaRPr lang="ar-SA" sz="2000" dirty="0"/>
          </a:p>
        </p:txBody>
      </p:sp>
      <p:sp>
        <p:nvSpPr>
          <p:cNvPr id="22" name="s2-text-20"/>
          <p:cNvSpPr txBox="1"/>
          <p:nvPr/>
        </p:nvSpPr>
        <p:spPr>
          <a:xfrm>
            <a:off x="10883900" y="5645696"/>
            <a:ext cx="609600" cy="459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3220"/>
              </a:lnSpc>
              <a:buNone/>
            </a:pPr>
            <a:r>
              <a:rPr lang="ar-SA" altLang="en-US" sz="2300" b="1" dirty="0">
                <a:solidFill>
                  <a:srgbClr val="FF8D26"/>
                </a:solidFill>
                <a:latin typeface="Sakkal Saad TN Trial Light"/>
                <a:cs typeface="Sakkal Saad TN Trial Light"/>
              </a:rPr>
              <a:t>07</a:t>
            </a:r>
            <a:endParaRPr lang="ar-SA" sz="2300" dirty="0"/>
          </a:p>
        </p:txBody>
      </p:sp>
      <p:sp>
        <p:nvSpPr>
          <p:cNvPr id="23" name="s2-text-21"/>
          <p:cNvSpPr txBox="1"/>
          <p:nvPr/>
        </p:nvSpPr>
        <p:spPr>
          <a:xfrm>
            <a:off x="8930803" y="5705221"/>
            <a:ext cx="186419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600"/>
              </a:lnSpc>
              <a:buNone/>
            </a:pPr>
            <a:r>
              <a:rPr lang="ar-SA" altLang="en-US" sz="20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الاستراتيجية التسويقية</a:t>
            </a:r>
            <a:endParaRPr lang="ar-SA" sz="2000" dirty="0"/>
          </a:p>
        </p:txBody>
      </p:sp>
      <p:sp>
        <p:nvSpPr>
          <p:cNvPr id="24" name="s2-text-22"/>
          <p:cNvSpPr txBox="1"/>
          <p:nvPr/>
        </p:nvSpPr>
        <p:spPr>
          <a:xfrm>
            <a:off x="5137150" y="1911896"/>
            <a:ext cx="609600" cy="459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3220"/>
              </a:lnSpc>
              <a:buNone/>
            </a:pPr>
            <a:r>
              <a:rPr lang="ar-SA" altLang="en-US" sz="2300" b="1" dirty="0">
                <a:solidFill>
                  <a:srgbClr val="FF8D26"/>
                </a:solidFill>
                <a:latin typeface="Sakkal Saad TN Trial Light"/>
                <a:cs typeface="Sakkal Saad TN Trial Light"/>
              </a:rPr>
              <a:t>08</a:t>
            </a:r>
            <a:endParaRPr lang="ar-SA" sz="2300" dirty="0"/>
          </a:p>
        </p:txBody>
      </p:sp>
      <p:sp>
        <p:nvSpPr>
          <p:cNvPr id="25" name="s2-text-23"/>
          <p:cNvSpPr txBox="1"/>
          <p:nvPr/>
        </p:nvSpPr>
        <p:spPr>
          <a:xfrm>
            <a:off x="3140654" y="1971421"/>
            <a:ext cx="19075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600"/>
              </a:lnSpc>
              <a:buNone/>
            </a:pPr>
            <a:r>
              <a:rPr lang="ar-SA" altLang="en-US" sz="20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خطة المحتوى التسويقي</a:t>
            </a:r>
            <a:endParaRPr lang="ar-SA" sz="2000" dirty="0"/>
          </a:p>
        </p:txBody>
      </p:sp>
      <p:sp>
        <p:nvSpPr>
          <p:cNvPr id="26" name="s2-text-24"/>
          <p:cNvSpPr txBox="1"/>
          <p:nvPr/>
        </p:nvSpPr>
        <p:spPr>
          <a:xfrm>
            <a:off x="5137150" y="2534196"/>
            <a:ext cx="609600" cy="459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3220"/>
              </a:lnSpc>
              <a:buNone/>
            </a:pPr>
            <a:r>
              <a:rPr lang="ar-SA" altLang="en-US" sz="2300" b="1" dirty="0">
                <a:solidFill>
                  <a:srgbClr val="FF8D26"/>
                </a:solidFill>
                <a:latin typeface="Sakkal Saad TN Trial Light"/>
                <a:cs typeface="Sakkal Saad TN Trial Light"/>
              </a:rPr>
              <a:t>09</a:t>
            </a:r>
            <a:endParaRPr lang="ar-SA" sz="2300" dirty="0"/>
          </a:p>
        </p:txBody>
      </p:sp>
      <p:sp>
        <p:nvSpPr>
          <p:cNvPr id="27" name="s2-text-25"/>
          <p:cNvSpPr txBox="1"/>
          <p:nvPr/>
        </p:nvSpPr>
        <p:spPr>
          <a:xfrm>
            <a:off x="3152120" y="2593721"/>
            <a:ext cx="189613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600"/>
              </a:lnSpc>
              <a:buNone/>
            </a:pPr>
            <a:r>
              <a:rPr lang="ar-SA" altLang="en-US" sz="20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كتابة المحتوى التسويقي</a:t>
            </a:r>
            <a:endParaRPr lang="ar-SA" sz="2000" dirty="0"/>
          </a:p>
        </p:txBody>
      </p:sp>
      <p:sp>
        <p:nvSpPr>
          <p:cNvPr id="28" name="s2-text-26"/>
          <p:cNvSpPr txBox="1"/>
          <p:nvPr/>
        </p:nvSpPr>
        <p:spPr>
          <a:xfrm>
            <a:off x="5137150" y="3156496"/>
            <a:ext cx="609600" cy="459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3220"/>
              </a:lnSpc>
              <a:buNone/>
            </a:pPr>
            <a:r>
              <a:rPr lang="ar-SA" altLang="en-US" sz="2300" b="1" dirty="0">
                <a:solidFill>
                  <a:srgbClr val="FF8D26"/>
                </a:solidFill>
                <a:latin typeface="Sakkal Saad TN Trial Light"/>
                <a:cs typeface="Sakkal Saad TN Trial Light"/>
              </a:rPr>
              <a:t>10</a:t>
            </a:r>
            <a:endParaRPr lang="ar-SA" sz="2300" dirty="0"/>
          </a:p>
        </p:txBody>
      </p:sp>
      <p:sp>
        <p:nvSpPr>
          <p:cNvPr id="29" name="s2-text-27"/>
          <p:cNvSpPr txBox="1"/>
          <p:nvPr/>
        </p:nvSpPr>
        <p:spPr>
          <a:xfrm>
            <a:off x="3141083" y="3216021"/>
            <a:ext cx="190716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600"/>
              </a:lnSpc>
              <a:buNone/>
            </a:pPr>
            <a:r>
              <a:rPr lang="ar-SA" altLang="en-US" sz="20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صناعة المحتوى الإعلاني</a:t>
            </a:r>
            <a:endParaRPr lang="ar-SA" sz="2000" dirty="0"/>
          </a:p>
        </p:txBody>
      </p:sp>
      <p:sp>
        <p:nvSpPr>
          <p:cNvPr id="30" name="s2-text-28"/>
          <p:cNvSpPr txBox="1"/>
          <p:nvPr/>
        </p:nvSpPr>
        <p:spPr>
          <a:xfrm>
            <a:off x="5137150" y="3778796"/>
            <a:ext cx="609600" cy="459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3220"/>
              </a:lnSpc>
              <a:buNone/>
            </a:pPr>
            <a:r>
              <a:rPr lang="ar-SA" altLang="en-US" sz="2300" b="1" dirty="0">
                <a:solidFill>
                  <a:srgbClr val="FF8D26"/>
                </a:solidFill>
                <a:latin typeface="Sakkal Saad TN Trial Light"/>
                <a:cs typeface="Sakkal Saad TN Trial Light"/>
              </a:rPr>
              <a:t>11</a:t>
            </a:r>
            <a:endParaRPr lang="ar-SA" sz="2300" dirty="0"/>
          </a:p>
        </p:txBody>
      </p:sp>
      <p:sp>
        <p:nvSpPr>
          <p:cNvPr id="31" name="s2-text-29"/>
          <p:cNvSpPr txBox="1"/>
          <p:nvPr/>
        </p:nvSpPr>
        <p:spPr>
          <a:xfrm>
            <a:off x="2166283" y="3838321"/>
            <a:ext cx="288196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600"/>
              </a:lnSpc>
              <a:buNone/>
            </a:pPr>
            <a:r>
              <a:rPr lang="ar-SA" altLang="en-US" sz="20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توظيف الذكاء الاصطناعي في المشروع</a:t>
            </a:r>
            <a:endParaRPr lang="ar-SA" sz="2000" dirty="0"/>
          </a:p>
        </p:txBody>
      </p:sp>
      <p:sp>
        <p:nvSpPr>
          <p:cNvPr id="32" name="s2-text-30"/>
          <p:cNvSpPr txBox="1"/>
          <p:nvPr/>
        </p:nvSpPr>
        <p:spPr>
          <a:xfrm>
            <a:off x="5137150" y="4401096"/>
            <a:ext cx="609600" cy="459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3220"/>
              </a:lnSpc>
              <a:buNone/>
            </a:pPr>
            <a:r>
              <a:rPr lang="ar-SA" altLang="en-US" sz="2300" b="1" dirty="0">
                <a:solidFill>
                  <a:srgbClr val="FF8D26"/>
                </a:solidFill>
                <a:latin typeface="Sakkal Saad TN Trial Light"/>
                <a:cs typeface="Sakkal Saad TN Trial Light"/>
              </a:rPr>
              <a:t>12</a:t>
            </a:r>
            <a:endParaRPr lang="ar-SA" sz="2300" dirty="0"/>
          </a:p>
        </p:txBody>
      </p:sp>
      <p:sp>
        <p:nvSpPr>
          <p:cNvPr id="33" name="s2-text-31"/>
          <p:cNvSpPr txBox="1"/>
          <p:nvPr/>
        </p:nvSpPr>
        <p:spPr>
          <a:xfrm>
            <a:off x="3222522" y="4460621"/>
            <a:ext cx="182572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600"/>
              </a:lnSpc>
              <a:buNone/>
            </a:pPr>
            <a:r>
              <a:rPr lang="ar-SA" altLang="en-US" sz="20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خطة الحملات الإعلانية</a:t>
            </a:r>
            <a:endParaRPr lang="ar-SA" sz="2000" dirty="0"/>
          </a:p>
        </p:txBody>
      </p:sp>
      <p:sp>
        <p:nvSpPr>
          <p:cNvPr id="34" name="s2-text-32"/>
          <p:cNvSpPr txBox="1"/>
          <p:nvPr/>
        </p:nvSpPr>
        <p:spPr>
          <a:xfrm>
            <a:off x="5137150" y="5023396"/>
            <a:ext cx="609600" cy="459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3220"/>
              </a:lnSpc>
              <a:buNone/>
            </a:pPr>
            <a:r>
              <a:rPr lang="ar-SA" altLang="en-US" sz="2300" b="1" dirty="0">
                <a:solidFill>
                  <a:srgbClr val="FF8D26"/>
                </a:solidFill>
                <a:latin typeface="Sakkal Saad TN Trial Light"/>
                <a:cs typeface="Sakkal Saad TN Trial Light"/>
              </a:rPr>
              <a:t>13</a:t>
            </a:r>
            <a:endParaRPr lang="ar-SA" sz="2300" dirty="0"/>
          </a:p>
        </p:txBody>
      </p:sp>
      <p:sp>
        <p:nvSpPr>
          <p:cNvPr id="35" name="s2-text-33"/>
          <p:cNvSpPr txBox="1"/>
          <p:nvPr/>
        </p:nvSpPr>
        <p:spPr>
          <a:xfrm>
            <a:off x="3659719" y="5082921"/>
            <a:ext cx="138853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600"/>
              </a:lnSpc>
              <a:buNone/>
            </a:pPr>
            <a:r>
              <a:rPr lang="ar-SA" altLang="en-US" sz="20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التحليل والقياس</a:t>
            </a:r>
            <a:endParaRPr lang="ar-SA" sz="2000" dirty="0"/>
          </a:p>
        </p:txBody>
      </p:sp>
      <p:sp>
        <p:nvSpPr>
          <p:cNvPr id="36" name="s2-text-34"/>
          <p:cNvSpPr txBox="1"/>
          <p:nvPr/>
        </p:nvSpPr>
        <p:spPr>
          <a:xfrm>
            <a:off x="5137150" y="5645696"/>
            <a:ext cx="609600" cy="459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3220"/>
              </a:lnSpc>
              <a:buNone/>
            </a:pPr>
            <a:r>
              <a:rPr lang="ar-SA" altLang="en-US" sz="2300" b="1" dirty="0">
                <a:solidFill>
                  <a:srgbClr val="FF8D26"/>
                </a:solidFill>
                <a:latin typeface="Sakkal Saad TN Trial Light"/>
                <a:cs typeface="Sakkal Saad TN Trial Light"/>
              </a:rPr>
              <a:t>14</a:t>
            </a:r>
            <a:endParaRPr lang="ar-SA" sz="2300" dirty="0"/>
          </a:p>
        </p:txBody>
      </p:sp>
      <p:sp>
        <p:nvSpPr>
          <p:cNvPr id="37" name="s2-text-35"/>
          <p:cNvSpPr txBox="1"/>
          <p:nvPr/>
        </p:nvSpPr>
        <p:spPr>
          <a:xfrm>
            <a:off x="3174087" y="5705221"/>
            <a:ext cx="187416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600"/>
              </a:lnSpc>
              <a:buNone/>
            </a:pPr>
            <a:r>
              <a:rPr lang="ar-SA" altLang="en-US" sz="20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التقرير التنفيذي النهائي</a:t>
            </a:r>
            <a:endParaRPr lang="ar-SA" sz="2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3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4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0" dur="489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grpId="0" nodeType="withEffect">
                                  <p:stCondLst>
                                    <p:cond delay="31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750" fill="hold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31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75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75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37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5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37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75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43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75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75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43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75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75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75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75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75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75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75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75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75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75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61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75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75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61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75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75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75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75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75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75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73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75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75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73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750" fill="hold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750" fill="hold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42" presetClass="entr" presetSubtype="0" fill="hold" grpId="0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750" fill="hold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750" fill="hold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750" fill="hold" decel="10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750" fill="hold" decel="10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750" fill="hold" decel="100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750" fill="hold" decel="100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750" fill="hold" decel="100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750" fill="hold" decel="100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42" presetClass="entr" presetSubtype="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750" fill="hold" decel="100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750" fill="hold" decel="100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9" dur="750" fill="hold" decel="100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750" fill="hold" decel="100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42" presetClass="entr" presetSubtype="0" fill="hold" grpId="0" nodeType="withEffect">
                                  <p:stCondLst>
                                    <p:cond delay="97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750" fill="hold" decel="100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750" fill="hold" decel="100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42" presetClass="entr" presetSubtype="0" fill="hold" grpId="0" nodeType="withEffect">
                                  <p:stCondLst>
                                    <p:cond delay="97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9" dur="750" fill="hold" decel="1000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750" fill="hold" decel="1000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42" presetClass="entr" presetSubtype="0" fill="hold" grpId="0" nodeType="withEffect">
                                  <p:stCondLst>
                                    <p:cond delay="103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4" dur="750" fill="hold" decel="100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750" fill="hold" decel="100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42" presetClass="entr" presetSubtype="0" fill="hold" grpId="0" nodeType="withEffect">
                                  <p:stCondLst>
                                    <p:cond delay="103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9" dur="750" fill="hold" decel="1000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750" fill="hold" decel="1000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42" presetClass="entr" presetSubtype="0" fill="hold" grpId="0" nodeType="withEffect">
                                  <p:stCondLst>
                                    <p:cond delay="109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6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4" dur="750" fill="hold" decel="100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750" fill="hold" decel="100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6" presetID="42" presetClass="entr" presetSubtype="0" fill="hold" grpId="0" nodeType="withEffect">
                                  <p:stCondLst>
                                    <p:cond delay="109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6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9" dur="750" fill="hold" decel="100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750" fill="hold" decel="100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</p:bldLst>
  </p:timing>
</p:sld>
</file>

<file path=ppt/slides/slide3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lens"/>
          <p:cNvSpPr/>
          <p:nvPr/>
        </p:nvSpPr>
        <p:spPr>
          <a:xfrm>
            <a:off x="-635000" y="-127000"/>
            <a:ext cx="7112000" cy="7112000"/>
          </a:xfrm>
          <a:prstGeom prst="ellipse">
            <a:avLst/>
          </a:prstGeom>
          <a:solidFill>
            <a:srgbClr val="FFFFFF">
              <a:alpha val="7000"/>
            </a:srgbClr>
          </a:solidFill>
          <a:ln/>
        </p:spPr>
      </p:sp>
      <p:pic>
        <p:nvPicPr>
          <p:cNvPr id="3" name="!!mt" descr="شعار نظرة ثمانية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2306538" y="2151658"/>
            <a:ext cx="2635250" cy="2597150"/>
          </a:xfrm>
          <a:prstGeom prst="rect">
            <a:avLst/>
          </a:prstGeom>
        </p:spPr>
      </p:pic>
      <p:pic>
        <p:nvPicPr>
          <p:cNvPr id="4" name="!!mb" descr="شعار نظرة ثمانية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900658" y="2110978"/>
            <a:ext cx="2565400" cy="2527300"/>
          </a:xfrm>
          <a:prstGeom prst="rect">
            <a:avLst/>
          </a:prstGeom>
        </p:spPr>
      </p:pic>
      <p:pic>
        <p:nvPicPr>
          <p:cNvPr id="5" name="!!ma" descr="شعار نظرة ثمانية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3595291" y="3417143"/>
            <a:ext cx="463550" cy="412750"/>
          </a:xfrm>
          <a:prstGeom prst="rect">
            <a:avLst/>
          </a:prstGeom>
        </p:spPr>
      </p:pic>
      <p:pic>
        <p:nvPicPr>
          <p:cNvPr id="6" name="!!hud" descr="!!hud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7800" y="177800"/>
            <a:ext cx="11836400" cy="6502400"/>
          </a:xfrm>
          <a:prstGeom prst="rect">
            <a:avLst/>
          </a:prstGeom>
        </p:spPr>
      </p:pic>
      <p:sp>
        <p:nvSpPr>
          <p:cNvPr id="7" name="!!rec"/>
          <p:cNvSpPr/>
          <p:nvPr/>
        </p:nvSpPr>
        <p:spPr>
          <a:xfrm>
            <a:off x="635000" y="6337300"/>
            <a:ext cx="101600" cy="101600"/>
          </a:xfrm>
          <a:prstGeom prst="ellipse">
            <a:avLst/>
          </a:prstGeom>
          <a:solidFill>
            <a:srgbClr val="FF8D26"/>
          </a:solidFill>
          <a:ln/>
        </p:spPr>
      </p:sp>
      <p:sp>
        <p:nvSpPr>
          <p:cNvPr id="8" name="!!num"/>
          <p:cNvSpPr txBox="1"/>
          <p:nvPr/>
        </p:nvSpPr>
        <p:spPr>
          <a:xfrm>
            <a:off x="825500" y="6281750"/>
            <a:ext cx="698698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altLang="en-US" sz="1200" dirty="0">
                <a:solidFill>
                  <a:srgbClr val="D9E0DB"/>
                </a:solidFill>
                <a:latin typeface="Sakkal Saad TN Trial Light"/>
                <a:cs typeface="Sakkal Saad TN Trial Light"/>
              </a:rPr>
              <a:t>REC · 03</a:t>
            </a:r>
            <a:endParaRPr lang="en-US" sz="1200" dirty="0"/>
          </a:p>
        </p:txBody>
      </p:sp>
      <p:pic>
        <p:nvPicPr>
          <p:cNvPr id="9" name="s3-snap-8" descr="s3-snap-8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3809" y="1041400"/>
            <a:ext cx="1880791" cy="1981200"/>
          </a:xfrm>
          <a:prstGeom prst="rect">
            <a:avLst/>
          </a:prstGeom>
        </p:spPr>
      </p:pic>
      <p:pic>
        <p:nvPicPr>
          <p:cNvPr id="10" name="s3-snap-9" descr="s3-snap-9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78400" y="3263900"/>
            <a:ext cx="6426200" cy="121404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3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4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53" presetClass="entr" presetSubtype="3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9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1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9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1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9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5" dur="63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lens"/>
          <p:cNvSpPr/>
          <p:nvPr/>
        </p:nvSpPr>
        <p:spPr>
          <a:xfrm>
            <a:off x="368300" y="127000"/>
            <a:ext cx="1206500" cy="1206500"/>
          </a:xfrm>
          <a:prstGeom prst="ellipse">
            <a:avLst/>
          </a:prstGeom>
          <a:solidFill>
            <a:srgbClr val="EEF2EF"/>
          </a:solidFill>
          <a:ln/>
        </p:spPr>
      </p:sp>
      <p:pic>
        <p:nvPicPr>
          <p:cNvPr id="3" name="!!mt" descr="شعار نظرة ثماني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10800000">
            <a:off x="684510" y="608558"/>
            <a:ext cx="546100" cy="533400"/>
          </a:xfrm>
          <a:prstGeom prst="rect">
            <a:avLst/>
          </a:prstGeom>
        </p:spPr>
      </p:pic>
      <p:pic>
        <p:nvPicPr>
          <p:cNvPr id="4" name="!!mb" descr="شعار نظرة ثمانية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709265" y="317798"/>
            <a:ext cx="527050" cy="520700"/>
          </a:xfrm>
          <a:prstGeom prst="rect">
            <a:avLst/>
          </a:prstGeom>
        </p:spPr>
      </p:pic>
      <p:pic>
        <p:nvPicPr>
          <p:cNvPr id="5" name="!!ma" descr="شعار نظرة ثمانية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874018" y="875556"/>
            <a:ext cx="95250" cy="82550"/>
          </a:xfrm>
          <a:prstGeom prst="rect">
            <a:avLst/>
          </a:prstGeom>
        </p:spPr>
      </p:pic>
      <p:pic>
        <p:nvPicPr>
          <p:cNvPr id="6" name="!!hud" descr="!!hu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800" y="177800"/>
            <a:ext cx="11836400" cy="6502400"/>
          </a:xfrm>
          <a:prstGeom prst="rect">
            <a:avLst/>
          </a:prstGeom>
        </p:spPr>
      </p:pic>
      <p:sp>
        <p:nvSpPr>
          <p:cNvPr id="7" name="!!rec"/>
          <p:cNvSpPr/>
          <p:nvPr/>
        </p:nvSpPr>
        <p:spPr>
          <a:xfrm>
            <a:off x="635000" y="6337300"/>
            <a:ext cx="101600" cy="101600"/>
          </a:xfrm>
          <a:prstGeom prst="ellipse">
            <a:avLst/>
          </a:prstGeom>
          <a:solidFill>
            <a:srgbClr val="FF8D26"/>
          </a:solidFill>
          <a:ln/>
        </p:spPr>
      </p:sp>
      <p:sp>
        <p:nvSpPr>
          <p:cNvPr id="8" name="!!num"/>
          <p:cNvSpPr txBox="1"/>
          <p:nvPr/>
        </p:nvSpPr>
        <p:spPr>
          <a:xfrm>
            <a:off x="825500" y="6281750"/>
            <a:ext cx="708819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altLang="en-US" sz="1200" dirty="0">
                <a:solidFill>
                  <a:srgbClr val="5E6D7C"/>
                </a:solidFill>
                <a:latin typeface="Sakkal Saad TN Trial Light"/>
                <a:cs typeface="Sakkal Saad TN Trial Light"/>
              </a:rPr>
              <a:t>REC · 04</a:t>
            </a:r>
            <a:endParaRPr lang="en-US" sz="1200" dirty="0"/>
          </a:p>
        </p:txBody>
      </p:sp>
      <p:sp>
        <p:nvSpPr>
          <p:cNvPr id="9" name="!!kick"/>
          <p:cNvSpPr txBox="1"/>
          <p:nvPr/>
        </p:nvSpPr>
        <p:spPr>
          <a:xfrm>
            <a:off x="10506670" y="318834"/>
            <a:ext cx="105033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ar-SA" altLang="en-US" sz="1500" b="1" dirty="0">
                <a:solidFill>
                  <a:srgbClr val="43644B"/>
                </a:solidFill>
                <a:latin typeface="Sakkal Saad TN Trial Light"/>
                <a:cs typeface="Sakkal Saad TN Trial Light"/>
              </a:rPr>
              <a:t>01</a:t>
            </a:r>
            <a:r>
              <a:rPr lang="ar-SA" altLang="en-US" sz="1500" dirty="0">
                <a:solidFill>
                  <a:srgbClr val="E9720C"/>
                </a:solidFill>
                <a:latin typeface="Sakkal Saad TN Trial Light"/>
                <a:cs typeface="Sakkal Saad TN Trial Light"/>
              </a:rPr>
              <a:t> مقدمة عامة</a:t>
            </a:r>
            <a:endParaRPr lang="ar-SA" sz="1500" dirty="0"/>
          </a:p>
        </p:txBody>
      </p:sp>
      <p:sp>
        <p:nvSpPr>
          <p:cNvPr id="10" name="s4-text-8"/>
          <p:cNvSpPr txBox="1"/>
          <p:nvPr/>
        </p:nvSpPr>
        <p:spPr>
          <a:xfrm>
            <a:off x="8220262" y="695134"/>
            <a:ext cx="3336738" cy="702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5130"/>
              </a:lnSpc>
              <a:buNone/>
            </a:pPr>
            <a:r>
              <a:rPr lang="ar-SA" altLang="en-US" sz="3800" b="1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مقدمة عن نظرة ثمانية</a:t>
            </a:r>
            <a:endParaRPr lang="ar-SA" sz="3800" dirty="0"/>
          </a:p>
        </p:txBody>
      </p:sp>
      <p:sp>
        <p:nvSpPr>
          <p:cNvPr id="11" name="s4-shape-9"/>
          <p:cNvSpPr/>
          <p:nvPr/>
        </p:nvSpPr>
        <p:spPr>
          <a:xfrm>
            <a:off x="5143500" y="1905000"/>
            <a:ext cx="6350000" cy="4318000"/>
          </a:xfrm>
          <a:prstGeom prst="roundRect">
            <a:avLst>
              <a:gd name="adj" fmla="val 5882"/>
            </a:avLst>
          </a:prstGeom>
          <a:solidFill>
            <a:srgbClr val="43644B"/>
          </a:solidFill>
          <a:ln/>
        </p:spPr>
      </p:sp>
      <p:pic>
        <p:nvPicPr>
          <p:cNvPr id="12" name="s4-snap-10" descr="s4-snap-10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12400" y="2222500"/>
            <a:ext cx="838200" cy="838200"/>
          </a:xfrm>
          <a:prstGeom prst="rect">
            <a:avLst/>
          </a:prstGeom>
        </p:spPr>
      </p:pic>
      <p:sp>
        <p:nvSpPr>
          <p:cNvPr id="13" name="s4-text-11"/>
          <p:cNvSpPr txBox="1"/>
          <p:nvPr/>
        </p:nvSpPr>
        <p:spPr>
          <a:xfrm>
            <a:off x="5077460" y="4221162"/>
            <a:ext cx="6035040" cy="157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4000"/>
              </a:lnSpc>
              <a:buNone/>
            </a:pPr>
            <a:r>
              <a:rPr lang="ar-SA" altLang="en-US" sz="2500" dirty="0">
                <a:solidFill>
                  <a:srgbClr val="FFFFFF"/>
                </a:solidFill>
                <a:latin typeface="Sakkal Saad TN Trial Light"/>
                <a:cs typeface="Sakkal Saad TN Trial Light"/>
              </a:rPr>
              <a:t>نظرة ثمانية EightLook متجر إلكتروني سعودي متخصص في</a:t>
            </a:r>
            <a:endParaRPr lang="ar-SA" sz="2500" dirty="0"/>
          </a:p>
          <a:p>
            <a:pPr rtl="1" algn="r" indent="0" marL="0">
              <a:lnSpc>
                <a:spcPts val="4000"/>
              </a:lnSpc>
              <a:buNone/>
            </a:pPr>
            <a:r>
              <a:rPr lang="ar-SA" altLang="en-US" sz="2500" dirty="0">
                <a:solidFill>
                  <a:srgbClr val="FFFFFF"/>
                </a:solidFill>
                <a:latin typeface="Sakkal Saad TN Trial Light"/>
                <a:cs typeface="Sakkal Saad TN Trial Light"/>
              </a:rPr>
              <a:t>حلول الأمن والمراقبة والشبكات ويقدم المنتجات مع</a:t>
            </a:r>
            <a:endParaRPr lang="ar-SA" sz="2500" dirty="0"/>
          </a:p>
          <a:p>
            <a:pPr rtl="1" algn="r" indent="0" marL="0">
              <a:lnSpc>
                <a:spcPts val="4000"/>
              </a:lnSpc>
              <a:buNone/>
            </a:pPr>
            <a:r>
              <a:rPr lang="ar-SA" altLang="en-US" sz="2500" dirty="0">
                <a:solidFill>
                  <a:srgbClr val="FFFFFF"/>
                </a:solidFill>
                <a:latin typeface="Sakkal Saad TN Trial Light"/>
                <a:cs typeface="Sakkal Saad TN Trial Light"/>
              </a:rPr>
              <a:t>الاستشارة والتركيب والبرمجة والدعم الفني.</a:t>
            </a:r>
            <a:endParaRPr lang="ar-SA" sz="2500" dirty="0"/>
          </a:p>
        </p:txBody>
      </p:sp>
      <p:sp>
        <p:nvSpPr>
          <p:cNvPr id="14" name="s4-shape-12"/>
          <p:cNvSpPr/>
          <p:nvPr/>
        </p:nvSpPr>
        <p:spPr>
          <a:xfrm>
            <a:off x="698500" y="1905000"/>
            <a:ext cx="4254500" cy="2019300"/>
          </a:xfrm>
          <a:prstGeom prst="roundRect">
            <a:avLst>
              <a:gd name="adj" fmla="val 12579"/>
            </a:avLst>
          </a:prstGeom>
          <a:solidFill>
            <a:srgbClr val="FFF1E3"/>
          </a:solidFill>
          <a:ln/>
        </p:spPr>
      </p:sp>
      <p:pic>
        <p:nvPicPr>
          <p:cNvPr id="15" name="s4-snap-13" descr="s4-snap-13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76700" y="2146300"/>
            <a:ext cx="609600" cy="609600"/>
          </a:xfrm>
          <a:prstGeom prst="rect">
            <a:avLst/>
          </a:prstGeom>
        </p:spPr>
      </p:pic>
      <p:sp>
        <p:nvSpPr>
          <p:cNvPr id="16" name="s4-text-14"/>
          <p:cNvSpPr txBox="1"/>
          <p:nvPr/>
        </p:nvSpPr>
        <p:spPr>
          <a:xfrm>
            <a:off x="711708" y="2773007"/>
            <a:ext cx="3936492" cy="759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790"/>
              </a:lnSpc>
              <a:buNone/>
            </a:pPr>
            <a:r>
              <a:rPr lang="ar-SA" altLang="en-US" sz="18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فكرة المشروع هي تقديم حل متكامل يناسب احتياج</a:t>
            </a:r>
            <a:endParaRPr lang="ar-SA" sz="1800" dirty="0"/>
          </a:p>
          <a:p>
            <a:pPr rtl="1" algn="r" indent="0" marL="0">
              <a:lnSpc>
                <a:spcPts val="2790"/>
              </a:lnSpc>
              <a:buNone/>
            </a:pPr>
            <a:r>
              <a:rPr lang="ar-SA" altLang="en-US" sz="18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العميل وليس مجرد بيع أجهزة منفصلة.</a:t>
            </a:r>
            <a:endParaRPr lang="ar-SA" sz="1800" dirty="0"/>
          </a:p>
        </p:txBody>
      </p:sp>
      <p:sp>
        <p:nvSpPr>
          <p:cNvPr id="17" name="s4-shape-15"/>
          <p:cNvSpPr/>
          <p:nvPr/>
        </p:nvSpPr>
        <p:spPr>
          <a:xfrm>
            <a:off x="698500" y="4114800"/>
            <a:ext cx="4254500" cy="2108200"/>
          </a:xfrm>
          <a:prstGeom prst="roundRect">
            <a:avLst>
              <a:gd name="adj" fmla="val 12048"/>
            </a:avLst>
          </a:prstGeom>
          <a:solidFill>
            <a:srgbClr val="FFF7DE"/>
          </a:solidFill>
          <a:ln/>
        </p:spPr>
      </p:sp>
      <p:sp>
        <p:nvSpPr>
          <p:cNvPr id="18" name="s4-text-16"/>
          <p:cNvSpPr txBox="1"/>
          <p:nvPr/>
        </p:nvSpPr>
        <p:spPr>
          <a:xfrm>
            <a:off x="711708" y="4310793"/>
            <a:ext cx="3936492" cy="4108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835"/>
              </a:lnSpc>
              <a:buNone/>
            </a:pPr>
            <a:r>
              <a:rPr lang="ar-SA" altLang="en-US" sz="2100" b="1" dirty="0">
                <a:solidFill>
                  <a:srgbClr val="E9720C"/>
                </a:solidFill>
                <a:latin typeface="Sakkal Saad TN Trial Light"/>
                <a:cs typeface="Sakkal Saad TN Trial Light"/>
              </a:rPr>
              <a:t>أهمية نظرة ثمانية</a:t>
            </a:r>
            <a:endParaRPr lang="ar-SA" sz="2100" dirty="0"/>
          </a:p>
        </p:txBody>
      </p:sp>
      <p:sp>
        <p:nvSpPr>
          <p:cNvPr id="19" name="s4-text-17"/>
          <p:cNvSpPr txBox="1"/>
          <p:nvPr/>
        </p:nvSpPr>
        <p:spPr>
          <a:xfrm>
            <a:off x="711708" y="4734236"/>
            <a:ext cx="3936492" cy="96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403"/>
              </a:lnSpc>
              <a:buNone/>
            </a:pPr>
            <a:r>
              <a:rPr lang="ar-SA" altLang="en-US" sz="15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يساعد نظرة ثمانية العملاء على اختيار النظام المناسب وسط</a:t>
            </a:r>
            <a:endParaRPr lang="ar-SA" sz="1550" dirty="0"/>
          </a:p>
          <a:p>
            <a:pPr rtl="1" algn="r" indent="0" marL="0">
              <a:lnSpc>
                <a:spcPts val="2403"/>
              </a:lnSpc>
              <a:buNone/>
            </a:pPr>
            <a:r>
              <a:rPr lang="ar-SA" altLang="en-US" sz="15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تعدد الخيارات والمواصفات من خلال الجمع بين المنتج</a:t>
            </a:r>
            <a:endParaRPr lang="ar-SA" sz="1550" dirty="0"/>
          </a:p>
          <a:p>
            <a:pPr rtl="1" algn="r" indent="0" marL="0">
              <a:lnSpc>
                <a:spcPts val="2403"/>
              </a:lnSpc>
              <a:buNone/>
            </a:pPr>
            <a:r>
              <a:rPr lang="ar-SA" altLang="en-US" sz="15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والاستشارة والتركيب والدعم في جهة واحدة.</a:t>
            </a:r>
            <a:endParaRPr lang="ar-SA" sz="15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3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4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0" dur="489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75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75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75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5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7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75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75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75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75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7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75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75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75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75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/>
      <p:bldP spid="11" grpId="0" animBg="1"/>
      <p:bldP spid="14" grpId="0" animBg="1"/>
      <p:bldP spid="13" grpId="0"/>
      <p:bldP spid="17" grpId="0" animBg="1"/>
      <p:bldP spid="16" grpId="0"/>
      <p:bldP spid="18" grpId="0"/>
      <p:bldP spid="19" grpId="0"/>
    </p:bldLst>
  </p:timing>
</p:sld>
</file>

<file path=ppt/slides/slide5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lens"/>
          <p:cNvSpPr/>
          <p:nvPr/>
        </p:nvSpPr>
        <p:spPr>
          <a:xfrm>
            <a:off x="368300" y="127000"/>
            <a:ext cx="1206500" cy="1206500"/>
          </a:xfrm>
          <a:prstGeom prst="ellipse">
            <a:avLst/>
          </a:prstGeom>
          <a:solidFill>
            <a:srgbClr val="EEF2EF"/>
          </a:solidFill>
          <a:ln/>
        </p:spPr>
      </p:sp>
      <p:pic>
        <p:nvPicPr>
          <p:cNvPr id="3" name="!!mt" descr="شعار نظرة ثماني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-8100000">
            <a:off x="582910" y="562918"/>
            <a:ext cx="546100" cy="533400"/>
          </a:xfrm>
          <a:prstGeom prst="rect">
            <a:avLst/>
          </a:prstGeom>
        </p:spPr>
      </p:pic>
      <p:pic>
        <p:nvPicPr>
          <p:cNvPr id="4" name="!!mb" descr="شعار نظرة ثمانية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8100000">
            <a:off x="813346" y="370483"/>
            <a:ext cx="527050" cy="520700"/>
          </a:xfrm>
          <a:prstGeom prst="rect">
            <a:avLst/>
          </a:prstGeom>
        </p:spPr>
      </p:pic>
      <p:pic>
        <p:nvPicPr>
          <p:cNvPr id="5" name="!!ma" descr="شعار نظرة ثمانية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8100000">
            <a:off x="753368" y="792411"/>
            <a:ext cx="95250" cy="82550"/>
          </a:xfrm>
          <a:prstGeom prst="rect">
            <a:avLst/>
          </a:prstGeom>
        </p:spPr>
      </p:pic>
      <p:pic>
        <p:nvPicPr>
          <p:cNvPr id="6" name="!!hud" descr="!!hu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800" y="177800"/>
            <a:ext cx="11836400" cy="6502400"/>
          </a:xfrm>
          <a:prstGeom prst="rect">
            <a:avLst/>
          </a:prstGeom>
        </p:spPr>
      </p:pic>
      <p:sp>
        <p:nvSpPr>
          <p:cNvPr id="7" name="!!rec"/>
          <p:cNvSpPr/>
          <p:nvPr/>
        </p:nvSpPr>
        <p:spPr>
          <a:xfrm>
            <a:off x="635000" y="6337300"/>
            <a:ext cx="101600" cy="101600"/>
          </a:xfrm>
          <a:prstGeom prst="ellipse">
            <a:avLst/>
          </a:prstGeom>
          <a:solidFill>
            <a:srgbClr val="FF8D26"/>
          </a:solidFill>
          <a:ln/>
        </p:spPr>
      </p:sp>
      <p:sp>
        <p:nvSpPr>
          <p:cNvPr id="8" name="!!num"/>
          <p:cNvSpPr txBox="1"/>
          <p:nvPr/>
        </p:nvSpPr>
        <p:spPr>
          <a:xfrm>
            <a:off x="825500" y="6281750"/>
            <a:ext cx="701179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altLang="en-US" sz="1200" dirty="0">
                <a:solidFill>
                  <a:srgbClr val="5E6D7C"/>
                </a:solidFill>
                <a:latin typeface="Sakkal Saad TN Trial Light"/>
                <a:cs typeface="Sakkal Saad TN Trial Light"/>
              </a:rPr>
              <a:t>REC · 05</a:t>
            </a:r>
            <a:endParaRPr lang="en-US" sz="1200" dirty="0"/>
          </a:p>
        </p:txBody>
      </p:sp>
      <p:sp>
        <p:nvSpPr>
          <p:cNvPr id="9" name="!!kick"/>
          <p:cNvSpPr txBox="1"/>
          <p:nvPr/>
        </p:nvSpPr>
        <p:spPr>
          <a:xfrm>
            <a:off x="10506670" y="318834"/>
            <a:ext cx="105033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ar-SA" altLang="en-US" sz="1500" b="1" dirty="0">
                <a:solidFill>
                  <a:srgbClr val="43644B"/>
                </a:solidFill>
                <a:latin typeface="Sakkal Saad TN Trial Light"/>
                <a:cs typeface="Sakkal Saad TN Trial Light"/>
              </a:rPr>
              <a:t>01</a:t>
            </a:r>
            <a:r>
              <a:rPr lang="ar-SA" altLang="en-US" sz="1500" dirty="0">
                <a:solidFill>
                  <a:srgbClr val="E9720C"/>
                </a:solidFill>
                <a:latin typeface="Sakkal Saad TN Trial Light"/>
                <a:cs typeface="Sakkal Saad TN Trial Light"/>
              </a:rPr>
              <a:t> مقدمة عامة</a:t>
            </a:r>
            <a:endParaRPr lang="ar-SA" sz="1500" dirty="0"/>
          </a:p>
        </p:txBody>
      </p:sp>
      <p:sp>
        <p:nvSpPr>
          <p:cNvPr id="10" name="s5-text-8"/>
          <p:cNvSpPr txBox="1"/>
          <p:nvPr/>
        </p:nvSpPr>
        <p:spPr>
          <a:xfrm>
            <a:off x="8778867" y="695134"/>
            <a:ext cx="2778133" cy="702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5130"/>
              </a:lnSpc>
              <a:buNone/>
            </a:pPr>
            <a:r>
              <a:rPr lang="ar-SA" altLang="en-US" sz="3800" b="1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أهداف نظرة ثمانية</a:t>
            </a:r>
            <a:endParaRPr lang="ar-SA" sz="3800" dirty="0"/>
          </a:p>
        </p:txBody>
      </p:sp>
      <p:sp>
        <p:nvSpPr>
          <p:cNvPr id="11" name="s5-shape-9"/>
          <p:cNvSpPr/>
          <p:nvPr/>
        </p:nvSpPr>
        <p:spPr>
          <a:xfrm>
            <a:off x="9474200" y="2159000"/>
            <a:ext cx="2019300" cy="3302000"/>
          </a:xfrm>
          <a:prstGeom prst="roundRect">
            <a:avLst>
              <a:gd name="adj" fmla="val 12579"/>
            </a:avLst>
          </a:prstGeom>
          <a:solidFill>
            <a:srgbClr val="43644B"/>
          </a:solidFill>
          <a:ln/>
        </p:spPr>
      </p:sp>
      <p:pic>
        <p:nvPicPr>
          <p:cNvPr id="12" name="s5-snap-10" descr="s5-snap-10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91800" y="2374900"/>
            <a:ext cx="711200" cy="711200"/>
          </a:xfrm>
          <a:prstGeom prst="rect">
            <a:avLst/>
          </a:prstGeom>
        </p:spPr>
      </p:pic>
      <p:sp>
        <p:nvSpPr>
          <p:cNvPr id="13" name="s5-text-11"/>
          <p:cNvSpPr txBox="1"/>
          <p:nvPr/>
        </p:nvSpPr>
        <p:spPr>
          <a:xfrm>
            <a:off x="9601200" y="2332076"/>
            <a:ext cx="53469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3600"/>
              </a:lnSpc>
              <a:buNone/>
            </a:pPr>
            <a:r>
              <a:rPr lang="ar-SA" altLang="en-US" sz="3600" b="1" dirty="0">
                <a:solidFill>
                  <a:srgbClr val="A1B2A5"/>
                </a:solidFill>
                <a:latin typeface="Sakkal Saad TN Trial Light"/>
                <a:cs typeface="Sakkal Saad TN Trial Light"/>
              </a:rPr>
              <a:t>01</a:t>
            </a:r>
            <a:endParaRPr lang="ar-SA" sz="3600" dirty="0"/>
          </a:p>
        </p:txBody>
      </p:sp>
      <p:sp>
        <p:nvSpPr>
          <p:cNvPr id="14" name="s5-text-12"/>
          <p:cNvSpPr txBox="1"/>
          <p:nvPr/>
        </p:nvSpPr>
        <p:spPr>
          <a:xfrm>
            <a:off x="9577832" y="4277895"/>
            <a:ext cx="1687068" cy="861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3190"/>
              </a:lnSpc>
              <a:buNone/>
            </a:pPr>
            <a:r>
              <a:rPr lang="ar-SA" altLang="en-US" sz="2200" dirty="0">
                <a:solidFill>
                  <a:srgbClr val="FFFFFF"/>
                </a:solidFill>
                <a:latin typeface="Sakkal Saad TN Trial Light"/>
                <a:cs typeface="Sakkal Saad TN Trial Light"/>
              </a:rPr>
              <a:t>زيادة الوعي بعلامة</a:t>
            </a:r>
            <a:endParaRPr lang="ar-SA" sz="2200" dirty="0"/>
          </a:p>
          <a:p>
            <a:pPr rtl="1" algn="r" indent="0" marL="0">
              <a:lnSpc>
                <a:spcPts val="3190"/>
              </a:lnSpc>
              <a:buNone/>
            </a:pPr>
            <a:r>
              <a:rPr lang="ar-SA" altLang="en-US" sz="2200" dirty="0">
                <a:solidFill>
                  <a:srgbClr val="FFFFFF"/>
                </a:solidFill>
                <a:latin typeface="Sakkal Saad TN Trial Light"/>
                <a:cs typeface="Sakkal Saad TN Trial Light"/>
              </a:rPr>
              <a:t>نظرة ثمانية</a:t>
            </a:r>
            <a:endParaRPr lang="ar-SA" sz="2200" dirty="0"/>
          </a:p>
        </p:txBody>
      </p:sp>
      <p:sp>
        <p:nvSpPr>
          <p:cNvPr id="15" name="s5-shape-13"/>
          <p:cNvSpPr/>
          <p:nvPr/>
        </p:nvSpPr>
        <p:spPr>
          <a:xfrm>
            <a:off x="7264400" y="2159000"/>
            <a:ext cx="2019300" cy="3302000"/>
          </a:xfrm>
          <a:prstGeom prst="roundRect">
            <a:avLst>
              <a:gd name="adj" fmla="val 125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0" dist="76200" dir="5400000">
              <a:srgbClr val="1E2A36">
                <a:alpha val="10000"/>
              </a:srgbClr>
            </a:outerShdw>
          </a:effectLst>
        </p:spPr>
      </p:sp>
      <p:pic>
        <p:nvPicPr>
          <p:cNvPr id="16" name="s5-snap-14" descr="s5-snap-14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0" y="2374900"/>
            <a:ext cx="711200" cy="711200"/>
          </a:xfrm>
          <a:prstGeom prst="rect">
            <a:avLst/>
          </a:prstGeom>
        </p:spPr>
      </p:pic>
      <p:sp>
        <p:nvSpPr>
          <p:cNvPr id="17" name="s5-text-15"/>
          <p:cNvSpPr txBox="1"/>
          <p:nvPr/>
        </p:nvSpPr>
        <p:spPr>
          <a:xfrm>
            <a:off x="7391400" y="2332076"/>
            <a:ext cx="53469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3600"/>
              </a:lnSpc>
              <a:buNone/>
            </a:pPr>
            <a:r>
              <a:rPr lang="ar-SA" altLang="en-US" sz="3600" b="1" dirty="0">
                <a:solidFill>
                  <a:srgbClr val="D9E0DB"/>
                </a:solidFill>
                <a:latin typeface="Sakkal Saad TN Trial Light"/>
                <a:cs typeface="Sakkal Saad TN Trial Light"/>
              </a:rPr>
              <a:t>02</a:t>
            </a:r>
            <a:endParaRPr lang="ar-SA" sz="3600" dirty="0"/>
          </a:p>
        </p:txBody>
      </p:sp>
      <p:sp>
        <p:nvSpPr>
          <p:cNvPr id="18" name="s5-text-16"/>
          <p:cNvSpPr txBox="1"/>
          <p:nvPr/>
        </p:nvSpPr>
        <p:spPr>
          <a:xfrm>
            <a:off x="7368032" y="4683005"/>
            <a:ext cx="1687068" cy="455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3190"/>
              </a:lnSpc>
              <a:buNone/>
            </a:pPr>
            <a:r>
              <a:rPr lang="ar-SA" altLang="en-US" sz="22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جذب عملاء جدد</a:t>
            </a:r>
            <a:endParaRPr lang="ar-SA" sz="2200" dirty="0"/>
          </a:p>
        </p:txBody>
      </p:sp>
      <p:sp>
        <p:nvSpPr>
          <p:cNvPr id="19" name="s5-shape-17"/>
          <p:cNvSpPr/>
          <p:nvPr/>
        </p:nvSpPr>
        <p:spPr>
          <a:xfrm>
            <a:off x="5054600" y="2159000"/>
            <a:ext cx="2019300" cy="3302000"/>
          </a:xfrm>
          <a:prstGeom prst="roundRect">
            <a:avLst>
              <a:gd name="adj" fmla="val 12579"/>
            </a:avLst>
          </a:prstGeom>
          <a:solidFill>
            <a:srgbClr val="FF8D26"/>
          </a:solidFill>
          <a:ln/>
        </p:spPr>
      </p:sp>
      <p:pic>
        <p:nvPicPr>
          <p:cNvPr id="20" name="s5-snap-18" descr="s5-snap-18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72200" y="2374900"/>
            <a:ext cx="711200" cy="711200"/>
          </a:xfrm>
          <a:prstGeom prst="rect">
            <a:avLst/>
          </a:prstGeom>
        </p:spPr>
      </p:pic>
      <p:sp>
        <p:nvSpPr>
          <p:cNvPr id="21" name="s5-text-19"/>
          <p:cNvSpPr txBox="1"/>
          <p:nvPr/>
        </p:nvSpPr>
        <p:spPr>
          <a:xfrm>
            <a:off x="5181600" y="2332076"/>
            <a:ext cx="53469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3600"/>
              </a:lnSpc>
              <a:buNone/>
            </a:pPr>
            <a:r>
              <a:rPr lang="ar-SA" altLang="en-US" sz="3600" b="1" dirty="0">
                <a:solidFill>
                  <a:srgbClr val="FFC693"/>
                </a:solidFill>
                <a:latin typeface="Sakkal Saad TN Trial Light"/>
                <a:cs typeface="Sakkal Saad TN Trial Light"/>
              </a:rPr>
              <a:t>03</a:t>
            </a:r>
            <a:endParaRPr lang="ar-SA" sz="3600" dirty="0"/>
          </a:p>
        </p:txBody>
      </p:sp>
      <p:sp>
        <p:nvSpPr>
          <p:cNvPr id="22" name="s5-text-20"/>
          <p:cNvSpPr txBox="1"/>
          <p:nvPr/>
        </p:nvSpPr>
        <p:spPr>
          <a:xfrm>
            <a:off x="5158232" y="3872785"/>
            <a:ext cx="1687068" cy="1266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3190"/>
              </a:lnSpc>
              <a:buNone/>
            </a:pPr>
            <a:r>
              <a:rPr lang="ar-SA" altLang="en-US" sz="22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زيادة مبيعات</a:t>
            </a:r>
            <a:endParaRPr lang="ar-SA" sz="2200" dirty="0"/>
          </a:p>
          <a:p>
            <a:pPr rtl="1" algn="r" indent="0" marL="0">
              <a:lnSpc>
                <a:spcPts val="3190"/>
              </a:lnSpc>
              <a:buNone/>
            </a:pPr>
            <a:r>
              <a:rPr lang="ar-SA" altLang="en-US" sz="22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المتجر والباقات</a:t>
            </a:r>
            <a:endParaRPr lang="ar-SA" sz="2200" dirty="0"/>
          </a:p>
          <a:p>
            <a:pPr rtl="1" algn="r" indent="0" marL="0">
              <a:lnSpc>
                <a:spcPts val="3190"/>
              </a:lnSpc>
              <a:buNone/>
            </a:pPr>
            <a:r>
              <a:rPr lang="ar-SA" altLang="en-US" sz="22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المتكاملة</a:t>
            </a:r>
            <a:endParaRPr lang="ar-SA" sz="2200" dirty="0"/>
          </a:p>
        </p:txBody>
      </p:sp>
      <p:sp>
        <p:nvSpPr>
          <p:cNvPr id="23" name="s5-shape-21"/>
          <p:cNvSpPr/>
          <p:nvPr/>
        </p:nvSpPr>
        <p:spPr>
          <a:xfrm>
            <a:off x="2844800" y="2159000"/>
            <a:ext cx="2019300" cy="3302000"/>
          </a:xfrm>
          <a:prstGeom prst="roundRect">
            <a:avLst>
              <a:gd name="adj" fmla="val 125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0" dist="76200" dir="5400000">
              <a:srgbClr val="1E2A36">
                <a:alpha val="10000"/>
              </a:srgbClr>
            </a:outerShdw>
          </a:effectLst>
        </p:spPr>
      </p:sp>
      <p:pic>
        <p:nvPicPr>
          <p:cNvPr id="24" name="s5-snap-22" descr="s5-snap-22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62400" y="2374900"/>
            <a:ext cx="711200" cy="711200"/>
          </a:xfrm>
          <a:prstGeom prst="rect">
            <a:avLst/>
          </a:prstGeom>
        </p:spPr>
      </p:pic>
      <p:sp>
        <p:nvSpPr>
          <p:cNvPr id="25" name="s5-text-23"/>
          <p:cNvSpPr txBox="1"/>
          <p:nvPr/>
        </p:nvSpPr>
        <p:spPr>
          <a:xfrm>
            <a:off x="2971800" y="2332076"/>
            <a:ext cx="53469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3600"/>
              </a:lnSpc>
              <a:buNone/>
            </a:pPr>
            <a:r>
              <a:rPr lang="ar-SA" altLang="en-US" sz="3600" b="1" dirty="0">
                <a:solidFill>
                  <a:srgbClr val="D9E0DB"/>
                </a:solidFill>
                <a:latin typeface="Sakkal Saad TN Trial Light"/>
                <a:cs typeface="Sakkal Saad TN Trial Light"/>
              </a:rPr>
              <a:t>04</a:t>
            </a:r>
            <a:endParaRPr lang="ar-SA" sz="3600" dirty="0"/>
          </a:p>
        </p:txBody>
      </p:sp>
      <p:sp>
        <p:nvSpPr>
          <p:cNvPr id="26" name="s5-text-24"/>
          <p:cNvSpPr txBox="1"/>
          <p:nvPr/>
        </p:nvSpPr>
        <p:spPr>
          <a:xfrm>
            <a:off x="2948432" y="4277895"/>
            <a:ext cx="1687068" cy="861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3190"/>
              </a:lnSpc>
              <a:buNone/>
            </a:pPr>
            <a:r>
              <a:rPr lang="ar-SA" altLang="en-US" sz="22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تقديم تجربة شراء</a:t>
            </a:r>
            <a:endParaRPr lang="ar-SA" sz="2200" dirty="0"/>
          </a:p>
          <a:p>
            <a:pPr rtl="1" algn="r" indent="0" marL="0">
              <a:lnSpc>
                <a:spcPts val="3190"/>
              </a:lnSpc>
              <a:buNone/>
            </a:pPr>
            <a:r>
              <a:rPr lang="ar-SA" altLang="en-US" sz="22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أسهل وأكثر ثقة</a:t>
            </a:r>
            <a:endParaRPr lang="ar-SA" sz="2200" dirty="0"/>
          </a:p>
        </p:txBody>
      </p:sp>
      <p:sp>
        <p:nvSpPr>
          <p:cNvPr id="27" name="s5-shape-25"/>
          <p:cNvSpPr/>
          <p:nvPr/>
        </p:nvSpPr>
        <p:spPr>
          <a:xfrm>
            <a:off x="635000" y="2159000"/>
            <a:ext cx="2019300" cy="3302000"/>
          </a:xfrm>
          <a:prstGeom prst="roundRect">
            <a:avLst>
              <a:gd name="adj" fmla="val 12579"/>
            </a:avLst>
          </a:prstGeom>
          <a:solidFill>
            <a:srgbClr val="F6C342"/>
          </a:solidFill>
          <a:ln/>
        </p:spPr>
      </p:sp>
      <p:pic>
        <p:nvPicPr>
          <p:cNvPr id="28" name="s5-snap-26" descr="s5-snap-26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52600" y="2374900"/>
            <a:ext cx="711200" cy="711200"/>
          </a:xfrm>
          <a:prstGeom prst="rect">
            <a:avLst/>
          </a:prstGeom>
        </p:spPr>
      </p:pic>
      <p:sp>
        <p:nvSpPr>
          <p:cNvPr id="29" name="s5-text-27"/>
          <p:cNvSpPr txBox="1"/>
          <p:nvPr/>
        </p:nvSpPr>
        <p:spPr>
          <a:xfrm>
            <a:off x="762000" y="2332076"/>
            <a:ext cx="53469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3600"/>
              </a:lnSpc>
              <a:buNone/>
            </a:pPr>
            <a:r>
              <a:rPr lang="ar-SA" altLang="en-US" sz="3600" b="1" dirty="0">
                <a:solidFill>
                  <a:srgbClr val="FDF0D0"/>
                </a:solidFill>
                <a:latin typeface="Sakkal Saad TN Trial Light"/>
                <a:cs typeface="Sakkal Saad TN Trial Light"/>
              </a:rPr>
              <a:t>05</a:t>
            </a:r>
            <a:endParaRPr lang="ar-SA" sz="3600" dirty="0"/>
          </a:p>
        </p:txBody>
      </p:sp>
      <p:sp>
        <p:nvSpPr>
          <p:cNvPr id="30" name="s5-text-28"/>
          <p:cNvSpPr txBox="1"/>
          <p:nvPr/>
        </p:nvSpPr>
        <p:spPr>
          <a:xfrm>
            <a:off x="738632" y="3467675"/>
            <a:ext cx="1687068" cy="1671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3190"/>
              </a:lnSpc>
              <a:buNone/>
            </a:pPr>
            <a:r>
              <a:rPr lang="ar-SA" altLang="en-US" sz="22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بناء علاقة طويلة</a:t>
            </a:r>
            <a:endParaRPr lang="ar-SA" sz="2200" dirty="0"/>
          </a:p>
          <a:p>
            <a:pPr rtl="1" algn="r" indent="0" marL="0">
              <a:lnSpc>
                <a:spcPts val="3190"/>
              </a:lnSpc>
              <a:buNone/>
            </a:pPr>
            <a:r>
              <a:rPr lang="ar-SA" altLang="en-US" sz="22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الأمد مع العملاء</a:t>
            </a:r>
            <a:endParaRPr lang="ar-SA" sz="2200" dirty="0"/>
          </a:p>
          <a:p>
            <a:pPr rtl="1" algn="r" indent="0" marL="0">
              <a:lnSpc>
                <a:spcPts val="3190"/>
              </a:lnSpc>
              <a:buNone/>
            </a:pPr>
            <a:r>
              <a:rPr lang="ar-SA" altLang="en-US" sz="22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وتشجيع تكرار</a:t>
            </a:r>
            <a:endParaRPr lang="ar-SA" sz="2200" dirty="0"/>
          </a:p>
          <a:p>
            <a:pPr rtl="1" algn="r" indent="0" marL="0">
              <a:lnSpc>
                <a:spcPts val="3190"/>
              </a:lnSpc>
              <a:buNone/>
            </a:pPr>
            <a:r>
              <a:rPr lang="ar-SA" altLang="en-US" sz="22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الشراء</a:t>
            </a:r>
            <a:endParaRPr lang="ar-SA" sz="22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3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4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0" dur="489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75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75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75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5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75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75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75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75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75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75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75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75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75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75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75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53" presetClass="entr" presetSubtype="16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27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75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75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750" fill="hold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750" fill="hold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750" fill="hold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750" fill="hold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53" presetClass="entr" presetSubtype="16" fill="hold" grpId="0" nodeType="withEffect">
                                  <p:stCondLst>
                                    <p:cond delay="57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27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750" fill="hold" decel="10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750" fill="hold" decel="10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750" fill="hold" decel="100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750" fill="hold" decel="100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750" fill="hold" decel="100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750" fill="hold" decel="100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53" presetClass="entr" presetSubtype="16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27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53" presetClass="entr" presetSubtype="16" fill="hold" grpId="0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27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6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6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53" presetClass="entr" presetSubtype="16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27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6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6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/>
      <p:bldP spid="11" grpId="0" animBg="1"/>
      <p:bldP spid="13" grpId="0"/>
      <p:bldP spid="14" grpId="0"/>
      <p:bldP spid="15" grpId="0" animBg="1"/>
      <p:bldP spid="17" grpId="0"/>
      <p:bldP spid="18" grpId="0"/>
      <p:bldP spid="19" grpId="0" animBg="1"/>
      <p:bldP spid="21" grpId="0"/>
      <p:bldP spid="22" grpId="0"/>
      <p:bldP spid="23" grpId="0" animBg="1"/>
      <p:bldP spid="25" grpId="0"/>
      <p:bldP spid="26" grpId="0"/>
      <p:bldP spid="27" grpId="0" animBg="1"/>
      <p:bldP spid="29" grpId="0"/>
      <p:bldP spid="30" grpId="0"/>
    </p:bldLst>
  </p:timing>
</p:sld>
</file>

<file path=ppt/slides/slide6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lens"/>
          <p:cNvSpPr/>
          <p:nvPr/>
        </p:nvSpPr>
        <p:spPr>
          <a:xfrm>
            <a:off x="5715000" y="-127000"/>
            <a:ext cx="7112000" cy="7112000"/>
          </a:xfrm>
          <a:prstGeom prst="ellipse">
            <a:avLst/>
          </a:prstGeom>
          <a:solidFill>
            <a:srgbClr val="FFFFFF">
              <a:alpha val="7000"/>
            </a:srgbClr>
          </a:solidFill>
          <a:ln/>
        </p:spPr>
      </p:sp>
      <p:pic>
        <p:nvPicPr>
          <p:cNvPr id="3" name="!!mt" descr="شعار نظرة ثمانية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7616081" y="2693293"/>
            <a:ext cx="3257550" cy="3213100"/>
          </a:xfrm>
          <a:prstGeom prst="rect">
            <a:avLst/>
          </a:prstGeom>
        </p:spPr>
      </p:pic>
      <p:pic>
        <p:nvPicPr>
          <p:cNvPr id="4" name="!!mb" descr="شعار نظرة ثمانية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7746901" y="953740"/>
            <a:ext cx="3181350" cy="3124200"/>
          </a:xfrm>
          <a:prstGeom prst="rect">
            <a:avLst/>
          </a:prstGeom>
        </p:spPr>
      </p:pic>
      <p:pic>
        <p:nvPicPr>
          <p:cNvPr id="5" name="!!ma" descr="شعار نظرة ثمانية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8740676" y="4297015"/>
            <a:ext cx="577850" cy="508000"/>
          </a:xfrm>
          <a:prstGeom prst="rect">
            <a:avLst/>
          </a:prstGeom>
        </p:spPr>
      </p:pic>
      <p:pic>
        <p:nvPicPr>
          <p:cNvPr id="6" name="!!hud" descr="!!hud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7800" y="177800"/>
            <a:ext cx="11836400" cy="6502400"/>
          </a:xfrm>
          <a:prstGeom prst="rect">
            <a:avLst/>
          </a:prstGeom>
        </p:spPr>
      </p:pic>
      <p:sp>
        <p:nvSpPr>
          <p:cNvPr id="7" name="!!rec"/>
          <p:cNvSpPr/>
          <p:nvPr/>
        </p:nvSpPr>
        <p:spPr>
          <a:xfrm>
            <a:off x="635000" y="6337300"/>
            <a:ext cx="101600" cy="101600"/>
          </a:xfrm>
          <a:prstGeom prst="ellipse">
            <a:avLst/>
          </a:prstGeom>
          <a:solidFill>
            <a:srgbClr val="FF8D26"/>
          </a:solidFill>
          <a:ln/>
        </p:spPr>
      </p:sp>
      <p:sp>
        <p:nvSpPr>
          <p:cNvPr id="8" name="!!num"/>
          <p:cNvSpPr txBox="1"/>
          <p:nvPr/>
        </p:nvSpPr>
        <p:spPr>
          <a:xfrm>
            <a:off x="825500" y="6281750"/>
            <a:ext cx="706438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altLang="en-US" sz="1200" dirty="0">
                <a:solidFill>
                  <a:srgbClr val="D9E0DB"/>
                </a:solidFill>
                <a:latin typeface="Sakkal Saad TN Trial Light"/>
                <a:cs typeface="Sakkal Saad TN Trial Light"/>
              </a:rPr>
              <a:t>REC · 06</a:t>
            </a:r>
            <a:endParaRPr lang="en-US" sz="1200" dirty="0"/>
          </a:p>
        </p:txBody>
      </p:sp>
      <p:pic>
        <p:nvPicPr>
          <p:cNvPr id="9" name="s6-snap-8" descr="s6-snap-8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7400" y="1041400"/>
            <a:ext cx="1880791" cy="1981200"/>
          </a:xfrm>
          <a:prstGeom prst="rect">
            <a:avLst/>
          </a:prstGeom>
        </p:spPr>
      </p:pic>
      <p:pic>
        <p:nvPicPr>
          <p:cNvPr id="10" name="s6-snap-9" descr="s6-snap-9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7400" y="3263900"/>
            <a:ext cx="6426200" cy="235188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3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4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53" presetClass="entr" presetSubtype="3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9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1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9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1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9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5" dur="63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7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lens"/>
          <p:cNvSpPr/>
          <p:nvPr/>
        </p:nvSpPr>
        <p:spPr>
          <a:xfrm>
            <a:off x="368300" y="127000"/>
            <a:ext cx="1206500" cy="1206500"/>
          </a:xfrm>
          <a:prstGeom prst="ellipse">
            <a:avLst/>
          </a:prstGeom>
          <a:solidFill>
            <a:srgbClr val="EEF2EF"/>
          </a:solidFill>
          <a:ln/>
        </p:spPr>
      </p:sp>
      <p:pic>
        <p:nvPicPr>
          <p:cNvPr id="3" name="!!mt" descr="شعار نظرة ثماني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-2700000">
            <a:off x="589260" y="357733"/>
            <a:ext cx="546100" cy="533400"/>
          </a:xfrm>
          <a:prstGeom prst="rect">
            <a:avLst/>
          </a:prstGeom>
        </p:spPr>
      </p:pic>
      <p:pic>
        <p:nvPicPr>
          <p:cNvPr id="4" name="!!mb" descr="شعار نظرة ثمانية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2700000">
            <a:off x="798165" y="585093"/>
            <a:ext cx="527050" cy="520700"/>
          </a:xfrm>
          <a:prstGeom prst="rect">
            <a:avLst/>
          </a:prstGeom>
        </p:spPr>
      </p:pic>
      <p:pic>
        <p:nvPicPr>
          <p:cNvPr id="5" name="!!ma" descr="شعار نظرة ثمانية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2700000">
            <a:off x="810518" y="528290"/>
            <a:ext cx="95250" cy="82550"/>
          </a:xfrm>
          <a:prstGeom prst="rect">
            <a:avLst/>
          </a:prstGeom>
        </p:spPr>
      </p:pic>
      <p:pic>
        <p:nvPicPr>
          <p:cNvPr id="6" name="!!hud" descr="!!hu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800" y="177800"/>
            <a:ext cx="11836400" cy="6502400"/>
          </a:xfrm>
          <a:prstGeom prst="rect">
            <a:avLst/>
          </a:prstGeom>
        </p:spPr>
      </p:pic>
      <p:sp>
        <p:nvSpPr>
          <p:cNvPr id="7" name="!!rec"/>
          <p:cNvSpPr/>
          <p:nvPr/>
        </p:nvSpPr>
        <p:spPr>
          <a:xfrm>
            <a:off x="635000" y="6337300"/>
            <a:ext cx="101600" cy="101600"/>
          </a:xfrm>
          <a:prstGeom prst="ellipse">
            <a:avLst/>
          </a:prstGeom>
          <a:solidFill>
            <a:srgbClr val="FF8D26"/>
          </a:solidFill>
          <a:ln/>
        </p:spPr>
      </p:sp>
      <p:sp>
        <p:nvSpPr>
          <p:cNvPr id="8" name="!!num"/>
          <p:cNvSpPr txBox="1"/>
          <p:nvPr/>
        </p:nvSpPr>
        <p:spPr>
          <a:xfrm>
            <a:off x="825500" y="6281750"/>
            <a:ext cx="695027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altLang="en-US" sz="1200" dirty="0">
                <a:solidFill>
                  <a:srgbClr val="5E6D7C"/>
                </a:solidFill>
                <a:latin typeface="Sakkal Saad TN Trial Light"/>
                <a:cs typeface="Sakkal Saad TN Trial Light"/>
              </a:rPr>
              <a:t>REC · 07</a:t>
            </a:r>
            <a:endParaRPr lang="en-US" sz="1200" dirty="0"/>
          </a:p>
        </p:txBody>
      </p:sp>
      <p:sp>
        <p:nvSpPr>
          <p:cNvPr id="9" name="!!kick"/>
          <p:cNvSpPr txBox="1"/>
          <p:nvPr/>
        </p:nvSpPr>
        <p:spPr>
          <a:xfrm>
            <a:off x="9808746" y="318834"/>
            <a:ext cx="1748254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ar-SA" altLang="en-US" sz="1500" b="1" dirty="0">
                <a:solidFill>
                  <a:srgbClr val="43644B"/>
                </a:solidFill>
                <a:latin typeface="Sakkal Saad TN Trial Light"/>
                <a:cs typeface="Sakkal Saad TN Trial Light"/>
              </a:rPr>
              <a:t>02</a:t>
            </a:r>
            <a:r>
              <a:rPr lang="ar-SA" altLang="en-US" sz="1500" dirty="0">
                <a:solidFill>
                  <a:srgbClr val="E9720C"/>
                </a:solidFill>
                <a:latin typeface="Sakkal Saad TN Trial Light"/>
                <a:cs typeface="Sakkal Saad TN Trial Light"/>
              </a:rPr>
              <a:t> معلومات عن نظرة ثمانية</a:t>
            </a:r>
            <a:endParaRPr lang="ar-SA" sz="1500" dirty="0"/>
          </a:p>
        </p:txBody>
      </p:sp>
      <p:sp>
        <p:nvSpPr>
          <p:cNvPr id="10" name="s7-text-8"/>
          <p:cNvSpPr txBox="1"/>
          <p:nvPr/>
        </p:nvSpPr>
        <p:spPr>
          <a:xfrm>
            <a:off x="7803424" y="695134"/>
            <a:ext cx="3753576" cy="702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5130"/>
              </a:lnSpc>
              <a:buNone/>
            </a:pPr>
            <a:r>
              <a:rPr lang="ar-SA" altLang="en-US" sz="3800" b="1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معلومات عن نظرة ثمانية</a:t>
            </a:r>
            <a:endParaRPr lang="ar-SA" sz="3800" dirty="0"/>
          </a:p>
        </p:txBody>
      </p:sp>
      <p:sp>
        <p:nvSpPr>
          <p:cNvPr id="11" name="s7-shape-9"/>
          <p:cNvSpPr/>
          <p:nvPr/>
        </p:nvSpPr>
        <p:spPr>
          <a:xfrm>
            <a:off x="6667500" y="1905000"/>
            <a:ext cx="4826000" cy="4318000"/>
          </a:xfrm>
          <a:prstGeom prst="roundRect">
            <a:avLst>
              <a:gd name="adj" fmla="val 5882"/>
            </a:avLst>
          </a:prstGeom>
          <a:solidFill>
            <a:srgbClr val="FF8D26"/>
          </a:solidFill>
          <a:ln/>
        </p:spPr>
      </p:sp>
      <p:sp>
        <p:nvSpPr>
          <p:cNvPr id="12" name="s7-text-10"/>
          <p:cNvSpPr txBox="1"/>
          <p:nvPr/>
        </p:nvSpPr>
        <p:spPr>
          <a:xfrm>
            <a:off x="6634988" y="2131822"/>
            <a:ext cx="4553712" cy="298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950"/>
              </a:lnSpc>
              <a:buNone/>
            </a:pPr>
            <a:r>
              <a:rPr lang="ar-SA" altLang="en-US" sz="15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اسم المشروع</a:t>
            </a:r>
            <a:endParaRPr lang="ar-SA" sz="1500" dirty="0"/>
          </a:p>
        </p:txBody>
      </p:sp>
      <p:sp>
        <p:nvSpPr>
          <p:cNvPr id="13" name="s7-text-11"/>
          <p:cNvSpPr txBox="1"/>
          <p:nvPr/>
        </p:nvSpPr>
        <p:spPr>
          <a:xfrm>
            <a:off x="6634988" y="2394407"/>
            <a:ext cx="4553712" cy="782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5760"/>
              </a:lnSpc>
              <a:buNone/>
            </a:pPr>
            <a:r>
              <a:rPr lang="ar-SA" altLang="en-US" sz="4800" b="1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نظرة ثمانية</a:t>
            </a:r>
            <a:endParaRPr lang="ar-SA" sz="4800" dirty="0"/>
          </a:p>
        </p:txBody>
      </p:sp>
      <p:sp>
        <p:nvSpPr>
          <p:cNvPr id="14" name="s7-text-12"/>
          <p:cNvSpPr txBox="1"/>
          <p:nvPr/>
        </p:nvSpPr>
        <p:spPr>
          <a:xfrm>
            <a:off x="6634988" y="3165421"/>
            <a:ext cx="4553712" cy="599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4320"/>
              </a:lnSpc>
              <a:buNone/>
            </a:pPr>
            <a:r>
              <a:rPr lang="en-US" altLang="en-US" sz="3600" b="1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EightLook</a:t>
            </a:r>
            <a:endParaRPr lang="en-US" sz="3600" dirty="0"/>
          </a:p>
        </p:txBody>
      </p:sp>
      <p:pic>
        <p:nvPicPr>
          <p:cNvPr id="15" name="s7-snap-13" descr="s7-snap-13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7500" y="3470374"/>
            <a:ext cx="1841500" cy="2752626"/>
          </a:xfrm>
          <a:prstGeom prst="rect">
            <a:avLst/>
          </a:prstGeom>
        </p:spPr>
      </p:pic>
      <p:sp>
        <p:nvSpPr>
          <p:cNvPr id="16" name="s7-shape-14"/>
          <p:cNvSpPr/>
          <p:nvPr/>
        </p:nvSpPr>
        <p:spPr>
          <a:xfrm>
            <a:off x="698500" y="1905000"/>
            <a:ext cx="5842000" cy="4318000"/>
          </a:xfrm>
          <a:prstGeom prst="roundRect">
            <a:avLst>
              <a:gd name="adj" fmla="val 5882"/>
            </a:avLst>
          </a:prstGeom>
          <a:solidFill>
            <a:srgbClr val="EEF2EF"/>
          </a:solidFill>
          <a:ln/>
        </p:spPr>
      </p:sp>
      <p:pic>
        <p:nvPicPr>
          <p:cNvPr id="17" name="s7-snap-15" descr="s7-snap-15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37200" y="2146300"/>
            <a:ext cx="736600" cy="736600"/>
          </a:xfrm>
          <a:prstGeom prst="rect">
            <a:avLst/>
          </a:prstGeom>
        </p:spPr>
      </p:pic>
      <p:sp>
        <p:nvSpPr>
          <p:cNvPr id="18" name="s7-text-16"/>
          <p:cNvSpPr txBox="1"/>
          <p:nvPr/>
        </p:nvSpPr>
        <p:spPr>
          <a:xfrm>
            <a:off x="4422279" y="2251210"/>
            <a:ext cx="1000621" cy="4108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835"/>
              </a:lnSpc>
              <a:buNone/>
            </a:pPr>
            <a:r>
              <a:rPr lang="ar-SA" altLang="en-US" sz="2100" b="1" dirty="0">
                <a:solidFill>
                  <a:srgbClr val="43644B"/>
                </a:solidFill>
                <a:latin typeface="Sakkal Saad TN Trial Light"/>
                <a:cs typeface="Sakkal Saad TN Trial Light"/>
              </a:rPr>
              <a:t>نوع النشاط</a:t>
            </a:r>
            <a:endParaRPr lang="ar-SA" sz="2100" dirty="0"/>
          </a:p>
        </p:txBody>
      </p:sp>
      <p:sp>
        <p:nvSpPr>
          <p:cNvPr id="19" name="s7-text-17"/>
          <p:cNvSpPr txBox="1"/>
          <p:nvPr/>
        </p:nvSpPr>
        <p:spPr>
          <a:xfrm>
            <a:off x="584708" y="4493439"/>
            <a:ext cx="5650992" cy="139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3520"/>
              </a:lnSpc>
              <a:buNone/>
            </a:pPr>
            <a:r>
              <a:rPr lang="ar-SA" altLang="en-US" sz="22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تجارة إلكترونية متخصصة في حلول الأمن والمراقبة والشبكات</a:t>
            </a:r>
            <a:endParaRPr lang="ar-SA" sz="2200" dirty="0"/>
          </a:p>
          <a:p>
            <a:pPr rtl="1" algn="r" indent="0" marL="0">
              <a:lnSpc>
                <a:spcPts val="3520"/>
              </a:lnSpc>
              <a:buNone/>
            </a:pPr>
            <a:r>
              <a:rPr lang="ar-SA" altLang="en-US" sz="22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والأنظمة التقنية مع خدمات الاستشارة والتركيب والبرمجة</a:t>
            </a:r>
            <a:endParaRPr lang="ar-SA" sz="2200" dirty="0"/>
          </a:p>
          <a:p>
            <a:pPr rtl="1" algn="r" indent="0" marL="0">
              <a:lnSpc>
                <a:spcPts val="3520"/>
              </a:lnSpc>
              <a:buNone/>
            </a:pPr>
            <a:r>
              <a:rPr lang="ar-SA" altLang="en-US" sz="22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والدعم الفني.</a:t>
            </a:r>
            <a:endParaRPr lang="ar-SA" sz="22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3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4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0" dur="489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75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75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75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5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75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75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75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75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75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7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31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5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5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11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75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75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/>
      <p:bldP spid="11" grpId="0" animBg="1"/>
      <p:bldP spid="16" grpId="0" animBg="1"/>
      <p:bldP spid="12" grpId="0"/>
      <p:bldP spid="13" grpId="0"/>
      <p:bldP spid="14" grpId="0"/>
      <p:bldP spid="18" grpId="0"/>
      <p:bldP spid="19" grpId="0"/>
    </p:bldLst>
  </p:timing>
</p:sld>
</file>

<file path=ppt/slides/slide8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lens"/>
          <p:cNvSpPr/>
          <p:nvPr/>
        </p:nvSpPr>
        <p:spPr>
          <a:xfrm>
            <a:off x="368300" y="127000"/>
            <a:ext cx="1206500" cy="1206500"/>
          </a:xfrm>
          <a:prstGeom prst="ellipse">
            <a:avLst/>
          </a:prstGeom>
          <a:solidFill>
            <a:srgbClr val="EEF2EF"/>
          </a:solidFill>
          <a:ln/>
        </p:spPr>
      </p:sp>
      <p:pic>
        <p:nvPicPr>
          <p:cNvPr id="3" name="!!mt" descr="شعار نظرة ثماني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3341" y="318443"/>
            <a:ext cx="546100" cy="533400"/>
          </a:xfrm>
          <a:prstGeom prst="rect">
            <a:avLst/>
          </a:prstGeom>
        </p:spPr>
      </p:pic>
      <p:pic>
        <p:nvPicPr>
          <p:cNvPr id="4" name="!!mb" descr="شعار نظرة ثمانية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040" y="621903"/>
            <a:ext cx="527050" cy="520700"/>
          </a:xfrm>
          <a:prstGeom prst="rect">
            <a:avLst/>
          </a:prstGeom>
        </p:spPr>
      </p:pic>
      <p:pic>
        <p:nvPicPr>
          <p:cNvPr id="5" name="!!ma" descr="شعار نظرة ثمانية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988" y="502196"/>
            <a:ext cx="95250" cy="82550"/>
          </a:xfrm>
          <a:prstGeom prst="rect">
            <a:avLst/>
          </a:prstGeom>
        </p:spPr>
      </p:pic>
      <p:pic>
        <p:nvPicPr>
          <p:cNvPr id="6" name="!!hud" descr="!!hu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800" y="177800"/>
            <a:ext cx="11836400" cy="6502400"/>
          </a:xfrm>
          <a:prstGeom prst="rect">
            <a:avLst/>
          </a:prstGeom>
        </p:spPr>
      </p:pic>
      <p:sp>
        <p:nvSpPr>
          <p:cNvPr id="7" name="!!rec"/>
          <p:cNvSpPr/>
          <p:nvPr/>
        </p:nvSpPr>
        <p:spPr>
          <a:xfrm>
            <a:off x="635000" y="6337300"/>
            <a:ext cx="101600" cy="101600"/>
          </a:xfrm>
          <a:prstGeom prst="ellipse">
            <a:avLst/>
          </a:prstGeom>
          <a:solidFill>
            <a:srgbClr val="FF8D26"/>
          </a:solidFill>
          <a:ln/>
        </p:spPr>
      </p:sp>
      <p:sp>
        <p:nvSpPr>
          <p:cNvPr id="8" name="!!num"/>
          <p:cNvSpPr txBox="1"/>
          <p:nvPr/>
        </p:nvSpPr>
        <p:spPr>
          <a:xfrm>
            <a:off x="825500" y="6281750"/>
            <a:ext cx="701973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altLang="en-US" sz="1200" dirty="0">
                <a:solidFill>
                  <a:srgbClr val="5E6D7C"/>
                </a:solidFill>
                <a:latin typeface="Sakkal Saad TN Trial Light"/>
                <a:cs typeface="Sakkal Saad TN Trial Light"/>
              </a:rPr>
              <a:t>REC · 08</a:t>
            </a:r>
            <a:endParaRPr lang="en-US" sz="1200" dirty="0"/>
          </a:p>
        </p:txBody>
      </p:sp>
      <p:sp>
        <p:nvSpPr>
          <p:cNvPr id="9" name="!!kick"/>
          <p:cNvSpPr txBox="1"/>
          <p:nvPr/>
        </p:nvSpPr>
        <p:spPr>
          <a:xfrm>
            <a:off x="9808746" y="318834"/>
            <a:ext cx="1748254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ar-SA" altLang="en-US" sz="1500" b="1" dirty="0">
                <a:solidFill>
                  <a:srgbClr val="43644B"/>
                </a:solidFill>
                <a:latin typeface="Sakkal Saad TN Trial Light"/>
                <a:cs typeface="Sakkal Saad TN Trial Light"/>
              </a:rPr>
              <a:t>02</a:t>
            </a:r>
            <a:r>
              <a:rPr lang="ar-SA" altLang="en-US" sz="1500" dirty="0">
                <a:solidFill>
                  <a:srgbClr val="E9720C"/>
                </a:solidFill>
                <a:latin typeface="Sakkal Saad TN Trial Light"/>
                <a:cs typeface="Sakkal Saad TN Trial Light"/>
              </a:rPr>
              <a:t> معلومات عن نظرة ثمانية</a:t>
            </a:r>
            <a:endParaRPr lang="ar-SA" sz="1500" dirty="0"/>
          </a:p>
        </p:txBody>
      </p:sp>
      <p:sp>
        <p:nvSpPr>
          <p:cNvPr id="10" name="s8-text-8"/>
          <p:cNvSpPr txBox="1"/>
          <p:nvPr/>
        </p:nvSpPr>
        <p:spPr>
          <a:xfrm>
            <a:off x="7885613" y="695134"/>
            <a:ext cx="3671387" cy="702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5130"/>
              </a:lnSpc>
              <a:buNone/>
            </a:pPr>
            <a:r>
              <a:rPr lang="ar-SA" altLang="en-US" sz="3800" b="1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أبرز المنتجات والخدمات</a:t>
            </a:r>
            <a:endParaRPr lang="ar-SA" sz="3800" dirty="0"/>
          </a:p>
        </p:txBody>
      </p:sp>
      <p:sp>
        <p:nvSpPr>
          <p:cNvPr id="11" name="s8-shape-9"/>
          <p:cNvSpPr/>
          <p:nvPr/>
        </p:nvSpPr>
        <p:spPr>
          <a:xfrm>
            <a:off x="9436100" y="1905000"/>
            <a:ext cx="2057400" cy="2063750"/>
          </a:xfrm>
          <a:prstGeom prst="roundRect">
            <a:avLst>
              <a:gd name="adj" fmla="val 12346"/>
            </a:avLst>
          </a:prstGeom>
          <a:solidFill>
            <a:srgbClr val="43644B"/>
          </a:solidFill>
          <a:ln/>
        </p:spPr>
      </p:sp>
      <p:pic>
        <p:nvPicPr>
          <p:cNvPr id="12" name="s8-snap-10" descr="s8-snap-10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80700" y="2082800"/>
            <a:ext cx="660400" cy="660400"/>
          </a:xfrm>
          <a:prstGeom prst="rect">
            <a:avLst/>
          </a:prstGeom>
        </p:spPr>
      </p:pic>
      <p:sp>
        <p:nvSpPr>
          <p:cNvPr id="13" name="s8-text-11"/>
          <p:cNvSpPr txBox="1"/>
          <p:nvPr/>
        </p:nvSpPr>
        <p:spPr>
          <a:xfrm>
            <a:off x="9492488" y="2777388"/>
            <a:ext cx="1810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320"/>
              </a:lnSpc>
              <a:buNone/>
            </a:pPr>
            <a:r>
              <a:rPr lang="ar-SA" altLang="en-US" sz="1600" dirty="0">
                <a:solidFill>
                  <a:srgbClr val="FFFFFF"/>
                </a:solidFill>
                <a:latin typeface="Sakkal Saad TN Trial Light"/>
                <a:cs typeface="Sakkal Saad TN Trial Light"/>
              </a:rPr>
              <a:t>كاميرات المراقبة وباقاتها : IP،</a:t>
            </a:r>
            <a:endParaRPr lang="ar-SA" sz="1600" dirty="0"/>
          </a:p>
          <a:p>
            <a:pPr rtl="1" algn="r" indent="0" marL="0">
              <a:lnSpc>
                <a:spcPts val="2320"/>
              </a:lnSpc>
              <a:buNone/>
            </a:pPr>
            <a:r>
              <a:rPr lang="ar-SA" altLang="en-US" sz="1600" dirty="0">
                <a:solidFill>
                  <a:srgbClr val="FFFFFF"/>
                </a:solidFill>
                <a:latin typeface="Sakkal Saad TN Trial Light"/>
                <a:cs typeface="Sakkal Saad TN Trial Light"/>
              </a:rPr>
              <a:t>HD، Wi-Fi</a:t>
            </a:r>
            <a:endParaRPr lang="ar-SA" sz="1600" dirty="0"/>
          </a:p>
        </p:txBody>
      </p:sp>
      <p:sp>
        <p:nvSpPr>
          <p:cNvPr id="14" name="s8-shape-12"/>
          <p:cNvSpPr/>
          <p:nvPr/>
        </p:nvSpPr>
        <p:spPr>
          <a:xfrm>
            <a:off x="7251700" y="1905000"/>
            <a:ext cx="2057400" cy="2063750"/>
          </a:xfrm>
          <a:prstGeom prst="roundRect">
            <a:avLst>
              <a:gd name="adj" fmla="val 12346"/>
            </a:avLst>
          </a:prstGeom>
          <a:solidFill>
            <a:srgbClr val="EEF2EF"/>
          </a:solidFill>
          <a:ln/>
        </p:spPr>
      </p:sp>
      <p:pic>
        <p:nvPicPr>
          <p:cNvPr id="15" name="s8-snap-13" descr="s8-snap-13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6300" y="2082800"/>
            <a:ext cx="660400" cy="660400"/>
          </a:xfrm>
          <a:prstGeom prst="rect">
            <a:avLst/>
          </a:prstGeom>
        </p:spPr>
      </p:pic>
      <p:sp>
        <p:nvSpPr>
          <p:cNvPr id="16" name="s8-text-14"/>
          <p:cNvSpPr txBox="1"/>
          <p:nvPr/>
        </p:nvSpPr>
        <p:spPr>
          <a:xfrm>
            <a:off x="7308088" y="2777388"/>
            <a:ext cx="1810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320"/>
              </a:lnSpc>
              <a:buNone/>
            </a:pPr>
            <a:r>
              <a:rPr lang="ar-SA" altLang="en-US" sz="16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أجهزة التسجيل DVR</a:t>
            </a:r>
            <a:endParaRPr lang="ar-SA" sz="1600" dirty="0"/>
          </a:p>
          <a:p>
            <a:pPr rtl="1" algn="r" indent="0" marL="0">
              <a:lnSpc>
                <a:spcPts val="2320"/>
              </a:lnSpc>
              <a:buNone/>
            </a:pPr>
            <a:r>
              <a:rPr lang="ar-SA" altLang="en-US" sz="16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وNVR ووحدات التخزين</a:t>
            </a:r>
            <a:endParaRPr lang="ar-SA" sz="1600" dirty="0"/>
          </a:p>
        </p:txBody>
      </p:sp>
      <p:sp>
        <p:nvSpPr>
          <p:cNvPr id="17" name="s8-shape-15"/>
          <p:cNvSpPr/>
          <p:nvPr/>
        </p:nvSpPr>
        <p:spPr>
          <a:xfrm>
            <a:off x="5067300" y="1905000"/>
            <a:ext cx="2057400" cy="2063750"/>
          </a:xfrm>
          <a:prstGeom prst="roundRect">
            <a:avLst>
              <a:gd name="adj" fmla="val 12346"/>
            </a:avLst>
          </a:prstGeom>
          <a:solidFill>
            <a:srgbClr val="EEF2EF"/>
          </a:solidFill>
          <a:ln/>
        </p:spPr>
      </p:sp>
      <p:pic>
        <p:nvPicPr>
          <p:cNvPr id="18" name="s8-snap-16" descr="s8-snap-16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11900" y="2082800"/>
            <a:ext cx="660400" cy="660400"/>
          </a:xfrm>
          <a:prstGeom prst="rect">
            <a:avLst/>
          </a:prstGeom>
        </p:spPr>
      </p:pic>
      <p:sp>
        <p:nvSpPr>
          <p:cNvPr id="19" name="s8-text-17"/>
          <p:cNvSpPr txBox="1"/>
          <p:nvPr/>
        </p:nvSpPr>
        <p:spPr>
          <a:xfrm>
            <a:off x="5123688" y="2777388"/>
            <a:ext cx="1810512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320"/>
              </a:lnSpc>
              <a:buNone/>
            </a:pPr>
            <a:r>
              <a:rPr lang="ar-SA" altLang="en-US" sz="16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أنظمة الإنتركوم</a:t>
            </a:r>
            <a:endParaRPr lang="ar-SA" sz="1600" dirty="0"/>
          </a:p>
        </p:txBody>
      </p:sp>
      <p:sp>
        <p:nvSpPr>
          <p:cNvPr id="20" name="s8-shape-18"/>
          <p:cNvSpPr/>
          <p:nvPr/>
        </p:nvSpPr>
        <p:spPr>
          <a:xfrm>
            <a:off x="2882900" y="1905000"/>
            <a:ext cx="2057400" cy="2063750"/>
          </a:xfrm>
          <a:prstGeom prst="roundRect">
            <a:avLst>
              <a:gd name="adj" fmla="val 12346"/>
            </a:avLst>
          </a:prstGeom>
          <a:solidFill>
            <a:srgbClr val="EEF2EF"/>
          </a:solidFill>
          <a:ln/>
        </p:spPr>
      </p:sp>
      <p:pic>
        <p:nvPicPr>
          <p:cNvPr id="21" name="s8-snap-19" descr="s8-snap-19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27500" y="2082800"/>
            <a:ext cx="660400" cy="660400"/>
          </a:xfrm>
          <a:prstGeom prst="rect">
            <a:avLst/>
          </a:prstGeom>
        </p:spPr>
      </p:pic>
      <p:sp>
        <p:nvSpPr>
          <p:cNvPr id="22" name="s8-text-20"/>
          <p:cNvSpPr txBox="1"/>
          <p:nvPr/>
        </p:nvSpPr>
        <p:spPr>
          <a:xfrm>
            <a:off x="2939288" y="2777388"/>
            <a:ext cx="1810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320"/>
              </a:lnSpc>
              <a:buNone/>
            </a:pPr>
            <a:r>
              <a:rPr lang="ar-SA" altLang="en-US" sz="16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أجهزة الحضور والانصراف</a:t>
            </a:r>
            <a:endParaRPr lang="ar-SA" sz="1600" dirty="0"/>
          </a:p>
          <a:p>
            <a:pPr rtl="1" algn="r" indent="0" marL="0">
              <a:lnSpc>
                <a:spcPts val="2320"/>
              </a:lnSpc>
              <a:buNone/>
            </a:pPr>
            <a:r>
              <a:rPr lang="ar-SA" altLang="en-US" sz="16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والبصمة</a:t>
            </a:r>
            <a:endParaRPr lang="ar-SA" sz="1600" dirty="0"/>
          </a:p>
        </p:txBody>
      </p:sp>
      <p:sp>
        <p:nvSpPr>
          <p:cNvPr id="23" name="s8-shape-21"/>
          <p:cNvSpPr/>
          <p:nvPr/>
        </p:nvSpPr>
        <p:spPr>
          <a:xfrm>
            <a:off x="698500" y="1905000"/>
            <a:ext cx="2057400" cy="2063750"/>
          </a:xfrm>
          <a:prstGeom prst="roundRect">
            <a:avLst>
              <a:gd name="adj" fmla="val 12346"/>
            </a:avLst>
          </a:prstGeom>
          <a:solidFill>
            <a:srgbClr val="EEF2EF"/>
          </a:solidFill>
          <a:ln/>
        </p:spPr>
      </p:sp>
      <p:pic>
        <p:nvPicPr>
          <p:cNvPr id="24" name="s8-snap-22" descr="s8-snap-22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43100" y="2082800"/>
            <a:ext cx="660400" cy="660400"/>
          </a:xfrm>
          <a:prstGeom prst="rect">
            <a:avLst/>
          </a:prstGeom>
        </p:spPr>
      </p:pic>
      <p:sp>
        <p:nvSpPr>
          <p:cNvPr id="25" name="s8-text-23"/>
          <p:cNvSpPr txBox="1"/>
          <p:nvPr/>
        </p:nvSpPr>
        <p:spPr>
          <a:xfrm>
            <a:off x="754888" y="2777388"/>
            <a:ext cx="1810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320"/>
              </a:lnSpc>
              <a:buNone/>
            </a:pPr>
            <a:r>
              <a:rPr lang="ar-SA" altLang="en-US" sz="16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أنظمة التحكم بالدخول</a:t>
            </a:r>
            <a:endParaRPr lang="ar-SA" sz="1600" dirty="0"/>
          </a:p>
          <a:p>
            <a:pPr rtl="1" algn="r" indent="0" marL="0">
              <a:lnSpc>
                <a:spcPts val="2320"/>
              </a:lnSpc>
              <a:buNone/>
            </a:pPr>
            <a:r>
              <a:rPr lang="ar-SA" altLang="en-US" sz="16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Access Control</a:t>
            </a:r>
            <a:endParaRPr lang="ar-SA" sz="1600" dirty="0"/>
          </a:p>
        </p:txBody>
      </p:sp>
      <p:sp>
        <p:nvSpPr>
          <p:cNvPr id="26" name="s8-shape-24"/>
          <p:cNvSpPr/>
          <p:nvPr/>
        </p:nvSpPr>
        <p:spPr>
          <a:xfrm>
            <a:off x="9436100" y="4095750"/>
            <a:ext cx="2057400" cy="2063750"/>
          </a:xfrm>
          <a:prstGeom prst="roundRect">
            <a:avLst>
              <a:gd name="adj" fmla="val 12346"/>
            </a:avLst>
          </a:prstGeom>
          <a:solidFill>
            <a:srgbClr val="EEF2EF"/>
          </a:solidFill>
          <a:ln/>
        </p:spPr>
      </p:sp>
      <p:pic>
        <p:nvPicPr>
          <p:cNvPr id="27" name="s8-snap-25" descr="s8-snap-25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80700" y="4273550"/>
            <a:ext cx="660400" cy="660400"/>
          </a:xfrm>
          <a:prstGeom prst="rect">
            <a:avLst/>
          </a:prstGeom>
        </p:spPr>
      </p:pic>
      <p:sp>
        <p:nvSpPr>
          <p:cNvPr id="28" name="s8-text-26"/>
          <p:cNvSpPr txBox="1"/>
          <p:nvPr/>
        </p:nvSpPr>
        <p:spPr>
          <a:xfrm>
            <a:off x="9492488" y="4968138"/>
            <a:ext cx="1810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320"/>
              </a:lnSpc>
              <a:buNone/>
            </a:pPr>
            <a:r>
              <a:rPr lang="ar-SA" altLang="en-US" sz="16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حلول الشبكات: راوترات،</a:t>
            </a:r>
            <a:endParaRPr lang="ar-SA" sz="1600" dirty="0"/>
          </a:p>
          <a:p>
            <a:pPr rtl="1" algn="r" indent="0" marL="0">
              <a:lnSpc>
                <a:spcPts val="2320"/>
              </a:lnSpc>
              <a:buNone/>
            </a:pPr>
            <a:r>
              <a:rPr lang="ar-SA" altLang="en-US" sz="16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سويتشات، نقاط وصول</a:t>
            </a:r>
            <a:endParaRPr lang="ar-SA" sz="1600" dirty="0"/>
          </a:p>
        </p:txBody>
      </p:sp>
      <p:sp>
        <p:nvSpPr>
          <p:cNvPr id="29" name="s8-shape-27"/>
          <p:cNvSpPr/>
          <p:nvPr/>
        </p:nvSpPr>
        <p:spPr>
          <a:xfrm>
            <a:off x="7251700" y="4095750"/>
            <a:ext cx="2057400" cy="2063750"/>
          </a:xfrm>
          <a:prstGeom prst="roundRect">
            <a:avLst>
              <a:gd name="adj" fmla="val 12346"/>
            </a:avLst>
          </a:prstGeom>
          <a:solidFill>
            <a:srgbClr val="EEF2EF"/>
          </a:solidFill>
          <a:ln/>
        </p:spPr>
      </p:sp>
      <p:pic>
        <p:nvPicPr>
          <p:cNvPr id="30" name="s8-snap-28" descr="s8-snap-28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96300" y="4273550"/>
            <a:ext cx="660400" cy="660400"/>
          </a:xfrm>
          <a:prstGeom prst="rect">
            <a:avLst/>
          </a:prstGeom>
        </p:spPr>
      </p:pic>
      <p:sp>
        <p:nvSpPr>
          <p:cNvPr id="31" name="s8-text-29"/>
          <p:cNvSpPr txBox="1"/>
          <p:nvPr/>
        </p:nvSpPr>
        <p:spPr>
          <a:xfrm>
            <a:off x="7308088" y="4968138"/>
            <a:ext cx="1810512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320"/>
              </a:lnSpc>
              <a:buNone/>
            </a:pPr>
            <a:r>
              <a:rPr lang="ar-SA" altLang="en-US" sz="16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الداش كام</a:t>
            </a:r>
            <a:endParaRPr lang="ar-SA" sz="1600" dirty="0"/>
          </a:p>
        </p:txBody>
      </p:sp>
      <p:sp>
        <p:nvSpPr>
          <p:cNvPr id="32" name="s8-shape-30"/>
          <p:cNvSpPr/>
          <p:nvPr/>
        </p:nvSpPr>
        <p:spPr>
          <a:xfrm>
            <a:off x="5067300" y="4095750"/>
            <a:ext cx="2057400" cy="2063750"/>
          </a:xfrm>
          <a:prstGeom prst="roundRect">
            <a:avLst>
              <a:gd name="adj" fmla="val 12346"/>
            </a:avLst>
          </a:prstGeom>
          <a:solidFill>
            <a:srgbClr val="EEF2EF"/>
          </a:solidFill>
          <a:ln/>
        </p:spPr>
      </p:sp>
      <p:pic>
        <p:nvPicPr>
          <p:cNvPr id="33" name="s8-snap-31" descr="s8-snap-31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11900" y="4273550"/>
            <a:ext cx="660400" cy="660400"/>
          </a:xfrm>
          <a:prstGeom prst="rect">
            <a:avLst/>
          </a:prstGeom>
        </p:spPr>
      </p:pic>
      <p:sp>
        <p:nvSpPr>
          <p:cNvPr id="34" name="s8-text-32"/>
          <p:cNvSpPr txBox="1"/>
          <p:nvPr/>
        </p:nvSpPr>
        <p:spPr>
          <a:xfrm>
            <a:off x="5123688" y="4968138"/>
            <a:ext cx="1810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320"/>
              </a:lnSpc>
              <a:buNone/>
            </a:pPr>
            <a:r>
              <a:rPr lang="ar-SA" altLang="en-US" sz="16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الإكسسوارات والكابلات</a:t>
            </a:r>
            <a:endParaRPr lang="ar-SA" sz="1600" dirty="0"/>
          </a:p>
          <a:p>
            <a:pPr rtl="1" algn="r" indent="0" marL="0">
              <a:lnSpc>
                <a:spcPts val="2320"/>
              </a:lnSpc>
              <a:buNone/>
            </a:pPr>
            <a:r>
              <a:rPr lang="ar-SA" altLang="en-US" sz="16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والموصلات</a:t>
            </a:r>
            <a:endParaRPr lang="ar-SA" sz="1600" dirty="0"/>
          </a:p>
        </p:txBody>
      </p:sp>
      <p:sp>
        <p:nvSpPr>
          <p:cNvPr id="35" name="s8-shape-33"/>
          <p:cNvSpPr/>
          <p:nvPr/>
        </p:nvSpPr>
        <p:spPr>
          <a:xfrm>
            <a:off x="2882900" y="4095750"/>
            <a:ext cx="2057400" cy="2063750"/>
          </a:xfrm>
          <a:prstGeom prst="roundRect">
            <a:avLst>
              <a:gd name="adj" fmla="val 12346"/>
            </a:avLst>
          </a:prstGeom>
          <a:solidFill>
            <a:srgbClr val="43644B"/>
          </a:solidFill>
          <a:ln/>
        </p:spPr>
      </p:sp>
      <p:pic>
        <p:nvPicPr>
          <p:cNvPr id="36" name="s8-snap-34" descr="s8-snap-34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127500" y="4273550"/>
            <a:ext cx="660400" cy="660400"/>
          </a:xfrm>
          <a:prstGeom prst="rect">
            <a:avLst/>
          </a:prstGeom>
        </p:spPr>
      </p:pic>
      <p:sp>
        <p:nvSpPr>
          <p:cNvPr id="37" name="s8-text-35"/>
          <p:cNvSpPr txBox="1"/>
          <p:nvPr/>
        </p:nvSpPr>
        <p:spPr>
          <a:xfrm>
            <a:off x="2939288" y="4968138"/>
            <a:ext cx="1810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320"/>
              </a:lnSpc>
              <a:buNone/>
            </a:pPr>
            <a:r>
              <a:rPr lang="ar-SA" altLang="en-US" sz="1600" dirty="0">
                <a:solidFill>
                  <a:srgbClr val="FFFFFF"/>
                </a:solidFill>
                <a:latin typeface="Sakkal Saad TN Trial Light"/>
                <a:cs typeface="Sakkal Saad TN Trial Light"/>
              </a:rPr>
              <a:t>خدمات التركيب والبرمجة</a:t>
            </a:r>
            <a:endParaRPr lang="ar-SA" sz="1600" dirty="0"/>
          </a:p>
          <a:p>
            <a:pPr rtl="1" algn="r" indent="0" marL="0">
              <a:lnSpc>
                <a:spcPts val="2320"/>
              </a:lnSpc>
              <a:buNone/>
            </a:pPr>
            <a:r>
              <a:rPr lang="ar-SA" altLang="en-US" sz="1600" dirty="0">
                <a:solidFill>
                  <a:srgbClr val="FFFFFF"/>
                </a:solidFill>
                <a:latin typeface="Sakkal Saad TN Trial Light"/>
                <a:cs typeface="Sakkal Saad TN Trial Light"/>
              </a:rPr>
              <a:t>والتهيئة</a:t>
            </a:r>
            <a:endParaRPr lang="ar-SA" sz="1600" dirty="0"/>
          </a:p>
        </p:txBody>
      </p:sp>
      <p:sp>
        <p:nvSpPr>
          <p:cNvPr id="38" name="s8-shape-36"/>
          <p:cNvSpPr/>
          <p:nvPr/>
        </p:nvSpPr>
        <p:spPr>
          <a:xfrm>
            <a:off x="698500" y="4095750"/>
            <a:ext cx="2057400" cy="2063750"/>
          </a:xfrm>
          <a:prstGeom prst="roundRect">
            <a:avLst>
              <a:gd name="adj" fmla="val 12346"/>
            </a:avLst>
          </a:prstGeom>
          <a:solidFill>
            <a:srgbClr val="EEF2EF"/>
          </a:solidFill>
          <a:ln/>
        </p:spPr>
      </p:sp>
      <p:pic>
        <p:nvPicPr>
          <p:cNvPr id="39" name="s8-snap-37" descr="s8-snap-37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943100" y="4273550"/>
            <a:ext cx="660400" cy="660400"/>
          </a:xfrm>
          <a:prstGeom prst="rect">
            <a:avLst/>
          </a:prstGeom>
        </p:spPr>
      </p:pic>
      <p:sp>
        <p:nvSpPr>
          <p:cNvPr id="40" name="s8-text-38"/>
          <p:cNvSpPr txBox="1"/>
          <p:nvPr/>
        </p:nvSpPr>
        <p:spPr>
          <a:xfrm>
            <a:off x="754888" y="4968138"/>
            <a:ext cx="1810512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320"/>
              </a:lnSpc>
              <a:buNone/>
            </a:pPr>
            <a:r>
              <a:rPr lang="ar-SA" altLang="en-US" sz="16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الدعم الفني والاستشارة</a:t>
            </a:r>
            <a:endParaRPr lang="ar-SA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3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4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0" dur="489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75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75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75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5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75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75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75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75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75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75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75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75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75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7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43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75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75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43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750" fill="hold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750" fill="hold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53" presetClass="entr" presetSubtype="16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27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750" fill="hold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750" fill="hold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750" fill="hold" decel="100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750" fill="hold" decel="100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53" presetClass="entr" presetSubtype="16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27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57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750" fill="hold" decel="100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750" fill="hold" decel="100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42" presetClass="entr" presetSubtype="0" fill="hold" grpId="0" nodeType="withEffect">
                                  <p:stCondLst>
                                    <p:cond delay="57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750" fill="hold" decel="100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750" fill="hold" decel="100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53" presetClass="entr" presetSubtype="16" fill="hold" grpId="0" nodeType="withEffect">
                                  <p:stCondLst>
                                    <p:cond delay="61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27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6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6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750" fill="hold" decel="100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750" fill="hold" decel="100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42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750" fill="hold" decel="100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750" fill="hold" decel="100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53" presetClass="entr" presetSubtype="16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27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6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6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9" dur="750" fill="hold" decel="1000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750" fill="hold" decel="1000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42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6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750" fill="hold" decel="100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750" fill="hold" decel="100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27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9" dur="6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6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6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4" dur="750" fill="hold" decel="100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750" fill="hold" decel="100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6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9" dur="750" fill="hold" decel="100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750" fill="hold" decel="100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53" presetClass="entr" presetSubtype="16" fill="hold" grpId="0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27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4" dur="6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6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6" presetID="53" presetClass="entr" presetSubtype="16" fill="hold" grpId="0" nodeType="withEffect">
                                  <p:stCondLst>
                                    <p:cond delay="89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27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9" dur="6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6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1" presetID="53" presetClass="entr" presetSubtype="16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27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4" dur="6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6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6" presetID="53" presetClass="entr" presetSubtype="16" fill="hold" grpId="0" nodeType="withEffect">
                                  <p:stCondLst>
                                    <p:cond delay="103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27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9" dur="6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6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/>
      <p:bldP spid="11" grpId="0" animBg="1"/>
      <p:bldP spid="13" grpId="0"/>
      <p:bldP spid="14" grpId="0" animBg="1"/>
      <p:bldP spid="16" grpId="0"/>
      <p:bldP spid="17" grpId="0" animBg="1"/>
      <p:bldP spid="19" grpId="0"/>
      <p:bldP spid="20" grpId="0" animBg="1"/>
      <p:bldP spid="22" grpId="0"/>
      <p:bldP spid="23" grpId="0" animBg="1"/>
      <p:bldP spid="25" grpId="0"/>
      <p:bldP spid="26" grpId="0" animBg="1"/>
      <p:bldP spid="28" grpId="0"/>
      <p:bldP spid="29" grpId="0" animBg="1"/>
      <p:bldP spid="31" grpId="0"/>
      <p:bldP spid="32" grpId="0" animBg="1"/>
      <p:bldP spid="34" grpId="0"/>
      <p:bldP spid="35" grpId="0" animBg="1"/>
      <p:bldP spid="37" grpId="0"/>
      <p:bldP spid="38" grpId="0" animBg="1"/>
      <p:bldP spid="40" grpId="0"/>
    </p:bldLst>
  </p:timing>
</p:sld>
</file>

<file path=ppt/slides/slide9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lens"/>
          <p:cNvSpPr/>
          <p:nvPr/>
        </p:nvSpPr>
        <p:spPr>
          <a:xfrm>
            <a:off x="368300" y="127000"/>
            <a:ext cx="1206500" cy="1206500"/>
          </a:xfrm>
          <a:prstGeom prst="ellipse">
            <a:avLst/>
          </a:prstGeom>
          <a:solidFill>
            <a:srgbClr val="EEF2EF"/>
          </a:solidFill>
          <a:ln/>
        </p:spPr>
      </p:sp>
      <p:pic>
        <p:nvPicPr>
          <p:cNvPr id="3" name="!!mt" descr="شعار نظرة ثماني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700000">
            <a:off x="794345" y="364083"/>
            <a:ext cx="546100" cy="533400"/>
          </a:xfrm>
          <a:prstGeom prst="rect">
            <a:avLst/>
          </a:prstGeom>
        </p:spPr>
      </p:pic>
      <p:pic>
        <p:nvPicPr>
          <p:cNvPr id="4" name="!!mb" descr="شعار نظرة ثمانية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700000">
            <a:off x="582861" y="569813"/>
            <a:ext cx="527050" cy="520700"/>
          </a:xfrm>
          <a:prstGeom prst="rect">
            <a:avLst/>
          </a:prstGeom>
        </p:spPr>
      </p:pic>
      <p:pic>
        <p:nvPicPr>
          <p:cNvPr id="5" name="!!ma" descr="شعار نظرة ثمانية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700000">
            <a:off x="1074638" y="585440"/>
            <a:ext cx="95250" cy="82550"/>
          </a:xfrm>
          <a:prstGeom prst="rect">
            <a:avLst/>
          </a:prstGeom>
        </p:spPr>
      </p:pic>
      <p:pic>
        <p:nvPicPr>
          <p:cNvPr id="6" name="!!hud" descr="!!hu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800" y="177800"/>
            <a:ext cx="11836400" cy="6502400"/>
          </a:xfrm>
          <a:prstGeom prst="rect">
            <a:avLst/>
          </a:prstGeom>
        </p:spPr>
      </p:pic>
      <p:sp>
        <p:nvSpPr>
          <p:cNvPr id="7" name="!!rec"/>
          <p:cNvSpPr/>
          <p:nvPr/>
        </p:nvSpPr>
        <p:spPr>
          <a:xfrm>
            <a:off x="635000" y="6337300"/>
            <a:ext cx="101600" cy="101600"/>
          </a:xfrm>
          <a:prstGeom prst="ellipse">
            <a:avLst/>
          </a:prstGeom>
          <a:solidFill>
            <a:srgbClr val="FF8D26"/>
          </a:solidFill>
          <a:ln/>
        </p:spPr>
      </p:sp>
      <p:sp>
        <p:nvSpPr>
          <p:cNvPr id="8" name="!!num"/>
          <p:cNvSpPr txBox="1"/>
          <p:nvPr/>
        </p:nvSpPr>
        <p:spPr>
          <a:xfrm>
            <a:off x="825500" y="6281750"/>
            <a:ext cx="706041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altLang="en-US" sz="1200" dirty="0">
                <a:solidFill>
                  <a:srgbClr val="5E6D7C"/>
                </a:solidFill>
                <a:latin typeface="Sakkal Saad TN Trial Light"/>
                <a:cs typeface="Sakkal Saad TN Trial Light"/>
              </a:rPr>
              <a:t>REC · 09</a:t>
            </a:r>
            <a:endParaRPr lang="en-US" sz="1200" dirty="0"/>
          </a:p>
        </p:txBody>
      </p:sp>
      <p:sp>
        <p:nvSpPr>
          <p:cNvPr id="9" name="!!kick"/>
          <p:cNvSpPr txBox="1"/>
          <p:nvPr/>
        </p:nvSpPr>
        <p:spPr>
          <a:xfrm>
            <a:off x="9808746" y="318834"/>
            <a:ext cx="1748254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ar-SA" altLang="en-US" sz="1500" b="1" dirty="0">
                <a:solidFill>
                  <a:srgbClr val="43644B"/>
                </a:solidFill>
                <a:latin typeface="Sakkal Saad TN Trial Light"/>
                <a:cs typeface="Sakkal Saad TN Trial Light"/>
              </a:rPr>
              <a:t>02</a:t>
            </a:r>
            <a:r>
              <a:rPr lang="ar-SA" altLang="en-US" sz="1500" dirty="0">
                <a:solidFill>
                  <a:srgbClr val="E9720C"/>
                </a:solidFill>
                <a:latin typeface="Sakkal Saad TN Trial Light"/>
                <a:cs typeface="Sakkal Saad TN Trial Light"/>
              </a:rPr>
              <a:t> معلومات عن نظرة ثمانية</a:t>
            </a:r>
            <a:endParaRPr lang="ar-SA" sz="1500" dirty="0"/>
          </a:p>
        </p:txBody>
      </p:sp>
      <p:sp>
        <p:nvSpPr>
          <p:cNvPr id="10" name="s9-text-8"/>
          <p:cNvSpPr txBox="1"/>
          <p:nvPr/>
        </p:nvSpPr>
        <p:spPr>
          <a:xfrm>
            <a:off x="9211564" y="695134"/>
            <a:ext cx="2345436" cy="702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5130"/>
              </a:lnSpc>
              <a:buNone/>
            </a:pPr>
            <a:r>
              <a:rPr lang="ar-SA" altLang="en-US" sz="3800" b="1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الفئة المستهدفة</a:t>
            </a:r>
            <a:endParaRPr lang="ar-SA" sz="3800" dirty="0"/>
          </a:p>
        </p:txBody>
      </p:sp>
      <p:sp>
        <p:nvSpPr>
          <p:cNvPr id="11" name="s9-shape-9"/>
          <p:cNvSpPr/>
          <p:nvPr/>
        </p:nvSpPr>
        <p:spPr>
          <a:xfrm>
            <a:off x="7988300" y="1968500"/>
            <a:ext cx="3505200" cy="196850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0" dist="76200" dir="5400000">
              <a:srgbClr val="1E2A36">
                <a:alpha val="10000"/>
              </a:srgbClr>
            </a:outerShdw>
          </a:effectLst>
        </p:spPr>
      </p:sp>
      <p:pic>
        <p:nvPicPr>
          <p:cNvPr id="12" name="s9-snap-10" descr="s9-snap-10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41000" y="2209800"/>
            <a:ext cx="685800" cy="685800"/>
          </a:xfrm>
          <a:prstGeom prst="rect">
            <a:avLst/>
          </a:prstGeom>
        </p:spPr>
      </p:pic>
      <p:sp>
        <p:nvSpPr>
          <p:cNvPr id="13" name="s9-text-11"/>
          <p:cNvSpPr txBox="1"/>
          <p:nvPr/>
        </p:nvSpPr>
        <p:spPr>
          <a:xfrm>
            <a:off x="8191500" y="2180463"/>
            <a:ext cx="462558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3000"/>
              </a:lnSpc>
              <a:buNone/>
            </a:pPr>
            <a:r>
              <a:rPr lang="ar-SA" altLang="en-US" sz="3000" b="1" dirty="0">
                <a:solidFill>
                  <a:srgbClr val="E4EBF2"/>
                </a:solidFill>
                <a:latin typeface="Sakkal Saad TN Trial Light"/>
                <a:cs typeface="Sakkal Saad TN Trial Light"/>
              </a:rPr>
              <a:t>01</a:t>
            </a:r>
            <a:endParaRPr lang="ar-SA" sz="3000" dirty="0"/>
          </a:p>
        </p:txBody>
      </p:sp>
      <p:sp>
        <p:nvSpPr>
          <p:cNvPr id="14" name="s9-text-12"/>
          <p:cNvSpPr txBox="1"/>
          <p:nvPr/>
        </p:nvSpPr>
        <p:spPr>
          <a:xfrm>
            <a:off x="8061452" y="3206623"/>
            <a:ext cx="3127248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900"/>
              </a:lnSpc>
              <a:buNone/>
            </a:pPr>
            <a:r>
              <a:rPr lang="ar-SA" altLang="en-US" sz="20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أصحاب المنازل والفلل والشقق</a:t>
            </a:r>
            <a:endParaRPr lang="ar-SA" sz="2000" dirty="0"/>
          </a:p>
        </p:txBody>
      </p:sp>
      <p:sp>
        <p:nvSpPr>
          <p:cNvPr id="15" name="s9-shape-13"/>
          <p:cNvSpPr/>
          <p:nvPr/>
        </p:nvSpPr>
        <p:spPr>
          <a:xfrm>
            <a:off x="4330700" y="1968500"/>
            <a:ext cx="3505200" cy="196850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0" dist="76200" dir="5400000">
              <a:srgbClr val="1E2A36">
                <a:alpha val="10000"/>
              </a:srgbClr>
            </a:outerShdw>
          </a:effectLst>
        </p:spPr>
      </p:sp>
      <p:pic>
        <p:nvPicPr>
          <p:cNvPr id="16" name="s9-snap-14" descr="s9-snap-14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83400" y="2209800"/>
            <a:ext cx="685800" cy="685800"/>
          </a:xfrm>
          <a:prstGeom prst="rect">
            <a:avLst/>
          </a:prstGeom>
        </p:spPr>
      </p:pic>
      <p:sp>
        <p:nvSpPr>
          <p:cNvPr id="17" name="s9-text-15"/>
          <p:cNvSpPr txBox="1"/>
          <p:nvPr/>
        </p:nvSpPr>
        <p:spPr>
          <a:xfrm>
            <a:off x="4533900" y="2180463"/>
            <a:ext cx="462558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3000"/>
              </a:lnSpc>
              <a:buNone/>
            </a:pPr>
            <a:r>
              <a:rPr lang="ar-SA" altLang="en-US" sz="3000" b="1" dirty="0">
                <a:solidFill>
                  <a:srgbClr val="E4EBF2"/>
                </a:solidFill>
                <a:latin typeface="Sakkal Saad TN Trial Light"/>
                <a:cs typeface="Sakkal Saad TN Trial Light"/>
              </a:rPr>
              <a:t>02</a:t>
            </a:r>
            <a:endParaRPr lang="ar-SA" sz="3000" dirty="0"/>
          </a:p>
        </p:txBody>
      </p:sp>
      <p:sp>
        <p:nvSpPr>
          <p:cNvPr id="18" name="s9-text-16"/>
          <p:cNvSpPr txBox="1"/>
          <p:nvPr/>
        </p:nvSpPr>
        <p:spPr>
          <a:xfrm>
            <a:off x="4403852" y="3206623"/>
            <a:ext cx="3127248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900"/>
              </a:lnSpc>
              <a:buNone/>
            </a:pPr>
            <a:r>
              <a:rPr lang="ar-SA" altLang="en-US" sz="20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المحلات والمكاتب والأنشطة التجارية</a:t>
            </a:r>
            <a:endParaRPr lang="ar-SA" sz="2000" dirty="0"/>
          </a:p>
        </p:txBody>
      </p:sp>
      <p:sp>
        <p:nvSpPr>
          <p:cNvPr id="19" name="s9-shape-17"/>
          <p:cNvSpPr/>
          <p:nvPr/>
        </p:nvSpPr>
        <p:spPr>
          <a:xfrm>
            <a:off x="673100" y="1968500"/>
            <a:ext cx="3505200" cy="196850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0" dist="76200" dir="5400000">
              <a:srgbClr val="1E2A36">
                <a:alpha val="10000"/>
              </a:srgbClr>
            </a:outerShdw>
          </a:effectLst>
        </p:spPr>
      </p:sp>
      <p:pic>
        <p:nvPicPr>
          <p:cNvPr id="20" name="s9-snap-18" descr="s9-snap-18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25800" y="2209800"/>
            <a:ext cx="685800" cy="685800"/>
          </a:xfrm>
          <a:prstGeom prst="rect">
            <a:avLst/>
          </a:prstGeom>
        </p:spPr>
      </p:pic>
      <p:sp>
        <p:nvSpPr>
          <p:cNvPr id="21" name="s9-text-19"/>
          <p:cNvSpPr txBox="1"/>
          <p:nvPr/>
        </p:nvSpPr>
        <p:spPr>
          <a:xfrm>
            <a:off x="876300" y="2180463"/>
            <a:ext cx="462558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3000"/>
              </a:lnSpc>
              <a:buNone/>
            </a:pPr>
            <a:r>
              <a:rPr lang="ar-SA" altLang="en-US" sz="3000" b="1" dirty="0">
                <a:solidFill>
                  <a:srgbClr val="E4EBF2"/>
                </a:solidFill>
                <a:latin typeface="Sakkal Saad TN Trial Light"/>
                <a:cs typeface="Sakkal Saad TN Trial Light"/>
              </a:rPr>
              <a:t>03</a:t>
            </a:r>
            <a:endParaRPr lang="ar-SA" sz="3000" dirty="0"/>
          </a:p>
        </p:txBody>
      </p:sp>
      <p:sp>
        <p:nvSpPr>
          <p:cNvPr id="22" name="s9-text-20"/>
          <p:cNvSpPr txBox="1"/>
          <p:nvPr/>
        </p:nvSpPr>
        <p:spPr>
          <a:xfrm>
            <a:off x="746252" y="3206623"/>
            <a:ext cx="3127248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900"/>
              </a:lnSpc>
              <a:buNone/>
            </a:pPr>
            <a:r>
              <a:rPr lang="ar-SA" altLang="en-US" sz="20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الشركات والمنشآت</a:t>
            </a:r>
            <a:endParaRPr lang="ar-SA" sz="2000" dirty="0"/>
          </a:p>
        </p:txBody>
      </p:sp>
      <p:sp>
        <p:nvSpPr>
          <p:cNvPr id="23" name="s9-shape-21"/>
          <p:cNvSpPr/>
          <p:nvPr/>
        </p:nvSpPr>
        <p:spPr>
          <a:xfrm>
            <a:off x="7988300" y="4127500"/>
            <a:ext cx="3505200" cy="196850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0" dist="76200" dir="5400000">
              <a:srgbClr val="1E2A36">
                <a:alpha val="10000"/>
              </a:srgbClr>
            </a:outerShdw>
          </a:effectLst>
        </p:spPr>
      </p:sp>
      <p:pic>
        <p:nvPicPr>
          <p:cNvPr id="24" name="s9-snap-22" descr="s9-snap-22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41000" y="4368800"/>
            <a:ext cx="685800" cy="685800"/>
          </a:xfrm>
          <a:prstGeom prst="rect">
            <a:avLst/>
          </a:prstGeom>
        </p:spPr>
      </p:pic>
      <p:sp>
        <p:nvSpPr>
          <p:cNvPr id="25" name="s9-text-23"/>
          <p:cNvSpPr txBox="1"/>
          <p:nvPr/>
        </p:nvSpPr>
        <p:spPr>
          <a:xfrm>
            <a:off x="8191500" y="4339463"/>
            <a:ext cx="462558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3000"/>
              </a:lnSpc>
              <a:buNone/>
            </a:pPr>
            <a:r>
              <a:rPr lang="ar-SA" altLang="en-US" sz="3000" b="1" dirty="0">
                <a:solidFill>
                  <a:srgbClr val="E4EBF2"/>
                </a:solidFill>
                <a:latin typeface="Sakkal Saad TN Trial Light"/>
                <a:cs typeface="Sakkal Saad TN Trial Light"/>
              </a:rPr>
              <a:t>04</a:t>
            </a:r>
            <a:endParaRPr lang="ar-SA" sz="3000" dirty="0"/>
          </a:p>
        </p:txBody>
      </p:sp>
      <p:sp>
        <p:nvSpPr>
          <p:cNvPr id="26" name="s9-text-24"/>
          <p:cNvSpPr txBox="1"/>
          <p:nvPr/>
        </p:nvSpPr>
        <p:spPr>
          <a:xfrm>
            <a:off x="8061452" y="5365623"/>
            <a:ext cx="3127248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900"/>
              </a:lnSpc>
              <a:buNone/>
            </a:pPr>
            <a:r>
              <a:rPr lang="ar-SA" altLang="en-US" sz="20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المستودعات والمشاريع والمواقع الكبيرة</a:t>
            </a:r>
            <a:endParaRPr lang="ar-SA" sz="2000" dirty="0"/>
          </a:p>
        </p:txBody>
      </p:sp>
      <p:sp>
        <p:nvSpPr>
          <p:cNvPr id="27" name="s9-shape-25"/>
          <p:cNvSpPr/>
          <p:nvPr/>
        </p:nvSpPr>
        <p:spPr>
          <a:xfrm>
            <a:off x="4330700" y="4127500"/>
            <a:ext cx="3505200" cy="196850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0" dist="76200" dir="5400000">
              <a:srgbClr val="1E2A36">
                <a:alpha val="10000"/>
              </a:srgbClr>
            </a:outerShdw>
          </a:effectLst>
        </p:spPr>
      </p:sp>
      <p:pic>
        <p:nvPicPr>
          <p:cNvPr id="28" name="s9-snap-26" descr="s9-snap-26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83400" y="4368800"/>
            <a:ext cx="685800" cy="685800"/>
          </a:xfrm>
          <a:prstGeom prst="rect">
            <a:avLst/>
          </a:prstGeom>
        </p:spPr>
      </p:pic>
      <p:sp>
        <p:nvSpPr>
          <p:cNvPr id="29" name="s9-text-27"/>
          <p:cNvSpPr txBox="1"/>
          <p:nvPr/>
        </p:nvSpPr>
        <p:spPr>
          <a:xfrm>
            <a:off x="4533900" y="4339463"/>
            <a:ext cx="462558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3000"/>
              </a:lnSpc>
              <a:buNone/>
            </a:pPr>
            <a:r>
              <a:rPr lang="ar-SA" altLang="en-US" sz="3000" b="1" dirty="0">
                <a:solidFill>
                  <a:srgbClr val="E4EBF2"/>
                </a:solidFill>
                <a:latin typeface="Sakkal Saad TN Trial Light"/>
                <a:cs typeface="Sakkal Saad TN Trial Light"/>
              </a:rPr>
              <a:t>05</a:t>
            </a:r>
            <a:endParaRPr lang="ar-SA" sz="3000" dirty="0"/>
          </a:p>
        </p:txBody>
      </p:sp>
      <p:sp>
        <p:nvSpPr>
          <p:cNvPr id="30" name="s9-text-28"/>
          <p:cNvSpPr txBox="1"/>
          <p:nvPr/>
        </p:nvSpPr>
        <p:spPr>
          <a:xfrm>
            <a:off x="4403852" y="4997323"/>
            <a:ext cx="3127248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900"/>
              </a:lnSpc>
              <a:buNone/>
            </a:pPr>
            <a:r>
              <a:rPr lang="ar-SA" altLang="en-US" sz="20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العملاء الباحثون عن حلول الشبكات</a:t>
            </a:r>
            <a:endParaRPr lang="ar-SA" sz="2000" dirty="0"/>
          </a:p>
          <a:p>
            <a:pPr rtl="1" algn="r" indent="0" marL="0">
              <a:lnSpc>
                <a:spcPts val="2900"/>
              </a:lnSpc>
              <a:buNone/>
            </a:pPr>
            <a:r>
              <a:rPr lang="ar-SA" altLang="en-US" sz="20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والاتصال</a:t>
            </a:r>
            <a:endParaRPr lang="ar-SA" sz="2000" dirty="0"/>
          </a:p>
        </p:txBody>
      </p:sp>
      <p:sp>
        <p:nvSpPr>
          <p:cNvPr id="31" name="s9-shape-29"/>
          <p:cNvSpPr/>
          <p:nvPr/>
        </p:nvSpPr>
        <p:spPr>
          <a:xfrm>
            <a:off x="673100" y="4127500"/>
            <a:ext cx="3505200" cy="1968500"/>
          </a:xfrm>
          <a:prstGeom prst="roundRect">
            <a:avLst>
              <a:gd name="adj" fmla="val 12903"/>
            </a:avLst>
          </a:prstGeom>
          <a:solidFill>
            <a:srgbClr val="FF8D26"/>
          </a:solidFill>
          <a:ln/>
        </p:spPr>
      </p:sp>
      <p:pic>
        <p:nvPicPr>
          <p:cNvPr id="32" name="s9-snap-30" descr="s9-snap-30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25800" y="4368800"/>
            <a:ext cx="685800" cy="685800"/>
          </a:xfrm>
          <a:prstGeom prst="rect">
            <a:avLst/>
          </a:prstGeom>
        </p:spPr>
      </p:pic>
      <p:sp>
        <p:nvSpPr>
          <p:cNvPr id="33" name="s9-text-31"/>
          <p:cNvSpPr txBox="1"/>
          <p:nvPr/>
        </p:nvSpPr>
        <p:spPr>
          <a:xfrm>
            <a:off x="876300" y="4339463"/>
            <a:ext cx="462558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3000"/>
              </a:lnSpc>
              <a:buNone/>
            </a:pPr>
            <a:r>
              <a:rPr lang="ar-SA" altLang="en-US" sz="3000" b="1" dirty="0">
                <a:solidFill>
                  <a:srgbClr val="FFD1A8"/>
                </a:solidFill>
                <a:latin typeface="Sakkal Saad TN Trial Light"/>
                <a:cs typeface="Sakkal Saad TN Trial Light"/>
              </a:rPr>
              <a:t>06</a:t>
            </a:r>
            <a:endParaRPr lang="ar-SA" sz="3000" dirty="0"/>
          </a:p>
        </p:txBody>
      </p:sp>
      <p:sp>
        <p:nvSpPr>
          <p:cNvPr id="34" name="s9-text-32"/>
          <p:cNvSpPr txBox="1"/>
          <p:nvPr/>
        </p:nvSpPr>
        <p:spPr>
          <a:xfrm>
            <a:off x="746252" y="5094176"/>
            <a:ext cx="3127248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538"/>
              </a:lnSpc>
              <a:buNone/>
            </a:pPr>
            <a:r>
              <a:rPr lang="ar-SA" altLang="en-US" sz="17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العملاء الباحثون عن حل متكامل من اختيار</a:t>
            </a:r>
            <a:endParaRPr lang="ar-SA" sz="1750" dirty="0"/>
          </a:p>
          <a:p>
            <a:pPr rtl="1" algn="r" indent="0" marL="0">
              <a:lnSpc>
                <a:spcPts val="2538"/>
              </a:lnSpc>
              <a:buNone/>
            </a:pPr>
            <a:r>
              <a:rPr lang="ar-SA" altLang="en-US" sz="17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النظام إلى التركيب والبرمجة والدعم</a:t>
            </a:r>
            <a:endParaRPr lang="ar-SA" sz="17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3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4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0" dur="489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75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75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75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5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75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75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75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75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75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75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75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75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75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75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75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27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75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75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750" fill="hold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750" fill="hold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750" fill="hold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750" fill="hold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27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750" fill="hold" decel="10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750" fill="hold" decel="10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750" fill="hold" decel="100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750" fill="hold" decel="100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42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750" fill="hold" decel="100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750" fill="hold" decel="100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5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27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750" fill="hold" decel="100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750" fill="hold" decel="100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42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750" fill="hold" decel="1000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750" fill="hold" decel="1000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42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750" fill="hold" decel="100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750" fill="hold" decel="100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53" presetClass="entr" presetSubtype="16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27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9" dur="6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6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53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27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6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6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27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9" dur="6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6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/>
      <p:bldP spid="11" grpId="0" animBg="1"/>
      <p:bldP spid="13" grpId="0"/>
      <p:bldP spid="14" grpId="0"/>
      <p:bldP spid="15" grpId="0" animBg="1"/>
      <p:bldP spid="17" grpId="0"/>
      <p:bldP spid="18" grpId="0"/>
      <p:bldP spid="19" grpId="0" animBg="1"/>
      <p:bldP spid="21" grpId="0"/>
      <p:bldP spid="22" grpId="0"/>
      <p:bldP spid="23" grpId="0" animBg="1"/>
      <p:bldP spid="25" grpId="0"/>
      <p:bldP spid="26" grpId="0"/>
      <p:bldP spid="27" grpId="0" animBg="1"/>
      <p:bldP spid="29" grpId="0"/>
      <p:bldP spid="30" grpId="0"/>
      <p:bldP spid="31" grpId="0" animBg="1"/>
      <p:bldP spid="33" grpId="0"/>
      <p:bldP spid="34" grpId="0"/>
    </p:bldLst>
  </p:timing>
</p:sld>
</file>

<file path=ppt/slides/slide10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lens"/>
          <p:cNvSpPr/>
          <p:nvPr/>
        </p:nvSpPr>
        <p:spPr>
          <a:xfrm>
            <a:off x="368300" y="127000"/>
            <a:ext cx="1206500" cy="1206500"/>
          </a:xfrm>
          <a:prstGeom prst="ellipse">
            <a:avLst/>
          </a:prstGeom>
          <a:solidFill>
            <a:srgbClr val="EEF2EF"/>
          </a:solidFill>
          <a:ln/>
        </p:spPr>
      </p:sp>
      <p:pic>
        <p:nvPicPr>
          <p:cNvPr id="3" name="!!mt" descr="شعار نظرة ثماني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5400000">
            <a:off x="833735" y="467668"/>
            <a:ext cx="546100" cy="533400"/>
          </a:xfrm>
          <a:prstGeom prst="rect">
            <a:avLst/>
          </a:prstGeom>
        </p:spPr>
      </p:pic>
      <p:pic>
        <p:nvPicPr>
          <p:cNvPr id="4" name="!!mb" descr="شعار نظرة ثمانية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546050" y="458688"/>
            <a:ext cx="527050" cy="520700"/>
          </a:xfrm>
          <a:prstGeom prst="rect">
            <a:avLst/>
          </a:prstGeom>
        </p:spPr>
      </p:pic>
      <p:pic>
        <p:nvPicPr>
          <p:cNvPr id="5" name="!!ma" descr="شعار نظرة ثمانية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101328" y="728911"/>
            <a:ext cx="95250" cy="82550"/>
          </a:xfrm>
          <a:prstGeom prst="rect">
            <a:avLst/>
          </a:prstGeom>
        </p:spPr>
      </p:pic>
      <p:pic>
        <p:nvPicPr>
          <p:cNvPr id="6" name="!!hud" descr="!!hu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800" y="177800"/>
            <a:ext cx="11836400" cy="6502400"/>
          </a:xfrm>
          <a:prstGeom prst="rect">
            <a:avLst/>
          </a:prstGeom>
        </p:spPr>
      </p:pic>
      <p:sp>
        <p:nvSpPr>
          <p:cNvPr id="7" name="!!rec"/>
          <p:cNvSpPr/>
          <p:nvPr/>
        </p:nvSpPr>
        <p:spPr>
          <a:xfrm>
            <a:off x="635000" y="6337300"/>
            <a:ext cx="101600" cy="101600"/>
          </a:xfrm>
          <a:prstGeom prst="ellipse">
            <a:avLst/>
          </a:prstGeom>
          <a:solidFill>
            <a:srgbClr val="FF8D26"/>
          </a:solidFill>
          <a:ln/>
        </p:spPr>
      </p:sp>
      <p:sp>
        <p:nvSpPr>
          <p:cNvPr id="8" name="!!num"/>
          <p:cNvSpPr txBox="1"/>
          <p:nvPr/>
        </p:nvSpPr>
        <p:spPr>
          <a:xfrm>
            <a:off x="825500" y="6281750"/>
            <a:ext cx="68828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altLang="en-US" sz="1200" dirty="0">
                <a:solidFill>
                  <a:srgbClr val="5E6D7C"/>
                </a:solidFill>
                <a:latin typeface="Sakkal Saad TN Trial Light"/>
                <a:cs typeface="Sakkal Saad TN Trial Light"/>
              </a:rPr>
              <a:t>REC · 10</a:t>
            </a:r>
            <a:endParaRPr lang="en-US" sz="1200" dirty="0"/>
          </a:p>
        </p:txBody>
      </p:sp>
      <p:sp>
        <p:nvSpPr>
          <p:cNvPr id="9" name="!!kick"/>
          <p:cNvSpPr txBox="1"/>
          <p:nvPr/>
        </p:nvSpPr>
        <p:spPr>
          <a:xfrm>
            <a:off x="9808746" y="318834"/>
            <a:ext cx="1748254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ar-SA" altLang="en-US" sz="1500" b="1" dirty="0">
                <a:solidFill>
                  <a:srgbClr val="43644B"/>
                </a:solidFill>
                <a:latin typeface="Sakkal Saad TN Trial Light"/>
                <a:cs typeface="Sakkal Saad TN Trial Light"/>
              </a:rPr>
              <a:t>02</a:t>
            </a:r>
            <a:r>
              <a:rPr lang="ar-SA" altLang="en-US" sz="1500" dirty="0">
                <a:solidFill>
                  <a:srgbClr val="E9720C"/>
                </a:solidFill>
                <a:latin typeface="Sakkal Saad TN Trial Light"/>
                <a:cs typeface="Sakkal Saad TN Trial Light"/>
              </a:rPr>
              <a:t> معلومات عن نظرة ثمانية</a:t>
            </a:r>
            <a:endParaRPr lang="ar-SA" sz="1500" dirty="0"/>
          </a:p>
        </p:txBody>
      </p:sp>
      <p:sp>
        <p:nvSpPr>
          <p:cNvPr id="10" name="s10-text-8"/>
          <p:cNvSpPr txBox="1"/>
          <p:nvPr/>
        </p:nvSpPr>
        <p:spPr>
          <a:xfrm>
            <a:off x="9081262" y="695134"/>
            <a:ext cx="2475738" cy="702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5130"/>
              </a:lnSpc>
              <a:buNone/>
            </a:pPr>
            <a:r>
              <a:rPr lang="ar-SA" altLang="en-US" sz="3800" b="1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المنصات المختارة</a:t>
            </a:r>
            <a:endParaRPr lang="ar-SA" sz="3800" dirty="0"/>
          </a:p>
        </p:txBody>
      </p:sp>
      <p:pic>
        <p:nvPicPr>
          <p:cNvPr id="11" name="s10-snap-9" descr="s10-snap-9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34600" y="2057400"/>
            <a:ext cx="1282700" cy="1282700"/>
          </a:xfrm>
          <a:prstGeom prst="rect">
            <a:avLst/>
          </a:prstGeom>
        </p:spPr>
      </p:pic>
      <p:sp>
        <p:nvSpPr>
          <p:cNvPr id="12" name="s10-text-10"/>
          <p:cNvSpPr txBox="1"/>
          <p:nvPr/>
        </p:nvSpPr>
        <p:spPr>
          <a:xfrm>
            <a:off x="10462518" y="3373717"/>
            <a:ext cx="626963" cy="306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15"/>
              </a:lnSpc>
              <a:buNone/>
            </a:pPr>
            <a:r>
              <a:rPr lang="en-US" altLang="en-US" sz="15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Website</a:t>
            </a:r>
            <a:endParaRPr lang="en-US" sz="1550" dirty="0"/>
          </a:p>
        </p:txBody>
      </p:sp>
      <p:pic>
        <p:nvPicPr>
          <p:cNvPr id="13" name="s10-snap-11" descr="s10-snap-11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0" y="2057400"/>
            <a:ext cx="1282700" cy="1282700"/>
          </a:xfrm>
          <a:prstGeom prst="rect">
            <a:avLst/>
          </a:prstGeom>
        </p:spPr>
      </p:pic>
      <p:sp>
        <p:nvSpPr>
          <p:cNvPr id="14" name="s10-text-12"/>
          <p:cNvSpPr txBox="1"/>
          <p:nvPr/>
        </p:nvSpPr>
        <p:spPr>
          <a:xfrm>
            <a:off x="8515509" y="3373717"/>
            <a:ext cx="1396782" cy="306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15"/>
              </a:lnSpc>
              <a:buNone/>
            </a:pPr>
            <a:r>
              <a:rPr lang="en-US" altLang="en-US" sz="15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WhatsApp Business</a:t>
            </a:r>
            <a:endParaRPr lang="en-US" sz="1550" dirty="0"/>
          </a:p>
        </p:txBody>
      </p:sp>
      <p:pic>
        <p:nvPicPr>
          <p:cNvPr id="15" name="s10-snap-13" descr="s10-snap-13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10400" y="2057400"/>
            <a:ext cx="1282700" cy="1282700"/>
          </a:xfrm>
          <a:prstGeom prst="rect">
            <a:avLst/>
          </a:prstGeom>
        </p:spPr>
      </p:pic>
      <p:sp>
        <p:nvSpPr>
          <p:cNvPr id="16" name="s10-text-14"/>
          <p:cNvSpPr txBox="1"/>
          <p:nvPr/>
        </p:nvSpPr>
        <p:spPr>
          <a:xfrm>
            <a:off x="7271643" y="3373717"/>
            <a:ext cx="760214" cy="306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15"/>
              </a:lnSpc>
              <a:buNone/>
            </a:pPr>
            <a:r>
              <a:rPr lang="en-US" altLang="en-US" sz="15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Instagram</a:t>
            </a:r>
            <a:endParaRPr lang="en-US" sz="1550" dirty="0"/>
          </a:p>
        </p:txBody>
      </p:sp>
      <p:pic>
        <p:nvPicPr>
          <p:cNvPr id="17" name="s10-snap-15" descr="s10-snap-15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48300" y="2057400"/>
            <a:ext cx="1282700" cy="1282700"/>
          </a:xfrm>
          <a:prstGeom prst="rect">
            <a:avLst/>
          </a:prstGeom>
        </p:spPr>
      </p:pic>
      <p:sp>
        <p:nvSpPr>
          <p:cNvPr id="18" name="s10-text-16"/>
          <p:cNvSpPr txBox="1"/>
          <p:nvPr/>
        </p:nvSpPr>
        <p:spPr>
          <a:xfrm>
            <a:off x="5733256" y="3373717"/>
            <a:ext cx="712788" cy="306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15"/>
              </a:lnSpc>
              <a:buNone/>
            </a:pPr>
            <a:r>
              <a:rPr lang="en-US" altLang="en-US" sz="15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Facebook</a:t>
            </a:r>
            <a:endParaRPr lang="en-US" sz="1550" dirty="0"/>
          </a:p>
        </p:txBody>
      </p:sp>
      <p:pic>
        <p:nvPicPr>
          <p:cNvPr id="19" name="s10-snap-17" descr="s10-snap-17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86200" y="2057400"/>
            <a:ext cx="1282700" cy="1282700"/>
          </a:xfrm>
          <a:prstGeom prst="rect">
            <a:avLst/>
          </a:prstGeom>
        </p:spPr>
      </p:pic>
      <p:sp>
        <p:nvSpPr>
          <p:cNvPr id="20" name="s10-text-18"/>
          <p:cNvSpPr txBox="1"/>
          <p:nvPr/>
        </p:nvSpPr>
        <p:spPr>
          <a:xfrm>
            <a:off x="4232275" y="3373717"/>
            <a:ext cx="590649" cy="306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15"/>
              </a:lnSpc>
              <a:buNone/>
            </a:pPr>
            <a:r>
              <a:rPr lang="en-US" altLang="en-US" sz="15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TikTok</a:t>
            </a:r>
            <a:endParaRPr lang="en-US" sz="1550" dirty="0"/>
          </a:p>
        </p:txBody>
      </p:sp>
      <p:pic>
        <p:nvPicPr>
          <p:cNvPr id="21" name="s10-snap-19" descr="s10-snap-19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24100" y="2057400"/>
            <a:ext cx="1282700" cy="1282700"/>
          </a:xfrm>
          <a:prstGeom prst="rect">
            <a:avLst/>
          </a:prstGeom>
        </p:spPr>
      </p:pic>
      <p:sp>
        <p:nvSpPr>
          <p:cNvPr id="22" name="s10-text-20"/>
          <p:cNvSpPr txBox="1"/>
          <p:nvPr/>
        </p:nvSpPr>
        <p:spPr>
          <a:xfrm>
            <a:off x="2613422" y="3373717"/>
            <a:ext cx="704056" cy="306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15"/>
              </a:lnSpc>
              <a:buNone/>
            </a:pPr>
            <a:r>
              <a:rPr lang="en-US" altLang="en-US" sz="15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Snapchat</a:t>
            </a:r>
            <a:endParaRPr lang="en-US" sz="1550" dirty="0"/>
          </a:p>
        </p:txBody>
      </p:sp>
      <p:pic>
        <p:nvPicPr>
          <p:cNvPr id="23" name="s10-snap-21" descr="s10-snap-21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2000" y="2057400"/>
            <a:ext cx="1282700" cy="1282700"/>
          </a:xfrm>
          <a:prstGeom prst="rect">
            <a:avLst/>
          </a:prstGeom>
        </p:spPr>
      </p:pic>
      <p:sp>
        <p:nvSpPr>
          <p:cNvPr id="24" name="s10-text-22"/>
          <p:cNvSpPr txBox="1"/>
          <p:nvPr/>
        </p:nvSpPr>
        <p:spPr>
          <a:xfrm>
            <a:off x="1121073" y="3373717"/>
            <a:ext cx="564555" cy="306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15"/>
              </a:lnSpc>
              <a:buNone/>
            </a:pPr>
            <a:r>
              <a:rPr lang="en-US" altLang="en-US" sz="15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Google</a:t>
            </a:r>
            <a:endParaRPr lang="en-US" sz="1550" dirty="0"/>
          </a:p>
        </p:txBody>
      </p:sp>
      <p:sp>
        <p:nvSpPr>
          <p:cNvPr id="25" name="s10-shape-23"/>
          <p:cNvSpPr/>
          <p:nvPr/>
        </p:nvSpPr>
        <p:spPr>
          <a:xfrm>
            <a:off x="698500" y="4381500"/>
            <a:ext cx="10795000" cy="1841500"/>
          </a:xfrm>
          <a:prstGeom prst="roundRect">
            <a:avLst>
              <a:gd name="adj" fmla="val 13793"/>
            </a:avLst>
          </a:prstGeom>
          <a:solidFill>
            <a:srgbClr val="FFF7DE"/>
          </a:solidFill>
          <a:ln/>
        </p:spPr>
      </p:sp>
      <p:pic>
        <p:nvPicPr>
          <p:cNvPr id="26" name="s10-snap-24" descr="s10-snap-24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274300" y="4851400"/>
            <a:ext cx="901700" cy="901700"/>
          </a:xfrm>
          <a:prstGeom prst="rect">
            <a:avLst/>
          </a:prstGeom>
        </p:spPr>
      </p:pic>
      <p:sp>
        <p:nvSpPr>
          <p:cNvPr id="27" name="s10-text-25"/>
          <p:cNvSpPr txBox="1"/>
          <p:nvPr/>
        </p:nvSpPr>
        <p:spPr>
          <a:xfrm>
            <a:off x="335788" y="4792975"/>
            <a:ext cx="9697212" cy="877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3255"/>
              </a:lnSpc>
              <a:buNone/>
            </a:pPr>
            <a:r>
              <a:rPr lang="ar-SA" altLang="en-US" sz="21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الهدف من اختيار هذه المنصات هو زيادة الوعي بالعلامة الوصول إلى الجمهور المستهدف، جذب العملاء المحتملين</a:t>
            </a:r>
            <a:endParaRPr lang="ar-SA" sz="2100" dirty="0"/>
          </a:p>
          <a:p>
            <a:pPr rtl="1" algn="r" indent="0" marL="0">
              <a:lnSpc>
                <a:spcPts val="3255"/>
              </a:lnSpc>
              <a:buNone/>
            </a:pPr>
            <a:r>
              <a:rPr lang="ar-SA" altLang="en-US" sz="21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وتحويلهم إلى استفسارات ومبيعات.</a:t>
            </a:r>
            <a:endParaRPr lang="ar-SA" sz="2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3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4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0" dur="489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75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75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75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7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75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7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75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75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7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75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75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53" presetClass="entr" presetSubtype="16" fill="hold" grpId="0" nodeType="withEffect">
                                  <p:stCondLst>
                                    <p:cond delay="57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7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75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75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53" presetClass="entr" presetSubtype="16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7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75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75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27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6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6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53" presetClass="entr" presetSubtype="16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27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6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6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750" fill="hold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750" fill="hold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27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6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6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42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750" fill="hold" decel="10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750" fill="hold" decel="10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/>
      <p:bldP spid="12" grpId="0"/>
      <p:bldP spid="14" grpId="0"/>
      <p:bldP spid="16" grpId="0"/>
      <p:bldP spid="18" grpId="0"/>
      <p:bldP spid="20" grpId="0"/>
      <p:bldP spid="22" grpId="0"/>
      <p:bldP spid="24" grpId="0"/>
      <p:bldP spid="25" grpId="0" animBg="1"/>
      <p:bldP spid="27" grpId="0"/>
    </p:bldLst>
  </p:timing>
</p:sld>
</file>

<file path=ppt/slides/slide11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lens"/>
          <p:cNvSpPr/>
          <p:nvPr/>
        </p:nvSpPr>
        <p:spPr>
          <a:xfrm>
            <a:off x="-635000" y="-127000"/>
            <a:ext cx="7112000" cy="7112000"/>
          </a:xfrm>
          <a:prstGeom prst="ellipse">
            <a:avLst/>
          </a:prstGeom>
          <a:solidFill>
            <a:srgbClr val="FFFFFF">
              <a:alpha val="7000"/>
            </a:srgbClr>
          </a:solidFill>
          <a:ln/>
        </p:spPr>
      </p:sp>
      <p:pic>
        <p:nvPicPr>
          <p:cNvPr id="3" name="!!mt" descr="شعار نظرة ثمانية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5400000">
            <a:off x="900013" y="2109788"/>
            <a:ext cx="2635250" cy="2597150"/>
          </a:xfrm>
          <a:prstGeom prst="rect">
            <a:avLst/>
          </a:prstGeom>
        </p:spPr>
      </p:pic>
      <p:pic>
        <p:nvPicPr>
          <p:cNvPr id="4" name="!!mb" descr="شعار نظرة ثمانية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5400000">
            <a:off x="2375843" y="2218928"/>
            <a:ext cx="2565400" cy="2527300"/>
          </a:xfrm>
          <a:prstGeom prst="rect">
            <a:avLst/>
          </a:prstGeom>
        </p:spPr>
      </p:pic>
      <p:pic>
        <p:nvPicPr>
          <p:cNvPr id="5" name="!!ma" descr="شعار نظرة ثمانية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-5400000">
            <a:off x="1782961" y="3027908"/>
            <a:ext cx="463550" cy="412750"/>
          </a:xfrm>
          <a:prstGeom prst="rect">
            <a:avLst/>
          </a:prstGeom>
        </p:spPr>
      </p:pic>
      <p:pic>
        <p:nvPicPr>
          <p:cNvPr id="6" name="!!hud" descr="!!hud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7800" y="177800"/>
            <a:ext cx="11836400" cy="6502400"/>
          </a:xfrm>
          <a:prstGeom prst="rect">
            <a:avLst/>
          </a:prstGeom>
        </p:spPr>
      </p:pic>
      <p:sp>
        <p:nvSpPr>
          <p:cNvPr id="7" name="!!rec"/>
          <p:cNvSpPr/>
          <p:nvPr/>
        </p:nvSpPr>
        <p:spPr>
          <a:xfrm>
            <a:off x="635000" y="6337300"/>
            <a:ext cx="101600" cy="101600"/>
          </a:xfrm>
          <a:prstGeom prst="ellipse">
            <a:avLst/>
          </a:prstGeom>
          <a:solidFill>
            <a:srgbClr val="FF8D26"/>
          </a:solidFill>
          <a:ln/>
        </p:spPr>
      </p:sp>
      <p:sp>
        <p:nvSpPr>
          <p:cNvPr id="8" name="!!num"/>
          <p:cNvSpPr txBox="1"/>
          <p:nvPr/>
        </p:nvSpPr>
        <p:spPr>
          <a:xfrm>
            <a:off x="825500" y="6281750"/>
            <a:ext cx="661392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altLang="en-US" sz="1200" dirty="0">
                <a:solidFill>
                  <a:srgbClr val="D9E0DB"/>
                </a:solidFill>
                <a:latin typeface="Sakkal Saad TN Trial Light"/>
                <a:cs typeface="Sakkal Saad TN Trial Light"/>
              </a:rPr>
              <a:t>REC · 11</a:t>
            </a:r>
            <a:endParaRPr lang="en-US" sz="1200" dirty="0"/>
          </a:p>
        </p:txBody>
      </p:sp>
      <p:pic>
        <p:nvPicPr>
          <p:cNvPr id="9" name="s11-snap-8" descr="s11-snap-8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3809" y="1041400"/>
            <a:ext cx="1880791" cy="1981200"/>
          </a:xfrm>
          <a:prstGeom prst="rect">
            <a:avLst/>
          </a:prstGeom>
        </p:spPr>
      </p:pic>
      <p:pic>
        <p:nvPicPr>
          <p:cNvPr id="10" name="s11-snap-9" descr="s11-snap-9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78400" y="3263900"/>
            <a:ext cx="6426200" cy="121404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3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4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53" presetClass="entr" presetSubtype="3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9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1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9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1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9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5" dur="63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2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lens"/>
          <p:cNvSpPr/>
          <p:nvPr/>
        </p:nvSpPr>
        <p:spPr>
          <a:xfrm>
            <a:off x="368300" y="127000"/>
            <a:ext cx="1206500" cy="1206500"/>
          </a:xfrm>
          <a:prstGeom prst="ellipse">
            <a:avLst/>
          </a:prstGeom>
          <a:solidFill>
            <a:srgbClr val="EEF2EF"/>
          </a:solidFill>
          <a:ln/>
        </p:spPr>
      </p:sp>
      <p:pic>
        <p:nvPicPr>
          <p:cNvPr id="3" name="!!mt" descr="شعار نظرة ثماني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10800000">
            <a:off x="684510" y="608558"/>
            <a:ext cx="546100" cy="533400"/>
          </a:xfrm>
          <a:prstGeom prst="rect">
            <a:avLst/>
          </a:prstGeom>
        </p:spPr>
      </p:pic>
      <p:pic>
        <p:nvPicPr>
          <p:cNvPr id="4" name="!!mb" descr="شعار نظرة ثمانية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709265" y="317798"/>
            <a:ext cx="527050" cy="520700"/>
          </a:xfrm>
          <a:prstGeom prst="rect">
            <a:avLst/>
          </a:prstGeom>
        </p:spPr>
      </p:pic>
      <p:pic>
        <p:nvPicPr>
          <p:cNvPr id="5" name="!!ma" descr="شعار نظرة ثمانية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874018" y="875556"/>
            <a:ext cx="95250" cy="82550"/>
          </a:xfrm>
          <a:prstGeom prst="rect">
            <a:avLst/>
          </a:prstGeom>
        </p:spPr>
      </p:pic>
      <p:pic>
        <p:nvPicPr>
          <p:cNvPr id="6" name="!!hud" descr="!!hu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800" y="177800"/>
            <a:ext cx="11836400" cy="6502400"/>
          </a:xfrm>
          <a:prstGeom prst="rect">
            <a:avLst/>
          </a:prstGeom>
        </p:spPr>
      </p:pic>
      <p:sp>
        <p:nvSpPr>
          <p:cNvPr id="7" name="!!rec"/>
          <p:cNvSpPr/>
          <p:nvPr/>
        </p:nvSpPr>
        <p:spPr>
          <a:xfrm>
            <a:off x="635000" y="6337300"/>
            <a:ext cx="101600" cy="101600"/>
          </a:xfrm>
          <a:prstGeom prst="ellipse">
            <a:avLst/>
          </a:prstGeom>
          <a:solidFill>
            <a:srgbClr val="FF8D26"/>
          </a:solidFill>
          <a:ln/>
        </p:spPr>
      </p:sp>
      <p:sp>
        <p:nvSpPr>
          <p:cNvPr id="8" name="!!num"/>
          <p:cNvSpPr txBox="1"/>
          <p:nvPr/>
        </p:nvSpPr>
        <p:spPr>
          <a:xfrm>
            <a:off x="825500" y="6281750"/>
            <a:ext cx="674092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altLang="en-US" sz="1200" dirty="0">
                <a:solidFill>
                  <a:srgbClr val="5E6D7C"/>
                </a:solidFill>
                <a:latin typeface="Sakkal Saad TN Trial Light"/>
                <a:cs typeface="Sakkal Saad TN Trial Light"/>
              </a:rPr>
              <a:t>REC · 12</a:t>
            </a:r>
            <a:endParaRPr lang="en-US" sz="1200" dirty="0"/>
          </a:p>
        </p:txBody>
      </p:sp>
      <p:sp>
        <p:nvSpPr>
          <p:cNvPr id="9" name="!!kick"/>
          <p:cNvSpPr txBox="1"/>
          <p:nvPr/>
        </p:nvSpPr>
        <p:spPr>
          <a:xfrm>
            <a:off x="10209609" y="318834"/>
            <a:ext cx="1347391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ar-SA" altLang="en-US" sz="1500" b="1" dirty="0">
                <a:solidFill>
                  <a:srgbClr val="43644B"/>
                </a:solidFill>
                <a:latin typeface="Sakkal Saad TN Trial Light"/>
                <a:cs typeface="Sakkal Saad TN Trial Light"/>
              </a:rPr>
              <a:t>03</a:t>
            </a:r>
            <a:r>
              <a:rPr lang="ar-SA" altLang="en-US" sz="1500" dirty="0">
                <a:solidFill>
                  <a:srgbClr val="E9720C"/>
                </a:solidFill>
                <a:latin typeface="Sakkal Saad TN Trial Light"/>
                <a:cs typeface="Sakkal Saad TN Trial Light"/>
              </a:rPr>
              <a:t> دراسة نظرة ثمانية</a:t>
            </a:r>
            <a:endParaRPr lang="ar-SA" sz="1500" dirty="0"/>
          </a:p>
        </p:txBody>
      </p:sp>
      <p:sp>
        <p:nvSpPr>
          <p:cNvPr id="10" name="s12-text-8"/>
          <p:cNvSpPr txBox="1"/>
          <p:nvPr/>
        </p:nvSpPr>
        <p:spPr>
          <a:xfrm>
            <a:off x="8920420" y="695134"/>
            <a:ext cx="2636580" cy="702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5130"/>
              </a:lnSpc>
              <a:buNone/>
            </a:pPr>
            <a:r>
              <a:rPr lang="ar-SA" altLang="en-US" sz="3800" b="1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دراسة نظرة ثمانية</a:t>
            </a:r>
            <a:endParaRPr lang="ar-SA" sz="3800" dirty="0"/>
          </a:p>
        </p:txBody>
      </p:sp>
      <p:sp>
        <p:nvSpPr>
          <p:cNvPr id="11" name="s12-text-9"/>
          <p:cNvSpPr txBox="1"/>
          <p:nvPr/>
        </p:nvSpPr>
        <p:spPr>
          <a:xfrm>
            <a:off x="-165100" y="1732280"/>
            <a:ext cx="11658600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3520"/>
              </a:lnSpc>
              <a:buNone/>
            </a:pPr>
            <a:r>
              <a:rPr lang="ar-SA" altLang="en-US" sz="22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نظرة ثمانية متجر إلكتروني سعودي متخصص في حلول الأمن والمراقبة والشبكات ويقدم المنتجات مع الاستشارة والتركيب والبرمجة</a:t>
            </a:r>
            <a:endParaRPr lang="ar-SA" sz="2200" dirty="0"/>
          </a:p>
          <a:p>
            <a:pPr rtl="1" algn="r" indent="0" marL="0">
              <a:lnSpc>
                <a:spcPts val="3520"/>
              </a:lnSpc>
              <a:buNone/>
            </a:pPr>
            <a:r>
              <a:rPr lang="ar-SA" altLang="en-US" sz="22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والدعم الفني.</a:t>
            </a:r>
            <a:endParaRPr lang="ar-SA" sz="2200" dirty="0"/>
          </a:p>
        </p:txBody>
      </p:sp>
      <p:sp>
        <p:nvSpPr>
          <p:cNvPr id="12" name="s12-shape-10"/>
          <p:cNvSpPr/>
          <p:nvPr/>
        </p:nvSpPr>
        <p:spPr>
          <a:xfrm>
            <a:off x="6413500" y="2984500"/>
            <a:ext cx="5080000" cy="3238500"/>
          </a:xfrm>
          <a:prstGeom prst="roundRect">
            <a:avLst>
              <a:gd name="adj" fmla="val 7843"/>
            </a:avLst>
          </a:prstGeom>
          <a:solidFill>
            <a:srgbClr val="FFF1E3"/>
          </a:solidFill>
          <a:ln/>
        </p:spPr>
      </p:sp>
      <p:pic>
        <p:nvPicPr>
          <p:cNvPr id="13" name="s12-snap-11" descr="s12-snap-11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41000" y="3225800"/>
            <a:ext cx="685800" cy="685800"/>
          </a:xfrm>
          <a:prstGeom prst="rect">
            <a:avLst/>
          </a:prstGeom>
        </p:spPr>
      </p:pic>
      <p:sp>
        <p:nvSpPr>
          <p:cNvPr id="14" name="s12-text-12"/>
          <p:cNvSpPr txBox="1"/>
          <p:nvPr/>
        </p:nvSpPr>
        <p:spPr>
          <a:xfrm>
            <a:off x="7939338" y="3305310"/>
            <a:ext cx="2500062" cy="4108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835"/>
              </a:lnSpc>
              <a:buNone/>
            </a:pPr>
            <a:r>
              <a:rPr lang="ar-SA" altLang="en-US" sz="2100" b="1" dirty="0">
                <a:solidFill>
                  <a:srgbClr val="E9720C"/>
                </a:solidFill>
                <a:latin typeface="Sakkal Saad TN Trial Light"/>
                <a:cs typeface="Sakkal Saad TN Trial Light"/>
              </a:rPr>
              <a:t>المشكلة التي تحلها نظرة ثمانية:</a:t>
            </a:r>
            <a:endParaRPr lang="ar-SA" sz="2100" dirty="0"/>
          </a:p>
        </p:txBody>
      </p:sp>
      <p:sp>
        <p:nvSpPr>
          <p:cNvPr id="15" name="s12-text-13"/>
          <p:cNvSpPr txBox="1"/>
          <p:nvPr/>
        </p:nvSpPr>
        <p:spPr>
          <a:xfrm>
            <a:off x="6360668" y="3937952"/>
            <a:ext cx="4828032" cy="904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3360"/>
              </a:lnSpc>
              <a:buNone/>
            </a:pPr>
            <a:r>
              <a:rPr lang="ar-SA" altLang="en-US" sz="21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تساعد العملاء على تجاوز حيرة اختيار الأنظمة المناسبة</a:t>
            </a:r>
            <a:endParaRPr lang="ar-SA" sz="2100" dirty="0"/>
          </a:p>
          <a:p>
            <a:pPr rtl="1" algn="r" indent="0" marL="0">
              <a:lnSpc>
                <a:spcPts val="3360"/>
              </a:lnSpc>
              <a:buNone/>
            </a:pPr>
            <a:r>
              <a:rPr lang="ar-SA" altLang="en-US" sz="21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وتعدد الجهات بين شراء الأجهزة والتركيب والبرمجة.</a:t>
            </a:r>
            <a:endParaRPr lang="ar-SA" sz="2100" dirty="0"/>
          </a:p>
        </p:txBody>
      </p:sp>
      <p:pic>
        <p:nvPicPr>
          <p:cNvPr id="16" name="s12-snap-14" descr="s12-snap-14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4200" y="4279900"/>
            <a:ext cx="609600" cy="609600"/>
          </a:xfrm>
          <a:prstGeom prst="rect">
            <a:avLst/>
          </a:prstGeom>
        </p:spPr>
      </p:pic>
      <p:sp>
        <p:nvSpPr>
          <p:cNvPr id="17" name="s12-shape-15"/>
          <p:cNvSpPr/>
          <p:nvPr/>
        </p:nvSpPr>
        <p:spPr>
          <a:xfrm>
            <a:off x="698500" y="2984500"/>
            <a:ext cx="5080000" cy="3238500"/>
          </a:xfrm>
          <a:prstGeom prst="roundRect">
            <a:avLst>
              <a:gd name="adj" fmla="val 7843"/>
            </a:avLst>
          </a:prstGeom>
          <a:solidFill>
            <a:srgbClr val="43644B"/>
          </a:solidFill>
          <a:ln/>
        </p:spPr>
      </p:sp>
      <p:pic>
        <p:nvPicPr>
          <p:cNvPr id="18" name="s12-snap-16" descr="s12-snap-16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6000" y="3225800"/>
            <a:ext cx="685800" cy="685800"/>
          </a:xfrm>
          <a:prstGeom prst="rect">
            <a:avLst/>
          </a:prstGeom>
        </p:spPr>
      </p:pic>
      <p:sp>
        <p:nvSpPr>
          <p:cNvPr id="19" name="s12-text-17"/>
          <p:cNvSpPr txBox="1"/>
          <p:nvPr/>
        </p:nvSpPr>
        <p:spPr>
          <a:xfrm>
            <a:off x="1565327" y="3305310"/>
            <a:ext cx="3159073" cy="4108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835"/>
              </a:lnSpc>
              <a:buNone/>
            </a:pPr>
            <a:r>
              <a:rPr lang="ar-SA" altLang="en-US" sz="2100" b="1" dirty="0">
                <a:solidFill>
                  <a:srgbClr val="F6C342"/>
                </a:solidFill>
                <a:latin typeface="Sakkal Saad TN Trial Light"/>
                <a:cs typeface="Sakkal Saad TN Trial Light"/>
              </a:rPr>
              <a:t>القيمة التي تقدمها نظرة ثمانية للعملاء:</a:t>
            </a:r>
            <a:endParaRPr lang="ar-SA" sz="2100" dirty="0"/>
          </a:p>
        </p:txBody>
      </p:sp>
      <p:sp>
        <p:nvSpPr>
          <p:cNvPr id="20" name="s12-text-18"/>
          <p:cNvSpPr txBox="1"/>
          <p:nvPr/>
        </p:nvSpPr>
        <p:spPr>
          <a:xfrm>
            <a:off x="645668" y="3943350"/>
            <a:ext cx="4828032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3200"/>
              </a:lnSpc>
              <a:buNone/>
            </a:pPr>
            <a:r>
              <a:rPr lang="ar-SA" altLang="en-US" sz="2000" dirty="0">
                <a:solidFill>
                  <a:srgbClr val="FFFFFF"/>
                </a:solidFill>
                <a:latin typeface="Sakkal Saad TN Trial Light"/>
                <a:cs typeface="Sakkal Saad TN Trial Light"/>
              </a:rPr>
              <a:t>تقدم حلًا متكاملًا من جهة واحدة يبدأ من تحديد الاحتياج</a:t>
            </a:r>
            <a:endParaRPr lang="ar-SA" sz="2000" dirty="0"/>
          </a:p>
          <a:p>
            <a:pPr rtl="1" algn="r" indent="0" marL="0">
              <a:lnSpc>
                <a:spcPts val="3200"/>
              </a:lnSpc>
              <a:buNone/>
            </a:pPr>
            <a:r>
              <a:rPr lang="ar-SA" altLang="en-US" sz="2000" dirty="0">
                <a:solidFill>
                  <a:srgbClr val="FFFFFF"/>
                </a:solidFill>
                <a:latin typeface="Sakkal Saad TN Trial Light"/>
                <a:cs typeface="Sakkal Saad TN Trial Light"/>
              </a:rPr>
              <a:t>واختيار النظام المناسب، وصولًا إلى التوريد والتركيب والبرمجة</a:t>
            </a:r>
            <a:endParaRPr lang="ar-SA" sz="2000" dirty="0"/>
          </a:p>
          <a:p>
            <a:pPr rtl="1" algn="r" indent="0" marL="0">
              <a:lnSpc>
                <a:spcPts val="3200"/>
              </a:lnSpc>
              <a:buNone/>
            </a:pPr>
            <a:r>
              <a:rPr lang="ar-SA" altLang="en-US" sz="2000" dirty="0">
                <a:solidFill>
                  <a:srgbClr val="FFFFFF"/>
                </a:solidFill>
                <a:latin typeface="Sakkal Saad TN Trial Light"/>
                <a:cs typeface="Sakkal Saad TN Trial Light"/>
              </a:rPr>
              <a:t>والدعم الفني</a:t>
            </a:r>
            <a:endParaRPr lang="ar-SA" sz="2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3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4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0" dur="489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75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75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75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5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7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75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75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75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75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7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75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75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53" presetClass="entr" presetSubtype="16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7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75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75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/>
      <p:bldP spid="11" grpId="0"/>
      <p:bldP spid="12" grpId="0" animBg="1"/>
      <p:bldP spid="14" grpId="0"/>
      <p:bldP spid="15" grpId="0"/>
      <p:bldP spid="17" grpId="0" animBg="1"/>
      <p:bldP spid="19" grpId="0"/>
      <p:bldP spid="20" grpId="0"/>
    </p:bldLst>
  </p:timing>
</p:sld>
</file>

<file path=ppt/slides/slide13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lens"/>
          <p:cNvSpPr/>
          <p:nvPr/>
        </p:nvSpPr>
        <p:spPr>
          <a:xfrm>
            <a:off x="5715000" y="-127000"/>
            <a:ext cx="7112000" cy="7112000"/>
          </a:xfrm>
          <a:prstGeom prst="ellipse">
            <a:avLst/>
          </a:prstGeom>
          <a:solidFill>
            <a:srgbClr val="FFFFFF">
              <a:alpha val="7000"/>
            </a:srgbClr>
          </a:solidFill>
          <a:ln/>
        </p:spPr>
      </p:sp>
      <p:pic>
        <p:nvPicPr>
          <p:cNvPr id="3" name="!!mt" descr="شعار نظرة ثمانية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8171" y="951508"/>
            <a:ext cx="3257550" cy="3213100"/>
          </a:xfrm>
          <a:prstGeom prst="rect">
            <a:avLst/>
          </a:prstGeom>
        </p:spPr>
      </p:pic>
      <p:pic>
        <p:nvPicPr>
          <p:cNvPr id="4" name="!!mb" descr="شعار نظرة ثمانية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3551" y="2779961"/>
            <a:ext cx="3181350" cy="3124200"/>
          </a:xfrm>
          <a:prstGeom prst="rect">
            <a:avLst/>
          </a:prstGeom>
        </p:spPr>
      </p:pic>
      <p:pic>
        <p:nvPicPr>
          <p:cNvPr id="5" name="!!ma" descr="شعار نظرة ثمانية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3276" y="2052886"/>
            <a:ext cx="577850" cy="508000"/>
          </a:xfrm>
          <a:prstGeom prst="rect">
            <a:avLst/>
          </a:prstGeom>
        </p:spPr>
      </p:pic>
      <p:pic>
        <p:nvPicPr>
          <p:cNvPr id="6" name="!!hud" descr="!!hud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7800" y="177800"/>
            <a:ext cx="11836400" cy="6502400"/>
          </a:xfrm>
          <a:prstGeom prst="rect">
            <a:avLst/>
          </a:prstGeom>
        </p:spPr>
      </p:pic>
      <p:sp>
        <p:nvSpPr>
          <p:cNvPr id="7" name="!!rec"/>
          <p:cNvSpPr/>
          <p:nvPr/>
        </p:nvSpPr>
        <p:spPr>
          <a:xfrm>
            <a:off x="635000" y="6337300"/>
            <a:ext cx="101600" cy="101600"/>
          </a:xfrm>
          <a:prstGeom prst="ellipse">
            <a:avLst/>
          </a:prstGeom>
          <a:solidFill>
            <a:srgbClr val="FF8D26"/>
          </a:solidFill>
          <a:ln/>
        </p:spPr>
      </p:sp>
      <p:sp>
        <p:nvSpPr>
          <p:cNvPr id="8" name="!!num"/>
          <p:cNvSpPr txBox="1"/>
          <p:nvPr/>
        </p:nvSpPr>
        <p:spPr>
          <a:xfrm>
            <a:off x="825500" y="6281750"/>
            <a:ext cx="673795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altLang="en-US" sz="1200" dirty="0">
                <a:solidFill>
                  <a:srgbClr val="D9E0DB"/>
                </a:solidFill>
                <a:latin typeface="Sakkal Saad TN Trial Light"/>
                <a:cs typeface="Sakkal Saad TN Trial Light"/>
              </a:rPr>
              <a:t>REC · 13</a:t>
            </a:r>
            <a:endParaRPr lang="en-US" sz="1200" dirty="0"/>
          </a:p>
        </p:txBody>
      </p:sp>
      <p:pic>
        <p:nvPicPr>
          <p:cNvPr id="9" name="s13-snap-8" descr="s13-snap-8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7400" y="1041400"/>
            <a:ext cx="1880791" cy="1981200"/>
          </a:xfrm>
          <a:prstGeom prst="rect">
            <a:avLst/>
          </a:prstGeom>
        </p:spPr>
      </p:pic>
      <p:pic>
        <p:nvPicPr>
          <p:cNvPr id="10" name="s13-snap-9" descr="s13-snap-9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7400" y="3263900"/>
            <a:ext cx="6426200" cy="235188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3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4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53" presetClass="entr" presetSubtype="3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9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1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9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1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9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5" dur="63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4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lens"/>
          <p:cNvSpPr/>
          <p:nvPr/>
        </p:nvSpPr>
        <p:spPr>
          <a:xfrm>
            <a:off x="368300" y="127000"/>
            <a:ext cx="1206500" cy="1206500"/>
          </a:xfrm>
          <a:prstGeom prst="ellipse">
            <a:avLst/>
          </a:prstGeom>
          <a:solidFill>
            <a:srgbClr val="EEF2EF"/>
          </a:solidFill>
          <a:ln/>
        </p:spPr>
      </p:sp>
      <p:pic>
        <p:nvPicPr>
          <p:cNvPr id="3" name="!!mt" descr="شعار نظرة ثماني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-5400000">
            <a:off x="543520" y="459333"/>
            <a:ext cx="546100" cy="533400"/>
          </a:xfrm>
          <a:prstGeom prst="rect">
            <a:avLst/>
          </a:prstGeom>
        </p:spPr>
      </p:pic>
      <p:pic>
        <p:nvPicPr>
          <p:cNvPr id="4" name="!!mb" descr="شعار نظرة ثمانية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5400000">
            <a:off x="850156" y="480913"/>
            <a:ext cx="527050" cy="520700"/>
          </a:xfrm>
          <a:prstGeom prst="rect">
            <a:avLst/>
          </a:prstGeom>
        </p:spPr>
      </p:pic>
      <p:pic>
        <p:nvPicPr>
          <p:cNvPr id="5" name="!!ma" descr="شعار نظرة ثمانية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5400000">
            <a:off x="727373" y="648940"/>
            <a:ext cx="95250" cy="82550"/>
          </a:xfrm>
          <a:prstGeom prst="rect">
            <a:avLst/>
          </a:prstGeom>
        </p:spPr>
      </p:pic>
      <p:pic>
        <p:nvPicPr>
          <p:cNvPr id="6" name="!!hud" descr="!!hu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800" y="177800"/>
            <a:ext cx="11836400" cy="6502400"/>
          </a:xfrm>
          <a:prstGeom prst="rect">
            <a:avLst/>
          </a:prstGeom>
        </p:spPr>
      </p:pic>
      <p:sp>
        <p:nvSpPr>
          <p:cNvPr id="7" name="!!rec"/>
          <p:cNvSpPr/>
          <p:nvPr/>
        </p:nvSpPr>
        <p:spPr>
          <a:xfrm>
            <a:off x="635000" y="6337300"/>
            <a:ext cx="101600" cy="101600"/>
          </a:xfrm>
          <a:prstGeom prst="ellipse">
            <a:avLst/>
          </a:prstGeom>
          <a:solidFill>
            <a:srgbClr val="FF8D26"/>
          </a:solidFill>
          <a:ln/>
        </p:spPr>
      </p:sp>
      <p:sp>
        <p:nvSpPr>
          <p:cNvPr id="8" name="!!num"/>
          <p:cNvSpPr txBox="1"/>
          <p:nvPr/>
        </p:nvSpPr>
        <p:spPr>
          <a:xfrm>
            <a:off x="825500" y="6281750"/>
            <a:ext cx="681534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altLang="en-US" sz="1200" dirty="0">
                <a:solidFill>
                  <a:srgbClr val="5E6D7C"/>
                </a:solidFill>
                <a:latin typeface="Sakkal Saad TN Trial Light"/>
                <a:cs typeface="Sakkal Saad TN Trial Light"/>
              </a:rPr>
              <a:t>REC · 14</a:t>
            </a:r>
            <a:endParaRPr lang="en-US" sz="1200" dirty="0"/>
          </a:p>
        </p:txBody>
      </p:sp>
      <p:sp>
        <p:nvSpPr>
          <p:cNvPr id="9" name="!!kick"/>
          <p:cNvSpPr txBox="1"/>
          <p:nvPr/>
        </p:nvSpPr>
        <p:spPr>
          <a:xfrm>
            <a:off x="9765133" y="318834"/>
            <a:ext cx="1791867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ar-SA" altLang="en-US" sz="1500" b="1" dirty="0">
                <a:solidFill>
                  <a:srgbClr val="43644B"/>
                </a:solidFill>
                <a:latin typeface="Sakkal Saad TN Trial Light"/>
                <a:cs typeface="Sakkal Saad TN Trial Light"/>
              </a:rPr>
              <a:t>04</a:t>
            </a:r>
            <a:r>
              <a:rPr lang="ar-SA" altLang="en-US" sz="1500" dirty="0">
                <a:solidFill>
                  <a:srgbClr val="E9720C"/>
                </a:solidFill>
                <a:latin typeface="Sakkal Saad TN Trial Light"/>
                <a:cs typeface="Sakkal Saad TN Trial Light"/>
              </a:rPr>
              <a:t> تحليل الجمهور المستهدف</a:t>
            </a:r>
            <a:endParaRPr lang="ar-SA" sz="1500" dirty="0"/>
          </a:p>
        </p:txBody>
      </p:sp>
      <p:sp>
        <p:nvSpPr>
          <p:cNvPr id="10" name="s14-text-8"/>
          <p:cNvSpPr txBox="1"/>
          <p:nvPr/>
        </p:nvSpPr>
        <p:spPr>
          <a:xfrm>
            <a:off x="7673872" y="695134"/>
            <a:ext cx="3883128" cy="702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5130"/>
              </a:lnSpc>
              <a:buNone/>
            </a:pPr>
            <a:r>
              <a:rPr lang="ar-SA" altLang="en-US" sz="3800" b="1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تحليل الجمهور المستهدف</a:t>
            </a:r>
            <a:endParaRPr lang="ar-SA" sz="3800" dirty="0"/>
          </a:p>
        </p:txBody>
      </p:sp>
      <p:sp>
        <p:nvSpPr>
          <p:cNvPr id="11" name="s14-text-9"/>
          <p:cNvSpPr txBox="1"/>
          <p:nvPr/>
        </p:nvSpPr>
        <p:spPr>
          <a:xfrm>
            <a:off x="-165100" y="1713821"/>
            <a:ext cx="11658600" cy="464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3255"/>
              </a:lnSpc>
              <a:buNone/>
            </a:pPr>
            <a:r>
              <a:rPr lang="ar-SA" altLang="en-US" sz="21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أصحاب المنازل والفلل، المحلات والمكاتب، الشركات والمنشآت، والمشاريع التي تحتاج إلى حلول أمن ومراقبة وشبكات.</a:t>
            </a:r>
            <a:endParaRPr lang="ar-SA" sz="2100" dirty="0"/>
          </a:p>
        </p:txBody>
      </p:sp>
      <p:sp>
        <p:nvSpPr>
          <p:cNvPr id="12" name="s14-shape-10"/>
          <p:cNvSpPr/>
          <p:nvPr/>
        </p:nvSpPr>
        <p:spPr>
          <a:xfrm>
            <a:off x="6286500" y="2730500"/>
            <a:ext cx="5207000" cy="3492500"/>
          </a:xfrm>
          <a:prstGeom prst="roundRect">
            <a:avLst>
              <a:gd name="adj" fmla="val 7273"/>
            </a:avLst>
          </a:prstGeom>
          <a:solidFill>
            <a:srgbClr val="43644B"/>
          </a:solidFill>
          <a:ln/>
        </p:spPr>
      </p:sp>
      <p:pic>
        <p:nvPicPr>
          <p:cNvPr id="13" name="s14-snap-11" descr="s14-snap-11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91800" y="2971800"/>
            <a:ext cx="635000" cy="635000"/>
          </a:xfrm>
          <a:prstGeom prst="rect">
            <a:avLst/>
          </a:prstGeom>
        </p:spPr>
      </p:pic>
      <p:sp>
        <p:nvSpPr>
          <p:cNvPr id="14" name="s14-text-12"/>
          <p:cNvSpPr txBox="1"/>
          <p:nvPr/>
        </p:nvSpPr>
        <p:spPr>
          <a:xfrm>
            <a:off x="8599107" y="3043555"/>
            <a:ext cx="1891093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700"/>
              </a:lnSpc>
              <a:buNone/>
            </a:pPr>
            <a:r>
              <a:rPr lang="ar-SA" altLang="en-US" sz="2000" b="1" dirty="0">
                <a:solidFill>
                  <a:srgbClr val="F6C342"/>
                </a:solidFill>
                <a:latin typeface="Sakkal Saad TN Trial Light"/>
                <a:cs typeface="Sakkal Saad TN Trial Light"/>
              </a:rPr>
              <a:t>الخصائص الديموغرافية</a:t>
            </a:r>
            <a:endParaRPr lang="ar-SA" sz="2000" dirty="0"/>
          </a:p>
        </p:txBody>
      </p:sp>
      <p:sp>
        <p:nvSpPr>
          <p:cNvPr id="15" name="s14-shape-13"/>
          <p:cNvSpPr/>
          <p:nvPr/>
        </p:nvSpPr>
        <p:spPr>
          <a:xfrm>
            <a:off x="11099800" y="3873500"/>
            <a:ext cx="88900" cy="88900"/>
          </a:xfrm>
          <a:prstGeom prst="ellipse">
            <a:avLst/>
          </a:prstGeom>
          <a:solidFill>
            <a:srgbClr val="F6C342"/>
          </a:solidFill>
          <a:ln/>
        </p:spPr>
      </p:sp>
      <p:sp>
        <p:nvSpPr>
          <p:cNvPr id="16" name="s14-text-14"/>
          <p:cNvSpPr txBox="1"/>
          <p:nvPr/>
        </p:nvSpPr>
        <p:spPr>
          <a:xfrm>
            <a:off x="8755309" y="3665144"/>
            <a:ext cx="2217491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700"/>
              </a:lnSpc>
              <a:buNone/>
            </a:pPr>
            <a:r>
              <a:rPr lang="ar-SA" altLang="en-US" sz="1800" dirty="0">
                <a:solidFill>
                  <a:srgbClr val="FFFFFF"/>
                </a:solidFill>
                <a:latin typeface="Sakkal Saad TN Trial Light"/>
                <a:cs typeface="Sakkal Saad TN Trial Light"/>
              </a:rPr>
              <a:t>داخل المملكة العربية السعودية</a:t>
            </a:r>
            <a:endParaRPr lang="ar-SA" sz="1800" dirty="0"/>
          </a:p>
        </p:txBody>
      </p:sp>
      <p:sp>
        <p:nvSpPr>
          <p:cNvPr id="17" name="s14-shape-15"/>
          <p:cNvSpPr/>
          <p:nvPr/>
        </p:nvSpPr>
        <p:spPr>
          <a:xfrm>
            <a:off x="11099800" y="4318000"/>
            <a:ext cx="88900" cy="88900"/>
          </a:xfrm>
          <a:prstGeom prst="ellipse">
            <a:avLst/>
          </a:prstGeom>
          <a:solidFill>
            <a:srgbClr val="F6C342"/>
          </a:solidFill>
          <a:ln/>
        </p:spPr>
      </p:sp>
      <p:sp>
        <p:nvSpPr>
          <p:cNvPr id="18" name="s14-text-16"/>
          <p:cNvSpPr txBox="1"/>
          <p:nvPr/>
        </p:nvSpPr>
        <p:spPr>
          <a:xfrm>
            <a:off x="8557177" y="4109644"/>
            <a:ext cx="2415623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700"/>
              </a:lnSpc>
              <a:buNone/>
            </a:pPr>
            <a:r>
              <a:rPr lang="ar-SA" altLang="en-US" sz="1800" dirty="0">
                <a:solidFill>
                  <a:srgbClr val="FFFFFF"/>
                </a:solidFill>
                <a:latin typeface="Sakkal Saad TN Trial Light"/>
                <a:cs typeface="Sakkal Saad TN Trial Light"/>
              </a:rPr>
              <a:t>أفراد وأصحاب أعمال وصناع قرار</a:t>
            </a:r>
            <a:endParaRPr lang="ar-SA" sz="1800" dirty="0"/>
          </a:p>
        </p:txBody>
      </p:sp>
      <p:sp>
        <p:nvSpPr>
          <p:cNvPr id="19" name="s14-shape-17"/>
          <p:cNvSpPr/>
          <p:nvPr/>
        </p:nvSpPr>
        <p:spPr>
          <a:xfrm>
            <a:off x="11099800" y="4762500"/>
            <a:ext cx="88900" cy="88900"/>
          </a:xfrm>
          <a:prstGeom prst="ellipse">
            <a:avLst/>
          </a:prstGeom>
          <a:solidFill>
            <a:srgbClr val="F6C342"/>
          </a:solidFill>
          <a:ln/>
        </p:spPr>
      </p:sp>
      <p:sp>
        <p:nvSpPr>
          <p:cNvPr id="20" name="s14-text-18"/>
          <p:cNvSpPr txBox="1"/>
          <p:nvPr/>
        </p:nvSpPr>
        <p:spPr>
          <a:xfrm>
            <a:off x="6529352" y="4554144"/>
            <a:ext cx="4443448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700"/>
              </a:lnSpc>
              <a:buNone/>
            </a:pPr>
            <a:r>
              <a:rPr lang="ar-SA" altLang="en-US" sz="1800" dirty="0">
                <a:solidFill>
                  <a:srgbClr val="FFFFFF"/>
                </a:solidFill>
                <a:latin typeface="Sakkal Saad TN Trial Light"/>
                <a:cs typeface="Sakkal Saad TN Trial Light"/>
              </a:rPr>
              <a:t>غالبًا من الفئات القادرة على الاستثمار في حلول الأمن والمراقبة</a:t>
            </a:r>
            <a:endParaRPr lang="ar-SA" sz="1800" dirty="0"/>
          </a:p>
        </p:txBody>
      </p:sp>
      <p:sp>
        <p:nvSpPr>
          <p:cNvPr id="21" name="s14-shape-19"/>
          <p:cNvSpPr/>
          <p:nvPr/>
        </p:nvSpPr>
        <p:spPr>
          <a:xfrm>
            <a:off x="698500" y="2730500"/>
            <a:ext cx="5397500" cy="3492500"/>
          </a:xfrm>
          <a:prstGeom prst="roundRect">
            <a:avLst>
              <a:gd name="adj" fmla="val 7273"/>
            </a:avLst>
          </a:prstGeom>
          <a:solidFill>
            <a:srgbClr val="FFF7DE"/>
          </a:solidFill>
          <a:ln/>
        </p:spPr>
      </p:sp>
      <p:pic>
        <p:nvPicPr>
          <p:cNvPr id="22" name="s14-snap-20" descr="s14-snap-20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94300" y="2971800"/>
            <a:ext cx="635000" cy="635000"/>
          </a:xfrm>
          <a:prstGeom prst="rect">
            <a:avLst/>
          </a:prstGeom>
        </p:spPr>
      </p:pic>
      <p:sp>
        <p:nvSpPr>
          <p:cNvPr id="23" name="s14-text-21"/>
          <p:cNvSpPr txBox="1"/>
          <p:nvPr/>
        </p:nvSpPr>
        <p:spPr>
          <a:xfrm>
            <a:off x="4143474" y="3043555"/>
            <a:ext cx="949226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700"/>
              </a:lnSpc>
              <a:buNone/>
            </a:pPr>
            <a:r>
              <a:rPr lang="ar-SA" altLang="en-US" sz="2000" b="1" dirty="0">
                <a:solidFill>
                  <a:srgbClr val="E9720C"/>
                </a:solidFill>
                <a:latin typeface="Sakkal Saad TN Trial Light"/>
                <a:cs typeface="Sakkal Saad TN Trial Light"/>
              </a:rPr>
              <a:t>الاهتمامات</a:t>
            </a:r>
            <a:endParaRPr lang="ar-SA" sz="2000" dirty="0"/>
          </a:p>
        </p:txBody>
      </p:sp>
      <p:sp>
        <p:nvSpPr>
          <p:cNvPr id="24" name="s14-shape-22"/>
          <p:cNvSpPr/>
          <p:nvPr/>
        </p:nvSpPr>
        <p:spPr>
          <a:xfrm>
            <a:off x="5702300" y="3860800"/>
            <a:ext cx="88900" cy="88900"/>
          </a:xfrm>
          <a:prstGeom prst="ellipse">
            <a:avLst/>
          </a:prstGeom>
          <a:solidFill>
            <a:srgbClr val="FF8D26"/>
          </a:solidFill>
          <a:ln/>
        </p:spPr>
      </p:sp>
      <p:sp>
        <p:nvSpPr>
          <p:cNvPr id="25" name="s14-text-23"/>
          <p:cNvSpPr txBox="1"/>
          <p:nvPr/>
        </p:nvSpPr>
        <p:spPr>
          <a:xfrm>
            <a:off x="4060968" y="3670071"/>
            <a:ext cx="1514332" cy="365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475"/>
              </a:lnSpc>
              <a:buNone/>
            </a:pPr>
            <a:r>
              <a:rPr lang="ar-SA" altLang="en-US" sz="16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الأمان وحماية الممتلكات</a:t>
            </a:r>
            <a:endParaRPr lang="ar-SA" sz="1650" dirty="0"/>
          </a:p>
        </p:txBody>
      </p:sp>
      <p:sp>
        <p:nvSpPr>
          <p:cNvPr id="26" name="s14-shape-24"/>
          <p:cNvSpPr/>
          <p:nvPr/>
        </p:nvSpPr>
        <p:spPr>
          <a:xfrm>
            <a:off x="5702300" y="4251325"/>
            <a:ext cx="88900" cy="88900"/>
          </a:xfrm>
          <a:prstGeom prst="ellipse">
            <a:avLst/>
          </a:prstGeom>
          <a:solidFill>
            <a:srgbClr val="FF8D26"/>
          </a:solidFill>
          <a:ln/>
        </p:spPr>
      </p:sp>
      <p:sp>
        <p:nvSpPr>
          <p:cNvPr id="27" name="s14-text-25"/>
          <p:cNvSpPr txBox="1"/>
          <p:nvPr/>
        </p:nvSpPr>
        <p:spPr>
          <a:xfrm>
            <a:off x="3478895" y="4060596"/>
            <a:ext cx="2096405" cy="365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475"/>
              </a:lnSpc>
              <a:buNone/>
            </a:pPr>
            <a:r>
              <a:rPr lang="ar-SA" altLang="en-US" sz="16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كاميرات المراقبة والأنظمة الأمنية</a:t>
            </a:r>
            <a:endParaRPr lang="ar-SA" sz="1650" dirty="0"/>
          </a:p>
        </p:txBody>
      </p:sp>
      <p:sp>
        <p:nvSpPr>
          <p:cNvPr id="28" name="s14-shape-26"/>
          <p:cNvSpPr/>
          <p:nvPr/>
        </p:nvSpPr>
        <p:spPr>
          <a:xfrm>
            <a:off x="5702300" y="4641850"/>
            <a:ext cx="88900" cy="88900"/>
          </a:xfrm>
          <a:prstGeom prst="ellipse">
            <a:avLst/>
          </a:prstGeom>
          <a:solidFill>
            <a:srgbClr val="FF8D26"/>
          </a:solidFill>
          <a:ln/>
        </p:spPr>
      </p:sp>
      <p:sp>
        <p:nvSpPr>
          <p:cNvPr id="29" name="s14-text-27"/>
          <p:cNvSpPr txBox="1"/>
          <p:nvPr/>
        </p:nvSpPr>
        <p:spPr>
          <a:xfrm>
            <a:off x="3855657" y="4451121"/>
            <a:ext cx="1719644" cy="365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475"/>
              </a:lnSpc>
              <a:buNone/>
            </a:pPr>
            <a:r>
              <a:rPr lang="ar-SA" altLang="en-US" sz="16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الشبكات والتقنيات الذكية</a:t>
            </a:r>
            <a:endParaRPr lang="ar-SA" sz="1650" dirty="0"/>
          </a:p>
        </p:txBody>
      </p:sp>
      <p:sp>
        <p:nvSpPr>
          <p:cNvPr id="30" name="s14-shape-28"/>
          <p:cNvSpPr/>
          <p:nvPr/>
        </p:nvSpPr>
        <p:spPr>
          <a:xfrm>
            <a:off x="5702300" y="5032375"/>
            <a:ext cx="88900" cy="88900"/>
          </a:xfrm>
          <a:prstGeom prst="ellipse">
            <a:avLst/>
          </a:prstGeom>
          <a:solidFill>
            <a:srgbClr val="FF8D26"/>
          </a:solidFill>
          <a:ln/>
        </p:spPr>
      </p:sp>
      <p:sp>
        <p:nvSpPr>
          <p:cNvPr id="31" name="s14-text-29"/>
          <p:cNvSpPr txBox="1"/>
          <p:nvPr/>
        </p:nvSpPr>
        <p:spPr>
          <a:xfrm>
            <a:off x="2664829" y="4841646"/>
            <a:ext cx="2910471" cy="365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475"/>
              </a:lnSpc>
              <a:buNone/>
            </a:pPr>
            <a:r>
              <a:rPr lang="ar-SA" altLang="en-US" sz="16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حلول التحكم بالدخول والحضور والانصراف</a:t>
            </a:r>
            <a:endParaRPr lang="ar-SA" sz="1650" dirty="0"/>
          </a:p>
        </p:txBody>
      </p:sp>
      <p:sp>
        <p:nvSpPr>
          <p:cNvPr id="32" name="s14-shape-30"/>
          <p:cNvSpPr/>
          <p:nvPr/>
        </p:nvSpPr>
        <p:spPr>
          <a:xfrm>
            <a:off x="5702300" y="5422900"/>
            <a:ext cx="88900" cy="88900"/>
          </a:xfrm>
          <a:prstGeom prst="ellipse">
            <a:avLst/>
          </a:prstGeom>
          <a:solidFill>
            <a:srgbClr val="FF8D26"/>
          </a:solidFill>
          <a:ln/>
        </p:spPr>
      </p:sp>
      <p:sp>
        <p:nvSpPr>
          <p:cNvPr id="33" name="s14-text-31"/>
          <p:cNvSpPr txBox="1"/>
          <p:nvPr/>
        </p:nvSpPr>
        <p:spPr>
          <a:xfrm>
            <a:off x="4093008" y="5232171"/>
            <a:ext cx="1482292" cy="365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475"/>
              </a:lnSpc>
              <a:buNone/>
            </a:pPr>
            <a:r>
              <a:rPr lang="ar-SA" altLang="en-US" sz="16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تجهيز المنازل والمنشآت</a:t>
            </a:r>
            <a:endParaRPr lang="ar-SA" sz="16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3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4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0" dur="489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75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75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75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5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75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7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75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75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75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75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75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75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75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75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75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75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53" presetClass="entr" presetSubtype="16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7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6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6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75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75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750" fill="hold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750" fill="hold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76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75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75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76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75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75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83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750" fill="hold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750" fill="hold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42" presetClass="entr" presetSubtype="0" fill="hold" grpId="0" nodeType="withEffect">
                                  <p:stCondLst>
                                    <p:cond delay="83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750" fill="hold" decel="10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750" fill="hold" decel="10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750" fill="hold" decel="100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750" fill="hold" decel="100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750" fill="hold" decel="100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750" fill="hold" decel="100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42" presetClass="entr" presetSubtype="0" fill="hold" grpId="0" nodeType="withEffect">
                                  <p:stCondLst>
                                    <p:cond delay="99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750" fill="hold" decel="100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750" fill="hold" decel="100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42" presetClass="entr" presetSubtype="0" fill="hold" grpId="0" nodeType="withEffect">
                                  <p:stCondLst>
                                    <p:cond delay="99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750" fill="hold" decel="100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750" fill="hold" decel="100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grpId="0" nodeType="withEffect">
                                  <p:stCondLst>
                                    <p:cond delay="107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9" dur="750" fill="hold" decel="100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750" fill="hold" decel="100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42" presetClass="entr" presetSubtype="0" fill="hold" grpId="0" nodeType="withEffect">
                                  <p:stCondLst>
                                    <p:cond delay="107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750" fill="hold" decel="1000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750" fill="hold" decel="1000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/>
      <p:bldP spid="11" grpId="0"/>
      <p:bldP spid="12" grpId="0" animBg="1"/>
      <p:bldP spid="14" grpId="0"/>
      <p:bldP spid="21" grpId="0" animBg="1"/>
      <p:bldP spid="15" grpId="0" animBg="1"/>
      <p:bldP spid="16" grpId="0"/>
      <p:bldP spid="23" grpId="0"/>
      <p:bldP spid="17" grpId="0" animBg="1"/>
      <p:bldP spid="18" grpId="0"/>
      <p:bldP spid="24" grpId="0" animBg="1"/>
      <p:bldP spid="25" grpId="0"/>
      <p:bldP spid="19" grpId="0" animBg="1"/>
      <p:bldP spid="20" grpId="0"/>
      <p:bldP spid="26" grpId="0" animBg="1"/>
      <p:bldP spid="27" grpId="0"/>
      <p:bldP spid="28" grpId="0" animBg="1"/>
      <p:bldP spid="29" grpId="0"/>
      <p:bldP spid="30" grpId="0" animBg="1"/>
      <p:bldP spid="31" grpId="0"/>
      <p:bldP spid="32" grpId="0" animBg="1"/>
      <p:bldP spid="33" grpId="0"/>
    </p:bldLst>
  </p:timing>
</p:sld>
</file>

<file path=ppt/slides/slide15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lens"/>
          <p:cNvSpPr/>
          <p:nvPr/>
        </p:nvSpPr>
        <p:spPr>
          <a:xfrm>
            <a:off x="368300" y="127000"/>
            <a:ext cx="1206500" cy="1206500"/>
          </a:xfrm>
          <a:prstGeom prst="ellipse">
            <a:avLst/>
          </a:prstGeom>
          <a:solidFill>
            <a:srgbClr val="EEF2EF"/>
          </a:solidFill>
          <a:ln/>
        </p:spPr>
      </p:sp>
      <p:pic>
        <p:nvPicPr>
          <p:cNvPr id="3" name="!!mt" descr="شعار نظرة ثماني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-2700000">
            <a:off x="589260" y="357733"/>
            <a:ext cx="546100" cy="533400"/>
          </a:xfrm>
          <a:prstGeom prst="rect">
            <a:avLst/>
          </a:prstGeom>
        </p:spPr>
      </p:pic>
      <p:pic>
        <p:nvPicPr>
          <p:cNvPr id="4" name="!!mb" descr="شعار نظرة ثمانية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2700000">
            <a:off x="798165" y="585093"/>
            <a:ext cx="527050" cy="520700"/>
          </a:xfrm>
          <a:prstGeom prst="rect">
            <a:avLst/>
          </a:prstGeom>
        </p:spPr>
      </p:pic>
      <p:pic>
        <p:nvPicPr>
          <p:cNvPr id="5" name="!!ma" descr="شعار نظرة ثمانية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2700000">
            <a:off x="810518" y="528290"/>
            <a:ext cx="95250" cy="82550"/>
          </a:xfrm>
          <a:prstGeom prst="rect">
            <a:avLst/>
          </a:prstGeom>
        </p:spPr>
      </p:pic>
      <p:pic>
        <p:nvPicPr>
          <p:cNvPr id="6" name="!!hud" descr="!!hu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800" y="177800"/>
            <a:ext cx="11836400" cy="6502400"/>
          </a:xfrm>
          <a:prstGeom prst="rect">
            <a:avLst/>
          </a:prstGeom>
        </p:spPr>
      </p:pic>
      <p:sp>
        <p:nvSpPr>
          <p:cNvPr id="7" name="!!rec"/>
          <p:cNvSpPr/>
          <p:nvPr/>
        </p:nvSpPr>
        <p:spPr>
          <a:xfrm>
            <a:off x="635000" y="6337300"/>
            <a:ext cx="101600" cy="101600"/>
          </a:xfrm>
          <a:prstGeom prst="ellipse">
            <a:avLst/>
          </a:prstGeom>
          <a:solidFill>
            <a:srgbClr val="FF8D26"/>
          </a:solidFill>
          <a:ln/>
        </p:spPr>
      </p:sp>
      <p:sp>
        <p:nvSpPr>
          <p:cNvPr id="8" name="!!num"/>
          <p:cNvSpPr txBox="1"/>
          <p:nvPr/>
        </p:nvSpPr>
        <p:spPr>
          <a:xfrm>
            <a:off x="825500" y="6281750"/>
            <a:ext cx="676077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altLang="en-US" sz="1200" dirty="0">
                <a:solidFill>
                  <a:srgbClr val="5E6D7C"/>
                </a:solidFill>
                <a:latin typeface="Sakkal Saad TN Trial Light"/>
                <a:cs typeface="Sakkal Saad TN Trial Light"/>
              </a:rPr>
              <a:t>REC · 15</a:t>
            </a:r>
            <a:endParaRPr lang="en-US" sz="1200" dirty="0"/>
          </a:p>
        </p:txBody>
      </p:sp>
      <p:sp>
        <p:nvSpPr>
          <p:cNvPr id="9" name="!!kick"/>
          <p:cNvSpPr txBox="1"/>
          <p:nvPr/>
        </p:nvSpPr>
        <p:spPr>
          <a:xfrm>
            <a:off x="9765133" y="318834"/>
            <a:ext cx="1791867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ar-SA" altLang="en-US" sz="1500" b="1" dirty="0">
                <a:solidFill>
                  <a:srgbClr val="43644B"/>
                </a:solidFill>
                <a:latin typeface="Sakkal Saad TN Trial Light"/>
                <a:cs typeface="Sakkal Saad TN Trial Light"/>
              </a:rPr>
              <a:t>04</a:t>
            </a:r>
            <a:r>
              <a:rPr lang="ar-SA" altLang="en-US" sz="1500" dirty="0">
                <a:solidFill>
                  <a:srgbClr val="E9720C"/>
                </a:solidFill>
                <a:latin typeface="Sakkal Saad TN Trial Light"/>
                <a:cs typeface="Sakkal Saad TN Trial Light"/>
              </a:rPr>
              <a:t> تحليل الجمهور المستهدف</a:t>
            </a:r>
            <a:endParaRPr lang="ar-SA" sz="1500" dirty="0"/>
          </a:p>
        </p:txBody>
      </p:sp>
      <p:sp>
        <p:nvSpPr>
          <p:cNvPr id="10" name="s15-text-8"/>
          <p:cNvSpPr txBox="1"/>
          <p:nvPr/>
        </p:nvSpPr>
        <p:spPr>
          <a:xfrm>
            <a:off x="7673872" y="695134"/>
            <a:ext cx="3883128" cy="702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5130"/>
              </a:lnSpc>
              <a:buNone/>
            </a:pPr>
            <a:r>
              <a:rPr lang="ar-SA" altLang="en-US" sz="3800" b="1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تحليل الجمهور المستهدف</a:t>
            </a:r>
            <a:endParaRPr lang="ar-SA" sz="3800" dirty="0"/>
          </a:p>
        </p:txBody>
      </p:sp>
      <p:sp>
        <p:nvSpPr>
          <p:cNvPr id="11" name="s15-shape-9"/>
          <p:cNvSpPr/>
          <p:nvPr/>
        </p:nvSpPr>
        <p:spPr>
          <a:xfrm>
            <a:off x="6191250" y="1905000"/>
            <a:ext cx="5302250" cy="4318000"/>
          </a:xfrm>
          <a:prstGeom prst="roundRect">
            <a:avLst>
              <a:gd name="adj" fmla="val 5882"/>
            </a:avLst>
          </a:prstGeom>
          <a:solidFill>
            <a:srgbClr val="FFF1E3"/>
          </a:solidFill>
          <a:ln/>
        </p:spPr>
      </p:sp>
      <p:pic>
        <p:nvPicPr>
          <p:cNvPr id="12" name="s15-snap-10" descr="s15-snap-10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91800" y="2146300"/>
            <a:ext cx="635000" cy="635000"/>
          </a:xfrm>
          <a:prstGeom prst="rect">
            <a:avLst/>
          </a:prstGeom>
        </p:spPr>
      </p:pic>
      <p:sp>
        <p:nvSpPr>
          <p:cNvPr id="13" name="s15-text-11"/>
          <p:cNvSpPr txBox="1"/>
          <p:nvPr/>
        </p:nvSpPr>
        <p:spPr>
          <a:xfrm>
            <a:off x="8737660" y="2218055"/>
            <a:ext cx="175254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700"/>
              </a:lnSpc>
              <a:buNone/>
            </a:pPr>
            <a:r>
              <a:rPr lang="ar-SA" altLang="en-US" sz="2000" b="1" dirty="0">
                <a:solidFill>
                  <a:srgbClr val="E9720C"/>
                </a:solidFill>
                <a:latin typeface="Sakkal Saad TN Trial Light"/>
                <a:cs typeface="Sakkal Saad TN Trial Light"/>
              </a:rPr>
              <a:t>الاحتياجات والمشاكل</a:t>
            </a:r>
            <a:endParaRPr lang="ar-SA" sz="2000" dirty="0"/>
          </a:p>
        </p:txBody>
      </p:sp>
      <p:sp>
        <p:nvSpPr>
          <p:cNvPr id="14" name="s15-shape-12"/>
          <p:cNvSpPr/>
          <p:nvPr/>
        </p:nvSpPr>
        <p:spPr>
          <a:xfrm>
            <a:off x="11099800" y="3060700"/>
            <a:ext cx="88900" cy="88900"/>
          </a:xfrm>
          <a:prstGeom prst="ellipse">
            <a:avLst/>
          </a:prstGeom>
          <a:solidFill>
            <a:srgbClr val="FF8D26"/>
          </a:solidFill>
          <a:ln/>
        </p:spPr>
      </p:sp>
      <p:sp>
        <p:nvSpPr>
          <p:cNvPr id="15" name="s15-text-13"/>
          <p:cNvSpPr txBox="1"/>
          <p:nvPr/>
        </p:nvSpPr>
        <p:spPr>
          <a:xfrm>
            <a:off x="9300948" y="2835300"/>
            <a:ext cx="1671852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850"/>
              </a:lnSpc>
              <a:buNone/>
            </a:pPr>
            <a:r>
              <a:rPr lang="ar-SA" altLang="en-US" sz="19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اختيار النظام المناسب</a:t>
            </a:r>
            <a:endParaRPr lang="ar-SA" sz="1900" dirty="0"/>
          </a:p>
        </p:txBody>
      </p:sp>
      <p:sp>
        <p:nvSpPr>
          <p:cNvPr id="16" name="s15-shape-14"/>
          <p:cNvSpPr/>
          <p:nvPr/>
        </p:nvSpPr>
        <p:spPr>
          <a:xfrm>
            <a:off x="11099800" y="3575050"/>
            <a:ext cx="88900" cy="88900"/>
          </a:xfrm>
          <a:prstGeom prst="ellipse">
            <a:avLst/>
          </a:prstGeom>
          <a:solidFill>
            <a:srgbClr val="FF8D26"/>
          </a:solidFill>
          <a:ln/>
        </p:spPr>
      </p:sp>
      <p:sp>
        <p:nvSpPr>
          <p:cNvPr id="17" name="s15-text-15"/>
          <p:cNvSpPr txBox="1"/>
          <p:nvPr/>
        </p:nvSpPr>
        <p:spPr>
          <a:xfrm>
            <a:off x="8565213" y="3349650"/>
            <a:ext cx="2407587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850"/>
              </a:lnSpc>
              <a:buNone/>
            </a:pPr>
            <a:r>
              <a:rPr lang="ar-SA" altLang="en-US" sz="19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الحيرة بين المنتجات والمواصفات</a:t>
            </a:r>
            <a:endParaRPr lang="ar-SA" sz="1900" dirty="0"/>
          </a:p>
        </p:txBody>
      </p:sp>
      <p:sp>
        <p:nvSpPr>
          <p:cNvPr id="18" name="s15-shape-16"/>
          <p:cNvSpPr/>
          <p:nvPr/>
        </p:nvSpPr>
        <p:spPr>
          <a:xfrm>
            <a:off x="11099800" y="4089400"/>
            <a:ext cx="88900" cy="88900"/>
          </a:xfrm>
          <a:prstGeom prst="ellipse">
            <a:avLst/>
          </a:prstGeom>
          <a:solidFill>
            <a:srgbClr val="FF8D26"/>
          </a:solidFill>
          <a:ln/>
        </p:spPr>
      </p:sp>
      <p:sp>
        <p:nvSpPr>
          <p:cNvPr id="19" name="s15-text-17"/>
          <p:cNvSpPr txBox="1"/>
          <p:nvPr/>
        </p:nvSpPr>
        <p:spPr>
          <a:xfrm>
            <a:off x="8324540" y="3864000"/>
            <a:ext cx="264826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850"/>
              </a:lnSpc>
              <a:buNone/>
            </a:pPr>
            <a:r>
              <a:rPr lang="ar-SA" altLang="en-US" sz="19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الحاجة إلى تركيب وبرمجة احترافية</a:t>
            </a:r>
            <a:endParaRPr lang="ar-SA" sz="1900" dirty="0"/>
          </a:p>
        </p:txBody>
      </p:sp>
      <p:sp>
        <p:nvSpPr>
          <p:cNvPr id="20" name="s15-shape-18"/>
          <p:cNvSpPr/>
          <p:nvPr/>
        </p:nvSpPr>
        <p:spPr>
          <a:xfrm>
            <a:off x="11099800" y="4603750"/>
            <a:ext cx="88900" cy="88900"/>
          </a:xfrm>
          <a:prstGeom prst="ellipse">
            <a:avLst/>
          </a:prstGeom>
          <a:solidFill>
            <a:srgbClr val="FF8D26"/>
          </a:solidFill>
          <a:ln/>
        </p:spPr>
      </p:sp>
      <p:sp>
        <p:nvSpPr>
          <p:cNvPr id="21" name="s15-text-19"/>
          <p:cNvSpPr txBox="1"/>
          <p:nvPr/>
        </p:nvSpPr>
        <p:spPr>
          <a:xfrm>
            <a:off x="8497062" y="4378350"/>
            <a:ext cx="2475738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850"/>
              </a:lnSpc>
              <a:buNone/>
            </a:pPr>
            <a:r>
              <a:rPr lang="ar-SA" altLang="en-US" sz="19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الرغبة في التعامل مع جهة واحدة</a:t>
            </a:r>
            <a:endParaRPr lang="ar-SA" sz="1900" dirty="0"/>
          </a:p>
        </p:txBody>
      </p:sp>
      <p:sp>
        <p:nvSpPr>
          <p:cNvPr id="22" name="s15-shape-20"/>
          <p:cNvSpPr/>
          <p:nvPr/>
        </p:nvSpPr>
        <p:spPr>
          <a:xfrm>
            <a:off x="11099800" y="5118100"/>
            <a:ext cx="88900" cy="88900"/>
          </a:xfrm>
          <a:prstGeom prst="ellipse">
            <a:avLst/>
          </a:prstGeom>
          <a:solidFill>
            <a:srgbClr val="FF8D26"/>
          </a:solidFill>
          <a:ln/>
        </p:spPr>
      </p:sp>
      <p:sp>
        <p:nvSpPr>
          <p:cNvPr id="23" name="s15-text-21"/>
          <p:cNvSpPr txBox="1"/>
          <p:nvPr/>
        </p:nvSpPr>
        <p:spPr>
          <a:xfrm>
            <a:off x="8442305" y="4892700"/>
            <a:ext cx="2530495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850"/>
              </a:lnSpc>
              <a:buNone/>
            </a:pPr>
            <a:r>
              <a:rPr lang="ar-SA" altLang="en-US" sz="19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الحصول على دعم فني بعد الشراء</a:t>
            </a:r>
            <a:endParaRPr lang="ar-SA" sz="1900" dirty="0"/>
          </a:p>
        </p:txBody>
      </p:sp>
      <p:sp>
        <p:nvSpPr>
          <p:cNvPr id="24" name="s15-shape-22"/>
          <p:cNvSpPr/>
          <p:nvPr/>
        </p:nvSpPr>
        <p:spPr>
          <a:xfrm>
            <a:off x="698500" y="1905000"/>
            <a:ext cx="5302250" cy="43180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0" dist="76200" dir="5400000">
              <a:srgbClr val="1E2A36">
                <a:alpha val="10000"/>
              </a:srgbClr>
            </a:outerShdw>
          </a:effectLst>
        </p:spPr>
      </p:sp>
      <p:pic>
        <p:nvPicPr>
          <p:cNvPr id="25" name="s15-snap-23" descr="s15-snap-23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99050" y="2146300"/>
            <a:ext cx="635000" cy="635000"/>
          </a:xfrm>
          <a:prstGeom prst="rect">
            <a:avLst/>
          </a:prstGeom>
        </p:spPr>
      </p:pic>
      <p:sp>
        <p:nvSpPr>
          <p:cNvPr id="26" name="s15-text-24"/>
          <p:cNvSpPr txBox="1"/>
          <p:nvPr/>
        </p:nvSpPr>
        <p:spPr>
          <a:xfrm>
            <a:off x="4276030" y="2218055"/>
            <a:ext cx="72142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700"/>
              </a:lnSpc>
              <a:buNone/>
            </a:pPr>
            <a:r>
              <a:rPr lang="ar-SA" altLang="en-US" sz="2000" b="1" dirty="0">
                <a:solidFill>
                  <a:srgbClr val="E9720C"/>
                </a:solidFill>
                <a:latin typeface="Sakkal Saad TN Trial Light"/>
                <a:cs typeface="Sakkal Saad TN Trial Light"/>
              </a:rPr>
              <a:t>السلوك</a:t>
            </a:r>
            <a:endParaRPr lang="ar-SA" sz="2000" dirty="0"/>
          </a:p>
        </p:txBody>
      </p:sp>
      <p:sp>
        <p:nvSpPr>
          <p:cNvPr id="27" name="s15-shape-25"/>
          <p:cNvSpPr/>
          <p:nvPr/>
        </p:nvSpPr>
        <p:spPr>
          <a:xfrm>
            <a:off x="5607050" y="3048000"/>
            <a:ext cx="88900" cy="88900"/>
          </a:xfrm>
          <a:prstGeom prst="ellipse">
            <a:avLst/>
          </a:prstGeom>
          <a:solidFill>
            <a:srgbClr val="FF8D26"/>
          </a:solidFill>
          <a:ln/>
        </p:spPr>
      </p:sp>
      <p:sp>
        <p:nvSpPr>
          <p:cNvPr id="28" name="s15-text-26"/>
          <p:cNvSpPr txBox="1"/>
          <p:nvPr/>
        </p:nvSpPr>
        <p:spPr>
          <a:xfrm>
            <a:off x="3684433" y="2839644"/>
            <a:ext cx="1795617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700"/>
              </a:lnSpc>
              <a:buNone/>
            </a:pPr>
            <a:r>
              <a:rPr lang="ar-SA" altLang="en-US" sz="18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يبحث ويقارن قبل الشراء</a:t>
            </a:r>
            <a:endParaRPr lang="ar-SA" sz="1800" dirty="0"/>
          </a:p>
        </p:txBody>
      </p:sp>
      <p:sp>
        <p:nvSpPr>
          <p:cNvPr id="29" name="s15-shape-27"/>
          <p:cNvSpPr/>
          <p:nvPr/>
        </p:nvSpPr>
        <p:spPr>
          <a:xfrm>
            <a:off x="5607050" y="3543300"/>
            <a:ext cx="88900" cy="88900"/>
          </a:xfrm>
          <a:prstGeom prst="ellipse">
            <a:avLst/>
          </a:prstGeom>
          <a:solidFill>
            <a:srgbClr val="FF8D26"/>
          </a:solidFill>
          <a:ln/>
        </p:spPr>
      </p:sp>
      <p:sp>
        <p:nvSpPr>
          <p:cNvPr id="30" name="s15-text-28"/>
          <p:cNvSpPr txBox="1"/>
          <p:nvPr/>
        </p:nvSpPr>
        <p:spPr>
          <a:xfrm>
            <a:off x="3491980" y="3334944"/>
            <a:ext cx="198807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700"/>
              </a:lnSpc>
              <a:buNone/>
            </a:pPr>
            <a:r>
              <a:rPr lang="ar-SA" altLang="en-US" sz="18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يهتم بالسعر والجودة والثقة</a:t>
            </a:r>
            <a:endParaRPr lang="ar-SA" sz="1800" dirty="0"/>
          </a:p>
        </p:txBody>
      </p:sp>
      <p:sp>
        <p:nvSpPr>
          <p:cNvPr id="31" name="s15-shape-29"/>
          <p:cNvSpPr/>
          <p:nvPr/>
        </p:nvSpPr>
        <p:spPr>
          <a:xfrm>
            <a:off x="5607050" y="4038600"/>
            <a:ext cx="88900" cy="88900"/>
          </a:xfrm>
          <a:prstGeom prst="ellipse">
            <a:avLst/>
          </a:prstGeom>
          <a:solidFill>
            <a:srgbClr val="FF8D26"/>
          </a:solidFill>
          <a:ln/>
        </p:spPr>
      </p:sp>
      <p:sp>
        <p:nvSpPr>
          <p:cNvPr id="32" name="s15-text-30"/>
          <p:cNvSpPr txBox="1"/>
          <p:nvPr/>
        </p:nvSpPr>
        <p:spPr>
          <a:xfrm>
            <a:off x="2408952" y="3830244"/>
            <a:ext cx="3071098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700"/>
              </a:lnSpc>
              <a:buNone/>
            </a:pPr>
            <a:r>
              <a:rPr lang="ar-SA" altLang="en-US" sz="18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يعتمد على المحتوى المرئي والتجارب السابقة</a:t>
            </a:r>
            <a:endParaRPr lang="ar-SA" sz="1800" dirty="0"/>
          </a:p>
        </p:txBody>
      </p:sp>
      <p:sp>
        <p:nvSpPr>
          <p:cNvPr id="33" name="s15-shape-31"/>
          <p:cNvSpPr/>
          <p:nvPr/>
        </p:nvSpPr>
        <p:spPr>
          <a:xfrm>
            <a:off x="5607050" y="4533900"/>
            <a:ext cx="88900" cy="88900"/>
          </a:xfrm>
          <a:prstGeom prst="ellipse">
            <a:avLst/>
          </a:prstGeom>
          <a:solidFill>
            <a:srgbClr val="FF8D26"/>
          </a:solidFill>
          <a:ln/>
        </p:spPr>
      </p:sp>
      <p:sp>
        <p:nvSpPr>
          <p:cNvPr id="34" name="s15-text-32"/>
          <p:cNvSpPr txBox="1"/>
          <p:nvPr/>
        </p:nvSpPr>
        <p:spPr>
          <a:xfrm>
            <a:off x="2972165" y="4325544"/>
            <a:ext cx="2507885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700"/>
              </a:lnSpc>
              <a:buNone/>
            </a:pPr>
            <a:r>
              <a:rPr lang="ar-SA" altLang="en-US" sz="18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يفضل التواصل المباشر عبر واتساب</a:t>
            </a:r>
            <a:endParaRPr lang="ar-SA" sz="1800" dirty="0"/>
          </a:p>
        </p:txBody>
      </p:sp>
      <p:sp>
        <p:nvSpPr>
          <p:cNvPr id="35" name="s15-shape-33"/>
          <p:cNvSpPr/>
          <p:nvPr/>
        </p:nvSpPr>
        <p:spPr>
          <a:xfrm>
            <a:off x="5607050" y="5029200"/>
            <a:ext cx="88900" cy="88900"/>
          </a:xfrm>
          <a:prstGeom prst="ellipse">
            <a:avLst/>
          </a:prstGeom>
          <a:solidFill>
            <a:srgbClr val="FF8D26"/>
          </a:solidFill>
          <a:ln/>
        </p:spPr>
      </p:sp>
      <p:sp>
        <p:nvSpPr>
          <p:cNvPr id="36" name="s15-text-34"/>
          <p:cNvSpPr txBox="1"/>
          <p:nvPr/>
        </p:nvSpPr>
        <p:spPr>
          <a:xfrm>
            <a:off x="1752298" y="4820844"/>
            <a:ext cx="3727752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700"/>
              </a:lnSpc>
              <a:buNone/>
            </a:pPr>
            <a:r>
              <a:rPr lang="ar-SA" altLang="en-US" sz="18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يتجاوب أكثر مع الباقات والحلول الواضحة والمتكاملة</a:t>
            </a:r>
            <a:endParaRPr lang="ar-SA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3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4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0" dur="489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75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75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75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5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7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75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75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75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75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750" fill="hold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750" fill="hold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75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75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75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75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53" presetClass="entr" presetSubtype="16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27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6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6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75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75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75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75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750" fill="hold" decel="10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750" fill="hold" decel="10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750" fill="hold" decel="100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750" fill="hold" decel="100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75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75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75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75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750" fill="hold" decel="100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750" fill="hold" decel="100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750" fill="hold" decel="100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750" fill="hold" decel="100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grpId="0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75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75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42" presetClass="entr" presetSubtype="0" fill="hold" grpId="0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75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75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42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750" fill="hold" decel="100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750" fill="hold" decel="100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9" dur="750" fill="hold" decel="100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750" fill="hold" decel="100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42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750" fill="hold" decel="1000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750" fill="hold" decel="1000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42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9" dur="750" fill="hold" decel="100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750" fill="hold" decel="100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4" dur="750" fill="hold" decel="1000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750" fill="hold" decel="1000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6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9" dur="750" fill="hold" decel="100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750" fill="hold" decel="100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/>
      <p:bldP spid="11" grpId="0" animBg="1"/>
      <p:bldP spid="13" grpId="0"/>
      <p:bldP spid="24" grpId="0" animBg="1"/>
      <p:bldP spid="14" grpId="0" animBg="1"/>
      <p:bldP spid="15" grpId="0"/>
      <p:bldP spid="26" grpId="0"/>
      <p:bldP spid="16" grpId="0" animBg="1"/>
      <p:bldP spid="17" grpId="0"/>
      <p:bldP spid="18" grpId="0" animBg="1"/>
      <p:bldP spid="19" grpId="0"/>
      <p:bldP spid="27" grpId="0" animBg="1"/>
      <p:bldP spid="28" grpId="0"/>
      <p:bldP spid="20" grpId="0" animBg="1"/>
      <p:bldP spid="21" grpId="0"/>
      <p:bldP spid="29" grpId="0" animBg="1"/>
      <p:bldP spid="30" grpId="0"/>
      <p:bldP spid="22" grpId="0" animBg="1"/>
      <p:bldP spid="23" grpId="0"/>
      <p:bldP spid="31" grpId="0" animBg="1"/>
      <p:bldP spid="32" grpId="0"/>
      <p:bldP spid="33" grpId="0" animBg="1"/>
      <p:bldP spid="34" grpId="0"/>
      <p:bldP spid="35" grpId="0" animBg="1"/>
      <p:bldP spid="36" grpId="0"/>
    </p:bldLst>
  </p:timing>
</p:sld>
</file>

<file path=ppt/slides/slide16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lens"/>
          <p:cNvSpPr/>
          <p:nvPr/>
        </p:nvSpPr>
        <p:spPr>
          <a:xfrm>
            <a:off x="-635000" y="-127000"/>
            <a:ext cx="7112000" cy="7112000"/>
          </a:xfrm>
          <a:prstGeom prst="ellipse">
            <a:avLst/>
          </a:prstGeom>
          <a:solidFill>
            <a:srgbClr val="FFFFFF">
              <a:alpha val="7000"/>
            </a:srgbClr>
          </a:solidFill>
          <a:ln/>
        </p:spPr>
      </p:sp>
      <p:pic>
        <p:nvPicPr>
          <p:cNvPr id="3" name="!!mt" descr="شعار نظرة ثمانية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2306538" y="2151658"/>
            <a:ext cx="2635250" cy="2597150"/>
          </a:xfrm>
          <a:prstGeom prst="rect">
            <a:avLst/>
          </a:prstGeom>
        </p:spPr>
      </p:pic>
      <p:pic>
        <p:nvPicPr>
          <p:cNvPr id="4" name="!!mb" descr="شعار نظرة ثمانية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900658" y="2110978"/>
            <a:ext cx="2565400" cy="2527300"/>
          </a:xfrm>
          <a:prstGeom prst="rect">
            <a:avLst/>
          </a:prstGeom>
        </p:spPr>
      </p:pic>
      <p:pic>
        <p:nvPicPr>
          <p:cNvPr id="5" name="!!ma" descr="شعار نظرة ثمانية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3595291" y="3417143"/>
            <a:ext cx="463550" cy="412750"/>
          </a:xfrm>
          <a:prstGeom prst="rect">
            <a:avLst/>
          </a:prstGeom>
        </p:spPr>
      </p:pic>
      <p:pic>
        <p:nvPicPr>
          <p:cNvPr id="6" name="!!hud" descr="!!hud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7800" y="177800"/>
            <a:ext cx="11836400" cy="6502400"/>
          </a:xfrm>
          <a:prstGeom prst="rect">
            <a:avLst/>
          </a:prstGeom>
        </p:spPr>
      </p:pic>
      <p:sp>
        <p:nvSpPr>
          <p:cNvPr id="7" name="!!rec"/>
          <p:cNvSpPr/>
          <p:nvPr/>
        </p:nvSpPr>
        <p:spPr>
          <a:xfrm>
            <a:off x="635000" y="6337300"/>
            <a:ext cx="101600" cy="101600"/>
          </a:xfrm>
          <a:prstGeom prst="ellipse">
            <a:avLst/>
          </a:prstGeom>
          <a:solidFill>
            <a:srgbClr val="FF8D26"/>
          </a:solidFill>
          <a:ln/>
        </p:spPr>
      </p:sp>
      <p:sp>
        <p:nvSpPr>
          <p:cNvPr id="8" name="!!num"/>
          <p:cNvSpPr txBox="1"/>
          <p:nvPr/>
        </p:nvSpPr>
        <p:spPr>
          <a:xfrm>
            <a:off x="825500" y="6281750"/>
            <a:ext cx="678656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altLang="en-US" sz="1200" dirty="0">
                <a:solidFill>
                  <a:srgbClr val="D9E0DB"/>
                </a:solidFill>
                <a:latin typeface="Sakkal Saad TN Trial Light"/>
                <a:cs typeface="Sakkal Saad TN Trial Light"/>
              </a:rPr>
              <a:t>REC · 16</a:t>
            </a:r>
            <a:endParaRPr lang="en-US" sz="1200" dirty="0"/>
          </a:p>
        </p:txBody>
      </p:sp>
      <p:pic>
        <p:nvPicPr>
          <p:cNvPr id="9" name="s16-snap-8" descr="s16-snap-8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3809" y="1041400"/>
            <a:ext cx="1880791" cy="1981200"/>
          </a:xfrm>
          <a:prstGeom prst="rect">
            <a:avLst/>
          </a:prstGeom>
        </p:spPr>
      </p:pic>
      <p:pic>
        <p:nvPicPr>
          <p:cNvPr id="10" name="s16-snap-9" descr="s16-snap-9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78400" y="3263900"/>
            <a:ext cx="6426200" cy="121404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3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4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53" presetClass="entr" presetSubtype="3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9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1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9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1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9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5" dur="63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7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lens"/>
          <p:cNvSpPr/>
          <p:nvPr/>
        </p:nvSpPr>
        <p:spPr>
          <a:xfrm>
            <a:off x="368300" y="127000"/>
            <a:ext cx="1206500" cy="1206500"/>
          </a:xfrm>
          <a:prstGeom prst="ellipse">
            <a:avLst/>
          </a:prstGeom>
          <a:solidFill>
            <a:srgbClr val="EEF2EF"/>
          </a:solidFill>
          <a:ln/>
        </p:spPr>
      </p:sp>
      <p:pic>
        <p:nvPicPr>
          <p:cNvPr id="3" name="!!mt" descr="شعار نظرة ثماني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700000">
            <a:off x="794345" y="364083"/>
            <a:ext cx="546100" cy="533400"/>
          </a:xfrm>
          <a:prstGeom prst="rect">
            <a:avLst/>
          </a:prstGeom>
        </p:spPr>
      </p:pic>
      <p:pic>
        <p:nvPicPr>
          <p:cNvPr id="4" name="!!mb" descr="شعار نظرة ثمانية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700000">
            <a:off x="582861" y="569813"/>
            <a:ext cx="527050" cy="520700"/>
          </a:xfrm>
          <a:prstGeom prst="rect">
            <a:avLst/>
          </a:prstGeom>
        </p:spPr>
      </p:pic>
      <p:pic>
        <p:nvPicPr>
          <p:cNvPr id="5" name="!!ma" descr="شعار نظرة ثمانية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700000">
            <a:off x="1074638" y="585440"/>
            <a:ext cx="95250" cy="82550"/>
          </a:xfrm>
          <a:prstGeom prst="rect">
            <a:avLst/>
          </a:prstGeom>
        </p:spPr>
      </p:pic>
      <p:pic>
        <p:nvPicPr>
          <p:cNvPr id="6" name="!!hud" descr="!!hu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800" y="177800"/>
            <a:ext cx="11836400" cy="6502400"/>
          </a:xfrm>
          <a:prstGeom prst="rect">
            <a:avLst/>
          </a:prstGeom>
        </p:spPr>
      </p:pic>
      <p:sp>
        <p:nvSpPr>
          <p:cNvPr id="7" name="!!rec"/>
          <p:cNvSpPr/>
          <p:nvPr/>
        </p:nvSpPr>
        <p:spPr>
          <a:xfrm>
            <a:off x="635000" y="6337300"/>
            <a:ext cx="101600" cy="101600"/>
          </a:xfrm>
          <a:prstGeom prst="ellipse">
            <a:avLst/>
          </a:prstGeom>
          <a:solidFill>
            <a:srgbClr val="FF8D26"/>
          </a:solidFill>
          <a:ln/>
        </p:spPr>
      </p:sp>
      <p:sp>
        <p:nvSpPr>
          <p:cNvPr id="8" name="!!num"/>
          <p:cNvSpPr txBox="1"/>
          <p:nvPr/>
        </p:nvSpPr>
        <p:spPr>
          <a:xfrm>
            <a:off x="825500" y="6281750"/>
            <a:ext cx="668139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altLang="en-US" sz="1200" dirty="0">
                <a:solidFill>
                  <a:srgbClr val="5E6D7C"/>
                </a:solidFill>
                <a:latin typeface="Sakkal Saad TN Trial Light"/>
                <a:cs typeface="Sakkal Saad TN Trial Light"/>
              </a:rPr>
              <a:t>REC · 17</a:t>
            </a:r>
            <a:endParaRPr lang="en-US" sz="1200" dirty="0"/>
          </a:p>
        </p:txBody>
      </p:sp>
      <p:sp>
        <p:nvSpPr>
          <p:cNvPr id="9" name="!!kick"/>
          <p:cNvSpPr txBox="1"/>
          <p:nvPr/>
        </p:nvSpPr>
        <p:spPr>
          <a:xfrm>
            <a:off x="10259417" y="318834"/>
            <a:ext cx="1297583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ar-SA" altLang="en-US" sz="1500" b="1" dirty="0">
                <a:solidFill>
                  <a:srgbClr val="43644B"/>
                </a:solidFill>
                <a:latin typeface="Sakkal Saad TN Trial Light"/>
                <a:cs typeface="Sakkal Saad TN Trial Light"/>
              </a:rPr>
              <a:t>05</a:t>
            </a:r>
            <a:r>
              <a:rPr lang="ar-SA" altLang="en-US" sz="1500" dirty="0">
                <a:solidFill>
                  <a:srgbClr val="E9720C"/>
                </a:solidFill>
                <a:latin typeface="Sakkal Saad TN Trial Light"/>
                <a:cs typeface="Sakkal Saad TN Trial Light"/>
              </a:rPr>
              <a:t> تحليل المنافسين</a:t>
            </a:r>
            <a:endParaRPr lang="ar-SA" sz="1500" dirty="0"/>
          </a:p>
        </p:txBody>
      </p:sp>
      <p:sp>
        <p:nvSpPr>
          <p:cNvPr id="10" name="s17-text-8"/>
          <p:cNvSpPr txBox="1"/>
          <p:nvPr/>
        </p:nvSpPr>
        <p:spPr>
          <a:xfrm>
            <a:off x="7835475" y="720535"/>
            <a:ext cx="2769025" cy="702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5130"/>
              </a:lnSpc>
              <a:buNone/>
            </a:pPr>
            <a:r>
              <a:rPr lang="ar-SA" altLang="en-US" sz="3800" b="1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باكورة BacuraTec</a:t>
            </a:r>
            <a:endParaRPr lang="ar-SA" sz="3800" dirty="0"/>
          </a:p>
        </p:txBody>
      </p:sp>
      <p:sp>
        <p:nvSpPr>
          <p:cNvPr id="11" name="s17-shape-9"/>
          <p:cNvSpPr/>
          <p:nvPr/>
        </p:nvSpPr>
        <p:spPr>
          <a:xfrm>
            <a:off x="10833100" y="889000"/>
            <a:ext cx="660400" cy="660400"/>
          </a:xfrm>
          <a:prstGeom prst="ellipse">
            <a:avLst/>
          </a:prstGeom>
          <a:solidFill>
            <a:srgbClr val="FF8D26"/>
          </a:solidFill>
          <a:ln/>
        </p:spPr>
      </p:sp>
      <p:sp>
        <p:nvSpPr>
          <p:cNvPr id="12" name="s17-text-10"/>
          <p:cNvSpPr txBox="1"/>
          <p:nvPr/>
        </p:nvSpPr>
        <p:spPr>
          <a:xfrm>
            <a:off x="10905331" y="995655"/>
            <a:ext cx="41443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600"/>
              </a:lnSpc>
              <a:buNone/>
            </a:pPr>
            <a:r>
              <a:rPr lang="ar-SA" altLang="en-US" sz="2600" b="1" dirty="0">
                <a:solidFill>
                  <a:srgbClr val="FFFFFF"/>
                </a:solidFill>
                <a:latin typeface="Sakkal Saad TN Trial Light"/>
                <a:cs typeface="Sakkal Saad TN Trial Light"/>
              </a:rPr>
              <a:t>01</a:t>
            </a:r>
            <a:endParaRPr lang="ar-SA" sz="2600" dirty="0"/>
          </a:p>
        </p:txBody>
      </p:sp>
      <p:sp>
        <p:nvSpPr>
          <p:cNvPr id="13" name="s17-shape-11"/>
          <p:cNvSpPr/>
          <p:nvPr/>
        </p:nvSpPr>
        <p:spPr>
          <a:xfrm>
            <a:off x="7048500" y="1905000"/>
            <a:ext cx="4445000" cy="4318000"/>
          </a:xfrm>
          <a:prstGeom prst="roundRect">
            <a:avLst>
              <a:gd name="adj" fmla="val 5882"/>
            </a:avLst>
          </a:prstGeom>
          <a:solidFill>
            <a:srgbClr val="43644B"/>
          </a:solidFill>
          <a:ln/>
        </p:spPr>
      </p:sp>
      <p:pic>
        <p:nvPicPr>
          <p:cNvPr id="14" name="s17-snap-12" descr="s17-snap-12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91800" y="2146300"/>
            <a:ext cx="635000" cy="635000"/>
          </a:xfrm>
          <a:prstGeom prst="rect">
            <a:avLst/>
          </a:prstGeom>
        </p:spPr>
      </p:pic>
      <p:sp>
        <p:nvSpPr>
          <p:cNvPr id="15" name="s17-text-13"/>
          <p:cNvSpPr txBox="1"/>
          <p:nvPr/>
        </p:nvSpPr>
        <p:spPr>
          <a:xfrm>
            <a:off x="9594056" y="2218055"/>
            <a:ext cx="896144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700"/>
              </a:lnSpc>
              <a:buNone/>
            </a:pPr>
            <a:r>
              <a:rPr lang="ar-SA" altLang="en-US" sz="2000" b="1" dirty="0">
                <a:solidFill>
                  <a:srgbClr val="F6C342"/>
                </a:solidFill>
                <a:latin typeface="Sakkal Saad TN Trial Light"/>
                <a:cs typeface="Sakkal Saad TN Trial Light"/>
              </a:rPr>
              <a:t>نقاط القوة</a:t>
            </a:r>
            <a:endParaRPr lang="ar-SA" sz="2000" dirty="0"/>
          </a:p>
        </p:txBody>
      </p:sp>
      <p:sp>
        <p:nvSpPr>
          <p:cNvPr id="16" name="s17-shape-14"/>
          <p:cNvSpPr/>
          <p:nvPr/>
        </p:nvSpPr>
        <p:spPr>
          <a:xfrm>
            <a:off x="11099800" y="3041650"/>
            <a:ext cx="88900" cy="88900"/>
          </a:xfrm>
          <a:prstGeom prst="ellipse">
            <a:avLst/>
          </a:prstGeom>
          <a:solidFill>
            <a:srgbClr val="F6C342"/>
          </a:solidFill>
          <a:ln/>
        </p:spPr>
      </p:sp>
      <p:sp>
        <p:nvSpPr>
          <p:cNvPr id="17" name="s17-text-15"/>
          <p:cNvSpPr txBox="1"/>
          <p:nvPr/>
        </p:nvSpPr>
        <p:spPr>
          <a:xfrm>
            <a:off x="7063740" y="2840228"/>
            <a:ext cx="3909060" cy="717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625"/>
              </a:lnSpc>
              <a:buNone/>
            </a:pPr>
            <a:r>
              <a:rPr lang="ar-SA" altLang="en-US" sz="1750" dirty="0">
                <a:solidFill>
                  <a:srgbClr val="FFFFFF"/>
                </a:solidFill>
                <a:latin typeface="Sakkal Saad TN Trial Light"/>
                <a:cs typeface="Sakkal Saad TN Trial Light"/>
              </a:rPr>
              <a:t>تنوع كبير في الحلول : مراقبة، شبكات، إنتركوم، حضور</a:t>
            </a:r>
            <a:endParaRPr lang="ar-SA" sz="1750" dirty="0"/>
          </a:p>
          <a:p>
            <a:pPr rtl="1" algn="r" indent="0" marL="0">
              <a:lnSpc>
                <a:spcPts val="2625"/>
              </a:lnSpc>
              <a:buNone/>
            </a:pPr>
            <a:r>
              <a:rPr lang="ar-SA" altLang="en-US" sz="1750" dirty="0">
                <a:solidFill>
                  <a:srgbClr val="FFFFFF"/>
                </a:solidFill>
                <a:latin typeface="Sakkal Saad TN Trial Light"/>
                <a:cs typeface="Sakkal Saad TN Trial Light"/>
              </a:rPr>
              <a:t>وانصراف، داش كام وأنظمة ذكية.</a:t>
            </a:r>
            <a:endParaRPr lang="ar-SA" sz="1750" dirty="0"/>
          </a:p>
        </p:txBody>
      </p:sp>
      <p:sp>
        <p:nvSpPr>
          <p:cNvPr id="18" name="s17-shape-16"/>
          <p:cNvSpPr/>
          <p:nvPr/>
        </p:nvSpPr>
        <p:spPr>
          <a:xfrm>
            <a:off x="11099800" y="3797300"/>
            <a:ext cx="88900" cy="88900"/>
          </a:xfrm>
          <a:prstGeom prst="ellipse">
            <a:avLst/>
          </a:prstGeom>
          <a:solidFill>
            <a:srgbClr val="F6C342"/>
          </a:solidFill>
          <a:ln/>
        </p:spPr>
      </p:sp>
      <p:sp>
        <p:nvSpPr>
          <p:cNvPr id="19" name="s17-text-17"/>
          <p:cNvSpPr txBox="1"/>
          <p:nvPr/>
        </p:nvSpPr>
        <p:spPr>
          <a:xfrm>
            <a:off x="8217813" y="3595878"/>
            <a:ext cx="2754987" cy="384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625"/>
              </a:lnSpc>
              <a:buNone/>
            </a:pPr>
            <a:r>
              <a:rPr lang="ar-SA" altLang="en-US" sz="1750" dirty="0">
                <a:solidFill>
                  <a:srgbClr val="FFFFFF"/>
                </a:solidFill>
                <a:latin typeface="Sakkal Saad TN Trial Light"/>
                <a:cs typeface="Sakkal Saad TN Trial Light"/>
              </a:rPr>
              <a:t>يجمع بين التوريد والتركيب والدعم الفني.</a:t>
            </a:r>
            <a:endParaRPr lang="ar-SA" sz="1750" dirty="0"/>
          </a:p>
        </p:txBody>
      </p:sp>
      <p:sp>
        <p:nvSpPr>
          <p:cNvPr id="20" name="s17-shape-18"/>
          <p:cNvSpPr/>
          <p:nvPr/>
        </p:nvSpPr>
        <p:spPr>
          <a:xfrm>
            <a:off x="11099800" y="4219575"/>
            <a:ext cx="88900" cy="88900"/>
          </a:xfrm>
          <a:prstGeom prst="ellipse">
            <a:avLst/>
          </a:prstGeom>
          <a:solidFill>
            <a:srgbClr val="F6C342"/>
          </a:solidFill>
          <a:ln/>
        </p:spPr>
      </p:sp>
      <p:sp>
        <p:nvSpPr>
          <p:cNvPr id="21" name="s17-text-19"/>
          <p:cNvSpPr txBox="1"/>
          <p:nvPr/>
        </p:nvSpPr>
        <p:spPr>
          <a:xfrm>
            <a:off x="7063740" y="4018153"/>
            <a:ext cx="3909060" cy="717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625"/>
              </a:lnSpc>
              <a:buNone/>
            </a:pPr>
            <a:r>
              <a:rPr lang="ar-SA" altLang="en-US" sz="1750" dirty="0">
                <a:solidFill>
                  <a:srgbClr val="FFFFFF"/>
                </a:solidFill>
                <a:latin typeface="Sakkal Saad TN Trial Light"/>
                <a:cs typeface="Sakkal Saad TN Trial Light"/>
              </a:rPr>
              <a:t>يستخدم محتوى تعليمي يساعد العميل على فهم واختيار</a:t>
            </a:r>
            <a:endParaRPr lang="ar-SA" sz="1750" dirty="0"/>
          </a:p>
          <a:p>
            <a:pPr rtl="1" algn="r" indent="0" marL="0">
              <a:lnSpc>
                <a:spcPts val="2625"/>
              </a:lnSpc>
              <a:buNone/>
            </a:pPr>
            <a:r>
              <a:rPr lang="ar-SA" altLang="en-US" sz="1750" dirty="0">
                <a:solidFill>
                  <a:srgbClr val="FFFFFF"/>
                </a:solidFill>
                <a:latin typeface="Sakkal Saad TN Trial Light"/>
                <a:cs typeface="Sakkal Saad TN Trial Light"/>
              </a:rPr>
              <a:t>الأنظمة.</a:t>
            </a:r>
            <a:endParaRPr lang="ar-SA" sz="1750" dirty="0"/>
          </a:p>
        </p:txBody>
      </p:sp>
      <p:sp>
        <p:nvSpPr>
          <p:cNvPr id="22" name="s17-shape-20"/>
          <p:cNvSpPr/>
          <p:nvPr/>
        </p:nvSpPr>
        <p:spPr>
          <a:xfrm>
            <a:off x="3556000" y="1905000"/>
            <a:ext cx="3302000" cy="4318000"/>
          </a:xfrm>
          <a:prstGeom prst="roundRect">
            <a:avLst>
              <a:gd name="adj" fmla="val 7692"/>
            </a:avLst>
          </a:prstGeom>
          <a:solidFill>
            <a:srgbClr val="FFF1E3"/>
          </a:solidFill>
          <a:ln/>
        </p:spPr>
      </p:sp>
      <p:pic>
        <p:nvPicPr>
          <p:cNvPr id="23" name="s17-snap-21" descr="s17-snap-21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56300" y="2209800"/>
            <a:ext cx="635000" cy="635000"/>
          </a:xfrm>
          <a:prstGeom prst="rect">
            <a:avLst/>
          </a:prstGeom>
        </p:spPr>
      </p:pic>
      <p:sp>
        <p:nvSpPr>
          <p:cNvPr id="24" name="s17-text-22"/>
          <p:cNvSpPr txBox="1"/>
          <p:nvPr/>
        </p:nvSpPr>
        <p:spPr>
          <a:xfrm>
            <a:off x="3701288" y="2110105"/>
            <a:ext cx="2153412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700"/>
              </a:lnSpc>
              <a:buNone/>
            </a:pPr>
            <a:r>
              <a:rPr lang="ar-SA" altLang="en-US" sz="2000" b="1" dirty="0">
                <a:solidFill>
                  <a:srgbClr val="E9720C"/>
                </a:solidFill>
                <a:latin typeface="Sakkal Saad TN Trial Light"/>
                <a:cs typeface="Sakkal Saad TN Trial Light"/>
              </a:rPr>
              <a:t>نقاط الضعف التسويقية</a:t>
            </a:r>
            <a:endParaRPr lang="ar-SA" sz="2000" dirty="0"/>
          </a:p>
          <a:p>
            <a:pPr rtl="1" algn="r" indent="0" marL="0">
              <a:lnSpc>
                <a:spcPts val="2700"/>
              </a:lnSpc>
              <a:buNone/>
            </a:pPr>
            <a:r>
              <a:rPr lang="ar-SA" altLang="en-US" sz="2000" b="1" dirty="0">
                <a:solidFill>
                  <a:srgbClr val="E9720C"/>
                </a:solidFill>
                <a:latin typeface="Sakkal Saad TN Trial Light"/>
                <a:cs typeface="Sakkal Saad TN Trial Light"/>
              </a:rPr>
              <a:t>المحتملة</a:t>
            </a:r>
            <a:endParaRPr lang="ar-SA" sz="2000" dirty="0"/>
          </a:p>
        </p:txBody>
      </p:sp>
      <p:sp>
        <p:nvSpPr>
          <p:cNvPr id="25" name="s17-shape-23"/>
          <p:cNvSpPr/>
          <p:nvPr/>
        </p:nvSpPr>
        <p:spPr>
          <a:xfrm>
            <a:off x="6464300" y="3162300"/>
            <a:ext cx="88900" cy="88900"/>
          </a:xfrm>
          <a:prstGeom prst="ellipse">
            <a:avLst/>
          </a:prstGeom>
          <a:solidFill>
            <a:srgbClr val="FF8D26"/>
          </a:solidFill>
          <a:ln/>
        </p:spPr>
      </p:sp>
      <p:sp>
        <p:nvSpPr>
          <p:cNvPr id="26" name="s17-text-24"/>
          <p:cNvSpPr txBox="1"/>
          <p:nvPr/>
        </p:nvSpPr>
        <p:spPr>
          <a:xfrm>
            <a:off x="3662680" y="2971571"/>
            <a:ext cx="2674620" cy="679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475"/>
              </a:lnSpc>
              <a:buNone/>
            </a:pPr>
            <a:r>
              <a:rPr lang="ar-SA" altLang="en-US" sz="16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كثرة الفئات والخدمات قد تجعل الرسالة</a:t>
            </a:r>
            <a:endParaRPr lang="ar-SA" sz="1650" dirty="0"/>
          </a:p>
          <a:p>
            <a:pPr rtl="1" algn="r" indent="0" marL="0">
              <a:lnSpc>
                <a:spcPts val="2475"/>
              </a:lnSpc>
              <a:buNone/>
            </a:pPr>
            <a:r>
              <a:rPr lang="ar-SA" altLang="en-US" sz="16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التسويقية أقل تركيزًا.</a:t>
            </a:r>
            <a:endParaRPr lang="ar-SA" sz="1650" dirty="0"/>
          </a:p>
        </p:txBody>
      </p:sp>
      <p:sp>
        <p:nvSpPr>
          <p:cNvPr id="27" name="s17-shape-25"/>
          <p:cNvSpPr/>
          <p:nvPr/>
        </p:nvSpPr>
        <p:spPr>
          <a:xfrm>
            <a:off x="6464300" y="3879850"/>
            <a:ext cx="88900" cy="88900"/>
          </a:xfrm>
          <a:prstGeom prst="ellipse">
            <a:avLst/>
          </a:prstGeom>
          <a:solidFill>
            <a:srgbClr val="FF8D26"/>
          </a:solidFill>
          <a:ln/>
        </p:spPr>
      </p:sp>
      <p:sp>
        <p:nvSpPr>
          <p:cNvPr id="28" name="s17-text-26"/>
          <p:cNvSpPr txBox="1"/>
          <p:nvPr/>
        </p:nvSpPr>
        <p:spPr>
          <a:xfrm>
            <a:off x="3662680" y="3689121"/>
            <a:ext cx="2674620" cy="679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475"/>
              </a:lnSpc>
              <a:buNone/>
            </a:pPr>
            <a:r>
              <a:rPr lang="ar-SA" altLang="en-US" sz="16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توجد فرصة لمنافس أكثر وضوحًا في</a:t>
            </a:r>
            <a:endParaRPr lang="ar-SA" sz="1650" dirty="0"/>
          </a:p>
          <a:p>
            <a:pPr rtl="1" algn="r" indent="0" marL="0">
              <a:lnSpc>
                <a:spcPts val="2475"/>
              </a:lnSpc>
              <a:buNone/>
            </a:pPr>
            <a:r>
              <a:rPr lang="ar-SA" altLang="en-US" sz="16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تقديم باقات حسب احتياج العميل.</a:t>
            </a:r>
            <a:endParaRPr lang="ar-SA" sz="1650" dirty="0"/>
          </a:p>
        </p:txBody>
      </p:sp>
      <p:sp>
        <p:nvSpPr>
          <p:cNvPr id="29" name="s17-shape-27"/>
          <p:cNvSpPr/>
          <p:nvPr/>
        </p:nvSpPr>
        <p:spPr>
          <a:xfrm>
            <a:off x="698500" y="1905000"/>
            <a:ext cx="2857500" cy="4318000"/>
          </a:xfrm>
          <a:prstGeom prst="roundRect">
            <a:avLst>
              <a:gd name="adj" fmla="val 8889"/>
            </a:avLst>
          </a:prstGeom>
          <a:solidFill>
            <a:srgbClr val="FFF7DE"/>
          </a:solidFill>
          <a:ln/>
        </p:spPr>
      </p:sp>
      <p:pic>
        <p:nvPicPr>
          <p:cNvPr id="30" name="s17-snap-28" descr="s17-snap-28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81300" y="2120900"/>
            <a:ext cx="584200" cy="584200"/>
          </a:xfrm>
          <a:prstGeom prst="rect">
            <a:avLst/>
          </a:prstGeom>
        </p:spPr>
      </p:pic>
      <p:sp>
        <p:nvSpPr>
          <p:cNvPr id="31" name="s17-text-29"/>
          <p:cNvSpPr txBox="1"/>
          <p:nvPr/>
        </p:nvSpPr>
        <p:spPr>
          <a:xfrm>
            <a:off x="1365845" y="2179168"/>
            <a:ext cx="1339255" cy="370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520"/>
              </a:lnSpc>
              <a:buNone/>
            </a:pPr>
            <a:r>
              <a:rPr lang="ar-SA" altLang="en-US" sz="1800" b="1" dirty="0">
                <a:solidFill>
                  <a:srgbClr val="E9720C"/>
                </a:solidFill>
                <a:latin typeface="Sakkal Saad TN Trial Light"/>
                <a:cs typeface="Sakkal Saad TN Trial Light"/>
              </a:rPr>
              <a:t>أسلوبهم التسويقي</a:t>
            </a:r>
            <a:endParaRPr lang="ar-SA" sz="1800" dirty="0"/>
          </a:p>
        </p:txBody>
      </p:sp>
      <p:sp>
        <p:nvSpPr>
          <p:cNvPr id="32" name="s17-shape-30"/>
          <p:cNvSpPr/>
          <p:nvPr/>
        </p:nvSpPr>
        <p:spPr>
          <a:xfrm>
            <a:off x="927100" y="2832100"/>
            <a:ext cx="2400300" cy="38288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3" name="s17-text-31"/>
          <p:cNvSpPr txBox="1"/>
          <p:nvPr/>
        </p:nvSpPr>
        <p:spPr>
          <a:xfrm>
            <a:off x="1882577" y="2840317"/>
            <a:ext cx="489347" cy="306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2015"/>
              </a:lnSpc>
              <a:buNone/>
            </a:pPr>
            <a:r>
              <a:rPr lang="ar-SA" altLang="en-US" sz="15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تعليمي</a:t>
            </a:r>
            <a:endParaRPr lang="ar-SA" sz="1550" dirty="0"/>
          </a:p>
        </p:txBody>
      </p:sp>
      <p:sp>
        <p:nvSpPr>
          <p:cNvPr id="34" name="s17-text-32"/>
          <p:cNvSpPr txBox="1"/>
          <p:nvPr/>
        </p:nvSpPr>
        <p:spPr>
          <a:xfrm>
            <a:off x="831088" y="3255720"/>
            <a:ext cx="2592324" cy="193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125"/>
              </a:lnSpc>
              <a:buNone/>
            </a:pPr>
            <a:r>
              <a:rPr lang="ar-SA" altLang="en-US" sz="1500" b="1" dirty="0">
                <a:solidFill>
                  <a:srgbClr val="FF8D26"/>
                </a:solidFill>
                <a:latin typeface="Sakkal Saad TN Trial Light"/>
                <a:cs typeface="Sakkal Saad TN Trial Light"/>
              </a:rPr>
              <a:t>+</a:t>
            </a:r>
            <a:endParaRPr lang="ar-SA" sz="1500" dirty="0"/>
          </a:p>
        </p:txBody>
      </p:sp>
      <p:sp>
        <p:nvSpPr>
          <p:cNvPr id="35" name="s17-shape-33"/>
          <p:cNvSpPr/>
          <p:nvPr/>
        </p:nvSpPr>
        <p:spPr>
          <a:xfrm>
            <a:off x="927100" y="3484860"/>
            <a:ext cx="2400300" cy="38288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6" name="s17-text-34"/>
          <p:cNvSpPr txBox="1"/>
          <p:nvPr/>
        </p:nvSpPr>
        <p:spPr>
          <a:xfrm>
            <a:off x="1938933" y="3493077"/>
            <a:ext cx="376634" cy="306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2015"/>
              </a:lnSpc>
              <a:buNone/>
            </a:pPr>
            <a:r>
              <a:rPr lang="ar-SA" altLang="en-US" sz="15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تقني</a:t>
            </a:r>
            <a:endParaRPr lang="ar-SA" sz="1550" dirty="0"/>
          </a:p>
        </p:txBody>
      </p:sp>
      <p:sp>
        <p:nvSpPr>
          <p:cNvPr id="37" name="s17-text-35"/>
          <p:cNvSpPr txBox="1"/>
          <p:nvPr/>
        </p:nvSpPr>
        <p:spPr>
          <a:xfrm>
            <a:off x="831088" y="3908481"/>
            <a:ext cx="2592324" cy="193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125"/>
              </a:lnSpc>
              <a:buNone/>
            </a:pPr>
            <a:r>
              <a:rPr lang="ar-SA" altLang="en-US" sz="1500" b="1" dirty="0">
                <a:solidFill>
                  <a:srgbClr val="FF8D26"/>
                </a:solidFill>
                <a:latin typeface="Sakkal Saad TN Trial Light"/>
                <a:cs typeface="Sakkal Saad TN Trial Light"/>
              </a:rPr>
              <a:t>+</a:t>
            </a:r>
            <a:endParaRPr lang="ar-SA" sz="1500" dirty="0"/>
          </a:p>
        </p:txBody>
      </p:sp>
      <p:sp>
        <p:nvSpPr>
          <p:cNvPr id="38" name="s17-shape-36"/>
          <p:cNvSpPr/>
          <p:nvPr/>
        </p:nvSpPr>
        <p:spPr>
          <a:xfrm>
            <a:off x="927100" y="4137620"/>
            <a:ext cx="2400300" cy="38288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9" name="s17-text-37"/>
          <p:cNvSpPr txBox="1"/>
          <p:nvPr/>
        </p:nvSpPr>
        <p:spPr>
          <a:xfrm>
            <a:off x="1581944" y="4145837"/>
            <a:ext cx="1090613" cy="306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2015"/>
              </a:lnSpc>
              <a:buNone/>
            </a:pPr>
            <a:r>
              <a:rPr lang="ar-SA" altLang="en-US" sz="15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منتجات وعروض</a:t>
            </a:r>
            <a:endParaRPr lang="ar-SA" sz="1550" dirty="0"/>
          </a:p>
        </p:txBody>
      </p:sp>
      <p:sp>
        <p:nvSpPr>
          <p:cNvPr id="40" name="s17-text-38"/>
          <p:cNvSpPr txBox="1"/>
          <p:nvPr/>
        </p:nvSpPr>
        <p:spPr>
          <a:xfrm>
            <a:off x="831088" y="4561241"/>
            <a:ext cx="2592324" cy="193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125"/>
              </a:lnSpc>
              <a:buNone/>
            </a:pPr>
            <a:r>
              <a:rPr lang="ar-SA" altLang="en-US" sz="1500" b="1" dirty="0">
                <a:solidFill>
                  <a:srgbClr val="FF8D26"/>
                </a:solidFill>
                <a:latin typeface="Sakkal Saad TN Trial Light"/>
                <a:cs typeface="Sakkal Saad TN Trial Light"/>
              </a:rPr>
              <a:t>+</a:t>
            </a:r>
            <a:endParaRPr lang="ar-SA" sz="1500" dirty="0"/>
          </a:p>
        </p:txBody>
      </p:sp>
      <p:sp>
        <p:nvSpPr>
          <p:cNvPr id="41" name="s17-shape-39"/>
          <p:cNvSpPr/>
          <p:nvPr/>
        </p:nvSpPr>
        <p:spPr>
          <a:xfrm>
            <a:off x="927100" y="4790380"/>
            <a:ext cx="2400300" cy="38288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2" name="s17-text-40"/>
          <p:cNvSpPr txBox="1"/>
          <p:nvPr/>
        </p:nvSpPr>
        <p:spPr>
          <a:xfrm>
            <a:off x="1265067" y="4798597"/>
            <a:ext cx="1724466" cy="306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2015"/>
              </a:lnSpc>
              <a:buNone/>
            </a:pPr>
            <a:r>
              <a:rPr lang="ar-SA" altLang="en-US" sz="15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إبراز الخبرة والتركيب والدعم</a:t>
            </a:r>
            <a:endParaRPr lang="ar-SA" sz="15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3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4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0" dur="489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7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7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5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75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7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75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75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75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75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75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75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75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75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75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75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75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75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75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75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75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75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53" presetClass="entr" presetSubtype="16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27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6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6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750" fill="hold" decel="100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750" fill="hold" decel="100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750" fill="hold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750" fill="hold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750" fill="hold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750" fill="hold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83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750" fill="hold" decel="10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750" fill="hold" decel="10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grpId="0" nodeType="withEffect">
                                  <p:stCondLst>
                                    <p:cond delay="83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750" fill="hold" decel="100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750" fill="hold" decel="100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750" fill="hold" decel="100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750" fill="hold" decel="100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53" presetClass="entr" presetSubtype="16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27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6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6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53" presetClass="entr" presetSubtype="16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27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9" dur="6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6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53" presetClass="entr" presetSubtype="16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27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6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6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53" presetClass="entr" presetSubtype="16" fill="hold" grpId="0" nodeType="withEffect">
                                  <p:stCondLst>
                                    <p:cond delay="116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27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9" dur="6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6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53" presetClass="entr" presetSubtype="16" fill="hold" grpId="0" nodeType="withEffect">
                                  <p:stCondLst>
                                    <p:cond delay="116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27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4" dur="6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6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53" presetClass="entr" presetSubtype="16" fill="hold" grpId="0" nodeType="withEffect">
                                  <p:stCondLst>
                                    <p:cond delay="121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27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9" dur="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53" presetClass="entr" presetSubtype="16" fill="hold" grpId="0" nodeType="withEffect">
                                  <p:stCondLst>
                                    <p:cond delay="127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27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4" dur="6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6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6" presetID="53" presetClass="entr" presetSubtype="16" fill="hold" grpId="0" nodeType="withEffect">
                                  <p:stCondLst>
                                    <p:cond delay="127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27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9" dur="6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6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1" presetID="53" presetClass="entr" presetSubtype="16" fill="hold" grpId="0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27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4" dur="6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6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6" presetID="53" presetClass="entr" presetSubtype="16" fill="hold" grpId="0" nodeType="withEffect">
                                  <p:stCondLst>
                                    <p:cond delay="138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27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9" dur="6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6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1" presetID="53" presetClass="entr" presetSubtype="16" fill="hold" grpId="0" nodeType="withEffect">
                                  <p:stCondLst>
                                    <p:cond delay="138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27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4" dur="6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6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6" presetID="53" presetClass="entr" presetSubtype="16" fill="hold" grpId="0" nodeType="withEffect">
                                  <p:stCondLst>
                                    <p:cond delay="143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27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9" dur="6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6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/>
      <p:bldP spid="11" grpId="0" animBg="1"/>
      <p:bldP spid="12" grpId="0"/>
      <p:bldP spid="13" grpId="0" animBg="1"/>
      <p:bldP spid="15" grpId="0"/>
      <p:bldP spid="22" grpId="0" animBg="1"/>
      <p:bldP spid="16" grpId="0" animBg="1"/>
      <p:bldP spid="17" grpId="0"/>
      <p:bldP spid="18" grpId="0" animBg="1"/>
      <p:bldP spid="19" grpId="0"/>
      <p:bldP spid="24" grpId="0"/>
      <p:bldP spid="20" grpId="0" animBg="1"/>
      <p:bldP spid="21" grpId="0"/>
      <p:bldP spid="29" grpId="0" animBg="1"/>
      <p:bldP spid="25" grpId="0" animBg="1"/>
      <p:bldP spid="26" grpId="0"/>
      <p:bldP spid="27" grpId="0" animBg="1"/>
      <p:bldP spid="28" grpId="0"/>
      <p:bldP spid="31" grpId="0"/>
      <p:bldP spid="32" grpId="0" animBg="1"/>
      <p:bldP spid="33" grpId="0"/>
      <p:bldP spid="35" grpId="0" animBg="1"/>
      <p:bldP spid="36" grpId="0"/>
      <p:bldP spid="34" grpId="0"/>
      <p:bldP spid="38" grpId="0" animBg="1"/>
      <p:bldP spid="39" grpId="0"/>
      <p:bldP spid="37" grpId="0"/>
      <p:bldP spid="41" grpId="0" animBg="1"/>
      <p:bldP spid="42" grpId="0"/>
      <p:bldP spid="40" grpId="0"/>
    </p:bldLst>
  </p:timing>
</p:sld>
</file>

<file path=ppt/slides/slide18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lens"/>
          <p:cNvSpPr/>
          <p:nvPr/>
        </p:nvSpPr>
        <p:spPr>
          <a:xfrm>
            <a:off x="368300" y="127000"/>
            <a:ext cx="1206500" cy="1206500"/>
          </a:xfrm>
          <a:prstGeom prst="ellipse">
            <a:avLst/>
          </a:prstGeom>
          <a:solidFill>
            <a:srgbClr val="EEF2EF"/>
          </a:solidFill>
          <a:ln/>
        </p:spPr>
      </p:sp>
      <p:pic>
        <p:nvPicPr>
          <p:cNvPr id="3" name="!!mt" descr="شعار نظرة ثماني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5400000">
            <a:off x="833735" y="467668"/>
            <a:ext cx="546100" cy="533400"/>
          </a:xfrm>
          <a:prstGeom prst="rect">
            <a:avLst/>
          </a:prstGeom>
        </p:spPr>
      </p:pic>
      <p:pic>
        <p:nvPicPr>
          <p:cNvPr id="4" name="!!mb" descr="شعار نظرة ثمانية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546050" y="458688"/>
            <a:ext cx="527050" cy="520700"/>
          </a:xfrm>
          <a:prstGeom prst="rect">
            <a:avLst/>
          </a:prstGeom>
        </p:spPr>
      </p:pic>
      <p:pic>
        <p:nvPicPr>
          <p:cNvPr id="5" name="!!ma" descr="شعار نظرة ثمانية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101328" y="728911"/>
            <a:ext cx="95250" cy="82550"/>
          </a:xfrm>
          <a:prstGeom prst="rect">
            <a:avLst/>
          </a:prstGeom>
        </p:spPr>
      </p:pic>
      <p:pic>
        <p:nvPicPr>
          <p:cNvPr id="6" name="!!hud" descr="!!hu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800" y="177800"/>
            <a:ext cx="11836400" cy="6502400"/>
          </a:xfrm>
          <a:prstGeom prst="rect">
            <a:avLst/>
          </a:prstGeom>
        </p:spPr>
      </p:pic>
      <p:sp>
        <p:nvSpPr>
          <p:cNvPr id="7" name="!!rec"/>
          <p:cNvSpPr/>
          <p:nvPr/>
        </p:nvSpPr>
        <p:spPr>
          <a:xfrm>
            <a:off x="635000" y="6337300"/>
            <a:ext cx="101600" cy="101600"/>
          </a:xfrm>
          <a:prstGeom prst="ellipse">
            <a:avLst/>
          </a:prstGeom>
          <a:solidFill>
            <a:srgbClr val="FF8D26"/>
          </a:solidFill>
          <a:ln/>
        </p:spPr>
      </p:sp>
      <p:sp>
        <p:nvSpPr>
          <p:cNvPr id="8" name="!!num"/>
          <p:cNvSpPr txBox="1"/>
          <p:nvPr/>
        </p:nvSpPr>
        <p:spPr>
          <a:xfrm>
            <a:off x="825500" y="6281750"/>
            <a:ext cx="675084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altLang="en-US" sz="1200" dirty="0">
                <a:solidFill>
                  <a:srgbClr val="5E6D7C"/>
                </a:solidFill>
                <a:latin typeface="Sakkal Saad TN Trial Light"/>
                <a:cs typeface="Sakkal Saad TN Trial Light"/>
              </a:rPr>
              <a:t>REC · 18</a:t>
            </a:r>
            <a:endParaRPr lang="en-US" sz="1200" dirty="0"/>
          </a:p>
        </p:txBody>
      </p:sp>
      <p:sp>
        <p:nvSpPr>
          <p:cNvPr id="9" name="!!kick"/>
          <p:cNvSpPr txBox="1"/>
          <p:nvPr/>
        </p:nvSpPr>
        <p:spPr>
          <a:xfrm>
            <a:off x="10259417" y="318834"/>
            <a:ext cx="1297583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ar-SA" altLang="en-US" sz="1500" b="1" dirty="0">
                <a:solidFill>
                  <a:srgbClr val="43644B"/>
                </a:solidFill>
                <a:latin typeface="Sakkal Saad TN Trial Light"/>
                <a:cs typeface="Sakkal Saad TN Trial Light"/>
              </a:rPr>
              <a:t>05</a:t>
            </a:r>
            <a:r>
              <a:rPr lang="ar-SA" altLang="en-US" sz="1500" dirty="0">
                <a:solidFill>
                  <a:srgbClr val="E9720C"/>
                </a:solidFill>
                <a:latin typeface="Sakkal Saad TN Trial Light"/>
                <a:cs typeface="Sakkal Saad TN Trial Light"/>
              </a:rPr>
              <a:t> تحليل المنافسين</a:t>
            </a:r>
            <a:endParaRPr lang="ar-SA" sz="1500" dirty="0"/>
          </a:p>
        </p:txBody>
      </p:sp>
      <p:sp>
        <p:nvSpPr>
          <p:cNvPr id="10" name="s18-text-8"/>
          <p:cNvSpPr txBox="1"/>
          <p:nvPr/>
        </p:nvSpPr>
        <p:spPr>
          <a:xfrm>
            <a:off x="8029214" y="720535"/>
            <a:ext cx="2575286" cy="702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5130"/>
              </a:lnSpc>
              <a:buNone/>
            </a:pPr>
            <a:r>
              <a:rPr lang="ar-SA" altLang="en-US" sz="3800" b="1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إس بلس Splus</a:t>
            </a:r>
            <a:endParaRPr lang="ar-SA" sz="3800" dirty="0"/>
          </a:p>
        </p:txBody>
      </p:sp>
      <p:sp>
        <p:nvSpPr>
          <p:cNvPr id="11" name="s18-shape-9"/>
          <p:cNvSpPr/>
          <p:nvPr/>
        </p:nvSpPr>
        <p:spPr>
          <a:xfrm>
            <a:off x="10833100" y="889000"/>
            <a:ext cx="660400" cy="660400"/>
          </a:xfrm>
          <a:prstGeom prst="ellipse">
            <a:avLst/>
          </a:prstGeom>
          <a:solidFill>
            <a:srgbClr val="FF8D26"/>
          </a:solidFill>
          <a:ln/>
        </p:spPr>
      </p:sp>
      <p:sp>
        <p:nvSpPr>
          <p:cNvPr id="12" name="s18-text-10"/>
          <p:cNvSpPr txBox="1"/>
          <p:nvPr/>
        </p:nvSpPr>
        <p:spPr>
          <a:xfrm>
            <a:off x="10905331" y="995655"/>
            <a:ext cx="41443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600"/>
              </a:lnSpc>
              <a:buNone/>
            </a:pPr>
            <a:r>
              <a:rPr lang="ar-SA" altLang="en-US" sz="2600" b="1" dirty="0">
                <a:solidFill>
                  <a:srgbClr val="FFFFFF"/>
                </a:solidFill>
                <a:latin typeface="Sakkal Saad TN Trial Light"/>
                <a:cs typeface="Sakkal Saad TN Trial Light"/>
              </a:rPr>
              <a:t>02</a:t>
            </a:r>
            <a:endParaRPr lang="ar-SA" sz="2600" dirty="0"/>
          </a:p>
        </p:txBody>
      </p:sp>
      <p:sp>
        <p:nvSpPr>
          <p:cNvPr id="13" name="s18-shape-11"/>
          <p:cNvSpPr/>
          <p:nvPr/>
        </p:nvSpPr>
        <p:spPr>
          <a:xfrm>
            <a:off x="7048500" y="1905000"/>
            <a:ext cx="4445000" cy="4318000"/>
          </a:xfrm>
          <a:prstGeom prst="roundRect">
            <a:avLst>
              <a:gd name="adj" fmla="val 5882"/>
            </a:avLst>
          </a:prstGeom>
          <a:solidFill>
            <a:srgbClr val="43644B"/>
          </a:solidFill>
          <a:ln/>
        </p:spPr>
      </p:sp>
      <p:pic>
        <p:nvPicPr>
          <p:cNvPr id="14" name="s18-snap-12" descr="s18-snap-12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91800" y="2146300"/>
            <a:ext cx="635000" cy="635000"/>
          </a:xfrm>
          <a:prstGeom prst="rect">
            <a:avLst/>
          </a:prstGeom>
        </p:spPr>
      </p:pic>
      <p:sp>
        <p:nvSpPr>
          <p:cNvPr id="15" name="s18-text-13"/>
          <p:cNvSpPr txBox="1"/>
          <p:nvPr/>
        </p:nvSpPr>
        <p:spPr>
          <a:xfrm>
            <a:off x="9594056" y="2218055"/>
            <a:ext cx="896144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700"/>
              </a:lnSpc>
              <a:buNone/>
            </a:pPr>
            <a:r>
              <a:rPr lang="ar-SA" altLang="en-US" sz="2000" b="1" dirty="0">
                <a:solidFill>
                  <a:srgbClr val="F6C342"/>
                </a:solidFill>
                <a:latin typeface="Sakkal Saad TN Trial Light"/>
                <a:cs typeface="Sakkal Saad TN Trial Light"/>
              </a:rPr>
              <a:t>نقاط القوة</a:t>
            </a:r>
            <a:endParaRPr lang="ar-SA" sz="2000" dirty="0"/>
          </a:p>
        </p:txBody>
      </p:sp>
      <p:sp>
        <p:nvSpPr>
          <p:cNvPr id="16" name="s18-shape-14"/>
          <p:cNvSpPr/>
          <p:nvPr/>
        </p:nvSpPr>
        <p:spPr>
          <a:xfrm>
            <a:off x="11099800" y="3041650"/>
            <a:ext cx="88900" cy="88900"/>
          </a:xfrm>
          <a:prstGeom prst="ellipse">
            <a:avLst/>
          </a:prstGeom>
          <a:solidFill>
            <a:srgbClr val="F6C342"/>
          </a:solidFill>
          <a:ln/>
        </p:spPr>
      </p:sp>
      <p:sp>
        <p:nvSpPr>
          <p:cNvPr id="17" name="s18-text-15"/>
          <p:cNvSpPr txBox="1"/>
          <p:nvPr/>
        </p:nvSpPr>
        <p:spPr>
          <a:xfrm>
            <a:off x="7621167" y="2840228"/>
            <a:ext cx="3351633" cy="384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625"/>
              </a:lnSpc>
              <a:buNone/>
            </a:pPr>
            <a:r>
              <a:rPr lang="ar-SA" altLang="en-US" sz="1750" dirty="0">
                <a:solidFill>
                  <a:srgbClr val="FFFFFF"/>
                </a:solidFill>
                <a:latin typeface="Sakkal Saad TN Trial Light"/>
                <a:cs typeface="Sakkal Saad TN Trial Light"/>
              </a:rPr>
              <a:t>تموضع واضح في كاميرات المراقبة والأجهزة الذكية.</a:t>
            </a:r>
            <a:endParaRPr lang="ar-SA" sz="1750" dirty="0"/>
          </a:p>
        </p:txBody>
      </p:sp>
      <p:sp>
        <p:nvSpPr>
          <p:cNvPr id="18" name="s18-shape-16"/>
          <p:cNvSpPr/>
          <p:nvPr/>
        </p:nvSpPr>
        <p:spPr>
          <a:xfrm>
            <a:off x="11099800" y="3463925"/>
            <a:ext cx="88900" cy="88900"/>
          </a:xfrm>
          <a:prstGeom prst="ellipse">
            <a:avLst/>
          </a:prstGeom>
          <a:solidFill>
            <a:srgbClr val="F6C342"/>
          </a:solidFill>
          <a:ln/>
        </p:spPr>
      </p:sp>
      <p:sp>
        <p:nvSpPr>
          <p:cNvPr id="19" name="s18-text-17"/>
          <p:cNvSpPr txBox="1"/>
          <p:nvPr/>
        </p:nvSpPr>
        <p:spPr>
          <a:xfrm>
            <a:off x="7670137" y="3262503"/>
            <a:ext cx="3302663" cy="384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625"/>
              </a:lnSpc>
              <a:buNone/>
            </a:pPr>
            <a:r>
              <a:rPr lang="ar-SA" altLang="en-US" sz="1750" dirty="0">
                <a:solidFill>
                  <a:srgbClr val="FFFFFF"/>
                </a:solidFill>
                <a:latin typeface="Sakkal Saad TN Trial Light"/>
                <a:cs typeface="Sakkal Saad TN Trial Light"/>
              </a:rPr>
              <a:t>إبراز صفة الموزع الرسمي لـ EZVIZ في السعودية.</a:t>
            </a:r>
            <a:endParaRPr lang="ar-SA" sz="1750" dirty="0"/>
          </a:p>
        </p:txBody>
      </p:sp>
      <p:sp>
        <p:nvSpPr>
          <p:cNvPr id="20" name="s18-shape-18"/>
          <p:cNvSpPr/>
          <p:nvPr/>
        </p:nvSpPr>
        <p:spPr>
          <a:xfrm>
            <a:off x="11099800" y="3886200"/>
            <a:ext cx="88900" cy="88900"/>
          </a:xfrm>
          <a:prstGeom prst="ellipse">
            <a:avLst/>
          </a:prstGeom>
          <a:solidFill>
            <a:srgbClr val="F6C342"/>
          </a:solidFill>
          <a:ln/>
        </p:spPr>
      </p:sp>
      <p:sp>
        <p:nvSpPr>
          <p:cNvPr id="21" name="s18-text-19"/>
          <p:cNvSpPr txBox="1"/>
          <p:nvPr/>
        </p:nvSpPr>
        <p:spPr>
          <a:xfrm>
            <a:off x="7063740" y="3684778"/>
            <a:ext cx="3909060" cy="717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625"/>
              </a:lnSpc>
              <a:buNone/>
            </a:pPr>
            <a:r>
              <a:rPr lang="ar-SA" altLang="en-US" sz="1750" dirty="0">
                <a:solidFill>
                  <a:srgbClr val="FFFFFF"/>
                </a:solidFill>
                <a:latin typeface="Sakkal Saad TN Trial Light"/>
                <a:cs typeface="Sakkal Saad TN Trial Light"/>
              </a:rPr>
              <a:t>استخدام تقييمات العملاء، الضمان، العروض، وخدمات</a:t>
            </a:r>
            <a:endParaRPr lang="ar-SA" sz="1750" dirty="0"/>
          </a:p>
          <a:p>
            <a:pPr rtl="1" algn="r" indent="0" marL="0">
              <a:lnSpc>
                <a:spcPts val="2625"/>
              </a:lnSpc>
              <a:buNone/>
            </a:pPr>
            <a:r>
              <a:rPr lang="ar-SA" altLang="en-US" sz="1750" dirty="0">
                <a:solidFill>
                  <a:srgbClr val="FFFFFF"/>
                </a:solidFill>
                <a:latin typeface="Sakkal Saad TN Trial Light"/>
                <a:cs typeface="Sakkal Saad TN Trial Light"/>
              </a:rPr>
              <a:t>التركيب كعناصر ثقة.</a:t>
            </a:r>
            <a:endParaRPr lang="ar-SA" sz="1750" dirty="0"/>
          </a:p>
        </p:txBody>
      </p:sp>
      <p:sp>
        <p:nvSpPr>
          <p:cNvPr id="22" name="s18-shape-20"/>
          <p:cNvSpPr/>
          <p:nvPr/>
        </p:nvSpPr>
        <p:spPr>
          <a:xfrm>
            <a:off x="11099800" y="4641850"/>
            <a:ext cx="88900" cy="88900"/>
          </a:xfrm>
          <a:prstGeom prst="ellipse">
            <a:avLst/>
          </a:prstGeom>
          <a:solidFill>
            <a:srgbClr val="F6C342"/>
          </a:solidFill>
          <a:ln/>
        </p:spPr>
      </p:sp>
      <p:sp>
        <p:nvSpPr>
          <p:cNvPr id="23" name="s18-text-21"/>
          <p:cNvSpPr txBox="1"/>
          <p:nvPr/>
        </p:nvSpPr>
        <p:spPr>
          <a:xfrm>
            <a:off x="8118050" y="4440428"/>
            <a:ext cx="2854750" cy="384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625"/>
              </a:lnSpc>
              <a:buNone/>
            </a:pPr>
            <a:r>
              <a:rPr lang="ar-SA" altLang="en-US" sz="1750" dirty="0">
                <a:solidFill>
                  <a:srgbClr val="FFFFFF"/>
                </a:solidFill>
                <a:latin typeface="Sakkal Saad TN Trial Light"/>
                <a:cs typeface="Sakkal Saad TN Trial Light"/>
              </a:rPr>
              <a:t>يساعد العميل على اختيار المنتج المناسب.</a:t>
            </a:r>
            <a:endParaRPr lang="ar-SA" sz="1750" dirty="0"/>
          </a:p>
        </p:txBody>
      </p:sp>
      <p:sp>
        <p:nvSpPr>
          <p:cNvPr id="24" name="s18-shape-22"/>
          <p:cNvSpPr/>
          <p:nvPr/>
        </p:nvSpPr>
        <p:spPr>
          <a:xfrm>
            <a:off x="3556000" y="1905000"/>
            <a:ext cx="3302000" cy="4318000"/>
          </a:xfrm>
          <a:prstGeom prst="roundRect">
            <a:avLst>
              <a:gd name="adj" fmla="val 7692"/>
            </a:avLst>
          </a:prstGeom>
          <a:solidFill>
            <a:srgbClr val="FFF1E3"/>
          </a:solidFill>
          <a:ln/>
        </p:spPr>
      </p:sp>
      <p:pic>
        <p:nvPicPr>
          <p:cNvPr id="25" name="s18-snap-23" descr="s18-snap-23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56300" y="2209800"/>
            <a:ext cx="635000" cy="635000"/>
          </a:xfrm>
          <a:prstGeom prst="rect">
            <a:avLst/>
          </a:prstGeom>
        </p:spPr>
      </p:pic>
      <p:sp>
        <p:nvSpPr>
          <p:cNvPr id="26" name="s18-text-24"/>
          <p:cNvSpPr txBox="1"/>
          <p:nvPr/>
        </p:nvSpPr>
        <p:spPr>
          <a:xfrm>
            <a:off x="3701288" y="2110105"/>
            <a:ext cx="2153412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700"/>
              </a:lnSpc>
              <a:buNone/>
            </a:pPr>
            <a:r>
              <a:rPr lang="ar-SA" altLang="en-US" sz="2000" b="1" dirty="0">
                <a:solidFill>
                  <a:srgbClr val="E9720C"/>
                </a:solidFill>
                <a:latin typeface="Sakkal Saad TN Trial Light"/>
                <a:cs typeface="Sakkal Saad TN Trial Light"/>
              </a:rPr>
              <a:t>نقاط الضعف التسويقية</a:t>
            </a:r>
            <a:endParaRPr lang="ar-SA" sz="2000" dirty="0"/>
          </a:p>
          <a:p>
            <a:pPr rtl="1" algn="r" indent="0" marL="0">
              <a:lnSpc>
                <a:spcPts val="2700"/>
              </a:lnSpc>
              <a:buNone/>
            </a:pPr>
            <a:r>
              <a:rPr lang="ar-SA" altLang="en-US" sz="2000" b="1" dirty="0">
                <a:solidFill>
                  <a:srgbClr val="E9720C"/>
                </a:solidFill>
                <a:latin typeface="Sakkal Saad TN Trial Light"/>
                <a:cs typeface="Sakkal Saad TN Trial Light"/>
              </a:rPr>
              <a:t>المحتملة</a:t>
            </a:r>
            <a:endParaRPr lang="ar-SA" sz="2000" dirty="0"/>
          </a:p>
        </p:txBody>
      </p:sp>
      <p:sp>
        <p:nvSpPr>
          <p:cNvPr id="27" name="s18-shape-25"/>
          <p:cNvSpPr/>
          <p:nvPr/>
        </p:nvSpPr>
        <p:spPr>
          <a:xfrm>
            <a:off x="6464300" y="3162300"/>
            <a:ext cx="88900" cy="88900"/>
          </a:xfrm>
          <a:prstGeom prst="ellipse">
            <a:avLst/>
          </a:prstGeom>
          <a:solidFill>
            <a:srgbClr val="FF8D26"/>
          </a:solidFill>
          <a:ln/>
        </p:spPr>
      </p:sp>
      <p:sp>
        <p:nvSpPr>
          <p:cNvPr id="28" name="s18-text-26"/>
          <p:cNvSpPr txBox="1"/>
          <p:nvPr/>
        </p:nvSpPr>
        <p:spPr>
          <a:xfrm>
            <a:off x="3662680" y="2971571"/>
            <a:ext cx="2674620" cy="679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475"/>
              </a:lnSpc>
              <a:buNone/>
            </a:pPr>
            <a:r>
              <a:rPr lang="ar-SA" altLang="en-US" sz="16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الارتباط القوي بـ EZVIZ قد يقلل من</a:t>
            </a:r>
            <a:endParaRPr lang="ar-SA" sz="1650" dirty="0"/>
          </a:p>
          <a:p>
            <a:pPr rtl="1" algn="r" indent="0" marL="0">
              <a:lnSpc>
                <a:spcPts val="2475"/>
              </a:lnSpc>
              <a:buNone/>
            </a:pPr>
            <a:r>
              <a:rPr lang="ar-SA" altLang="en-US" sz="16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شعور العميل بتنوع الخيارات.</a:t>
            </a:r>
            <a:endParaRPr lang="ar-SA" sz="1650" dirty="0"/>
          </a:p>
        </p:txBody>
      </p:sp>
      <p:sp>
        <p:nvSpPr>
          <p:cNvPr id="29" name="s18-shape-27"/>
          <p:cNvSpPr/>
          <p:nvPr/>
        </p:nvSpPr>
        <p:spPr>
          <a:xfrm>
            <a:off x="6464300" y="3879850"/>
            <a:ext cx="88900" cy="88900"/>
          </a:xfrm>
          <a:prstGeom prst="ellipse">
            <a:avLst/>
          </a:prstGeom>
          <a:solidFill>
            <a:srgbClr val="FF8D26"/>
          </a:solidFill>
          <a:ln/>
        </p:spPr>
      </p:sp>
      <p:sp>
        <p:nvSpPr>
          <p:cNvPr id="30" name="s18-text-28"/>
          <p:cNvSpPr txBox="1"/>
          <p:nvPr/>
        </p:nvSpPr>
        <p:spPr>
          <a:xfrm>
            <a:off x="3662680" y="3689121"/>
            <a:ext cx="2674620" cy="679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475"/>
              </a:lnSpc>
              <a:buNone/>
            </a:pPr>
            <a:r>
              <a:rPr lang="ar-SA" altLang="en-US" sz="16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توجد فرصة للمنافسة برسالة تبدأ من</a:t>
            </a:r>
            <a:endParaRPr lang="ar-SA" sz="1650" dirty="0"/>
          </a:p>
          <a:p>
            <a:pPr rtl="1" algn="r" indent="0" marL="0">
              <a:lnSpc>
                <a:spcPts val="2475"/>
              </a:lnSpc>
              <a:buNone/>
            </a:pPr>
            <a:r>
              <a:rPr lang="ar-SA" altLang="en-US" sz="16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احتياج المكان وليس من العلامة أو المنتج.</a:t>
            </a:r>
            <a:endParaRPr lang="ar-SA" sz="1650" dirty="0"/>
          </a:p>
        </p:txBody>
      </p:sp>
      <p:sp>
        <p:nvSpPr>
          <p:cNvPr id="31" name="s18-shape-29"/>
          <p:cNvSpPr/>
          <p:nvPr/>
        </p:nvSpPr>
        <p:spPr>
          <a:xfrm>
            <a:off x="698500" y="1905000"/>
            <a:ext cx="2857500" cy="4318000"/>
          </a:xfrm>
          <a:prstGeom prst="roundRect">
            <a:avLst>
              <a:gd name="adj" fmla="val 8889"/>
            </a:avLst>
          </a:prstGeom>
          <a:solidFill>
            <a:srgbClr val="FFF7DE"/>
          </a:solidFill>
          <a:ln/>
        </p:spPr>
      </p:sp>
      <p:pic>
        <p:nvPicPr>
          <p:cNvPr id="32" name="s18-snap-30" descr="s18-snap-30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81300" y="2120900"/>
            <a:ext cx="584200" cy="584200"/>
          </a:xfrm>
          <a:prstGeom prst="rect">
            <a:avLst/>
          </a:prstGeom>
        </p:spPr>
      </p:pic>
      <p:sp>
        <p:nvSpPr>
          <p:cNvPr id="33" name="s18-text-31"/>
          <p:cNvSpPr txBox="1"/>
          <p:nvPr/>
        </p:nvSpPr>
        <p:spPr>
          <a:xfrm>
            <a:off x="1365845" y="2179168"/>
            <a:ext cx="1339255" cy="370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520"/>
              </a:lnSpc>
              <a:buNone/>
            </a:pPr>
            <a:r>
              <a:rPr lang="ar-SA" altLang="en-US" sz="1800" b="1" dirty="0">
                <a:solidFill>
                  <a:srgbClr val="E9720C"/>
                </a:solidFill>
                <a:latin typeface="Sakkal Saad TN Trial Light"/>
                <a:cs typeface="Sakkal Saad TN Trial Light"/>
              </a:rPr>
              <a:t>أسلوبهم التسويقي</a:t>
            </a:r>
            <a:endParaRPr lang="ar-SA" sz="1800" dirty="0"/>
          </a:p>
        </p:txBody>
      </p:sp>
      <p:sp>
        <p:nvSpPr>
          <p:cNvPr id="34" name="s18-shape-32"/>
          <p:cNvSpPr/>
          <p:nvPr/>
        </p:nvSpPr>
        <p:spPr>
          <a:xfrm>
            <a:off x="927100" y="2832100"/>
            <a:ext cx="2400300" cy="3199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5" name="s18-text-33"/>
          <p:cNvSpPr txBox="1"/>
          <p:nvPr/>
        </p:nvSpPr>
        <p:spPr>
          <a:xfrm>
            <a:off x="1986260" y="2823032"/>
            <a:ext cx="282079" cy="281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820"/>
              </a:lnSpc>
              <a:buNone/>
            </a:pPr>
            <a:r>
              <a:rPr lang="ar-SA" altLang="en-US" sz="14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ثقة</a:t>
            </a:r>
            <a:endParaRPr lang="ar-SA" sz="1400" dirty="0"/>
          </a:p>
        </p:txBody>
      </p:sp>
      <p:sp>
        <p:nvSpPr>
          <p:cNvPr id="36" name="s18-text-34"/>
          <p:cNvSpPr txBox="1"/>
          <p:nvPr/>
        </p:nvSpPr>
        <p:spPr>
          <a:xfrm>
            <a:off x="831088" y="3192816"/>
            <a:ext cx="2592324" cy="193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125"/>
              </a:lnSpc>
              <a:buNone/>
            </a:pPr>
            <a:r>
              <a:rPr lang="ar-SA" altLang="en-US" sz="1500" b="1" dirty="0">
                <a:solidFill>
                  <a:srgbClr val="FF8D26"/>
                </a:solidFill>
                <a:latin typeface="Sakkal Saad TN Trial Light"/>
                <a:cs typeface="Sakkal Saad TN Trial Light"/>
              </a:rPr>
              <a:t>+</a:t>
            </a:r>
            <a:endParaRPr lang="ar-SA" sz="1500" dirty="0"/>
          </a:p>
        </p:txBody>
      </p:sp>
      <p:sp>
        <p:nvSpPr>
          <p:cNvPr id="37" name="s18-shape-35"/>
          <p:cNvSpPr/>
          <p:nvPr/>
        </p:nvSpPr>
        <p:spPr>
          <a:xfrm>
            <a:off x="927100" y="3421955"/>
            <a:ext cx="2400300" cy="3199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8" name="s18-text-36"/>
          <p:cNvSpPr txBox="1"/>
          <p:nvPr/>
        </p:nvSpPr>
        <p:spPr>
          <a:xfrm>
            <a:off x="1748135" y="3412888"/>
            <a:ext cx="758230" cy="281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820"/>
              </a:lnSpc>
              <a:buNone/>
            </a:pPr>
            <a:r>
              <a:rPr lang="ar-SA" altLang="en-US" sz="14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علامة رسمية</a:t>
            </a:r>
            <a:endParaRPr lang="ar-SA" sz="1400" dirty="0"/>
          </a:p>
        </p:txBody>
      </p:sp>
      <p:sp>
        <p:nvSpPr>
          <p:cNvPr id="39" name="s18-text-37"/>
          <p:cNvSpPr txBox="1"/>
          <p:nvPr/>
        </p:nvSpPr>
        <p:spPr>
          <a:xfrm>
            <a:off x="831088" y="3782671"/>
            <a:ext cx="2592324" cy="193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125"/>
              </a:lnSpc>
              <a:buNone/>
            </a:pPr>
            <a:r>
              <a:rPr lang="ar-SA" altLang="en-US" sz="1500" b="1" dirty="0">
                <a:solidFill>
                  <a:srgbClr val="FF8D26"/>
                </a:solidFill>
                <a:latin typeface="Sakkal Saad TN Trial Light"/>
                <a:cs typeface="Sakkal Saad TN Trial Light"/>
              </a:rPr>
              <a:t>+</a:t>
            </a:r>
            <a:endParaRPr lang="ar-SA" sz="1500" dirty="0"/>
          </a:p>
        </p:txBody>
      </p:sp>
      <p:sp>
        <p:nvSpPr>
          <p:cNvPr id="40" name="s18-shape-38"/>
          <p:cNvSpPr/>
          <p:nvPr/>
        </p:nvSpPr>
        <p:spPr>
          <a:xfrm>
            <a:off x="927100" y="4011811"/>
            <a:ext cx="2400300" cy="3199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1" name="s18-text-39"/>
          <p:cNvSpPr txBox="1"/>
          <p:nvPr/>
        </p:nvSpPr>
        <p:spPr>
          <a:xfrm>
            <a:off x="1887240" y="4002743"/>
            <a:ext cx="480120" cy="281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820"/>
              </a:lnSpc>
              <a:buNone/>
            </a:pPr>
            <a:r>
              <a:rPr lang="ar-SA" altLang="en-US" sz="14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عروض</a:t>
            </a:r>
            <a:endParaRPr lang="ar-SA" sz="1400" dirty="0"/>
          </a:p>
        </p:txBody>
      </p:sp>
      <p:sp>
        <p:nvSpPr>
          <p:cNvPr id="42" name="s18-text-40"/>
          <p:cNvSpPr txBox="1"/>
          <p:nvPr/>
        </p:nvSpPr>
        <p:spPr>
          <a:xfrm>
            <a:off x="831088" y="4372527"/>
            <a:ext cx="2592324" cy="193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125"/>
              </a:lnSpc>
              <a:buNone/>
            </a:pPr>
            <a:r>
              <a:rPr lang="ar-SA" altLang="en-US" sz="1500" b="1" dirty="0">
                <a:solidFill>
                  <a:srgbClr val="FF8D26"/>
                </a:solidFill>
                <a:latin typeface="Sakkal Saad TN Trial Light"/>
                <a:cs typeface="Sakkal Saad TN Trial Light"/>
              </a:rPr>
              <a:t>+</a:t>
            </a:r>
            <a:endParaRPr lang="ar-SA" sz="1500" dirty="0"/>
          </a:p>
        </p:txBody>
      </p:sp>
      <p:sp>
        <p:nvSpPr>
          <p:cNvPr id="43" name="s18-shape-41"/>
          <p:cNvSpPr/>
          <p:nvPr/>
        </p:nvSpPr>
        <p:spPr>
          <a:xfrm>
            <a:off x="927100" y="4601666"/>
            <a:ext cx="2400300" cy="3199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4" name="s18-text-42"/>
          <p:cNvSpPr txBox="1"/>
          <p:nvPr/>
        </p:nvSpPr>
        <p:spPr>
          <a:xfrm>
            <a:off x="1629172" y="4592599"/>
            <a:ext cx="996156" cy="281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820"/>
              </a:lnSpc>
              <a:buNone/>
            </a:pPr>
            <a:r>
              <a:rPr lang="ar-SA" altLang="en-US" sz="14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مراجعات العملاء</a:t>
            </a:r>
            <a:endParaRPr lang="ar-SA" sz="1400" dirty="0"/>
          </a:p>
        </p:txBody>
      </p:sp>
      <p:sp>
        <p:nvSpPr>
          <p:cNvPr id="45" name="s18-text-43"/>
          <p:cNvSpPr txBox="1"/>
          <p:nvPr/>
        </p:nvSpPr>
        <p:spPr>
          <a:xfrm>
            <a:off x="831088" y="4962382"/>
            <a:ext cx="2592324" cy="193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125"/>
              </a:lnSpc>
              <a:buNone/>
            </a:pPr>
            <a:r>
              <a:rPr lang="ar-SA" altLang="en-US" sz="1500" b="1" dirty="0">
                <a:solidFill>
                  <a:srgbClr val="FF8D26"/>
                </a:solidFill>
                <a:latin typeface="Sakkal Saad TN Trial Light"/>
                <a:cs typeface="Sakkal Saad TN Trial Light"/>
              </a:rPr>
              <a:t>+</a:t>
            </a:r>
            <a:endParaRPr lang="ar-SA" sz="1500" dirty="0"/>
          </a:p>
        </p:txBody>
      </p:sp>
      <p:sp>
        <p:nvSpPr>
          <p:cNvPr id="46" name="s18-shape-44"/>
          <p:cNvSpPr/>
          <p:nvPr/>
        </p:nvSpPr>
        <p:spPr>
          <a:xfrm>
            <a:off x="927100" y="5191522"/>
            <a:ext cx="2400300" cy="3199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7" name="s18-text-45"/>
          <p:cNvSpPr txBox="1"/>
          <p:nvPr/>
        </p:nvSpPr>
        <p:spPr>
          <a:xfrm>
            <a:off x="1688604" y="5182454"/>
            <a:ext cx="877391" cy="281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820"/>
              </a:lnSpc>
              <a:buNone/>
            </a:pPr>
            <a:r>
              <a:rPr lang="ar-SA" altLang="en-US" sz="14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راحة واطمئنان</a:t>
            </a:r>
            <a:endParaRPr lang="ar-SA" sz="1400" dirty="0"/>
          </a:p>
        </p:txBody>
      </p:sp>
      <p:sp>
        <p:nvSpPr>
          <p:cNvPr id="48" name="s18-text-46"/>
          <p:cNvSpPr txBox="1"/>
          <p:nvPr/>
        </p:nvSpPr>
        <p:spPr>
          <a:xfrm>
            <a:off x="831088" y="5552238"/>
            <a:ext cx="2592324" cy="193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125"/>
              </a:lnSpc>
              <a:buNone/>
            </a:pPr>
            <a:r>
              <a:rPr lang="ar-SA" altLang="en-US" sz="1500" b="1" dirty="0">
                <a:solidFill>
                  <a:srgbClr val="FF8D26"/>
                </a:solidFill>
                <a:latin typeface="Sakkal Saad TN Trial Light"/>
                <a:cs typeface="Sakkal Saad TN Trial Light"/>
              </a:rPr>
              <a:t>+</a:t>
            </a:r>
            <a:endParaRPr lang="ar-SA" sz="1500" dirty="0"/>
          </a:p>
        </p:txBody>
      </p:sp>
      <p:sp>
        <p:nvSpPr>
          <p:cNvPr id="49" name="s18-shape-47"/>
          <p:cNvSpPr/>
          <p:nvPr/>
        </p:nvSpPr>
        <p:spPr>
          <a:xfrm>
            <a:off x="927100" y="5781377"/>
            <a:ext cx="2400300" cy="3199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0" name="s18-text-48"/>
          <p:cNvSpPr txBox="1"/>
          <p:nvPr/>
        </p:nvSpPr>
        <p:spPr>
          <a:xfrm>
            <a:off x="1738213" y="5772310"/>
            <a:ext cx="778173" cy="281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820"/>
              </a:lnSpc>
              <a:buNone/>
            </a:pPr>
            <a:r>
              <a:rPr lang="ar-SA" altLang="en-US" sz="14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سهولة الشراء</a:t>
            </a:r>
            <a:endParaRPr lang="ar-SA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3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4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0" dur="489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7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7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5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75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7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75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75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75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75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75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75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75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75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75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75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750" fill="hold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750" fill="hold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75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75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75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75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53" presetClass="entr" presetSubtype="16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27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6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6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750" fill="hold" decel="100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750" fill="hold" decel="100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75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75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42" presetClass="entr" presetSubtype="0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75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75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750" fill="hold" decel="10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750" fill="hold" decel="10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750" fill="hold" decel="100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750" fill="hold" decel="100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42" presetClass="entr" presetSubtype="0" fill="hold" grpId="0" nodeType="withEffect">
                                  <p:stCondLst>
                                    <p:cond delay="83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750" fill="hold" decel="100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750" fill="hold" decel="100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42" presetClass="entr" presetSubtype="0" fill="hold" grpId="0" nodeType="withEffect">
                                  <p:stCondLst>
                                    <p:cond delay="83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750" fill="hold" decel="100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750" fill="hold" decel="100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9" dur="750" fill="hold" decel="1000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750" fill="hold" decel="1000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53" presetClass="entr" presetSubtype="16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27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6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6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53" presetClass="entr" presetSubtype="16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27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9" dur="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53" presetClass="entr" presetSubtype="16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27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4" dur="6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6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53" presetClass="entr" presetSubtype="16" fill="hold" grpId="0" nodeType="withEffect">
                                  <p:stCondLst>
                                    <p:cond delay="116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27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9" dur="6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6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53" presetClass="entr" presetSubtype="16" fill="hold" grpId="0" nodeType="withEffect">
                                  <p:stCondLst>
                                    <p:cond delay="116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27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4" dur="6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6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6" presetID="53" presetClass="entr" presetSubtype="16" fill="hold" grpId="0" nodeType="withEffect">
                                  <p:stCondLst>
                                    <p:cond delay="121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27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9" dur="6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6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1" presetID="53" presetClass="entr" presetSubtype="16" fill="hold" grpId="0" nodeType="withEffect">
                                  <p:stCondLst>
                                    <p:cond delay="127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27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4" dur="6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6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6" presetID="53" presetClass="entr" presetSubtype="16" fill="hold" grpId="0" nodeType="withEffect">
                                  <p:stCondLst>
                                    <p:cond delay="127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27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9" dur="6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6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1" presetID="53" presetClass="entr" presetSubtype="16" fill="hold" grpId="0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27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4" dur="6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6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6" presetID="53" presetClass="entr" presetSubtype="16" fill="hold" grpId="0" nodeType="withEffect">
                                  <p:stCondLst>
                                    <p:cond delay="138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27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9" dur="6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6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1" presetID="53" presetClass="entr" presetSubtype="16" fill="hold" grpId="0" nodeType="withEffect">
                                  <p:stCondLst>
                                    <p:cond delay="138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27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4" dur="6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6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6" presetID="53" presetClass="entr" presetSubtype="16" fill="hold" grpId="0" nodeType="withEffect">
                                  <p:stCondLst>
                                    <p:cond delay="143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27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9" dur="6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0" dur="6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1" presetID="53" presetClass="entr" presetSubtype="16" fill="hold" grpId="0" nodeType="withEffect">
                                  <p:stCondLst>
                                    <p:cond delay="149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27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4" dur="6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5" dur="6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6" presetID="53" presetClass="entr" presetSubtype="16" fill="hold" grpId="0" nodeType="withEffect">
                                  <p:stCondLst>
                                    <p:cond delay="149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27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9" dur="6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6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1" presetID="53" presetClass="entr" presetSubtype="16" fill="hold" grpId="0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27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4" dur="6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5" dur="6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6" presetID="53" presetClass="entr" presetSubtype="16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27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9" dur="6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0" dur="6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1" presetID="53" presetClass="entr" presetSubtype="16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3" dur="27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4" dur="6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5" dur="6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6" presetID="53" presetClass="entr" presetSubtype="16" fill="hold" grpId="0" nodeType="with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27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9" dur="6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0" dur="6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/>
      <p:bldP spid="11" grpId="0" animBg="1"/>
      <p:bldP spid="12" grpId="0"/>
      <p:bldP spid="13" grpId="0" animBg="1"/>
      <p:bldP spid="15" grpId="0"/>
      <p:bldP spid="24" grpId="0" animBg="1"/>
      <p:bldP spid="16" grpId="0" animBg="1"/>
      <p:bldP spid="17" grpId="0"/>
      <p:bldP spid="18" grpId="0" animBg="1"/>
      <p:bldP spid="19" grpId="0"/>
      <p:bldP spid="26" grpId="0"/>
      <p:bldP spid="20" grpId="0" animBg="1"/>
      <p:bldP spid="21" grpId="0"/>
      <p:bldP spid="31" grpId="0" animBg="1"/>
      <p:bldP spid="22" grpId="0" animBg="1"/>
      <p:bldP spid="23" grpId="0"/>
      <p:bldP spid="27" grpId="0" animBg="1"/>
      <p:bldP spid="28" grpId="0"/>
      <p:bldP spid="29" grpId="0" animBg="1"/>
      <p:bldP spid="30" grpId="0"/>
      <p:bldP spid="33" grpId="0"/>
      <p:bldP spid="34" grpId="0" animBg="1"/>
      <p:bldP spid="35" grpId="0"/>
      <p:bldP spid="37" grpId="0" animBg="1"/>
      <p:bldP spid="38" grpId="0"/>
      <p:bldP spid="36" grpId="0"/>
      <p:bldP spid="40" grpId="0" animBg="1"/>
      <p:bldP spid="41" grpId="0"/>
      <p:bldP spid="39" grpId="0"/>
      <p:bldP spid="43" grpId="0" animBg="1"/>
      <p:bldP spid="44" grpId="0"/>
      <p:bldP spid="42" grpId="0"/>
      <p:bldP spid="46" grpId="0" animBg="1"/>
      <p:bldP spid="47" grpId="0"/>
      <p:bldP spid="45" grpId="0"/>
      <p:bldP spid="49" grpId="0" animBg="1"/>
      <p:bldP spid="50" grpId="0"/>
      <p:bldP spid="48" grpId="0"/>
    </p:bldLst>
  </p:timing>
</p:sld>
</file>

<file path=ppt/slides/slide19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lens"/>
          <p:cNvSpPr/>
          <p:nvPr/>
        </p:nvSpPr>
        <p:spPr>
          <a:xfrm>
            <a:off x="368300" y="127000"/>
            <a:ext cx="1206500" cy="1206500"/>
          </a:xfrm>
          <a:prstGeom prst="ellipse">
            <a:avLst/>
          </a:prstGeom>
          <a:solidFill>
            <a:srgbClr val="EEF2EF"/>
          </a:solidFill>
          <a:ln/>
        </p:spPr>
      </p:sp>
      <p:pic>
        <p:nvPicPr>
          <p:cNvPr id="3" name="!!mt" descr="شعار نظرة ثماني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8100000">
            <a:off x="788591" y="569268"/>
            <a:ext cx="546100" cy="533400"/>
          </a:xfrm>
          <a:prstGeom prst="rect">
            <a:avLst/>
          </a:prstGeom>
        </p:spPr>
      </p:pic>
      <p:pic>
        <p:nvPicPr>
          <p:cNvPr id="4" name="!!mb" descr="شعار نظرة ثمانية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8100000">
            <a:off x="598140" y="354608"/>
            <a:ext cx="527050" cy="520700"/>
          </a:xfrm>
          <a:prstGeom prst="rect">
            <a:avLst/>
          </a:prstGeom>
        </p:spPr>
      </p:pic>
      <p:pic>
        <p:nvPicPr>
          <p:cNvPr id="5" name="!!ma" descr="شعار نظرة ثمانية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8100000">
            <a:off x="1018183" y="849561"/>
            <a:ext cx="95250" cy="82550"/>
          </a:xfrm>
          <a:prstGeom prst="rect">
            <a:avLst/>
          </a:prstGeom>
        </p:spPr>
      </p:pic>
      <p:pic>
        <p:nvPicPr>
          <p:cNvPr id="6" name="!!hud" descr="!!hu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800" y="177800"/>
            <a:ext cx="11836400" cy="6502400"/>
          </a:xfrm>
          <a:prstGeom prst="rect">
            <a:avLst/>
          </a:prstGeom>
        </p:spPr>
      </p:pic>
      <p:sp>
        <p:nvSpPr>
          <p:cNvPr id="7" name="!!rec"/>
          <p:cNvSpPr/>
          <p:nvPr/>
        </p:nvSpPr>
        <p:spPr>
          <a:xfrm>
            <a:off x="635000" y="6337300"/>
            <a:ext cx="101600" cy="101600"/>
          </a:xfrm>
          <a:prstGeom prst="ellipse">
            <a:avLst/>
          </a:prstGeom>
          <a:solidFill>
            <a:srgbClr val="FF8D26"/>
          </a:solidFill>
          <a:ln/>
        </p:spPr>
      </p:sp>
      <p:sp>
        <p:nvSpPr>
          <p:cNvPr id="8" name="!!num"/>
          <p:cNvSpPr txBox="1"/>
          <p:nvPr/>
        </p:nvSpPr>
        <p:spPr>
          <a:xfrm>
            <a:off x="825500" y="6281750"/>
            <a:ext cx="679152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altLang="en-US" sz="1200" dirty="0">
                <a:solidFill>
                  <a:srgbClr val="5E6D7C"/>
                </a:solidFill>
                <a:latin typeface="Sakkal Saad TN Trial Light"/>
                <a:cs typeface="Sakkal Saad TN Trial Light"/>
              </a:rPr>
              <a:t>REC · 19</a:t>
            </a:r>
            <a:endParaRPr lang="en-US" sz="1200" dirty="0"/>
          </a:p>
        </p:txBody>
      </p:sp>
      <p:sp>
        <p:nvSpPr>
          <p:cNvPr id="9" name="!!kick"/>
          <p:cNvSpPr txBox="1"/>
          <p:nvPr/>
        </p:nvSpPr>
        <p:spPr>
          <a:xfrm>
            <a:off x="10259417" y="318834"/>
            <a:ext cx="1297583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ar-SA" altLang="en-US" sz="1500" b="1" dirty="0">
                <a:solidFill>
                  <a:srgbClr val="43644B"/>
                </a:solidFill>
                <a:latin typeface="Sakkal Saad TN Trial Light"/>
                <a:cs typeface="Sakkal Saad TN Trial Light"/>
              </a:rPr>
              <a:t>05</a:t>
            </a:r>
            <a:r>
              <a:rPr lang="ar-SA" altLang="en-US" sz="1500" dirty="0">
                <a:solidFill>
                  <a:srgbClr val="E9720C"/>
                </a:solidFill>
                <a:latin typeface="Sakkal Saad TN Trial Light"/>
                <a:cs typeface="Sakkal Saad TN Trial Light"/>
              </a:rPr>
              <a:t> تحليل المنافسين</a:t>
            </a:r>
            <a:endParaRPr lang="ar-SA" sz="1500" dirty="0"/>
          </a:p>
        </p:txBody>
      </p:sp>
      <p:sp>
        <p:nvSpPr>
          <p:cNvPr id="10" name="s19-text-8"/>
          <p:cNvSpPr txBox="1"/>
          <p:nvPr/>
        </p:nvSpPr>
        <p:spPr>
          <a:xfrm>
            <a:off x="8262064" y="720535"/>
            <a:ext cx="2342436" cy="702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5130"/>
              </a:lnSpc>
              <a:buNone/>
            </a:pPr>
            <a:r>
              <a:rPr lang="ar-SA" altLang="en-US" sz="3800" b="1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سلكين Silken</a:t>
            </a:r>
            <a:endParaRPr lang="ar-SA" sz="3800" dirty="0"/>
          </a:p>
        </p:txBody>
      </p:sp>
      <p:sp>
        <p:nvSpPr>
          <p:cNvPr id="11" name="s19-shape-9"/>
          <p:cNvSpPr/>
          <p:nvPr/>
        </p:nvSpPr>
        <p:spPr>
          <a:xfrm>
            <a:off x="10833100" y="889000"/>
            <a:ext cx="660400" cy="660400"/>
          </a:xfrm>
          <a:prstGeom prst="ellipse">
            <a:avLst/>
          </a:prstGeom>
          <a:solidFill>
            <a:srgbClr val="FF8D26"/>
          </a:solidFill>
          <a:ln/>
        </p:spPr>
      </p:sp>
      <p:sp>
        <p:nvSpPr>
          <p:cNvPr id="12" name="s19-text-10"/>
          <p:cNvSpPr txBox="1"/>
          <p:nvPr/>
        </p:nvSpPr>
        <p:spPr>
          <a:xfrm>
            <a:off x="10905331" y="995655"/>
            <a:ext cx="41443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600"/>
              </a:lnSpc>
              <a:buNone/>
            </a:pPr>
            <a:r>
              <a:rPr lang="ar-SA" altLang="en-US" sz="2600" b="1" dirty="0">
                <a:solidFill>
                  <a:srgbClr val="FFFFFF"/>
                </a:solidFill>
                <a:latin typeface="Sakkal Saad TN Trial Light"/>
                <a:cs typeface="Sakkal Saad TN Trial Light"/>
              </a:rPr>
              <a:t>03</a:t>
            </a:r>
            <a:endParaRPr lang="ar-SA" sz="2600" dirty="0"/>
          </a:p>
        </p:txBody>
      </p:sp>
      <p:sp>
        <p:nvSpPr>
          <p:cNvPr id="13" name="s19-shape-11"/>
          <p:cNvSpPr/>
          <p:nvPr/>
        </p:nvSpPr>
        <p:spPr>
          <a:xfrm>
            <a:off x="7048500" y="1905000"/>
            <a:ext cx="4445000" cy="4318000"/>
          </a:xfrm>
          <a:prstGeom prst="roundRect">
            <a:avLst>
              <a:gd name="adj" fmla="val 5882"/>
            </a:avLst>
          </a:prstGeom>
          <a:solidFill>
            <a:srgbClr val="43644B"/>
          </a:solidFill>
          <a:ln/>
        </p:spPr>
      </p:sp>
      <p:pic>
        <p:nvPicPr>
          <p:cNvPr id="14" name="s19-snap-12" descr="s19-snap-12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91800" y="2146300"/>
            <a:ext cx="635000" cy="635000"/>
          </a:xfrm>
          <a:prstGeom prst="rect">
            <a:avLst/>
          </a:prstGeom>
        </p:spPr>
      </p:pic>
      <p:sp>
        <p:nvSpPr>
          <p:cNvPr id="15" name="s19-text-13"/>
          <p:cNvSpPr txBox="1"/>
          <p:nvPr/>
        </p:nvSpPr>
        <p:spPr>
          <a:xfrm>
            <a:off x="9594056" y="2218055"/>
            <a:ext cx="896144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700"/>
              </a:lnSpc>
              <a:buNone/>
            </a:pPr>
            <a:r>
              <a:rPr lang="ar-SA" altLang="en-US" sz="2000" b="1" dirty="0">
                <a:solidFill>
                  <a:srgbClr val="F6C342"/>
                </a:solidFill>
                <a:latin typeface="Sakkal Saad TN Trial Light"/>
                <a:cs typeface="Sakkal Saad TN Trial Light"/>
              </a:rPr>
              <a:t>نقاط القوة</a:t>
            </a:r>
            <a:endParaRPr lang="ar-SA" sz="2000" dirty="0"/>
          </a:p>
        </p:txBody>
      </p:sp>
      <p:sp>
        <p:nvSpPr>
          <p:cNvPr id="16" name="s19-shape-14"/>
          <p:cNvSpPr/>
          <p:nvPr/>
        </p:nvSpPr>
        <p:spPr>
          <a:xfrm>
            <a:off x="11099800" y="3041650"/>
            <a:ext cx="88900" cy="88900"/>
          </a:xfrm>
          <a:prstGeom prst="ellipse">
            <a:avLst/>
          </a:prstGeom>
          <a:solidFill>
            <a:srgbClr val="F6C342"/>
          </a:solidFill>
          <a:ln/>
        </p:spPr>
      </p:sp>
      <p:sp>
        <p:nvSpPr>
          <p:cNvPr id="17" name="s19-text-15"/>
          <p:cNvSpPr txBox="1"/>
          <p:nvPr/>
        </p:nvSpPr>
        <p:spPr>
          <a:xfrm>
            <a:off x="8566714" y="2840228"/>
            <a:ext cx="2406086" cy="384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625"/>
              </a:lnSpc>
              <a:buNone/>
            </a:pPr>
            <a:r>
              <a:rPr lang="ar-SA" altLang="en-US" sz="1750" dirty="0">
                <a:solidFill>
                  <a:srgbClr val="FFFFFF"/>
                </a:solidFill>
                <a:latin typeface="Sakkal Saad TN Trial Light"/>
                <a:cs typeface="Sakkal Saad TN Trial Light"/>
              </a:rPr>
              <a:t>خبرة واضحة في المشاريع والمنشآت.</a:t>
            </a:r>
            <a:endParaRPr lang="ar-SA" sz="1750" dirty="0"/>
          </a:p>
        </p:txBody>
      </p:sp>
      <p:sp>
        <p:nvSpPr>
          <p:cNvPr id="18" name="s19-shape-16"/>
          <p:cNvSpPr/>
          <p:nvPr/>
        </p:nvSpPr>
        <p:spPr>
          <a:xfrm>
            <a:off x="11099800" y="3463925"/>
            <a:ext cx="88900" cy="88900"/>
          </a:xfrm>
          <a:prstGeom prst="ellipse">
            <a:avLst/>
          </a:prstGeom>
          <a:solidFill>
            <a:srgbClr val="F6C342"/>
          </a:solidFill>
          <a:ln/>
        </p:spPr>
      </p:sp>
      <p:sp>
        <p:nvSpPr>
          <p:cNvPr id="19" name="s19-text-17"/>
          <p:cNvSpPr txBox="1"/>
          <p:nvPr/>
        </p:nvSpPr>
        <p:spPr>
          <a:xfrm>
            <a:off x="7063740" y="3262503"/>
            <a:ext cx="3909060" cy="717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625"/>
              </a:lnSpc>
              <a:buNone/>
            </a:pPr>
            <a:r>
              <a:rPr lang="ar-SA" altLang="en-US" sz="1750" dirty="0">
                <a:solidFill>
                  <a:srgbClr val="FFFFFF"/>
                </a:solidFill>
                <a:latin typeface="Sakkal Saad TN Trial Light"/>
                <a:cs typeface="Sakkal Saad TN Trial Light"/>
              </a:rPr>
              <a:t>يقدم حلول مراقبة، شبكات، تحكم بالدخول وبنية تحتية</a:t>
            </a:r>
            <a:endParaRPr lang="ar-SA" sz="1750" dirty="0"/>
          </a:p>
          <a:p>
            <a:pPr rtl="1" algn="r" indent="0" marL="0">
              <a:lnSpc>
                <a:spcPts val="2625"/>
              </a:lnSpc>
              <a:buNone/>
            </a:pPr>
            <a:r>
              <a:rPr lang="ar-SA" altLang="en-US" sz="1750" dirty="0">
                <a:solidFill>
                  <a:srgbClr val="FFFFFF"/>
                </a:solidFill>
                <a:latin typeface="Sakkal Saad TN Trial Light"/>
                <a:cs typeface="Sakkal Saad TN Trial Light"/>
              </a:rPr>
              <a:t>تقنية.</a:t>
            </a:r>
            <a:endParaRPr lang="ar-SA" sz="1750" dirty="0"/>
          </a:p>
        </p:txBody>
      </p:sp>
      <p:sp>
        <p:nvSpPr>
          <p:cNvPr id="20" name="s19-shape-18"/>
          <p:cNvSpPr/>
          <p:nvPr/>
        </p:nvSpPr>
        <p:spPr>
          <a:xfrm>
            <a:off x="11099800" y="4219575"/>
            <a:ext cx="88900" cy="88900"/>
          </a:xfrm>
          <a:prstGeom prst="ellipse">
            <a:avLst/>
          </a:prstGeom>
          <a:solidFill>
            <a:srgbClr val="F6C342"/>
          </a:solidFill>
          <a:ln/>
        </p:spPr>
      </p:sp>
      <p:sp>
        <p:nvSpPr>
          <p:cNvPr id="21" name="s19-text-19"/>
          <p:cNvSpPr txBox="1"/>
          <p:nvPr/>
        </p:nvSpPr>
        <p:spPr>
          <a:xfrm>
            <a:off x="7063740" y="4018153"/>
            <a:ext cx="3909060" cy="717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625"/>
              </a:lnSpc>
              <a:buNone/>
            </a:pPr>
            <a:r>
              <a:rPr lang="ar-SA" altLang="en-US" sz="1750" dirty="0">
                <a:solidFill>
                  <a:srgbClr val="FFFFFF"/>
                </a:solidFill>
                <a:latin typeface="Sakkal Saad TN Trial Light"/>
                <a:cs typeface="Sakkal Saad TN Trial Light"/>
              </a:rPr>
              <a:t>يعتمد على التقييم الميداني والتنفيذ الهندسي والدعم</a:t>
            </a:r>
            <a:endParaRPr lang="ar-SA" sz="1750" dirty="0"/>
          </a:p>
          <a:p>
            <a:pPr rtl="1" algn="r" indent="0" marL="0">
              <a:lnSpc>
                <a:spcPts val="2625"/>
              </a:lnSpc>
              <a:buNone/>
            </a:pPr>
            <a:r>
              <a:rPr lang="ar-SA" altLang="en-US" sz="1750" dirty="0">
                <a:solidFill>
                  <a:srgbClr val="FFFFFF"/>
                </a:solidFill>
                <a:latin typeface="Sakkal Saad TN Trial Light"/>
                <a:cs typeface="Sakkal Saad TN Trial Light"/>
              </a:rPr>
              <a:t>طويل المدى.</a:t>
            </a:r>
            <a:endParaRPr lang="ar-SA" sz="1750" dirty="0"/>
          </a:p>
        </p:txBody>
      </p:sp>
      <p:sp>
        <p:nvSpPr>
          <p:cNvPr id="22" name="s19-shape-20"/>
          <p:cNvSpPr/>
          <p:nvPr/>
        </p:nvSpPr>
        <p:spPr>
          <a:xfrm>
            <a:off x="11099800" y="4975225"/>
            <a:ext cx="88900" cy="88900"/>
          </a:xfrm>
          <a:prstGeom prst="ellipse">
            <a:avLst/>
          </a:prstGeom>
          <a:solidFill>
            <a:srgbClr val="F6C342"/>
          </a:solidFill>
          <a:ln/>
        </p:spPr>
      </p:sp>
      <p:sp>
        <p:nvSpPr>
          <p:cNvPr id="23" name="s19-text-21"/>
          <p:cNvSpPr txBox="1"/>
          <p:nvPr/>
        </p:nvSpPr>
        <p:spPr>
          <a:xfrm>
            <a:off x="7810083" y="4773803"/>
            <a:ext cx="3162717" cy="384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625"/>
              </a:lnSpc>
              <a:buNone/>
            </a:pPr>
            <a:r>
              <a:rPr lang="ar-SA" altLang="en-US" sz="1750" dirty="0">
                <a:solidFill>
                  <a:srgbClr val="FFFFFF"/>
                </a:solidFill>
                <a:latin typeface="Sakkal Saad TN Trial Light"/>
                <a:cs typeface="Sakkal Saad TN Trial Light"/>
              </a:rPr>
              <a:t>يعرض جهات ومؤسسات كبيرة ضمن عملائه.</a:t>
            </a:r>
            <a:endParaRPr lang="ar-SA" sz="1750" dirty="0"/>
          </a:p>
        </p:txBody>
      </p:sp>
      <p:sp>
        <p:nvSpPr>
          <p:cNvPr id="24" name="s19-shape-22"/>
          <p:cNvSpPr/>
          <p:nvPr/>
        </p:nvSpPr>
        <p:spPr>
          <a:xfrm>
            <a:off x="3556000" y="1905000"/>
            <a:ext cx="3302000" cy="4318000"/>
          </a:xfrm>
          <a:prstGeom prst="roundRect">
            <a:avLst>
              <a:gd name="adj" fmla="val 7692"/>
            </a:avLst>
          </a:prstGeom>
          <a:solidFill>
            <a:srgbClr val="FFF1E3"/>
          </a:solidFill>
          <a:ln/>
        </p:spPr>
      </p:sp>
      <p:pic>
        <p:nvPicPr>
          <p:cNvPr id="25" name="s19-snap-23" descr="s19-snap-23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56300" y="2209800"/>
            <a:ext cx="635000" cy="635000"/>
          </a:xfrm>
          <a:prstGeom prst="rect">
            <a:avLst/>
          </a:prstGeom>
        </p:spPr>
      </p:pic>
      <p:sp>
        <p:nvSpPr>
          <p:cNvPr id="26" name="s19-text-24"/>
          <p:cNvSpPr txBox="1"/>
          <p:nvPr/>
        </p:nvSpPr>
        <p:spPr>
          <a:xfrm>
            <a:off x="3701288" y="2110105"/>
            <a:ext cx="2153412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700"/>
              </a:lnSpc>
              <a:buNone/>
            </a:pPr>
            <a:r>
              <a:rPr lang="ar-SA" altLang="en-US" sz="2000" b="1" dirty="0">
                <a:solidFill>
                  <a:srgbClr val="E9720C"/>
                </a:solidFill>
                <a:latin typeface="Sakkal Saad TN Trial Light"/>
                <a:cs typeface="Sakkal Saad TN Trial Light"/>
              </a:rPr>
              <a:t>نقاط الضعف التسويقية</a:t>
            </a:r>
            <a:endParaRPr lang="ar-SA" sz="2000" dirty="0"/>
          </a:p>
          <a:p>
            <a:pPr rtl="1" algn="r" indent="0" marL="0">
              <a:lnSpc>
                <a:spcPts val="2700"/>
              </a:lnSpc>
              <a:buNone/>
            </a:pPr>
            <a:r>
              <a:rPr lang="ar-SA" altLang="en-US" sz="2000" b="1" dirty="0">
                <a:solidFill>
                  <a:srgbClr val="E9720C"/>
                </a:solidFill>
                <a:latin typeface="Sakkal Saad TN Trial Light"/>
                <a:cs typeface="Sakkal Saad TN Trial Light"/>
              </a:rPr>
              <a:t>المحتملة</a:t>
            </a:r>
            <a:endParaRPr lang="ar-SA" sz="2000" dirty="0"/>
          </a:p>
        </p:txBody>
      </p:sp>
      <p:sp>
        <p:nvSpPr>
          <p:cNvPr id="27" name="s19-shape-25"/>
          <p:cNvSpPr/>
          <p:nvPr/>
        </p:nvSpPr>
        <p:spPr>
          <a:xfrm>
            <a:off x="6464300" y="3162300"/>
            <a:ext cx="88900" cy="88900"/>
          </a:xfrm>
          <a:prstGeom prst="ellipse">
            <a:avLst/>
          </a:prstGeom>
          <a:solidFill>
            <a:srgbClr val="FF8D26"/>
          </a:solidFill>
          <a:ln/>
        </p:spPr>
      </p:sp>
      <p:sp>
        <p:nvSpPr>
          <p:cNvPr id="28" name="s19-text-26"/>
          <p:cNvSpPr txBox="1"/>
          <p:nvPr/>
        </p:nvSpPr>
        <p:spPr>
          <a:xfrm>
            <a:off x="3718616" y="2971571"/>
            <a:ext cx="2618684" cy="365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475"/>
              </a:lnSpc>
              <a:buNone/>
            </a:pPr>
            <a:r>
              <a:rPr lang="ar-SA" altLang="en-US" sz="16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تمركزه أقرب إلى الشركات والمشاريع B2B .</a:t>
            </a:r>
            <a:endParaRPr lang="ar-SA" sz="1650" dirty="0"/>
          </a:p>
        </p:txBody>
      </p:sp>
      <p:sp>
        <p:nvSpPr>
          <p:cNvPr id="29" name="s19-shape-27"/>
          <p:cNvSpPr/>
          <p:nvPr/>
        </p:nvSpPr>
        <p:spPr>
          <a:xfrm>
            <a:off x="6464300" y="3565525"/>
            <a:ext cx="88900" cy="88900"/>
          </a:xfrm>
          <a:prstGeom prst="ellipse">
            <a:avLst/>
          </a:prstGeom>
          <a:solidFill>
            <a:srgbClr val="FF8D26"/>
          </a:solidFill>
          <a:ln/>
        </p:spPr>
      </p:sp>
      <p:sp>
        <p:nvSpPr>
          <p:cNvPr id="30" name="s19-text-28"/>
          <p:cNvSpPr txBox="1"/>
          <p:nvPr/>
        </p:nvSpPr>
        <p:spPr>
          <a:xfrm>
            <a:off x="3662680" y="3374796"/>
            <a:ext cx="2674620" cy="679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475"/>
              </a:lnSpc>
              <a:buNone/>
            </a:pPr>
            <a:r>
              <a:rPr lang="ar-SA" altLang="en-US" sz="16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أقل توجهًا للمستهلك المنزلي والعروض</a:t>
            </a:r>
            <a:endParaRPr lang="ar-SA" sz="1650" dirty="0"/>
          </a:p>
          <a:p>
            <a:pPr rtl="1" algn="r" indent="0" marL="0">
              <a:lnSpc>
                <a:spcPts val="2475"/>
              </a:lnSpc>
              <a:buNone/>
            </a:pPr>
            <a:r>
              <a:rPr lang="ar-SA" altLang="en-US" sz="16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السريعة مقارنة بمتاجر التجزئة.</a:t>
            </a:r>
            <a:endParaRPr lang="ar-SA" sz="1650" dirty="0"/>
          </a:p>
        </p:txBody>
      </p:sp>
      <p:sp>
        <p:nvSpPr>
          <p:cNvPr id="31" name="s19-shape-29"/>
          <p:cNvSpPr/>
          <p:nvPr/>
        </p:nvSpPr>
        <p:spPr>
          <a:xfrm>
            <a:off x="698500" y="1905000"/>
            <a:ext cx="2857500" cy="4318000"/>
          </a:xfrm>
          <a:prstGeom prst="roundRect">
            <a:avLst>
              <a:gd name="adj" fmla="val 8889"/>
            </a:avLst>
          </a:prstGeom>
          <a:solidFill>
            <a:srgbClr val="FFF7DE"/>
          </a:solidFill>
          <a:ln/>
        </p:spPr>
      </p:sp>
      <p:pic>
        <p:nvPicPr>
          <p:cNvPr id="32" name="s19-snap-30" descr="s19-snap-30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81300" y="2120900"/>
            <a:ext cx="584200" cy="584200"/>
          </a:xfrm>
          <a:prstGeom prst="rect">
            <a:avLst/>
          </a:prstGeom>
        </p:spPr>
      </p:pic>
      <p:sp>
        <p:nvSpPr>
          <p:cNvPr id="33" name="s19-text-31"/>
          <p:cNvSpPr txBox="1"/>
          <p:nvPr/>
        </p:nvSpPr>
        <p:spPr>
          <a:xfrm>
            <a:off x="1365845" y="2179168"/>
            <a:ext cx="1339255" cy="370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520"/>
              </a:lnSpc>
              <a:buNone/>
            </a:pPr>
            <a:r>
              <a:rPr lang="ar-SA" altLang="en-US" sz="1800" b="1" dirty="0">
                <a:solidFill>
                  <a:srgbClr val="E9720C"/>
                </a:solidFill>
                <a:latin typeface="Sakkal Saad TN Trial Light"/>
                <a:cs typeface="Sakkal Saad TN Trial Light"/>
              </a:rPr>
              <a:t>أسلوبهم التسويقي</a:t>
            </a:r>
            <a:endParaRPr lang="ar-SA" sz="1800" dirty="0"/>
          </a:p>
        </p:txBody>
      </p:sp>
      <p:sp>
        <p:nvSpPr>
          <p:cNvPr id="34" name="s19-shape-32"/>
          <p:cNvSpPr/>
          <p:nvPr/>
        </p:nvSpPr>
        <p:spPr>
          <a:xfrm>
            <a:off x="927100" y="2832100"/>
            <a:ext cx="2400300" cy="3199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5" name="s19-text-33"/>
          <p:cNvSpPr txBox="1"/>
          <p:nvPr/>
        </p:nvSpPr>
        <p:spPr>
          <a:xfrm>
            <a:off x="1851025" y="2823032"/>
            <a:ext cx="552549" cy="281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820"/>
              </a:lnSpc>
              <a:buNone/>
            </a:pPr>
            <a:r>
              <a:rPr lang="ar-SA" altLang="en-US" sz="14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مؤسسي</a:t>
            </a:r>
            <a:endParaRPr lang="ar-SA" sz="1400" dirty="0"/>
          </a:p>
        </p:txBody>
      </p:sp>
      <p:sp>
        <p:nvSpPr>
          <p:cNvPr id="36" name="s19-text-34"/>
          <p:cNvSpPr txBox="1"/>
          <p:nvPr/>
        </p:nvSpPr>
        <p:spPr>
          <a:xfrm>
            <a:off x="831088" y="3192816"/>
            <a:ext cx="2592324" cy="193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125"/>
              </a:lnSpc>
              <a:buNone/>
            </a:pPr>
            <a:r>
              <a:rPr lang="ar-SA" altLang="en-US" sz="1500" b="1" dirty="0">
                <a:solidFill>
                  <a:srgbClr val="FF8D26"/>
                </a:solidFill>
                <a:latin typeface="Sakkal Saad TN Trial Light"/>
                <a:cs typeface="Sakkal Saad TN Trial Light"/>
              </a:rPr>
              <a:t>+</a:t>
            </a:r>
            <a:endParaRPr lang="ar-SA" sz="1500" dirty="0"/>
          </a:p>
        </p:txBody>
      </p:sp>
      <p:sp>
        <p:nvSpPr>
          <p:cNvPr id="37" name="s19-shape-35"/>
          <p:cNvSpPr/>
          <p:nvPr/>
        </p:nvSpPr>
        <p:spPr>
          <a:xfrm>
            <a:off x="927100" y="3421955"/>
            <a:ext cx="2400300" cy="3199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8" name="s19-text-36"/>
          <p:cNvSpPr txBox="1"/>
          <p:nvPr/>
        </p:nvSpPr>
        <p:spPr>
          <a:xfrm>
            <a:off x="1891209" y="3412888"/>
            <a:ext cx="472083" cy="281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820"/>
              </a:lnSpc>
              <a:buNone/>
            </a:pPr>
            <a:r>
              <a:rPr lang="ar-SA" altLang="en-US" sz="14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مشاريع</a:t>
            </a:r>
            <a:endParaRPr lang="ar-SA" sz="1400" dirty="0"/>
          </a:p>
        </p:txBody>
      </p:sp>
      <p:sp>
        <p:nvSpPr>
          <p:cNvPr id="39" name="s19-text-37"/>
          <p:cNvSpPr txBox="1"/>
          <p:nvPr/>
        </p:nvSpPr>
        <p:spPr>
          <a:xfrm>
            <a:off x="831088" y="3782671"/>
            <a:ext cx="2592324" cy="193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125"/>
              </a:lnSpc>
              <a:buNone/>
            </a:pPr>
            <a:r>
              <a:rPr lang="ar-SA" altLang="en-US" sz="1500" b="1" dirty="0">
                <a:solidFill>
                  <a:srgbClr val="FF8D26"/>
                </a:solidFill>
                <a:latin typeface="Sakkal Saad TN Trial Light"/>
                <a:cs typeface="Sakkal Saad TN Trial Light"/>
              </a:rPr>
              <a:t>+</a:t>
            </a:r>
            <a:endParaRPr lang="ar-SA" sz="1500" dirty="0"/>
          </a:p>
        </p:txBody>
      </p:sp>
      <p:sp>
        <p:nvSpPr>
          <p:cNvPr id="40" name="s19-shape-38"/>
          <p:cNvSpPr/>
          <p:nvPr/>
        </p:nvSpPr>
        <p:spPr>
          <a:xfrm>
            <a:off x="927100" y="4011811"/>
            <a:ext cx="2400300" cy="3199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1" name="s19-text-39"/>
          <p:cNvSpPr txBox="1"/>
          <p:nvPr/>
        </p:nvSpPr>
        <p:spPr>
          <a:xfrm>
            <a:off x="1828502" y="4002743"/>
            <a:ext cx="597595" cy="281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820"/>
              </a:lnSpc>
              <a:buNone/>
            </a:pPr>
            <a:r>
              <a:rPr lang="ar-SA" altLang="en-US" sz="14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خبرة فنية</a:t>
            </a:r>
            <a:endParaRPr lang="ar-SA" sz="1400" dirty="0"/>
          </a:p>
        </p:txBody>
      </p:sp>
      <p:sp>
        <p:nvSpPr>
          <p:cNvPr id="42" name="s19-text-40"/>
          <p:cNvSpPr txBox="1"/>
          <p:nvPr/>
        </p:nvSpPr>
        <p:spPr>
          <a:xfrm>
            <a:off x="831088" y="4372527"/>
            <a:ext cx="2592324" cy="193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125"/>
              </a:lnSpc>
              <a:buNone/>
            </a:pPr>
            <a:r>
              <a:rPr lang="ar-SA" altLang="en-US" sz="1500" b="1" dirty="0">
                <a:solidFill>
                  <a:srgbClr val="FF8D26"/>
                </a:solidFill>
                <a:latin typeface="Sakkal Saad TN Trial Light"/>
                <a:cs typeface="Sakkal Saad TN Trial Light"/>
              </a:rPr>
              <a:t>+</a:t>
            </a:r>
            <a:endParaRPr lang="ar-SA" sz="1500" dirty="0"/>
          </a:p>
        </p:txBody>
      </p:sp>
      <p:sp>
        <p:nvSpPr>
          <p:cNvPr id="43" name="s19-shape-41"/>
          <p:cNvSpPr/>
          <p:nvPr/>
        </p:nvSpPr>
        <p:spPr>
          <a:xfrm>
            <a:off x="927100" y="4601666"/>
            <a:ext cx="2400300" cy="3199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4" name="s19-text-42"/>
          <p:cNvSpPr txBox="1"/>
          <p:nvPr/>
        </p:nvSpPr>
        <p:spPr>
          <a:xfrm>
            <a:off x="1986260" y="4592599"/>
            <a:ext cx="282079" cy="281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820"/>
              </a:lnSpc>
              <a:buNone/>
            </a:pPr>
            <a:r>
              <a:rPr lang="ar-SA" altLang="en-US" sz="14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ثقة</a:t>
            </a:r>
            <a:endParaRPr lang="ar-SA" sz="1400" dirty="0"/>
          </a:p>
        </p:txBody>
      </p:sp>
      <p:sp>
        <p:nvSpPr>
          <p:cNvPr id="45" name="s19-text-43"/>
          <p:cNvSpPr txBox="1"/>
          <p:nvPr/>
        </p:nvSpPr>
        <p:spPr>
          <a:xfrm>
            <a:off x="831088" y="4962382"/>
            <a:ext cx="2592324" cy="193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125"/>
              </a:lnSpc>
              <a:buNone/>
            </a:pPr>
            <a:r>
              <a:rPr lang="ar-SA" altLang="en-US" sz="1500" b="1" dirty="0">
                <a:solidFill>
                  <a:srgbClr val="FF8D26"/>
                </a:solidFill>
                <a:latin typeface="Sakkal Saad TN Trial Light"/>
                <a:cs typeface="Sakkal Saad TN Trial Light"/>
              </a:rPr>
              <a:t>+</a:t>
            </a:r>
            <a:endParaRPr lang="ar-SA" sz="1500" dirty="0"/>
          </a:p>
        </p:txBody>
      </p:sp>
      <p:sp>
        <p:nvSpPr>
          <p:cNvPr id="46" name="s19-shape-44"/>
          <p:cNvSpPr/>
          <p:nvPr/>
        </p:nvSpPr>
        <p:spPr>
          <a:xfrm>
            <a:off x="927100" y="5191522"/>
            <a:ext cx="2400300" cy="3199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7" name="s19-text-45"/>
          <p:cNvSpPr txBox="1"/>
          <p:nvPr/>
        </p:nvSpPr>
        <p:spPr>
          <a:xfrm>
            <a:off x="1726704" y="5182454"/>
            <a:ext cx="801191" cy="281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820"/>
              </a:lnSpc>
              <a:buNone/>
            </a:pPr>
            <a:r>
              <a:rPr lang="ar-SA" altLang="en-US" sz="14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تنفيذ هندسي</a:t>
            </a:r>
            <a:endParaRPr lang="ar-SA" sz="1400" dirty="0"/>
          </a:p>
        </p:txBody>
      </p:sp>
      <p:sp>
        <p:nvSpPr>
          <p:cNvPr id="48" name="s19-text-46"/>
          <p:cNvSpPr txBox="1"/>
          <p:nvPr/>
        </p:nvSpPr>
        <p:spPr>
          <a:xfrm>
            <a:off x="831088" y="5552238"/>
            <a:ext cx="2592324" cy="193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125"/>
              </a:lnSpc>
              <a:buNone/>
            </a:pPr>
            <a:r>
              <a:rPr lang="ar-SA" altLang="en-US" sz="1500" b="1" dirty="0">
                <a:solidFill>
                  <a:srgbClr val="FF8D26"/>
                </a:solidFill>
                <a:latin typeface="Sakkal Saad TN Trial Light"/>
                <a:cs typeface="Sakkal Saad TN Trial Light"/>
              </a:rPr>
              <a:t>+</a:t>
            </a:r>
            <a:endParaRPr lang="ar-SA" sz="1500" dirty="0"/>
          </a:p>
        </p:txBody>
      </p:sp>
      <p:sp>
        <p:nvSpPr>
          <p:cNvPr id="49" name="s19-shape-47"/>
          <p:cNvSpPr/>
          <p:nvPr/>
        </p:nvSpPr>
        <p:spPr>
          <a:xfrm>
            <a:off x="927100" y="5781377"/>
            <a:ext cx="2400300" cy="3199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0" name="s19-text-48"/>
          <p:cNvSpPr txBox="1"/>
          <p:nvPr/>
        </p:nvSpPr>
        <p:spPr>
          <a:xfrm>
            <a:off x="1571526" y="5772310"/>
            <a:ext cx="1111448" cy="281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820"/>
              </a:lnSpc>
              <a:buNone/>
            </a:pPr>
            <a:r>
              <a:rPr lang="ar-SA" altLang="en-US" sz="14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علاقات طويلة الأمد</a:t>
            </a:r>
            <a:endParaRPr lang="ar-SA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3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4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0" dur="489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7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7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5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75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7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75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75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75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75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75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75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75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75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75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75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750" fill="hold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750" fill="hold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75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75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75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75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53" presetClass="entr" presetSubtype="16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27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6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6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750" fill="hold" decel="100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750" fill="hold" decel="100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75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75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42" presetClass="entr" presetSubtype="0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75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75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750" fill="hold" decel="10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750" fill="hold" decel="10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750" fill="hold" decel="100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750" fill="hold" decel="100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42" presetClass="entr" presetSubtype="0" fill="hold" grpId="0" nodeType="withEffect">
                                  <p:stCondLst>
                                    <p:cond delay="83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750" fill="hold" decel="100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750" fill="hold" decel="100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42" presetClass="entr" presetSubtype="0" fill="hold" grpId="0" nodeType="withEffect">
                                  <p:stCondLst>
                                    <p:cond delay="83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750" fill="hold" decel="100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750" fill="hold" decel="100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9" dur="750" fill="hold" decel="1000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750" fill="hold" decel="1000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53" presetClass="entr" presetSubtype="16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27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6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6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53" presetClass="entr" presetSubtype="16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27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9" dur="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53" presetClass="entr" presetSubtype="16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27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4" dur="6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6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53" presetClass="entr" presetSubtype="16" fill="hold" grpId="0" nodeType="withEffect">
                                  <p:stCondLst>
                                    <p:cond delay="116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27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9" dur="6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6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53" presetClass="entr" presetSubtype="16" fill="hold" grpId="0" nodeType="withEffect">
                                  <p:stCondLst>
                                    <p:cond delay="116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27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4" dur="6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6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6" presetID="53" presetClass="entr" presetSubtype="16" fill="hold" grpId="0" nodeType="withEffect">
                                  <p:stCondLst>
                                    <p:cond delay="121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27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9" dur="6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6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1" presetID="53" presetClass="entr" presetSubtype="16" fill="hold" grpId="0" nodeType="withEffect">
                                  <p:stCondLst>
                                    <p:cond delay="127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27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4" dur="6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6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6" presetID="53" presetClass="entr" presetSubtype="16" fill="hold" grpId="0" nodeType="withEffect">
                                  <p:stCondLst>
                                    <p:cond delay="127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27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9" dur="6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6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1" presetID="53" presetClass="entr" presetSubtype="16" fill="hold" grpId="0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27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4" dur="6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6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6" presetID="53" presetClass="entr" presetSubtype="16" fill="hold" grpId="0" nodeType="withEffect">
                                  <p:stCondLst>
                                    <p:cond delay="138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27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9" dur="6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6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1" presetID="53" presetClass="entr" presetSubtype="16" fill="hold" grpId="0" nodeType="withEffect">
                                  <p:stCondLst>
                                    <p:cond delay="138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27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4" dur="6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6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6" presetID="53" presetClass="entr" presetSubtype="16" fill="hold" grpId="0" nodeType="withEffect">
                                  <p:stCondLst>
                                    <p:cond delay="143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27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9" dur="6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0" dur="6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1" presetID="53" presetClass="entr" presetSubtype="16" fill="hold" grpId="0" nodeType="withEffect">
                                  <p:stCondLst>
                                    <p:cond delay="149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27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4" dur="6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5" dur="6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6" presetID="53" presetClass="entr" presetSubtype="16" fill="hold" grpId="0" nodeType="withEffect">
                                  <p:stCondLst>
                                    <p:cond delay="149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27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9" dur="6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6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1" presetID="53" presetClass="entr" presetSubtype="16" fill="hold" grpId="0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27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4" dur="6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5" dur="6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6" presetID="53" presetClass="entr" presetSubtype="16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27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9" dur="6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0" dur="6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1" presetID="53" presetClass="entr" presetSubtype="16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3" dur="27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4" dur="6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5" dur="6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6" presetID="53" presetClass="entr" presetSubtype="16" fill="hold" grpId="0" nodeType="with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27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9" dur="6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0" dur="6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/>
      <p:bldP spid="11" grpId="0" animBg="1"/>
      <p:bldP spid="12" grpId="0"/>
      <p:bldP spid="13" grpId="0" animBg="1"/>
      <p:bldP spid="15" grpId="0"/>
      <p:bldP spid="24" grpId="0" animBg="1"/>
      <p:bldP spid="16" grpId="0" animBg="1"/>
      <p:bldP spid="17" grpId="0"/>
      <p:bldP spid="18" grpId="0" animBg="1"/>
      <p:bldP spid="19" grpId="0"/>
      <p:bldP spid="26" grpId="0"/>
      <p:bldP spid="20" grpId="0" animBg="1"/>
      <p:bldP spid="21" grpId="0"/>
      <p:bldP spid="31" grpId="0" animBg="1"/>
      <p:bldP spid="22" grpId="0" animBg="1"/>
      <p:bldP spid="23" grpId="0"/>
      <p:bldP spid="27" grpId="0" animBg="1"/>
      <p:bldP spid="28" grpId="0"/>
      <p:bldP spid="29" grpId="0" animBg="1"/>
      <p:bldP spid="30" grpId="0"/>
      <p:bldP spid="33" grpId="0"/>
      <p:bldP spid="34" grpId="0" animBg="1"/>
      <p:bldP spid="35" grpId="0"/>
      <p:bldP spid="37" grpId="0" animBg="1"/>
      <p:bldP spid="38" grpId="0"/>
      <p:bldP spid="36" grpId="0"/>
      <p:bldP spid="40" grpId="0" animBg="1"/>
      <p:bldP spid="41" grpId="0"/>
      <p:bldP spid="39" grpId="0"/>
      <p:bldP spid="43" grpId="0" animBg="1"/>
      <p:bldP spid="44" grpId="0"/>
      <p:bldP spid="42" grpId="0"/>
      <p:bldP spid="46" grpId="0" animBg="1"/>
      <p:bldP spid="47" grpId="0"/>
      <p:bldP spid="45" grpId="0"/>
      <p:bldP spid="49" grpId="0" animBg="1"/>
      <p:bldP spid="50" grpId="0"/>
      <p:bldP spid="48" grpId="0"/>
    </p:bldLst>
  </p:timing>
</p:sld>
</file>

<file path=ppt/slides/slide20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lens"/>
          <p:cNvSpPr/>
          <p:nvPr/>
        </p:nvSpPr>
        <p:spPr>
          <a:xfrm>
            <a:off x="368300" y="127000"/>
            <a:ext cx="1206500" cy="1206500"/>
          </a:xfrm>
          <a:prstGeom prst="ellipse">
            <a:avLst/>
          </a:prstGeom>
          <a:solidFill>
            <a:srgbClr val="EEF2EF"/>
          </a:solidFill>
          <a:ln/>
        </p:spPr>
      </p:sp>
      <p:pic>
        <p:nvPicPr>
          <p:cNvPr id="3" name="!!mt" descr="شعار نظرة ثماني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10800000">
            <a:off x="684510" y="608558"/>
            <a:ext cx="546100" cy="533400"/>
          </a:xfrm>
          <a:prstGeom prst="rect">
            <a:avLst/>
          </a:prstGeom>
        </p:spPr>
      </p:pic>
      <p:pic>
        <p:nvPicPr>
          <p:cNvPr id="4" name="!!mb" descr="شعار نظرة ثمانية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709265" y="317798"/>
            <a:ext cx="527050" cy="520700"/>
          </a:xfrm>
          <a:prstGeom prst="rect">
            <a:avLst/>
          </a:prstGeom>
        </p:spPr>
      </p:pic>
      <p:pic>
        <p:nvPicPr>
          <p:cNvPr id="5" name="!!ma" descr="شعار نظرة ثمانية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874018" y="875556"/>
            <a:ext cx="95250" cy="82550"/>
          </a:xfrm>
          <a:prstGeom prst="rect">
            <a:avLst/>
          </a:prstGeom>
        </p:spPr>
      </p:pic>
      <p:pic>
        <p:nvPicPr>
          <p:cNvPr id="6" name="!!hud" descr="!!hu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800" y="177800"/>
            <a:ext cx="11836400" cy="6502400"/>
          </a:xfrm>
          <a:prstGeom prst="rect">
            <a:avLst/>
          </a:prstGeom>
        </p:spPr>
      </p:pic>
      <p:sp>
        <p:nvSpPr>
          <p:cNvPr id="7" name="!!rec"/>
          <p:cNvSpPr/>
          <p:nvPr/>
        </p:nvSpPr>
        <p:spPr>
          <a:xfrm>
            <a:off x="635000" y="6337300"/>
            <a:ext cx="101600" cy="101600"/>
          </a:xfrm>
          <a:prstGeom prst="ellipse">
            <a:avLst/>
          </a:prstGeom>
          <a:solidFill>
            <a:srgbClr val="FF8D26"/>
          </a:solidFill>
          <a:ln/>
        </p:spPr>
      </p:sp>
      <p:sp>
        <p:nvSpPr>
          <p:cNvPr id="8" name="!!num"/>
          <p:cNvSpPr txBox="1"/>
          <p:nvPr/>
        </p:nvSpPr>
        <p:spPr>
          <a:xfrm>
            <a:off x="825500" y="6281750"/>
            <a:ext cx="700484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altLang="en-US" sz="1200" dirty="0">
                <a:solidFill>
                  <a:srgbClr val="5E6D7C"/>
                </a:solidFill>
                <a:latin typeface="Sakkal Saad TN Trial Light"/>
                <a:cs typeface="Sakkal Saad TN Trial Light"/>
              </a:rPr>
              <a:t>REC · 20</a:t>
            </a:r>
            <a:endParaRPr lang="en-US" sz="1200" dirty="0"/>
          </a:p>
        </p:txBody>
      </p:sp>
      <p:sp>
        <p:nvSpPr>
          <p:cNvPr id="9" name="!!kick"/>
          <p:cNvSpPr txBox="1"/>
          <p:nvPr/>
        </p:nvSpPr>
        <p:spPr>
          <a:xfrm>
            <a:off x="10259417" y="318834"/>
            <a:ext cx="1297583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ar-SA" altLang="en-US" sz="1500" b="1" dirty="0">
                <a:solidFill>
                  <a:srgbClr val="43644B"/>
                </a:solidFill>
                <a:latin typeface="Sakkal Saad TN Trial Light"/>
                <a:cs typeface="Sakkal Saad TN Trial Light"/>
              </a:rPr>
              <a:t>05</a:t>
            </a:r>
            <a:r>
              <a:rPr lang="ar-SA" altLang="en-US" sz="1500" dirty="0">
                <a:solidFill>
                  <a:srgbClr val="E9720C"/>
                </a:solidFill>
                <a:latin typeface="Sakkal Saad TN Trial Light"/>
                <a:cs typeface="Sakkal Saad TN Trial Light"/>
              </a:rPr>
              <a:t> تحليل المنافسين</a:t>
            </a:r>
            <a:endParaRPr lang="ar-SA" sz="1500" dirty="0"/>
          </a:p>
        </p:txBody>
      </p:sp>
      <p:sp>
        <p:nvSpPr>
          <p:cNvPr id="10" name="s20-text-8"/>
          <p:cNvSpPr txBox="1"/>
          <p:nvPr/>
        </p:nvSpPr>
        <p:spPr>
          <a:xfrm>
            <a:off x="5343021" y="720535"/>
            <a:ext cx="5261479" cy="702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5130"/>
              </a:lnSpc>
              <a:buNone/>
            </a:pPr>
            <a:r>
              <a:rPr lang="ar-SA" altLang="en-US" sz="3800" b="1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أحدث الحلول Newest Solution</a:t>
            </a:r>
            <a:endParaRPr lang="ar-SA" sz="3800" dirty="0"/>
          </a:p>
        </p:txBody>
      </p:sp>
      <p:sp>
        <p:nvSpPr>
          <p:cNvPr id="11" name="s20-shape-9"/>
          <p:cNvSpPr/>
          <p:nvPr/>
        </p:nvSpPr>
        <p:spPr>
          <a:xfrm>
            <a:off x="10833100" y="889000"/>
            <a:ext cx="660400" cy="660400"/>
          </a:xfrm>
          <a:prstGeom prst="ellipse">
            <a:avLst/>
          </a:prstGeom>
          <a:solidFill>
            <a:srgbClr val="FF8D26"/>
          </a:solidFill>
          <a:ln/>
        </p:spPr>
      </p:sp>
      <p:sp>
        <p:nvSpPr>
          <p:cNvPr id="12" name="s20-text-10"/>
          <p:cNvSpPr txBox="1"/>
          <p:nvPr/>
        </p:nvSpPr>
        <p:spPr>
          <a:xfrm>
            <a:off x="10905331" y="995655"/>
            <a:ext cx="41443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600"/>
              </a:lnSpc>
              <a:buNone/>
            </a:pPr>
            <a:r>
              <a:rPr lang="ar-SA" altLang="en-US" sz="2600" b="1" dirty="0">
                <a:solidFill>
                  <a:srgbClr val="FFFFFF"/>
                </a:solidFill>
                <a:latin typeface="Sakkal Saad TN Trial Light"/>
                <a:cs typeface="Sakkal Saad TN Trial Light"/>
              </a:rPr>
              <a:t>04</a:t>
            </a:r>
            <a:endParaRPr lang="ar-SA" sz="2600" dirty="0"/>
          </a:p>
        </p:txBody>
      </p:sp>
      <p:sp>
        <p:nvSpPr>
          <p:cNvPr id="13" name="s20-shape-11"/>
          <p:cNvSpPr/>
          <p:nvPr/>
        </p:nvSpPr>
        <p:spPr>
          <a:xfrm>
            <a:off x="7048500" y="1905000"/>
            <a:ext cx="4445000" cy="4318000"/>
          </a:xfrm>
          <a:prstGeom prst="roundRect">
            <a:avLst>
              <a:gd name="adj" fmla="val 5882"/>
            </a:avLst>
          </a:prstGeom>
          <a:solidFill>
            <a:srgbClr val="43644B"/>
          </a:solidFill>
          <a:ln/>
        </p:spPr>
      </p:sp>
      <p:pic>
        <p:nvPicPr>
          <p:cNvPr id="14" name="s20-snap-12" descr="s20-snap-12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91800" y="2146300"/>
            <a:ext cx="635000" cy="635000"/>
          </a:xfrm>
          <a:prstGeom prst="rect">
            <a:avLst/>
          </a:prstGeom>
        </p:spPr>
      </p:pic>
      <p:sp>
        <p:nvSpPr>
          <p:cNvPr id="15" name="s20-text-13"/>
          <p:cNvSpPr txBox="1"/>
          <p:nvPr/>
        </p:nvSpPr>
        <p:spPr>
          <a:xfrm>
            <a:off x="9594056" y="2218055"/>
            <a:ext cx="896144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700"/>
              </a:lnSpc>
              <a:buNone/>
            </a:pPr>
            <a:r>
              <a:rPr lang="ar-SA" altLang="en-US" sz="2000" b="1" dirty="0">
                <a:solidFill>
                  <a:srgbClr val="F6C342"/>
                </a:solidFill>
                <a:latin typeface="Sakkal Saad TN Trial Light"/>
                <a:cs typeface="Sakkal Saad TN Trial Light"/>
              </a:rPr>
              <a:t>نقاط القوة</a:t>
            </a:r>
            <a:endParaRPr lang="ar-SA" sz="2000" dirty="0"/>
          </a:p>
        </p:txBody>
      </p:sp>
      <p:sp>
        <p:nvSpPr>
          <p:cNvPr id="16" name="s20-shape-14"/>
          <p:cNvSpPr/>
          <p:nvPr/>
        </p:nvSpPr>
        <p:spPr>
          <a:xfrm>
            <a:off x="11099800" y="3041650"/>
            <a:ext cx="88900" cy="88900"/>
          </a:xfrm>
          <a:prstGeom prst="ellipse">
            <a:avLst/>
          </a:prstGeom>
          <a:solidFill>
            <a:srgbClr val="F6C342"/>
          </a:solidFill>
          <a:ln/>
        </p:spPr>
      </p:sp>
      <p:sp>
        <p:nvSpPr>
          <p:cNvPr id="17" name="s20-text-15"/>
          <p:cNvSpPr txBox="1"/>
          <p:nvPr/>
        </p:nvSpPr>
        <p:spPr>
          <a:xfrm>
            <a:off x="7655885" y="2840228"/>
            <a:ext cx="3316915" cy="384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625"/>
              </a:lnSpc>
              <a:buNone/>
            </a:pPr>
            <a:r>
              <a:rPr lang="ar-SA" altLang="en-US" sz="1750" dirty="0">
                <a:solidFill>
                  <a:srgbClr val="FFFFFF"/>
                </a:solidFill>
                <a:latin typeface="Sakkal Saad TN Trial Light"/>
                <a:cs typeface="Sakkal Saad TN Trial Light"/>
              </a:rPr>
              <a:t>تنوع في الأنظمة الأمنية وكاميرات المراقبة والتتبع.</a:t>
            </a:r>
            <a:endParaRPr lang="ar-SA" sz="1750" dirty="0"/>
          </a:p>
        </p:txBody>
      </p:sp>
      <p:sp>
        <p:nvSpPr>
          <p:cNvPr id="18" name="s20-shape-16"/>
          <p:cNvSpPr/>
          <p:nvPr/>
        </p:nvSpPr>
        <p:spPr>
          <a:xfrm>
            <a:off x="11099800" y="3463925"/>
            <a:ext cx="88900" cy="88900"/>
          </a:xfrm>
          <a:prstGeom prst="ellipse">
            <a:avLst/>
          </a:prstGeom>
          <a:solidFill>
            <a:srgbClr val="F6C342"/>
          </a:solidFill>
          <a:ln/>
        </p:spPr>
      </p:sp>
      <p:sp>
        <p:nvSpPr>
          <p:cNvPr id="19" name="s20-text-17"/>
          <p:cNvSpPr txBox="1"/>
          <p:nvPr/>
        </p:nvSpPr>
        <p:spPr>
          <a:xfrm>
            <a:off x="8194989" y="3262503"/>
            <a:ext cx="2777811" cy="384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625"/>
              </a:lnSpc>
              <a:buNone/>
            </a:pPr>
            <a:r>
              <a:rPr lang="ar-SA" altLang="en-US" sz="1750" dirty="0">
                <a:solidFill>
                  <a:srgbClr val="FFFFFF"/>
                </a:solidFill>
                <a:latin typeface="Sakkal Saad TN Trial Light"/>
                <a:cs typeface="Sakkal Saad TN Trial Light"/>
              </a:rPr>
              <a:t>وجود فروع فعلية وخيارات دفع متعددة.</a:t>
            </a:r>
            <a:endParaRPr lang="ar-SA" sz="1750" dirty="0"/>
          </a:p>
        </p:txBody>
      </p:sp>
      <p:sp>
        <p:nvSpPr>
          <p:cNvPr id="20" name="s20-shape-18"/>
          <p:cNvSpPr/>
          <p:nvPr/>
        </p:nvSpPr>
        <p:spPr>
          <a:xfrm>
            <a:off x="11099800" y="3886200"/>
            <a:ext cx="88900" cy="88900"/>
          </a:xfrm>
          <a:prstGeom prst="ellipse">
            <a:avLst/>
          </a:prstGeom>
          <a:solidFill>
            <a:srgbClr val="F6C342"/>
          </a:solidFill>
          <a:ln/>
        </p:spPr>
      </p:sp>
      <p:sp>
        <p:nvSpPr>
          <p:cNvPr id="21" name="s20-text-19"/>
          <p:cNvSpPr txBox="1"/>
          <p:nvPr/>
        </p:nvSpPr>
        <p:spPr>
          <a:xfrm>
            <a:off x="7063740" y="3684778"/>
            <a:ext cx="3909060" cy="717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625"/>
              </a:lnSpc>
              <a:buNone/>
            </a:pPr>
            <a:r>
              <a:rPr lang="ar-SA" altLang="en-US" sz="1750" dirty="0">
                <a:solidFill>
                  <a:srgbClr val="FFFFFF"/>
                </a:solidFill>
                <a:latin typeface="Sakkal Saad TN Trial Light"/>
                <a:cs typeface="Sakkal Saad TN Trial Light"/>
              </a:rPr>
              <a:t>الاعتماد على العروض وسهولة التسوق والتواصل</a:t>
            </a:r>
            <a:endParaRPr lang="ar-SA" sz="1750" dirty="0"/>
          </a:p>
          <a:p>
            <a:pPr rtl="1" algn="r" indent="0" marL="0">
              <a:lnSpc>
                <a:spcPts val="2625"/>
              </a:lnSpc>
              <a:buNone/>
            </a:pPr>
            <a:r>
              <a:rPr lang="ar-SA" altLang="en-US" sz="1750" dirty="0">
                <a:solidFill>
                  <a:srgbClr val="FFFFFF"/>
                </a:solidFill>
                <a:latin typeface="Sakkal Saad TN Trial Light"/>
                <a:cs typeface="Sakkal Saad TN Trial Light"/>
              </a:rPr>
              <a:t>المباشر.</a:t>
            </a:r>
            <a:endParaRPr lang="ar-SA" sz="1750" dirty="0"/>
          </a:p>
        </p:txBody>
      </p:sp>
      <p:sp>
        <p:nvSpPr>
          <p:cNvPr id="22" name="s20-shape-20"/>
          <p:cNvSpPr/>
          <p:nvPr/>
        </p:nvSpPr>
        <p:spPr>
          <a:xfrm>
            <a:off x="11099800" y="4641850"/>
            <a:ext cx="88900" cy="88900"/>
          </a:xfrm>
          <a:prstGeom prst="ellipse">
            <a:avLst/>
          </a:prstGeom>
          <a:solidFill>
            <a:srgbClr val="F6C342"/>
          </a:solidFill>
          <a:ln/>
        </p:spPr>
      </p:sp>
      <p:sp>
        <p:nvSpPr>
          <p:cNvPr id="23" name="s20-text-21"/>
          <p:cNvSpPr txBox="1"/>
          <p:nvPr/>
        </p:nvSpPr>
        <p:spPr>
          <a:xfrm>
            <a:off x="7063740" y="4440428"/>
            <a:ext cx="3909060" cy="717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625"/>
              </a:lnSpc>
              <a:buNone/>
            </a:pPr>
            <a:r>
              <a:rPr lang="ar-SA" altLang="en-US" sz="1750" dirty="0">
                <a:solidFill>
                  <a:srgbClr val="FFFFFF"/>
                </a:solidFill>
                <a:latin typeface="Sakkal Saad TN Trial Light"/>
                <a:cs typeface="Sakkal Saad TN Trial Light"/>
              </a:rPr>
              <a:t>يستخدم رسائل مرتبطة بالأمان والراحة وحماية</a:t>
            </a:r>
            <a:endParaRPr lang="ar-SA" sz="1750" dirty="0"/>
          </a:p>
          <a:p>
            <a:pPr rtl="1" algn="r" indent="0" marL="0">
              <a:lnSpc>
                <a:spcPts val="2625"/>
              </a:lnSpc>
              <a:buNone/>
            </a:pPr>
            <a:r>
              <a:rPr lang="ar-SA" altLang="en-US" sz="1750" dirty="0">
                <a:solidFill>
                  <a:srgbClr val="FFFFFF"/>
                </a:solidFill>
                <a:latin typeface="Sakkal Saad TN Trial Light"/>
                <a:cs typeface="Sakkal Saad TN Trial Light"/>
              </a:rPr>
              <a:t>الممتلكات.</a:t>
            </a:r>
            <a:endParaRPr lang="ar-SA" sz="1750" dirty="0"/>
          </a:p>
        </p:txBody>
      </p:sp>
      <p:sp>
        <p:nvSpPr>
          <p:cNvPr id="24" name="s20-shape-22"/>
          <p:cNvSpPr/>
          <p:nvPr/>
        </p:nvSpPr>
        <p:spPr>
          <a:xfrm>
            <a:off x="3556000" y="1905000"/>
            <a:ext cx="3302000" cy="4318000"/>
          </a:xfrm>
          <a:prstGeom prst="roundRect">
            <a:avLst>
              <a:gd name="adj" fmla="val 7692"/>
            </a:avLst>
          </a:prstGeom>
          <a:solidFill>
            <a:srgbClr val="FFF1E3"/>
          </a:solidFill>
          <a:ln/>
        </p:spPr>
      </p:sp>
      <p:pic>
        <p:nvPicPr>
          <p:cNvPr id="25" name="s20-snap-23" descr="s20-snap-23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56300" y="2209800"/>
            <a:ext cx="635000" cy="635000"/>
          </a:xfrm>
          <a:prstGeom prst="rect">
            <a:avLst/>
          </a:prstGeom>
        </p:spPr>
      </p:pic>
      <p:sp>
        <p:nvSpPr>
          <p:cNvPr id="26" name="s20-text-24"/>
          <p:cNvSpPr txBox="1"/>
          <p:nvPr/>
        </p:nvSpPr>
        <p:spPr>
          <a:xfrm>
            <a:off x="3701288" y="2110105"/>
            <a:ext cx="2153412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700"/>
              </a:lnSpc>
              <a:buNone/>
            </a:pPr>
            <a:r>
              <a:rPr lang="ar-SA" altLang="en-US" sz="2000" b="1" dirty="0">
                <a:solidFill>
                  <a:srgbClr val="E9720C"/>
                </a:solidFill>
                <a:latin typeface="Sakkal Saad TN Trial Light"/>
                <a:cs typeface="Sakkal Saad TN Trial Light"/>
              </a:rPr>
              <a:t>نقاط الضعف التسويقية</a:t>
            </a:r>
            <a:endParaRPr lang="ar-SA" sz="2000" dirty="0"/>
          </a:p>
          <a:p>
            <a:pPr rtl="1" algn="r" indent="0" marL="0">
              <a:lnSpc>
                <a:spcPts val="2700"/>
              </a:lnSpc>
              <a:buNone/>
            </a:pPr>
            <a:r>
              <a:rPr lang="ar-SA" altLang="en-US" sz="2000" b="1" dirty="0">
                <a:solidFill>
                  <a:srgbClr val="E9720C"/>
                </a:solidFill>
                <a:latin typeface="Sakkal Saad TN Trial Light"/>
                <a:cs typeface="Sakkal Saad TN Trial Light"/>
              </a:rPr>
              <a:t>المحتملة</a:t>
            </a:r>
            <a:endParaRPr lang="ar-SA" sz="2000" dirty="0"/>
          </a:p>
        </p:txBody>
      </p:sp>
      <p:sp>
        <p:nvSpPr>
          <p:cNvPr id="27" name="s20-shape-25"/>
          <p:cNvSpPr/>
          <p:nvPr/>
        </p:nvSpPr>
        <p:spPr>
          <a:xfrm>
            <a:off x="6464300" y="3162300"/>
            <a:ext cx="88900" cy="88900"/>
          </a:xfrm>
          <a:prstGeom prst="ellipse">
            <a:avLst/>
          </a:prstGeom>
          <a:solidFill>
            <a:srgbClr val="FF8D26"/>
          </a:solidFill>
          <a:ln/>
        </p:spPr>
      </p:sp>
      <p:sp>
        <p:nvSpPr>
          <p:cNvPr id="28" name="s20-text-26"/>
          <p:cNvSpPr txBox="1"/>
          <p:nvPr/>
        </p:nvSpPr>
        <p:spPr>
          <a:xfrm>
            <a:off x="3662680" y="2971571"/>
            <a:ext cx="2674620" cy="993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475"/>
              </a:lnSpc>
              <a:buNone/>
            </a:pPr>
            <a:r>
              <a:rPr lang="ar-SA" altLang="en-US" sz="16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تنوع المنتجات والجمهور بين المنزل</a:t>
            </a:r>
            <a:endParaRPr lang="ar-SA" sz="1650" dirty="0"/>
          </a:p>
          <a:p>
            <a:pPr rtl="1" algn="r" indent="0" marL="0">
              <a:lnSpc>
                <a:spcPts val="2475"/>
              </a:lnSpc>
              <a:buNone/>
            </a:pPr>
            <a:r>
              <a:rPr lang="ar-SA" altLang="en-US" sz="16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والسيارة والشركة قد يقلل من تركيز</a:t>
            </a:r>
            <a:endParaRPr lang="ar-SA" sz="1650" dirty="0"/>
          </a:p>
          <a:p>
            <a:pPr rtl="1" algn="r" indent="0" marL="0">
              <a:lnSpc>
                <a:spcPts val="2475"/>
              </a:lnSpc>
              <a:buNone/>
            </a:pPr>
            <a:r>
              <a:rPr lang="ar-SA" altLang="en-US" sz="16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الرسالة.</a:t>
            </a:r>
            <a:endParaRPr lang="ar-SA" sz="1650" dirty="0"/>
          </a:p>
        </p:txBody>
      </p:sp>
      <p:sp>
        <p:nvSpPr>
          <p:cNvPr id="29" name="s20-shape-27"/>
          <p:cNvSpPr/>
          <p:nvPr/>
        </p:nvSpPr>
        <p:spPr>
          <a:xfrm>
            <a:off x="6464300" y="4194175"/>
            <a:ext cx="88900" cy="88900"/>
          </a:xfrm>
          <a:prstGeom prst="ellipse">
            <a:avLst/>
          </a:prstGeom>
          <a:solidFill>
            <a:srgbClr val="FF8D26"/>
          </a:solidFill>
          <a:ln/>
        </p:spPr>
      </p:sp>
      <p:sp>
        <p:nvSpPr>
          <p:cNvPr id="30" name="s20-text-28"/>
          <p:cNvSpPr txBox="1"/>
          <p:nvPr/>
        </p:nvSpPr>
        <p:spPr>
          <a:xfrm>
            <a:off x="3662680" y="4003446"/>
            <a:ext cx="2674620" cy="993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475"/>
              </a:lnSpc>
              <a:buNone/>
            </a:pPr>
            <a:r>
              <a:rPr lang="ar-SA" altLang="en-US" sz="16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الاعتماد القوي على العروض والأسعار</a:t>
            </a:r>
            <a:endParaRPr lang="ar-SA" sz="1650" dirty="0"/>
          </a:p>
          <a:p>
            <a:pPr rtl="1" algn="r" indent="0" marL="0">
              <a:lnSpc>
                <a:spcPts val="2475"/>
              </a:lnSpc>
              <a:buNone/>
            </a:pPr>
            <a:r>
              <a:rPr lang="ar-SA" altLang="en-US" sz="16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يفتح فرصة للتميز بالقيمة والاستشارة</a:t>
            </a:r>
            <a:endParaRPr lang="ar-SA" sz="1650" dirty="0"/>
          </a:p>
          <a:p>
            <a:pPr rtl="1" algn="r" indent="0" marL="0">
              <a:lnSpc>
                <a:spcPts val="2475"/>
              </a:lnSpc>
              <a:buNone/>
            </a:pPr>
            <a:r>
              <a:rPr lang="ar-SA" altLang="en-US" sz="16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وتجربة العميل.</a:t>
            </a:r>
            <a:endParaRPr lang="ar-SA" sz="1650" dirty="0"/>
          </a:p>
        </p:txBody>
      </p:sp>
      <p:sp>
        <p:nvSpPr>
          <p:cNvPr id="31" name="s20-shape-29"/>
          <p:cNvSpPr/>
          <p:nvPr/>
        </p:nvSpPr>
        <p:spPr>
          <a:xfrm>
            <a:off x="698500" y="1905000"/>
            <a:ext cx="2857500" cy="4318000"/>
          </a:xfrm>
          <a:prstGeom prst="roundRect">
            <a:avLst>
              <a:gd name="adj" fmla="val 8889"/>
            </a:avLst>
          </a:prstGeom>
          <a:solidFill>
            <a:srgbClr val="FFF7DE"/>
          </a:solidFill>
          <a:ln/>
        </p:spPr>
      </p:sp>
      <p:pic>
        <p:nvPicPr>
          <p:cNvPr id="32" name="s20-snap-30" descr="s20-snap-30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81300" y="2120900"/>
            <a:ext cx="584200" cy="584200"/>
          </a:xfrm>
          <a:prstGeom prst="rect">
            <a:avLst/>
          </a:prstGeom>
        </p:spPr>
      </p:pic>
      <p:sp>
        <p:nvSpPr>
          <p:cNvPr id="33" name="s20-text-31"/>
          <p:cNvSpPr txBox="1"/>
          <p:nvPr/>
        </p:nvSpPr>
        <p:spPr>
          <a:xfrm>
            <a:off x="1365845" y="2179168"/>
            <a:ext cx="1339255" cy="370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520"/>
              </a:lnSpc>
              <a:buNone/>
            </a:pPr>
            <a:r>
              <a:rPr lang="ar-SA" altLang="en-US" sz="1800" b="1" dirty="0">
                <a:solidFill>
                  <a:srgbClr val="E9720C"/>
                </a:solidFill>
                <a:latin typeface="Sakkal Saad TN Trial Light"/>
                <a:cs typeface="Sakkal Saad TN Trial Light"/>
              </a:rPr>
              <a:t>أسلوبهم التسويقي</a:t>
            </a:r>
            <a:endParaRPr lang="ar-SA" sz="1800" dirty="0"/>
          </a:p>
        </p:txBody>
      </p:sp>
      <p:sp>
        <p:nvSpPr>
          <p:cNvPr id="34" name="s20-shape-32"/>
          <p:cNvSpPr/>
          <p:nvPr/>
        </p:nvSpPr>
        <p:spPr>
          <a:xfrm>
            <a:off x="927100" y="2832100"/>
            <a:ext cx="2400300" cy="34478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5" name="s20-text-33"/>
          <p:cNvSpPr txBox="1"/>
          <p:nvPr/>
        </p:nvSpPr>
        <p:spPr>
          <a:xfrm>
            <a:off x="1802805" y="2821267"/>
            <a:ext cx="648891" cy="306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2015"/>
              </a:lnSpc>
              <a:buNone/>
            </a:pPr>
            <a:r>
              <a:rPr lang="ar-SA" altLang="en-US" sz="15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بيع مباشر</a:t>
            </a:r>
            <a:endParaRPr lang="ar-SA" sz="1550" dirty="0"/>
          </a:p>
        </p:txBody>
      </p:sp>
      <p:sp>
        <p:nvSpPr>
          <p:cNvPr id="36" name="s20-text-34"/>
          <p:cNvSpPr txBox="1"/>
          <p:nvPr/>
        </p:nvSpPr>
        <p:spPr>
          <a:xfrm>
            <a:off x="831088" y="3217620"/>
            <a:ext cx="2592324" cy="193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125"/>
              </a:lnSpc>
              <a:buNone/>
            </a:pPr>
            <a:r>
              <a:rPr lang="ar-SA" altLang="en-US" sz="1500" b="1" dirty="0">
                <a:solidFill>
                  <a:srgbClr val="FF8D26"/>
                </a:solidFill>
                <a:latin typeface="Sakkal Saad TN Trial Light"/>
                <a:cs typeface="Sakkal Saad TN Trial Light"/>
              </a:rPr>
              <a:t>+</a:t>
            </a:r>
            <a:endParaRPr lang="ar-SA" sz="1500" dirty="0"/>
          </a:p>
        </p:txBody>
      </p:sp>
      <p:sp>
        <p:nvSpPr>
          <p:cNvPr id="37" name="s20-shape-35"/>
          <p:cNvSpPr/>
          <p:nvPr/>
        </p:nvSpPr>
        <p:spPr>
          <a:xfrm>
            <a:off x="927100" y="3446760"/>
            <a:ext cx="2400300" cy="34478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8" name="s20-text-36"/>
          <p:cNvSpPr txBox="1"/>
          <p:nvPr/>
        </p:nvSpPr>
        <p:spPr>
          <a:xfrm>
            <a:off x="1635224" y="3435927"/>
            <a:ext cx="984151" cy="306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2015"/>
              </a:lnSpc>
              <a:buNone/>
            </a:pPr>
            <a:r>
              <a:rPr lang="ar-SA" altLang="en-US" sz="15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عروض وأسعار</a:t>
            </a:r>
            <a:endParaRPr lang="ar-SA" sz="1550" dirty="0"/>
          </a:p>
        </p:txBody>
      </p:sp>
      <p:sp>
        <p:nvSpPr>
          <p:cNvPr id="39" name="s20-text-37"/>
          <p:cNvSpPr txBox="1"/>
          <p:nvPr/>
        </p:nvSpPr>
        <p:spPr>
          <a:xfrm>
            <a:off x="831088" y="3832281"/>
            <a:ext cx="2592324" cy="193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125"/>
              </a:lnSpc>
              <a:buNone/>
            </a:pPr>
            <a:r>
              <a:rPr lang="ar-SA" altLang="en-US" sz="1500" b="1" dirty="0">
                <a:solidFill>
                  <a:srgbClr val="FF8D26"/>
                </a:solidFill>
                <a:latin typeface="Sakkal Saad TN Trial Light"/>
                <a:cs typeface="Sakkal Saad TN Trial Light"/>
              </a:rPr>
              <a:t>+</a:t>
            </a:r>
            <a:endParaRPr lang="ar-SA" sz="1500" dirty="0"/>
          </a:p>
        </p:txBody>
      </p:sp>
      <p:sp>
        <p:nvSpPr>
          <p:cNvPr id="40" name="s20-shape-38"/>
          <p:cNvSpPr/>
          <p:nvPr/>
        </p:nvSpPr>
        <p:spPr>
          <a:xfrm>
            <a:off x="927100" y="4061420"/>
            <a:ext cx="2400300" cy="34478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1" name="s20-text-39"/>
          <p:cNvSpPr txBox="1"/>
          <p:nvPr/>
        </p:nvSpPr>
        <p:spPr>
          <a:xfrm>
            <a:off x="1652687" y="4050587"/>
            <a:ext cx="949226" cy="306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2015"/>
              </a:lnSpc>
              <a:buNone/>
            </a:pPr>
            <a:r>
              <a:rPr lang="ar-SA" altLang="en-US" sz="15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أمان واطمئنان</a:t>
            </a:r>
            <a:endParaRPr lang="ar-SA" sz="1550" dirty="0"/>
          </a:p>
        </p:txBody>
      </p:sp>
      <p:sp>
        <p:nvSpPr>
          <p:cNvPr id="42" name="s20-text-40"/>
          <p:cNvSpPr txBox="1"/>
          <p:nvPr/>
        </p:nvSpPr>
        <p:spPr>
          <a:xfrm>
            <a:off x="831088" y="4446941"/>
            <a:ext cx="2592324" cy="193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125"/>
              </a:lnSpc>
              <a:buNone/>
            </a:pPr>
            <a:r>
              <a:rPr lang="ar-SA" altLang="en-US" sz="1500" b="1" dirty="0">
                <a:solidFill>
                  <a:srgbClr val="FF8D26"/>
                </a:solidFill>
                <a:latin typeface="Sakkal Saad TN Trial Light"/>
                <a:cs typeface="Sakkal Saad TN Trial Light"/>
              </a:rPr>
              <a:t>+</a:t>
            </a:r>
            <a:endParaRPr lang="ar-SA" sz="1500" dirty="0"/>
          </a:p>
        </p:txBody>
      </p:sp>
      <p:sp>
        <p:nvSpPr>
          <p:cNvPr id="43" name="s20-shape-41"/>
          <p:cNvSpPr/>
          <p:nvPr/>
        </p:nvSpPr>
        <p:spPr>
          <a:xfrm>
            <a:off x="927100" y="4676080"/>
            <a:ext cx="2400300" cy="34478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4" name="s20-text-42"/>
          <p:cNvSpPr txBox="1"/>
          <p:nvPr/>
        </p:nvSpPr>
        <p:spPr>
          <a:xfrm>
            <a:off x="1701899" y="4665247"/>
            <a:ext cx="850702" cy="306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2015"/>
              </a:lnSpc>
              <a:buNone/>
            </a:pPr>
            <a:r>
              <a:rPr lang="ar-SA" altLang="en-US" sz="15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سهولة الشراء</a:t>
            </a:r>
            <a:endParaRPr lang="ar-SA" sz="1550" dirty="0"/>
          </a:p>
        </p:txBody>
      </p:sp>
      <p:sp>
        <p:nvSpPr>
          <p:cNvPr id="45" name="s20-text-43"/>
          <p:cNvSpPr txBox="1"/>
          <p:nvPr/>
        </p:nvSpPr>
        <p:spPr>
          <a:xfrm>
            <a:off x="831088" y="5061601"/>
            <a:ext cx="2592324" cy="193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125"/>
              </a:lnSpc>
              <a:buNone/>
            </a:pPr>
            <a:r>
              <a:rPr lang="ar-SA" altLang="en-US" sz="1500" b="1" dirty="0">
                <a:solidFill>
                  <a:srgbClr val="FF8D26"/>
                </a:solidFill>
                <a:latin typeface="Sakkal Saad TN Trial Light"/>
                <a:cs typeface="Sakkal Saad TN Trial Light"/>
              </a:rPr>
              <a:t>+</a:t>
            </a:r>
            <a:endParaRPr lang="ar-SA" sz="1500" dirty="0"/>
          </a:p>
        </p:txBody>
      </p:sp>
      <p:sp>
        <p:nvSpPr>
          <p:cNvPr id="46" name="s20-shape-44"/>
          <p:cNvSpPr/>
          <p:nvPr/>
        </p:nvSpPr>
        <p:spPr>
          <a:xfrm>
            <a:off x="927100" y="5290741"/>
            <a:ext cx="2400300" cy="34478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7" name="s20-text-45"/>
          <p:cNvSpPr txBox="1"/>
          <p:nvPr/>
        </p:nvSpPr>
        <p:spPr>
          <a:xfrm>
            <a:off x="1726505" y="5279908"/>
            <a:ext cx="801588" cy="306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2015"/>
              </a:lnSpc>
              <a:buNone/>
            </a:pPr>
            <a:r>
              <a:rPr lang="ar-SA" altLang="en-US" sz="15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تواصل سريع</a:t>
            </a:r>
            <a:endParaRPr lang="ar-SA" sz="15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3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4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0" dur="489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7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7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5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75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7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75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75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75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75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75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75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75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75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75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75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750" fill="hold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750" fill="hold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75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75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75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75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53" presetClass="entr" presetSubtype="16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27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6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6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750" fill="hold" decel="100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750" fill="hold" decel="100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75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75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42" presetClass="entr" presetSubtype="0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75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75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750" fill="hold" decel="10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750" fill="hold" decel="10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750" fill="hold" decel="100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750" fill="hold" decel="100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42" presetClass="entr" presetSubtype="0" fill="hold" grpId="0" nodeType="withEffect">
                                  <p:stCondLst>
                                    <p:cond delay="83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750" fill="hold" decel="100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750" fill="hold" decel="100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42" presetClass="entr" presetSubtype="0" fill="hold" grpId="0" nodeType="withEffect">
                                  <p:stCondLst>
                                    <p:cond delay="83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750" fill="hold" decel="100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750" fill="hold" decel="100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9" dur="750" fill="hold" decel="1000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750" fill="hold" decel="1000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53" presetClass="entr" presetSubtype="16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27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6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6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53" presetClass="entr" presetSubtype="16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27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9" dur="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53" presetClass="entr" presetSubtype="16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27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4" dur="6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6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53" presetClass="entr" presetSubtype="16" fill="hold" grpId="0" nodeType="withEffect">
                                  <p:stCondLst>
                                    <p:cond delay="116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27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9" dur="6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6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53" presetClass="entr" presetSubtype="16" fill="hold" grpId="0" nodeType="withEffect">
                                  <p:stCondLst>
                                    <p:cond delay="116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27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4" dur="6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6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6" presetID="53" presetClass="entr" presetSubtype="16" fill="hold" grpId="0" nodeType="withEffect">
                                  <p:stCondLst>
                                    <p:cond delay="121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27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9" dur="6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6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1" presetID="53" presetClass="entr" presetSubtype="16" fill="hold" grpId="0" nodeType="withEffect">
                                  <p:stCondLst>
                                    <p:cond delay="127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27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4" dur="6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6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6" presetID="53" presetClass="entr" presetSubtype="16" fill="hold" grpId="0" nodeType="withEffect">
                                  <p:stCondLst>
                                    <p:cond delay="127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27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9" dur="6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6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1" presetID="53" presetClass="entr" presetSubtype="16" fill="hold" grpId="0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27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4" dur="6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6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6" presetID="53" presetClass="entr" presetSubtype="16" fill="hold" grpId="0" nodeType="withEffect">
                                  <p:stCondLst>
                                    <p:cond delay="138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27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9" dur="6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6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1" presetID="53" presetClass="entr" presetSubtype="16" fill="hold" grpId="0" nodeType="withEffect">
                                  <p:stCondLst>
                                    <p:cond delay="138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27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4" dur="6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6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6" presetID="53" presetClass="entr" presetSubtype="16" fill="hold" grpId="0" nodeType="withEffect">
                                  <p:stCondLst>
                                    <p:cond delay="143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27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9" dur="6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0" dur="6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1" presetID="53" presetClass="entr" presetSubtype="16" fill="hold" grpId="0" nodeType="withEffect">
                                  <p:stCondLst>
                                    <p:cond delay="149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27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4" dur="6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5" dur="6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6" presetID="53" presetClass="entr" presetSubtype="16" fill="hold" grpId="0" nodeType="withEffect">
                                  <p:stCondLst>
                                    <p:cond delay="149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27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9" dur="6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6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1" presetID="53" presetClass="entr" presetSubtype="16" fill="hold" grpId="0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27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4" dur="6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5" dur="6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/>
      <p:bldP spid="11" grpId="0" animBg="1"/>
      <p:bldP spid="12" grpId="0"/>
      <p:bldP spid="13" grpId="0" animBg="1"/>
      <p:bldP spid="15" grpId="0"/>
      <p:bldP spid="24" grpId="0" animBg="1"/>
      <p:bldP spid="16" grpId="0" animBg="1"/>
      <p:bldP spid="17" grpId="0"/>
      <p:bldP spid="18" grpId="0" animBg="1"/>
      <p:bldP spid="19" grpId="0"/>
      <p:bldP spid="26" grpId="0"/>
      <p:bldP spid="20" grpId="0" animBg="1"/>
      <p:bldP spid="21" grpId="0"/>
      <p:bldP spid="31" grpId="0" animBg="1"/>
      <p:bldP spid="22" grpId="0" animBg="1"/>
      <p:bldP spid="23" grpId="0"/>
      <p:bldP spid="27" grpId="0" animBg="1"/>
      <p:bldP spid="28" grpId="0"/>
      <p:bldP spid="29" grpId="0" animBg="1"/>
      <p:bldP spid="30" grpId="0"/>
      <p:bldP spid="33" grpId="0"/>
      <p:bldP spid="34" grpId="0" animBg="1"/>
      <p:bldP spid="35" grpId="0"/>
      <p:bldP spid="37" grpId="0" animBg="1"/>
      <p:bldP spid="38" grpId="0"/>
      <p:bldP spid="36" grpId="0"/>
      <p:bldP spid="40" grpId="0" animBg="1"/>
      <p:bldP spid="41" grpId="0"/>
      <p:bldP spid="39" grpId="0"/>
      <p:bldP spid="43" grpId="0" animBg="1"/>
      <p:bldP spid="44" grpId="0"/>
      <p:bldP spid="42" grpId="0"/>
      <p:bldP spid="46" grpId="0" animBg="1"/>
      <p:bldP spid="47" grpId="0"/>
      <p:bldP spid="45" grpId="0"/>
    </p:bldLst>
  </p:timing>
</p:sld>
</file>

<file path=ppt/slides/slide21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lens"/>
          <p:cNvSpPr/>
          <p:nvPr/>
        </p:nvSpPr>
        <p:spPr>
          <a:xfrm>
            <a:off x="5715000" y="-127000"/>
            <a:ext cx="7112000" cy="7112000"/>
          </a:xfrm>
          <a:prstGeom prst="ellipse">
            <a:avLst/>
          </a:prstGeom>
          <a:solidFill>
            <a:srgbClr val="FFFFFF">
              <a:alpha val="7000"/>
            </a:srgbClr>
          </a:solidFill>
          <a:ln/>
        </p:spPr>
      </p:sp>
      <p:pic>
        <p:nvPicPr>
          <p:cNvPr id="3" name="!!mt" descr="شعار نظرة ثمانية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7616081" y="2693293"/>
            <a:ext cx="3257550" cy="3213100"/>
          </a:xfrm>
          <a:prstGeom prst="rect">
            <a:avLst/>
          </a:prstGeom>
        </p:spPr>
      </p:pic>
      <p:pic>
        <p:nvPicPr>
          <p:cNvPr id="4" name="!!mb" descr="شعار نظرة ثمانية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7746901" y="953740"/>
            <a:ext cx="3181350" cy="3124200"/>
          </a:xfrm>
          <a:prstGeom prst="rect">
            <a:avLst/>
          </a:prstGeom>
        </p:spPr>
      </p:pic>
      <p:pic>
        <p:nvPicPr>
          <p:cNvPr id="5" name="!!ma" descr="شعار نظرة ثمانية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8740676" y="4297015"/>
            <a:ext cx="577850" cy="508000"/>
          </a:xfrm>
          <a:prstGeom prst="rect">
            <a:avLst/>
          </a:prstGeom>
        </p:spPr>
      </p:pic>
      <p:pic>
        <p:nvPicPr>
          <p:cNvPr id="6" name="!!hud" descr="!!hud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7800" y="177800"/>
            <a:ext cx="11836400" cy="6502400"/>
          </a:xfrm>
          <a:prstGeom prst="rect">
            <a:avLst/>
          </a:prstGeom>
        </p:spPr>
      </p:pic>
      <p:sp>
        <p:nvSpPr>
          <p:cNvPr id="7" name="!!rec"/>
          <p:cNvSpPr/>
          <p:nvPr/>
        </p:nvSpPr>
        <p:spPr>
          <a:xfrm>
            <a:off x="635000" y="6337300"/>
            <a:ext cx="101600" cy="101600"/>
          </a:xfrm>
          <a:prstGeom prst="ellipse">
            <a:avLst/>
          </a:prstGeom>
          <a:solidFill>
            <a:srgbClr val="FF8D26"/>
          </a:solidFill>
          <a:ln/>
        </p:spPr>
      </p:sp>
      <p:sp>
        <p:nvSpPr>
          <p:cNvPr id="8" name="!!num"/>
          <p:cNvSpPr txBox="1"/>
          <p:nvPr/>
        </p:nvSpPr>
        <p:spPr>
          <a:xfrm>
            <a:off x="825500" y="6281750"/>
            <a:ext cx="673497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altLang="en-US" sz="1200" dirty="0">
                <a:solidFill>
                  <a:srgbClr val="D9E0DB"/>
                </a:solidFill>
                <a:latin typeface="Sakkal Saad TN Trial Light"/>
                <a:cs typeface="Sakkal Saad TN Trial Light"/>
              </a:rPr>
              <a:t>REC · 21</a:t>
            </a:r>
            <a:endParaRPr lang="en-US" sz="1200" dirty="0"/>
          </a:p>
        </p:txBody>
      </p:sp>
      <p:pic>
        <p:nvPicPr>
          <p:cNvPr id="9" name="s21-snap-8" descr="s21-snap-8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7400" y="1041400"/>
            <a:ext cx="1880791" cy="1981200"/>
          </a:xfrm>
          <a:prstGeom prst="rect">
            <a:avLst/>
          </a:prstGeom>
        </p:spPr>
      </p:pic>
      <p:pic>
        <p:nvPicPr>
          <p:cNvPr id="10" name="s21-snap-9" descr="s21-snap-9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7400" y="3263900"/>
            <a:ext cx="6426200" cy="121404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3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4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53" presetClass="entr" presetSubtype="3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9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1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9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1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9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5" dur="63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2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lens"/>
          <p:cNvSpPr/>
          <p:nvPr/>
        </p:nvSpPr>
        <p:spPr>
          <a:xfrm>
            <a:off x="368300" y="127000"/>
            <a:ext cx="1206500" cy="1206500"/>
          </a:xfrm>
          <a:prstGeom prst="ellipse">
            <a:avLst/>
          </a:prstGeom>
          <a:solidFill>
            <a:srgbClr val="EEF2EF"/>
          </a:solidFill>
          <a:ln/>
        </p:spPr>
      </p:sp>
      <p:pic>
        <p:nvPicPr>
          <p:cNvPr id="3" name="!!mt" descr="شعار نظرة ثماني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-5400000">
            <a:off x="543520" y="459333"/>
            <a:ext cx="546100" cy="533400"/>
          </a:xfrm>
          <a:prstGeom prst="rect">
            <a:avLst/>
          </a:prstGeom>
        </p:spPr>
      </p:pic>
      <p:pic>
        <p:nvPicPr>
          <p:cNvPr id="4" name="!!mb" descr="شعار نظرة ثمانية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5400000">
            <a:off x="850156" y="480913"/>
            <a:ext cx="527050" cy="520700"/>
          </a:xfrm>
          <a:prstGeom prst="rect">
            <a:avLst/>
          </a:prstGeom>
        </p:spPr>
      </p:pic>
      <p:pic>
        <p:nvPicPr>
          <p:cNvPr id="5" name="!!ma" descr="شعار نظرة ثمانية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5400000">
            <a:off x="727373" y="648940"/>
            <a:ext cx="95250" cy="82550"/>
          </a:xfrm>
          <a:prstGeom prst="rect">
            <a:avLst/>
          </a:prstGeom>
        </p:spPr>
      </p:pic>
      <p:pic>
        <p:nvPicPr>
          <p:cNvPr id="6" name="!!hud" descr="!!hu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800" y="177800"/>
            <a:ext cx="11836400" cy="6502400"/>
          </a:xfrm>
          <a:prstGeom prst="rect">
            <a:avLst/>
          </a:prstGeom>
        </p:spPr>
      </p:pic>
      <p:sp>
        <p:nvSpPr>
          <p:cNvPr id="7" name="!!rec"/>
          <p:cNvSpPr/>
          <p:nvPr/>
        </p:nvSpPr>
        <p:spPr>
          <a:xfrm>
            <a:off x="635000" y="6337300"/>
            <a:ext cx="101600" cy="101600"/>
          </a:xfrm>
          <a:prstGeom prst="ellipse">
            <a:avLst/>
          </a:prstGeom>
          <a:solidFill>
            <a:srgbClr val="FF8D26"/>
          </a:solidFill>
          <a:ln/>
        </p:spPr>
      </p:sp>
      <p:sp>
        <p:nvSpPr>
          <p:cNvPr id="8" name="!!num"/>
          <p:cNvSpPr txBox="1"/>
          <p:nvPr/>
        </p:nvSpPr>
        <p:spPr>
          <a:xfrm>
            <a:off x="825500" y="6281750"/>
            <a:ext cx="686594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altLang="en-US" sz="1200" dirty="0">
                <a:solidFill>
                  <a:srgbClr val="5E6D7C"/>
                </a:solidFill>
                <a:latin typeface="Sakkal Saad TN Trial Light"/>
                <a:cs typeface="Sakkal Saad TN Trial Light"/>
              </a:rPr>
              <a:t>REC · 22</a:t>
            </a:r>
            <a:endParaRPr lang="en-US" sz="1200" dirty="0"/>
          </a:p>
        </p:txBody>
      </p:sp>
      <p:sp>
        <p:nvSpPr>
          <p:cNvPr id="9" name="!!kick"/>
          <p:cNvSpPr txBox="1"/>
          <p:nvPr/>
        </p:nvSpPr>
        <p:spPr>
          <a:xfrm>
            <a:off x="10362208" y="318834"/>
            <a:ext cx="1194792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ar-SA" altLang="en-US" sz="1500" b="1" dirty="0">
                <a:solidFill>
                  <a:srgbClr val="43644B"/>
                </a:solidFill>
                <a:latin typeface="Sakkal Saad TN Trial Light"/>
                <a:cs typeface="Sakkal Saad TN Trial Light"/>
              </a:rPr>
              <a:t>06</a:t>
            </a:r>
            <a:r>
              <a:rPr lang="ar-SA" altLang="en-US" sz="1500" dirty="0">
                <a:solidFill>
                  <a:srgbClr val="E9720C"/>
                </a:solidFill>
                <a:latin typeface="Sakkal Saad TN Trial Light"/>
                <a:cs typeface="Sakkal Saad TN Trial Light"/>
              </a:rPr>
              <a:t> تحليل SWOT</a:t>
            </a:r>
            <a:endParaRPr lang="ar-SA" sz="1500" dirty="0"/>
          </a:p>
        </p:txBody>
      </p:sp>
      <p:sp>
        <p:nvSpPr>
          <p:cNvPr id="10" name="s22-text-8"/>
          <p:cNvSpPr txBox="1"/>
          <p:nvPr/>
        </p:nvSpPr>
        <p:spPr>
          <a:xfrm>
            <a:off x="9265142" y="695134"/>
            <a:ext cx="2291858" cy="702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5130"/>
              </a:lnSpc>
              <a:buNone/>
            </a:pPr>
            <a:r>
              <a:rPr lang="ar-SA" altLang="en-US" sz="3800" b="1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تحليل SWOT</a:t>
            </a:r>
            <a:endParaRPr lang="ar-SA" sz="3800" dirty="0"/>
          </a:p>
        </p:txBody>
      </p:sp>
      <p:sp>
        <p:nvSpPr>
          <p:cNvPr id="11" name="s22-shape-9"/>
          <p:cNvSpPr/>
          <p:nvPr/>
        </p:nvSpPr>
        <p:spPr>
          <a:xfrm>
            <a:off x="6159500" y="1841500"/>
            <a:ext cx="5334000" cy="4445000"/>
          </a:xfrm>
          <a:prstGeom prst="roundRect">
            <a:avLst>
              <a:gd name="adj" fmla="val 5714"/>
            </a:avLst>
          </a:prstGeom>
          <a:solidFill>
            <a:srgbClr val="43644B"/>
          </a:solidFill>
          <a:ln/>
        </p:spPr>
      </p:sp>
      <p:sp>
        <p:nvSpPr>
          <p:cNvPr id="12" name="s22-text-10"/>
          <p:cNvSpPr txBox="1"/>
          <p:nvPr/>
        </p:nvSpPr>
        <p:spPr>
          <a:xfrm>
            <a:off x="6413500" y="1688528"/>
            <a:ext cx="537071" cy="1130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00"/>
              </a:lnSpc>
              <a:buNone/>
            </a:pPr>
            <a:r>
              <a:rPr lang="en-US" altLang="en-US" sz="8500" b="1" dirty="0">
                <a:solidFill>
                  <a:srgbClr val="F6C342"/>
                </a:solidFill>
                <a:latin typeface="Sakkal Saad TN Trial Light"/>
                <a:cs typeface="Sakkal Saad TN Trial Light"/>
              </a:rPr>
              <a:t>S</a:t>
            </a:r>
            <a:endParaRPr lang="en-US" sz="8500" dirty="0"/>
          </a:p>
        </p:txBody>
      </p:sp>
      <p:sp>
        <p:nvSpPr>
          <p:cNvPr id="13" name="s22-text-11"/>
          <p:cNvSpPr txBox="1"/>
          <p:nvPr/>
        </p:nvSpPr>
        <p:spPr>
          <a:xfrm>
            <a:off x="6086348" y="2070068"/>
            <a:ext cx="5102352" cy="4451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3105"/>
              </a:lnSpc>
              <a:buNone/>
            </a:pPr>
            <a:r>
              <a:rPr lang="ar-SA" altLang="en-US" sz="2300" b="1" dirty="0">
                <a:solidFill>
                  <a:srgbClr val="F6C342"/>
                </a:solidFill>
                <a:latin typeface="Sakkal Saad TN Trial Light"/>
                <a:cs typeface="Sakkal Saad TN Trial Light"/>
              </a:rPr>
              <a:t>نقاط القوة Strengths</a:t>
            </a:r>
            <a:endParaRPr lang="ar-SA" sz="2300" dirty="0"/>
          </a:p>
        </p:txBody>
      </p:sp>
      <p:sp>
        <p:nvSpPr>
          <p:cNvPr id="14" name="s22-shape-12"/>
          <p:cNvSpPr/>
          <p:nvPr/>
        </p:nvSpPr>
        <p:spPr>
          <a:xfrm>
            <a:off x="11099800" y="3067645"/>
            <a:ext cx="88900" cy="88900"/>
          </a:xfrm>
          <a:prstGeom prst="ellipse">
            <a:avLst/>
          </a:prstGeom>
          <a:solidFill>
            <a:srgbClr val="F6C342"/>
          </a:solidFill>
          <a:ln/>
        </p:spPr>
      </p:sp>
      <p:sp>
        <p:nvSpPr>
          <p:cNvPr id="15" name="s22-text-13"/>
          <p:cNvSpPr txBox="1"/>
          <p:nvPr/>
        </p:nvSpPr>
        <p:spPr>
          <a:xfrm>
            <a:off x="6103620" y="2890201"/>
            <a:ext cx="486918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400"/>
              </a:lnSpc>
              <a:buNone/>
            </a:pPr>
            <a:r>
              <a:rPr lang="ar-SA" altLang="en-US" sz="1600" dirty="0">
                <a:solidFill>
                  <a:srgbClr val="FFFFFF"/>
                </a:solidFill>
                <a:latin typeface="Sakkal Saad TN Trial Light"/>
                <a:cs typeface="Sakkal Saad TN Trial Light"/>
              </a:rPr>
              <a:t>تقديم حلول أمنية وتقنية متكاملة من التوريد إلى التركيب والبرمجة والتشغيل</a:t>
            </a:r>
            <a:endParaRPr lang="ar-SA" sz="1600" dirty="0"/>
          </a:p>
          <a:p>
            <a:pPr rtl="1" algn="r" indent="0" marL="0">
              <a:lnSpc>
                <a:spcPts val="2400"/>
              </a:lnSpc>
              <a:buNone/>
            </a:pPr>
            <a:r>
              <a:rPr lang="ar-SA" altLang="en-US" sz="1600" dirty="0">
                <a:solidFill>
                  <a:srgbClr val="FFFFFF"/>
                </a:solidFill>
                <a:latin typeface="Sakkal Saad TN Trial Light"/>
                <a:cs typeface="Sakkal Saad TN Trial Light"/>
              </a:rPr>
              <a:t>والدعم الفني.</a:t>
            </a:r>
            <a:endParaRPr lang="ar-SA" sz="1600" dirty="0"/>
          </a:p>
        </p:txBody>
      </p:sp>
      <p:sp>
        <p:nvSpPr>
          <p:cNvPr id="16" name="s22-shape-14"/>
          <p:cNvSpPr/>
          <p:nvPr/>
        </p:nvSpPr>
        <p:spPr>
          <a:xfrm>
            <a:off x="11099800" y="3753445"/>
            <a:ext cx="88900" cy="88900"/>
          </a:xfrm>
          <a:prstGeom prst="ellipse">
            <a:avLst/>
          </a:prstGeom>
          <a:solidFill>
            <a:srgbClr val="F6C342"/>
          </a:solidFill>
          <a:ln/>
        </p:spPr>
      </p:sp>
      <p:sp>
        <p:nvSpPr>
          <p:cNvPr id="17" name="s22-text-15"/>
          <p:cNvSpPr txBox="1"/>
          <p:nvPr/>
        </p:nvSpPr>
        <p:spPr>
          <a:xfrm>
            <a:off x="6103620" y="3576001"/>
            <a:ext cx="486918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400"/>
              </a:lnSpc>
              <a:buNone/>
            </a:pPr>
            <a:r>
              <a:rPr lang="ar-SA" altLang="en-US" sz="1600" dirty="0">
                <a:solidFill>
                  <a:srgbClr val="FFFFFF"/>
                </a:solidFill>
                <a:latin typeface="Sakkal Saad TN Trial Light"/>
                <a:cs typeface="Sakkal Saad TN Trial Light"/>
              </a:rPr>
              <a:t>تنوع الحلول بين كاميرات المراقبة، الشبكات، الإنتركوم، الحضور والانصراف،</a:t>
            </a:r>
            <a:endParaRPr lang="ar-SA" sz="1600" dirty="0"/>
          </a:p>
          <a:p>
            <a:pPr rtl="1" algn="r" indent="0" marL="0">
              <a:lnSpc>
                <a:spcPts val="2400"/>
              </a:lnSpc>
              <a:buNone/>
            </a:pPr>
            <a:r>
              <a:rPr lang="ar-SA" altLang="en-US" sz="1600" dirty="0">
                <a:solidFill>
                  <a:srgbClr val="FFFFFF"/>
                </a:solidFill>
                <a:latin typeface="Sakkal Saad TN Trial Light"/>
                <a:cs typeface="Sakkal Saad TN Trial Light"/>
              </a:rPr>
              <a:t>Access Control وWi-Fi.</a:t>
            </a:r>
            <a:endParaRPr lang="ar-SA" sz="1600" dirty="0"/>
          </a:p>
        </p:txBody>
      </p:sp>
      <p:sp>
        <p:nvSpPr>
          <p:cNvPr id="18" name="s22-shape-16"/>
          <p:cNvSpPr/>
          <p:nvPr/>
        </p:nvSpPr>
        <p:spPr>
          <a:xfrm>
            <a:off x="11099800" y="4439245"/>
            <a:ext cx="88900" cy="88900"/>
          </a:xfrm>
          <a:prstGeom prst="ellipse">
            <a:avLst/>
          </a:prstGeom>
          <a:solidFill>
            <a:srgbClr val="F6C342"/>
          </a:solidFill>
          <a:ln/>
        </p:spPr>
      </p:sp>
      <p:sp>
        <p:nvSpPr>
          <p:cNvPr id="19" name="s22-text-17"/>
          <p:cNvSpPr txBox="1"/>
          <p:nvPr/>
        </p:nvSpPr>
        <p:spPr>
          <a:xfrm>
            <a:off x="6103620" y="4261801"/>
            <a:ext cx="486918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400"/>
              </a:lnSpc>
              <a:buNone/>
            </a:pPr>
            <a:r>
              <a:rPr lang="ar-SA" altLang="en-US" sz="1600" dirty="0">
                <a:solidFill>
                  <a:srgbClr val="FFFFFF"/>
                </a:solidFill>
                <a:latin typeface="Sakkal Saad TN Trial Light"/>
                <a:cs typeface="Sakkal Saad TN Trial Light"/>
              </a:rPr>
              <a:t>تصميم الحل حسب طبيعة الموقع واحتياج العميل وميزانيته بدل تقديم حل</a:t>
            </a:r>
            <a:endParaRPr lang="ar-SA" sz="1600" dirty="0"/>
          </a:p>
          <a:p>
            <a:pPr rtl="1" algn="r" indent="0" marL="0">
              <a:lnSpc>
                <a:spcPts val="2400"/>
              </a:lnSpc>
              <a:buNone/>
            </a:pPr>
            <a:r>
              <a:rPr lang="ar-SA" altLang="en-US" sz="1600" dirty="0">
                <a:solidFill>
                  <a:srgbClr val="FFFFFF"/>
                </a:solidFill>
                <a:latin typeface="Sakkal Saad TN Trial Light"/>
                <a:cs typeface="Sakkal Saad TN Trial Light"/>
              </a:rPr>
              <a:t>ثابت للجميع.</a:t>
            </a:r>
            <a:endParaRPr lang="ar-SA" sz="1600" dirty="0"/>
          </a:p>
        </p:txBody>
      </p:sp>
      <p:sp>
        <p:nvSpPr>
          <p:cNvPr id="20" name="s22-shape-18"/>
          <p:cNvSpPr/>
          <p:nvPr/>
        </p:nvSpPr>
        <p:spPr>
          <a:xfrm>
            <a:off x="11099800" y="5125045"/>
            <a:ext cx="88900" cy="88900"/>
          </a:xfrm>
          <a:prstGeom prst="ellipse">
            <a:avLst/>
          </a:prstGeom>
          <a:solidFill>
            <a:srgbClr val="F6C342"/>
          </a:solidFill>
          <a:ln/>
        </p:spPr>
      </p:sp>
      <p:sp>
        <p:nvSpPr>
          <p:cNvPr id="21" name="s22-text-19"/>
          <p:cNvSpPr txBox="1"/>
          <p:nvPr/>
        </p:nvSpPr>
        <p:spPr>
          <a:xfrm>
            <a:off x="7050345" y="4947601"/>
            <a:ext cx="3922455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400"/>
              </a:lnSpc>
              <a:buNone/>
            </a:pPr>
            <a:r>
              <a:rPr lang="ar-SA" altLang="en-US" sz="1600" dirty="0">
                <a:solidFill>
                  <a:srgbClr val="FFFFFF"/>
                </a:solidFill>
                <a:latin typeface="Sakkal Saad TN Trial Light"/>
                <a:cs typeface="Sakkal Saad TN Trial Light"/>
              </a:rPr>
              <a:t>خبرة عملية في تنفيذ مشاريع سكنية وتجارية ومنشآت مختلفة.</a:t>
            </a:r>
            <a:endParaRPr lang="ar-SA" sz="1600" dirty="0"/>
          </a:p>
        </p:txBody>
      </p:sp>
      <p:sp>
        <p:nvSpPr>
          <p:cNvPr id="22" name="s22-shape-20"/>
          <p:cNvSpPr/>
          <p:nvPr/>
        </p:nvSpPr>
        <p:spPr>
          <a:xfrm>
            <a:off x="11099800" y="5506045"/>
            <a:ext cx="88900" cy="88900"/>
          </a:xfrm>
          <a:prstGeom prst="ellipse">
            <a:avLst/>
          </a:prstGeom>
          <a:solidFill>
            <a:srgbClr val="F6C342"/>
          </a:solidFill>
          <a:ln/>
        </p:spPr>
      </p:sp>
      <p:sp>
        <p:nvSpPr>
          <p:cNvPr id="23" name="s22-text-21"/>
          <p:cNvSpPr txBox="1"/>
          <p:nvPr/>
        </p:nvSpPr>
        <p:spPr>
          <a:xfrm>
            <a:off x="6511028" y="5328601"/>
            <a:ext cx="4461772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400"/>
              </a:lnSpc>
              <a:buNone/>
            </a:pPr>
            <a:r>
              <a:rPr lang="ar-SA" altLang="en-US" sz="1600" dirty="0">
                <a:solidFill>
                  <a:srgbClr val="FFFFFF"/>
                </a:solidFill>
                <a:latin typeface="Sakkal Saad TN Trial Light"/>
                <a:cs typeface="Sakkal Saad TN Trial Light"/>
              </a:rPr>
              <a:t>وجود متجر إلكتروني وقنوات تواصل مباشرة تسهّل الاستفسار والشراء.</a:t>
            </a:r>
            <a:endParaRPr lang="ar-SA" sz="1600" dirty="0"/>
          </a:p>
        </p:txBody>
      </p:sp>
      <p:sp>
        <p:nvSpPr>
          <p:cNvPr id="24" name="s22-shape-22"/>
          <p:cNvSpPr/>
          <p:nvPr/>
        </p:nvSpPr>
        <p:spPr>
          <a:xfrm>
            <a:off x="698500" y="1841500"/>
            <a:ext cx="5334000" cy="4445000"/>
          </a:xfrm>
          <a:prstGeom prst="roundRect">
            <a:avLst>
              <a:gd name="adj" fmla="val 5714"/>
            </a:avLst>
          </a:prstGeom>
          <a:solidFill>
            <a:srgbClr val="FFF1E3"/>
          </a:solidFill>
          <a:ln/>
        </p:spPr>
      </p:sp>
      <p:sp>
        <p:nvSpPr>
          <p:cNvPr id="25" name="s22-text-23"/>
          <p:cNvSpPr txBox="1"/>
          <p:nvPr/>
        </p:nvSpPr>
        <p:spPr>
          <a:xfrm>
            <a:off x="952500" y="1688528"/>
            <a:ext cx="930771" cy="1130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00"/>
              </a:lnSpc>
              <a:buNone/>
            </a:pPr>
            <a:r>
              <a:rPr lang="en-US" altLang="en-US" sz="8500" b="1" dirty="0">
                <a:solidFill>
                  <a:srgbClr val="FF8D26"/>
                </a:solidFill>
                <a:latin typeface="Sakkal Saad TN Trial Light"/>
                <a:cs typeface="Sakkal Saad TN Trial Light"/>
              </a:rPr>
              <a:t>W</a:t>
            </a:r>
            <a:endParaRPr lang="en-US" sz="8500" dirty="0"/>
          </a:p>
        </p:txBody>
      </p:sp>
      <p:sp>
        <p:nvSpPr>
          <p:cNvPr id="26" name="s22-text-24"/>
          <p:cNvSpPr txBox="1"/>
          <p:nvPr/>
        </p:nvSpPr>
        <p:spPr>
          <a:xfrm>
            <a:off x="625348" y="2070068"/>
            <a:ext cx="5102352" cy="4451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3105"/>
              </a:lnSpc>
              <a:buNone/>
            </a:pPr>
            <a:r>
              <a:rPr lang="ar-SA" altLang="en-US" sz="2300" b="1" dirty="0">
                <a:solidFill>
                  <a:srgbClr val="E9720C"/>
                </a:solidFill>
                <a:latin typeface="Sakkal Saad TN Trial Light"/>
                <a:cs typeface="Sakkal Saad TN Trial Light"/>
              </a:rPr>
              <a:t>نقاط الضعف Weaknesses</a:t>
            </a:r>
            <a:endParaRPr lang="ar-SA" sz="2300" dirty="0"/>
          </a:p>
        </p:txBody>
      </p:sp>
      <p:sp>
        <p:nvSpPr>
          <p:cNvPr id="27" name="s22-shape-25"/>
          <p:cNvSpPr/>
          <p:nvPr/>
        </p:nvSpPr>
        <p:spPr>
          <a:xfrm>
            <a:off x="5638800" y="3067645"/>
            <a:ext cx="88900" cy="88900"/>
          </a:xfrm>
          <a:prstGeom prst="ellipse">
            <a:avLst/>
          </a:prstGeom>
          <a:solidFill>
            <a:srgbClr val="FF8D26"/>
          </a:solidFill>
          <a:ln/>
        </p:spPr>
      </p:sp>
      <p:sp>
        <p:nvSpPr>
          <p:cNvPr id="28" name="s22-text-26"/>
          <p:cNvSpPr txBox="1"/>
          <p:nvPr/>
        </p:nvSpPr>
        <p:spPr>
          <a:xfrm>
            <a:off x="642620" y="2890201"/>
            <a:ext cx="486918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400"/>
              </a:lnSpc>
              <a:buNone/>
            </a:pPr>
            <a:r>
              <a:rPr lang="ar-SA" altLang="en-US" sz="16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العلامة التجارية ما زالت بحاجة إلى انتشار ووعي أكبر مقارنة بالمنافسين</a:t>
            </a:r>
            <a:endParaRPr lang="ar-SA" sz="1600" dirty="0"/>
          </a:p>
          <a:p>
            <a:pPr rtl="1" algn="r" indent="0" marL="0">
              <a:lnSpc>
                <a:spcPts val="2400"/>
              </a:lnSpc>
              <a:buNone/>
            </a:pPr>
            <a:r>
              <a:rPr lang="ar-SA" altLang="en-US" sz="16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الأقدم.</a:t>
            </a:r>
            <a:endParaRPr lang="ar-SA" sz="1600" dirty="0"/>
          </a:p>
        </p:txBody>
      </p:sp>
      <p:sp>
        <p:nvSpPr>
          <p:cNvPr id="29" name="s22-shape-27"/>
          <p:cNvSpPr/>
          <p:nvPr/>
        </p:nvSpPr>
        <p:spPr>
          <a:xfrm>
            <a:off x="5638800" y="3753445"/>
            <a:ext cx="88900" cy="88900"/>
          </a:xfrm>
          <a:prstGeom prst="ellipse">
            <a:avLst/>
          </a:prstGeom>
          <a:solidFill>
            <a:srgbClr val="FF8D26"/>
          </a:solidFill>
          <a:ln/>
        </p:spPr>
      </p:sp>
      <p:sp>
        <p:nvSpPr>
          <p:cNvPr id="30" name="s22-text-28"/>
          <p:cNvSpPr txBox="1"/>
          <p:nvPr/>
        </p:nvSpPr>
        <p:spPr>
          <a:xfrm>
            <a:off x="642620" y="3576001"/>
            <a:ext cx="486918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400"/>
              </a:lnSpc>
              <a:buNone/>
            </a:pPr>
            <a:r>
              <a:rPr lang="ar-SA" altLang="en-US" sz="16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محدودية ظهور المشاريع الموثقة، تقييمات العملاء ودراسات الحالة في</a:t>
            </a:r>
            <a:endParaRPr lang="ar-SA" sz="1600" dirty="0"/>
          </a:p>
          <a:p>
            <a:pPr rtl="1" algn="r" indent="0" marL="0">
              <a:lnSpc>
                <a:spcPts val="2400"/>
              </a:lnSpc>
              <a:buNone/>
            </a:pPr>
            <a:r>
              <a:rPr lang="ar-SA" altLang="en-US" sz="16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المحتوى.</a:t>
            </a:r>
            <a:endParaRPr lang="ar-SA" sz="1600" dirty="0"/>
          </a:p>
        </p:txBody>
      </p:sp>
      <p:sp>
        <p:nvSpPr>
          <p:cNvPr id="31" name="s22-shape-29"/>
          <p:cNvSpPr/>
          <p:nvPr/>
        </p:nvSpPr>
        <p:spPr>
          <a:xfrm>
            <a:off x="5638800" y="4439245"/>
            <a:ext cx="88900" cy="88900"/>
          </a:xfrm>
          <a:prstGeom prst="ellipse">
            <a:avLst/>
          </a:prstGeom>
          <a:solidFill>
            <a:srgbClr val="FF8D26"/>
          </a:solidFill>
          <a:ln/>
        </p:spPr>
      </p:sp>
      <p:sp>
        <p:nvSpPr>
          <p:cNvPr id="32" name="s22-text-30"/>
          <p:cNvSpPr txBox="1"/>
          <p:nvPr/>
        </p:nvSpPr>
        <p:spPr>
          <a:xfrm>
            <a:off x="642620" y="4261801"/>
            <a:ext cx="486918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400"/>
              </a:lnSpc>
              <a:buNone/>
            </a:pPr>
            <a:r>
              <a:rPr lang="ar-SA" altLang="en-US" sz="16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تنوع المنتجات والخدمات يحتاج إلى تنظيم واضح حتى لا تتشتت الرسالة</a:t>
            </a:r>
            <a:endParaRPr lang="ar-SA" sz="1600" dirty="0"/>
          </a:p>
          <a:p>
            <a:pPr rtl="1" algn="r" indent="0" marL="0">
              <a:lnSpc>
                <a:spcPts val="2400"/>
              </a:lnSpc>
              <a:buNone/>
            </a:pPr>
            <a:r>
              <a:rPr lang="ar-SA" altLang="en-US" sz="16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التسويقية.</a:t>
            </a:r>
            <a:endParaRPr lang="ar-SA" sz="1600" dirty="0"/>
          </a:p>
        </p:txBody>
      </p:sp>
      <p:sp>
        <p:nvSpPr>
          <p:cNvPr id="33" name="s22-shape-31"/>
          <p:cNvSpPr/>
          <p:nvPr/>
        </p:nvSpPr>
        <p:spPr>
          <a:xfrm>
            <a:off x="5638800" y="5125045"/>
            <a:ext cx="88900" cy="88900"/>
          </a:xfrm>
          <a:prstGeom prst="ellipse">
            <a:avLst/>
          </a:prstGeom>
          <a:solidFill>
            <a:srgbClr val="FF8D26"/>
          </a:solidFill>
          <a:ln/>
        </p:spPr>
      </p:sp>
      <p:sp>
        <p:nvSpPr>
          <p:cNvPr id="34" name="s22-text-32"/>
          <p:cNvSpPr txBox="1"/>
          <p:nvPr/>
        </p:nvSpPr>
        <p:spPr>
          <a:xfrm>
            <a:off x="704235" y="4947601"/>
            <a:ext cx="4807565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400"/>
              </a:lnSpc>
              <a:buNone/>
            </a:pPr>
            <a:r>
              <a:rPr lang="ar-SA" altLang="en-US" sz="16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الاعتماد على التنفيذ الميداني قد يسبب ضغطًا على المواعيد عند زيادة المشاريع.</a:t>
            </a:r>
            <a:endParaRPr lang="ar-SA" sz="1600" dirty="0"/>
          </a:p>
        </p:txBody>
      </p:sp>
      <p:sp>
        <p:nvSpPr>
          <p:cNvPr id="35" name="s22-shape-33"/>
          <p:cNvSpPr/>
          <p:nvPr/>
        </p:nvSpPr>
        <p:spPr>
          <a:xfrm>
            <a:off x="5638800" y="5506045"/>
            <a:ext cx="88900" cy="88900"/>
          </a:xfrm>
          <a:prstGeom prst="ellipse">
            <a:avLst/>
          </a:prstGeom>
          <a:solidFill>
            <a:srgbClr val="FF8D26"/>
          </a:solidFill>
          <a:ln/>
        </p:spPr>
      </p:sp>
      <p:sp>
        <p:nvSpPr>
          <p:cNvPr id="36" name="s22-text-34"/>
          <p:cNvSpPr txBox="1"/>
          <p:nvPr/>
        </p:nvSpPr>
        <p:spPr>
          <a:xfrm>
            <a:off x="1639923" y="5328601"/>
            <a:ext cx="3871877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400"/>
              </a:lnSpc>
              <a:buNone/>
            </a:pPr>
            <a:r>
              <a:rPr lang="ar-SA" altLang="en-US" sz="16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الحاجة إلى استمرارية أكبر في المحتوى وإبراز الخبرة التنفيذية.</a:t>
            </a:r>
            <a:endParaRPr lang="ar-SA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3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4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0" dur="489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75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53" presetClass="entr" presetSubtype="32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90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1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90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1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5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75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75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75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75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75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75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75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75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75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53" presetClass="entr" presetSubtype="32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4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900" fill="hold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1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900" fill="hold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1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59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75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75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59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75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75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750" fill="hold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750" fill="hold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75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75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75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75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750" fill="hold" decel="10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750" fill="hold" decel="10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750" fill="hold" decel="100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750" fill="hold" decel="100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42" presetClass="entr" presetSubtype="0" fill="hold" grpId="0" nodeType="withEffect">
                                  <p:stCondLst>
                                    <p:cond delay="73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75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75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73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75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75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750" fill="hold" decel="100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750" fill="hold" decel="100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42" presetClass="entr" presetSubtype="0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750" fill="hold" decel="100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750" fill="hold" decel="100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750" fill="hold" decel="100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750" fill="hold" decel="100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9" dur="750" fill="hold" decel="100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750" fill="hold" decel="100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42" presetClass="entr" presetSubtype="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750" fill="hold" decel="1000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750" fill="hold" decel="1000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42" presetClass="entr" presetSubtype="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9" dur="750" fill="hold" decel="100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750" fill="hold" decel="100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42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4" dur="750" fill="hold" decel="1000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750" fill="hold" decel="1000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42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6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9" dur="750" fill="hold" decel="100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750" fill="hold" decel="100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/>
      <p:bldP spid="11" grpId="0" animBg="1"/>
      <p:bldP spid="12" grpId="0"/>
      <p:bldP spid="13" grpId="0"/>
      <p:bldP spid="14" grpId="0" animBg="1"/>
      <p:bldP spid="15" grpId="0"/>
      <p:bldP spid="24" grpId="0" animBg="1"/>
      <p:bldP spid="16" grpId="0" animBg="1"/>
      <p:bldP spid="17" grpId="0"/>
      <p:bldP spid="25" grpId="0"/>
      <p:bldP spid="18" grpId="0" animBg="1"/>
      <p:bldP spid="19" grpId="0"/>
      <p:bldP spid="26" grpId="0"/>
      <p:bldP spid="20" grpId="0" animBg="1"/>
      <p:bldP spid="21" grpId="0"/>
      <p:bldP spid="27" grpId="0" animBg="1"/>
      <p:bldP spid="28" grpId="0"/>
      <p:bldP spid="22" grpId="0" animBg="1"/>
      <p:bldP spid="23" grpId="0"/>
      <p:bldP spid="29" grpId="0" animBg="1"/>
      <p:bldP spid="30" grpId="0"/>
      <p:bldP spid="31" grpId="0" animBg="1"/>
      <p:bldP spid="32" grpId="0"/>
      <p:bldP spid="33" grpId="0" animBg="1"/>
      <p:bldP spid="34" grpId="0"/>
      <p:bldP spid="35" grpId="0" animBg="1"/>
      <p:bldP spid="36" grpId="0"/>
    </p:bldLst>
  </p:timing>
</p:sld>
</file>

<file path=ppt/slides/slide23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lens"/>
          <p:cNvSpPr/>
          <p:nvPr/>
        </p:nvSpPr>
        <p:spPr>
          <a:xfrm>
            <a:off x="368300" y="127000"/>
            <a:ext cx="1206500" cy="1206500"/>
          </a:xfrm>
          <a:prstGeom prst="ellipse">
            <a:avLst/>
          </a:prstGeom>
          <a:solidFill>
            <a:srgbClr val="EEF2EF"/>
          </a:solidFill>
          <a:ln/>
        </p:spPr>
      </p:sp>
      <p:pic>
        <p:nvPicPr>
          <p:cNvPr id="3" name="!!mt" descr="شعار نظرة ثماني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-2700000">
            <a:off x="589260" y="357733"/>
            <a:ext cx="546100" cy="533400"/>
          </a:xfrm>
          <a:prstGeom prst="rect">
            <a:avLst/>
          </a:prstGeom>
        </p:spPr>
      </p:pic>
      <p:pic>
        <p:nvPicPr>
          <p:cNvPr id="4" name="!!mb" descr="شعار نظرة ثمانية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2700000">
            <a:off x="798165" y="585093"/>
            <a:ext cx="527050" cy="520700"/>
          </a:xfrm>
          <a:prstGeom prst="rect">
            <a:avLst/>
          </a:prstGeom>
        </p:spPr>
      </p:pic>
      <p:pic>
        <p:nvPicPr>
          <p:cNvPr id="5" name="!!ma" descr="شعار نظرة ثمانية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2700000">
            <a:off x="810518" y="528290"/>
            <a:ext cx="95250" cy="82550"/>
          </a:xfrm>
          <a:prstGeom prst="rect">
            <a:avLst/>
          </a:prstGeom>
        </p:spPr>
      </p:pic>
      <p:pic>
        <p:nvPicPr>
          <p:cNvPr id="6" name="!!hud" descr="!!hu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800" y="177800"/>
            <a:ext cx="11836400" cy="6502400"/>
          </a:xfrm>
          <a:prstGeom prst="rect">
            <a:avLst/>
          </a:prstGeom>
        </p:spPr>
      </p:pic>
      <p:sp>
        <p:nvSpPr>
          <p:cNvPr id="7" name="!!rec"/>
          <p:cNvSpPr/>
          <p:nvPr/>
        </p:nvSpPr>
        <p:spPr>
          <a:xfrm>
            <a:off x="635000" y="6337300"/>
            <a:ext cx="101600" cy="101600"/>
          </a:xfrm>
          <a:prstGeom prst="ellipse">
            <a:avLst/>
          </a:prstGeom>
          <a:solidFill>
            <a:srgbClr val="FF8D26"/>
          </a:solidFill>
          <a:ln/>
        </p:spPr>
      </p:sp>
      <p:sp>
        <p:nvSpPr>
          <p:cNvPr id="8" name="!!num"/>
          <p:cNvSpPr txBox="1"/>
          <p:nvPr/>
        </p:nvSpPr>
        <p:spPr>
          <a:xfrm>
            <a:off x="825500" y="6281750"/>
            <a:ext cx="686495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altLang="en-US" sz="1200" dirty="0">
                <a:solidFill>
                  <a:srgbClr val="5E6D7C"/>
                </a:solidFill>
                <a:latin typeface="Sakkal Saad TN Trial Light"/>
                <a:cs typeface="Sakkal Saad TN Trial Light"/>
              </a:rPr>
              <a:t>REC · 23</a:t>
            </a:r>
            <a:endParaRPr lang="en-US" sz="1200" dirty="0"/>
          </a:p>
        </p:txBody>
      </p:sp>
      <p:sp>
        <p:nvSpPr>
          <p:cNvPr id="9" name="!!kick"/>
          <p:cNvSpPr txBox="1"/>
          <p:nvPr/>
        </p:nvSpPr>
        <p:spPr>
          <a:xfrm>
            <a:off x="10362208" y="318834"/>
            <a:ext cx="1194792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ar-SA" altLang="en-US" sz="1500" b="1" dirty="0">
                <a:solidFill>
                  <a:srgbClr val="43644B"/>
                </a:solidFill>
                <a:latin typeface="Sakkal Saad TN Trial Light"/>
                <a:cs typeface="Sakkal Saad TN Trial Light"/>
              </a:rPr>
              <a:t>06</a:t>
            </a:r>
            <a:r>
              <a:rPr lang="ar-SA" altLang="en-US" sz="1500" dirty="0">
                <a:solidFill>
                  <a:srgbClr val="E9720C"/>
                </a:solidFill>
                <a:latin typeface="Sakkal Saad TN Trial Light"/>
                <a:cs typeface="Sakkal Saad TN Trial Light"/>
              </a:rPr>
              <a:t> تحليل SWOT</a:t>
            </a:r>
            <a:endParaRPr lang="ar-SA" sz="1500" dirty="0"/>
          </a:p>
        </p:txBody>
      </p:sp>
      <p:sp>
        <p:nvSpPr>
          <p:cNvPr id="10" name="s23-text-8"/>
          <p:cNvSpPr txBox="1"/>
          <p:nvPr/>
        </p:nvSpPr>
        <p:spPr>
          <a:xfrm>
            <a:off x="9265142" y="695134"/>
            <a:ext cx="2291858" cy="702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5130"/>
              </a:lnSpc>
              <a:buNone/>
            </a:pPr>
            <a:r>
              <a:rPr lang="ar-SA" altLang="en-US" sz="3800" b="1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تحليل SWOT</a:t>
            </a:r>
            <a:endParaRPr lang="ar-SA" sz="3800" dirty="0"/>
          </a:p>
        </p:txBody>
      </p:sp>
      <p:sp>
        <p:nvSpPr>
          <p:cNvPr id="11" name="s23-shape-9"/>
          <p:cNvSpPr/>
          <p:nvPr/>
        </p:nvSpPr>
        <p:spPr>
          <a:xfrm>
            <a:off x="6159500" y="1841500"/>
            <a:ext cx="5334000" cy="4445000"/>
          </a:xfrm>
          <a:prstGeom prst="roundRect">
            <a:avLst>
              <a:gd name="adj" fmla="val 5714"/>
            </a:avLst>
          </a:prstGeom>
          <a:solidFill>
            <a:srgbClr val="FFF7DE"/>
          </a:solidFill>
          <a:ln/>
        </p:spPr>
      </p:sp>
      <p:sp>
        <p:nvSpPr>
          <p:cNvPr id="12" name="s23-text-10"/>
          <p:cNvSpPr txBox="1"/>
          <p:nvPr/>
        </p:nvSpPr>
        <p:spPr>
          <a:xfrm>
            <a:off x="6413500" y="1688528"/>
            <a:ext cx="723602" cy="1130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00"/>
              </a:lnSpc>
              <a:buNone/>
            </a:pPr>
            <a:r>
              <a:rPr lang="en-US" altLang="en-US" sz="8500" b="1" dirty="0">
                <a:solidFill>
                  <a:srgbClr val="F6C342"/>
                </a:solidFill>
                <a:latin typeface="Sakkal Saad TN Trial Light"/>
                <a:cs typeface="Sakkal Saad TN Trial Light"/>
              </a:rPr>
              <a:t>O</a:t>
            </a:r>
            <a:endParaRPr lang="en-US" sz="8500" dirty="0"/>
          </a:p>
        </p:txBody>
      </p:sp>
      <p:sp>
        <p:nvSpPr>
          <p:cNvPr id="13" name="s23-text-11"/>
          <p:cNvSpPr txBox="1"/>
          <p:nvPr/>
        </p:nvSpPr>
        <p:spPr>
          <a:xfrm>
            <a:off x="6086348" y="2070068"/>
            <a:ext cx="5102352" cy="4451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3105"/>
              </a:lnSpc>
              <a:buNone/>
            </a:pPr>
            <a:r>
              <a:rPr lang="ar-SA" altLang="en-US" sz="2300" b="1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الفرص Opportunities</a:t>
            </a:r>
            <a:endParaRPr lang="ar-SA" sz="2300" dirty="0"/>
          </a:p>
        </p:txBody>
      </p:sp>
      <p:sp>
        <p:nvSpPr>
          <p:cNvPr id="14" name="s23-shape-12"/>
          <p:cNvSpPr/>
          <p:nvPr/>
        </p:nvSpPr>
        <p:spPr>
          <a:xfrm>
            <a:off x="11099800" y="3061295"/>
            <a:ext cx="88900" cy="88900"/>
          </a:xfrm>
          <a:prstGeom prst="ellipse">
            <a:avLst/>
          </a:prstGeom>
          <a:solidFill>
            <a:srgbClr val="FF8D26"/>
          </a:solidFill>
          <a:ln/>
        </p:spPr>
      </p:sp>
      <p:sp>
        <p:nvSpPr>
          <p:cNvPr id="15" name="s23-text-13"/>
          <p:cNvSpPr txBox="1"/>
          <p:nvPr/>
        </p:nvSpPr>
        <p:spPr>
          <a:xfrm>
            <a:off x="7148608" y="2890785"/>
            <a:ext cx="3824192" cy="346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325"/>
              </a:lnSpc>
              <a:buNone/>
            </a:pPr>
            <a:r>
              <a:rPr lang="ar-SA" altLang="en-US" sz="15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التوسع في قطاع الشركات والمصانع والمستودعات والمشاريع B2B.</a:t>
            </a:r>
            <a:endParaRPr lang="ar-SA" sz="1550" dirty="0"/>
          </a:p>
        </p:txBody>
      </p:sp>
      <p:sp>
        <p:nvSpPr>
          <p:cNvPr id="16" name="s23-shape-14"/>
          <p:cNvSpPr/>
          <p:nvPr/>
        </p:nvSpPr>
        <p:spPr>
          <a:xfrm>
            <a:off x="11099800" y="3407370"/>
            <a:ext cx="88900" cy="88900"/>
          </a:xfrm>
          <a:prstGeom prst="ellipse">
            <a:avLst/>
          </a:prstGeom>
          <a:solidFill>
            <a:srgbClr val="FF8D26"/>
          </a:solidFill>
          <a:ln/>
        </p:spPr>
      </p:sp>
      <p:sp>
        <p:nvSpPr>
          <p:cNvPr id="17" name="s23-text-15"/>
          <p:cNvSpPr txBox="1"/>
          <p:nvPr/>
        </p:nvSpPr>
        <p:spPr>
          <a:xfrm>
            <a:off x="6391763" y="3236860"/>
            <a:ext cx="4581037" cy="346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325"/>
              </a:lnSpc>
              <a:buNone/>
            </a:pPr>
            <a:r>
              <a:rPr lang="ar-SA" altLang="en-US" sz="15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تطوير باقات متخصصة حسب نوع الموقع: منازل، محلات، مكاتب ومنشآت.</a:t>
            </a:r>
            <a:endParaRPr lang="ar-SA" sz="1550" dirty="0"/>
          </a:p>
        </p:txBody>
      </p:sp>
      <p:sp>
        <p:nvSpPr>
          <p:cNvPr id="18" name="s23-shape-16"/>
          <p:cNvSpPr/>
          <p:nvPr/>
        </p:nvSpPr>
        <p:spPr>
          <a:xfrm>
            <a:off x="11099800" y="3753445"/>
            <a:ext cx="88900" cy="88900"/>
          </a:xfrm>
          <a:prstGeom prst="ellipse">
            <a:avLst/>
          </a:prstGeom>
          <a:solidFill>
            <a:srgbClr val="FF8D26"/>
          </a:solidFill>
          <a:ln/>
        </p:spPr>
      </p:sp>
      <p:sp>
        <p:nvSpPr>
          <p:cNvPr id="19" name="s23-text-17"/>
          <p:cNvSpPr txBox="1"/>
          <p:nvPr/>
        </p:nvSpPr>
        <p:spPr>
          <a:xfrm>
            <a:off x="7560731" y="3582935"/>
            <a:ext cx="3412069" cy="346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325"/>
              </a:lnSpc>
              <a:buNone/>
            </a:pPr>
            <a:r>
              <a:rPr lang="ar-SA" altLang="en-US" sz="15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تقديم عقود صيانة ودعم دوري لزيادة الإيرادات المتكررة.</a:t>
            </a:r>
            <a:endParaRPr lang="ar-SA" sz="1550" dirty="0"/>
          </a:p>
        </p:txBody>
      </p:sp>
      <p:sp>
        <p:nvSpPr>
          <p:cNvPr id="20" name="s23-shape-18"/>
          <p:cNvSpPr/>
          <p:nvPr/>
        </p:nvSpPr>
        <p:spPr>
          <a:xfrm>
            <a:off x="11099800" y="4099520"/>
            <a:ext cx="88900" cy="88900"/>
          </a:xfrm>
          <a:prstGeom prst="ellipse">
            <a:avLst/>
          </a:prstGeom>
          <a:solidFill>
            <a:srgbClr val="FF8D26"/>
          </a:solidFill>
          <a:ln/>
        </p:spPr>
      </p:sp>
      <p:sp>
        <p:nvSpPr>
          <p:cNvPr id="21" name="s23-text-19"/>
          <p:cNvSpPr txBox="1"/>
          <p:nvPr/>
        </p:nvSpPr>
        <p:spPr>
          <a:xfrm>
            <a:off x="6798421" y="3929010"/>
            <a:ext cx="4174379" cy="346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325"/>
              </a:lnSpc>
              <a:buNone/>
            </a:pPr>
            <a:r>
              <a:rPr lang="ar-SA" altLang="en-US" sz="15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الاستفادة من مشاريع تحديث الأنظمة القديمة وربطها بحلول أحدث.</a:t>
            </a:r>
            <a:endParaRPr lang="ar-SA" sz="1550" dirty="0"/>
          </a:p>
        </p:txBody>
      </p:sp>
      <p:sp>
        <p:nvSpPr>
          <p:cNvPr id="22" name="s23-shape-20"/>
          <p:cNvSpPr/>
          <p:nvPr/>
        </p:nvSpPr>
        <p:spPr>
          <a:xfrm>
            <a:off x="11099800" y="4445595"/>
            <a:ext cx="88900" cy="88900"/>
          </a:xfrm>
          <a:prstGeom prst="ellipse">
            <a:avLst/>
          </a:prstGeom>
          <a:solidFill>
            <a:srgbClr val="FF8D26"/>
          </a:solidFill>
          <a:ln/>
        </p:spPr>
      </p:sp>
      <p:sp>
        <p:nvSpPr>
          <p:cNvPr id="23" name="s23-text-21"/>
          <p:cNvSpPr txBox="1"/>
          <p:nvPr/>
        </p:nvSpPr>
        <p:spPr>
          <a:xfrm>
            <a:off x="6312789" y="4275085"/>
            <a:ext cx="4660011" cy="346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325"/>
              </a:lnSpc>
              <a:buNone/>
            </a:pPr>
            <a:r>
              <a:rPr lang="ar-SA" altLang="en-US" sz="15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زيادة المبيعات من خلال الربط بين المتجر الإلكتروني، Google وWhatsApp.</a:t>
            </a:r>
            <a:endParaRPr lang="ar-SA" sz="1550" dirty="0"/>
          </a:p>
        </p:txBody>
      </p:sp>
      <p:sp>
        <p:nvSpPr>
          <p:cNvPr id="24" name="s23-shape-22"/>
          <p:cNvSpPr/>
          <p:nvPr/>
        </p:nvSpPr>
        <p:spPr>
          <a:xfrm>
            <a:off x="11099800" y="4791670"/>
            <a:ext cx="88900" cy="88900"/>
          </a:xfrm>
          <a:prstGeom prst="ellipse">
            <a:avLst/>
          </a:prstGeom>
          <a:solidFill>
            <a:srgbClr val="FF8D26"/>
          </a:solidFill>
          <a:ln/>
        </p:spPr>
      </p:sp>
      <p:sp>
        <p:nvSpPr>
          <p:cNvPr id="25" name="s23-text-23"/>
          <p:cNvSpPr txBox="1"/>
          <p:nvPr/>
        </p:nvSpPr>
        <p:spPr>
          <a:xfrm>
            <a:off x="6687193" y="4621160"/>
            <a:ext cx="4285607" cy="346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325"/>
              </a:lnSpc>
              <a:buNone/>
            </a:pPr>
            <a:r>
              <a:rPr lang="ar-SA" altLang="en-US" sz="15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تنمية البيع المتقاطع بين الكاميرات، الشبكات، التخزين وأنظمة الدخول.</a:t>
            </a:r>
            <a:endParaRPr lang="ar-SA" sz="1550" dirty="0"/>
          </a:p>
        </p:txBody>
      </p:sp>
      <p:sp>
        <p:nvSpPr>
          <p:cNvPr id="26" name="s23-shape-24"/>
          <p:cNvSpPr/>
          <p:nvPr/>
        </p:nvSpPr>
        <p:spPr>
          <a:xfrm>
            <a:off x="698500" y="1841500"/>
            <a:ext cx="5334000" cy="44450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0" dist="76200" dir="5400000">
              <a:srgbClr val="1E2A36">
                <a:alpha val="10000"/>
              </a:srgbClr>
            </a:outerShdw>
          </a:effectLst>
        </p:spPr>
      </p:sp>
      <p:sp>
        <p:nvSpPr>
          <p:cNvPr id="27" name="s23-text-25"/>
          <p:cNvSpPr txBox="1"/>
          <p:nvPr/>
        </p:nvSpPr>
        <p:spPr>
          <a:xfrm>
            <a:off x="952500" y="1688528"/>
            <a:ext cx="658813" cy="1130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00"/>
              </a:lnSpc>
              <a:buNone/>
            </a:pPr>
            <a:r>
              <a:rPr lang="en-US" altLang="en-US" sz="8500" b="1" dirty="0">
                <a:solidFill>
                  <a:srgbClr val="859A8A"/>
                </a:solidFill>
                <a:latin typeface="Sakkal Saad TN Trial Light"/>
                <a:cs typeface="Sakkal Saad TN Trial Light"/>
              </a:rPr>
              <a:t>T</a:t>
            </a:r>
            <a:endParaRPr lang="en-US" sz="8500" dirty="0"/>
          </a:p>
        </p:txBody>
      </p:sp>
      <p:sp>
        <p:nvSpPr>
          <p:cNvPr id="28" name="s23-text-26"/>
          <p:cNvSpPr txBox="1"/>
          <p:nvPr/>
        </p:nvSpPr>
        <p:spPr>
          <a:xfrm>
            <a:off x="625348" y="2070068"/>
            <a:ext cx="5102352" cy="4451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3105"/>
              </a:lnSpc>
              <a:buNone/>
            </a:pPr>
            <a:r>
              <a:rPr lang="ar-SA" altLang="en-US" sz="2300" b="1" dirty="0">
                <a:solidFill>
                  <a:srgbClr val="E9720C"/>
                </a:solidFill>
                <a:latin typeface="Sakkal Saad TN Trial Light"/>
                <a:cs typeface="Sakkal Saad TN Trial Light"/>
              </a:rPr>
              <a:t>التهديدات Threats</a:t>
            </a:r>
            <a:endParaRPr lang="ar-SA" sz="2300" dirty="0"/>
          </a:p>
        </p:txBody>
      </p:sp>
      <p:sp>
        <p:nvSpPr>
          <p:cNvPr id="29" name="s23-shape-27"/>
          <p:cNvSpPr/>
          <p:nvPr/>
        </p:nvSpPr>
        <p:spPr>
          <a:xfrm>
            <a:off x="5638800" y="3061295"/>
            <a:ext cx="88900" cy="88900"/>
          </a:xfrm>
          <a:prstGeom prst="ellipse">
            <a:avLst/>
          </a:prstGeom>
          <a:solidFill>
            <a:srgbClr val="FF8D26"/>
          </a:solidFill>
          <a:ln/>
        </p:spPr>
      </p:sp>
      <p:sp>
        <p:nvSpPr>
          <p:cNvPr id="30" name="s23-text-28"/>
          <p:cNvSpPr txBox="1"/>
          <p:nvPr/>
        </p:nvSpPr>
        <p:spPr>
          <a:xfrm>
            <a:off x="1667034" y="2890785"/>
            <a:ext cx="3844766" cy="346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325"/>
              </a:lnSpc>
              <a:buNone/>
            </a:pPr>
            <a:r>
              <a:rPr lang="ar-SA" altLang="en-US" sz="15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المنافسة السعرية القوية من المتاجر والفنيين منخفضي التكلفة.</a:t>
            </a:r>
            <a:endParaRPr lang="ar-SA" sz="1550" dirty="0"/>
          </a:p>
        </p:txBody>
      </p:sp>
      <p:sp>
        <p:nvSpPr>
          <p:cNvPr id="31" name="s23-shape-29"/>
          <p:cNvSpPr/>
          <p:nvPr/>
        </p:nvSpPr>
        <p:spPr>
          <a:xfrm>
            <a:off x="5638800" y="3407370"/>
            <a:ext cx="88900" cy="88900"/>
          </a:xfrm>
          <a:prstGeom prst="ellipse">
            <a:avLst/>
          </a:prstGeom>
          <a:solidFill>
            <a:srgbClr val="FF8D26"/>
          </a:solidFill>
          <a:ln/>
        </p:spPr>
      </p:sp>
      <p:sp>
        <p:nvSpPr>
          <p:cNvPr id="32" name="s23-text-30"/>
          <p:cNvSpPr txBox="1"/>
          <p:nvPr/>
        </p:nvSpPr>
        <p:spPr>
          <a:xfrm>
            <a:off x="2934585" y="3236860"/>
            <a:ext cx="2577215" cy="346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325"/>
              </a:lnSpc>
              <a:buNone/>
            </a:pPr>
            <a:r>
              <a:rPr lang="ar-SA" altLang="en-US" sz="15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سهولة مقارنة أسعار الأجهزة عبر الإنترنت.</a:t>
            </a:r>
            <a:endParaRPr lang="ar-SA" sz="1550" dirty="0"/>
          </a:p>
        </p:txBody>
      </p:sp>
      <p:sp>
        <p:nvSpPr>
          <p:cNvPr id="33" name="s23-shape-31"/>
          <p:cNvSpPr/>
          <p:nvPr/>
        </p:nvSpPr>
        <p:spPr>
          <a:xfrm>
            <a:off x="5638800" y="3753445"/>
            <a:ext cx="88900" cy="88900"/>
          </a:xfrm>
          <a:prstGeom prst="ellipse">
            <a:avLst/>
          </a:prstGeom>
          <a:solidFill>
            <a:srgbClr val="FF8D26"/>
          </a:solidFill>
          <a:ln/>
        </p:spPr>
      </p:sp>
      <p:sp>
        <p:nvSpPr>
          <p:cNvPr id="34" name="s23-text-32"/>
          <p:cNvSpPr txBox="1"/>
          <p:nvPr/>
        </p:nvSpPr>
        <p:spPr>
          <a:xfrm>
            <a:off x="3209869" y="3582935"/>
            <a:ext cx="2301931" cy="346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325"/>
              </a:lnSpc>
              <a:buNone/>
            </a:pPr>
            <a:r>
              <a:rPr lang="ar-SA" altLang="en-US" sz="15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تغير أسعار الأجهزة والتوريد والشحن.</a:t>
            </a:r>
            <a:endParaRPr lang="ar-SA" sz="1550" dirty="0"/>
          </a:p>
        </p:txBody>
      </p:sp>
      <p:sp>
        <p:nvSpPr>
          <p:cNvPr id="35" name="s23-shape-33"/>
          <p:cNvSpPr/>
          <p:nvPr/>
        </p:nvSpPr>
        <p:spPr>
          <a:xfrm>
            <a:off x="5638800" y="4099520"/>
            <a:ext cx="88900" cy="88900"/>
          </a:xfrm>
          <a:prstGeom prst="ellipse">
            <a:avLst/>
          </a:prstGeom>
          <a:solidFill>
            <a:srgbClr val="FF8D26"/>
          </a:solidFill>
          <a:ln/>
        </p:spPr>
      </p:sp>
      <p:sp>
        <p:nvSpPr>
          <p:cNvPr id="36" name="s23-text-34"/>
          <p:cNvSpPr txBox="1"/>
          <p:nvPr/>
        </p:nvSpPr>
        <p:spPr>
          <a:xfrm>
            <a:off x="3527909" y="3929010"/>
            <a:ext cx="1983891" cy="346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325"/>
              </a:lnSpc>
              <a:buNone/>
            </a:pPr>
            <a:r>
              <a:rPr lang="ar-SA" altLang="en-US" sz="15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سرعة تطور التقنيات والموديلات.</a:t>
            </a:r>
            <a:endParaRPr lang="ar-SA" sz="1550" dirty="0"/>
          </a:p>
        </p:txBody>
      </p:sp>
      <p:sp>
        <p:nvSpPr>
          <p:cNvPr id="37" name="s23-shape-35"/>
          <p:cNvSpPr/>
          <p:nvPr/>
        </p:nvSpPr>
        <p:spPr>
          <a:xfrm>
            <a:off x="5638800" y="4445595"/>
            <a:ext cx="88900" cy="88900"/>
          </a:xfrm>
          <a:prstGeom prst="ellipse">
            <a:avLst/>
          </a:prstGeom>
          <a:solidFill>
            <a:srgbClr val="FF8D26"/>
          </a:solidFill>
          <a:ln/>
        </p:spPr>
      </p:sp>
      <p:sp>
        <p:nvSpPr>
          <p:cNvPr id="38" name="s23-text-36"/>
          <p:cNvSpPr txBox="1"/>
          <p:nvPr/>
        </p:nvSpPr>
        <p:spPr>
          <a:xfrm>
            <a:off x="642620" y="4275085"/>
            <a:ext cx="4869180" cy="641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325"/>
              </a:lnSpc>
              <a:buNone/>
            </a:pPr>
            <a:r>
              <a:rPr lang="ar-SA" altLang="en-US" sz="15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وجود منتجات منخفضة الجودة قد تجعل بعض العملاء يركزون على السعر</a:t>
            </a:r>
            <a:endParaRPr lang="ar-SA" sz="1550" dirty="0"/>
          </a:p>
          <a:p>
            <a:pPr rtl="1" algn="r" indent="0" marL="0">
              <a:lnSpc>
                <a:spcPts val="2325"/>
              </a:lnSpc>
              <a:buNone/>
            </a:pPr>
            <a:r>
              <a:rPr lang="ar-SA" altLang="en-US" sz="15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فقط.</a:t>
            </a:r>
            <a:endParaRPr lang="ar-SA" sz="1550" dirty="0"/>
          </a:p>
        </p:txBody>
      </p:sp>
      <p:sp>
        <p:nvSpPr>
          <p:cNvPr id="39" name="s23-shape-37"/>
          <p:cNvSpPr/>
          <p:nvPr/>
        </p:nvSpPr>
        <p:spPr>
          <a:xfrm>
            <a:off x="5638800" y="5086945"/>
            <a:ext cx="88900" cy="88900"/>
          </a:xfrm>
          <a:prstGeom prst="ellipse">
            <a:avLst/>
          </a:prstGeom>
          <a:solidFill>
            <a:srgbClr val="FF8D26"/>
          </a:solidFill>
          <a:ln/>
        </p:spPr>
      </p:sp>
      <p:sp>
        <p:nvSpPr>
          <p:cNvPr id="40" name="s23-text-38"/>
          <p:cNvSpPr txBox="1"/>
          <p:nvPr/>
        </p:nvSpPr>
        <p:spPr>
          <a:xfrm>
            <a:off x="1532231" y="4916435"/>
            <a:ext cx="3979569" cy="346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325"/>
              </a:lnSpc>
              <a:buNone/>
            </a:pPr>
            <a:r>
              <a:rPr lang="ar-SA" altLang="en-US" sz="15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تغير الاشتراطات والمتطلبات المتعلقة بأنظمة المراقبة والخصوصية.</a:t>
            </a:r>
            <a:endParaRPr lang="ar-SA" sz="15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3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4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0" dur="489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75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53" presetClass="entr" presetSubtype="32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90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1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90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1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5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75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75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75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750" fill="hold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750" fill="hold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75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75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75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75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53" presetClass="entr" presetSubtype="32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4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900" fill="hold" decel="10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1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900" fill="hold" decel="10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1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59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75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75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59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75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75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750" fill="hold" decel="100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750" fill="hold" decel="100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75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75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75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75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750" fill="hold" decel="100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750" fill="hold" decel="100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750" fill="hold" decel="100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750" fill="hold" decel="100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42" presetClass="entr" presetSubtype="0" fill="hold" grpId="0" nodeType="withEffect">
                                  <p:stCondLst>
                                    <p:cond delay="73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75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75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73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75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75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750" fill="hold" decel="100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750" fill="hold" decel="100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42" presetClass="entr" presetSubtype="0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750" fill="hold" decel="100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750" fill="hold" decel="100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75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75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9" dur="750" fill="hold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750" fill="hold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750" fill="hold" decel="1000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750" fill="hold" decel="1000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9" dur="750" fill="hold" decel="100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750" fill="hold" decel="100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42" presetClass="entr" presetSubtype="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4" dur="750" fill="hold" decel="1000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750" fill="hold" decel="1000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42" presetClass="entr" presetSubtype="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6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9" dur="750" fill="hold" decel="100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750" fill="hold" decel="100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42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6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4" dur="750" fill="hold" decel="100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750" fill="hold" decel="100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6" presetID="42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6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9" dur="750" fill="hold" decel="100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750" fill="hold" decel="100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1" presetID="42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6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4" dur="750" fill="hold" decel="100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750" fill="hold" decel="100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6" presetID="42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6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9" dur="750" fill="hold" decel="100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750" fill="hold" decel="100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/>
      <p:bldP spid="11" grpId="0" animBg="1"/>
      <p:bldP spid="12" grpId="0"/>
      <p:bldP spid="13" grpId="0"/>
      <p:bldP spid="14" grpId="0" animBg="1"/>
      <p:bldP spid="15" grpId="0"/>
      <p:bldP spid="26" grpId="0" animBg="1"/>
      <p:bldP spid="16" grpId="0" animBg="1"/>
      <p:bldP spid="17" grpId="0"/>
      <p:bldP spid="27" grpId="0"/>
      <p:bldP spid="18" grpId="0" animBg="1"/>
      <p:bldP spid="19" grpId="0"/>
      <p:bldP spid="28" grpId="0"/>
      <p:bldP spid="20" grpId="0" animBg="1"/>
      <p:bldP spid="21" grpId="0"/>
      <p:bldP spid="29" grpId="0" animBg="1"/>
      <p:bldP spid="30" grpId="0"/>
      <p:bldP spid="22" grpId="0" animBg="1"/>
      <p:bldP spid="23" grpId="0"/>
      <p:bldP spid="31" grpId="0" animBg="1"/>
      <p:bldP spid="32" grpId="0"/>
      <p:bldP spid="24" grpId="0" animBg="1"/>
      <p:bldP spid="25" grpId="0"/>
      <p:bldP spid="33" grpId="0" animBg="1"/>
      <p:bldP spid="34" grpId="0"/>
      <p:bldP spid="35" grpId="0" animBg="1"/>
      <p:bldP spid="36" grpId="0"/>
      <p:bldP spid="37" grpId="0" animBg="1"/>
      <p:bldP spid="38" grpId="0"/>
      <p:bldP spid="39" grpId="0" animBg="1"/>
      <p:bldP spid="40" grpId="0"/>
    </p:bldLst>
  </p:timing>
</p:sld>
</file>

<file path=ppt/slides/slide24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lens"/>
          <p:cNvSpPr/>
          <p:nvPr/>
        </p:nvSpPr>
        <p:spPr>
          <a:xfrm>
            <a:off x="368300" y="127000"/>
            <a:ext cx="1206500" cy="1206500"/>
          </a:xfrm>
          <a:prstGeom prst="ellipse">
            <a:avLst/>
          </a:prstGeom>
          <a:solidFill>
            <a:srgbClr val="EEF2EF"/>
          </a:solidFill>
          <a:ln/>
        </p:spPr>
      </p:sp>
      <p:pic>
        <p:nvPicPr>
          <p:cNvPr id="3" name="!!mt" descr="شعار نظرة ثمانية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341" y="318443"/>
            <a:ext cx="546100" cy="533400"/>
          </a:xfrm>
          <a:prstGeom prst="rect">
            <a:avLst/>
          </a:prstGeom>
        </p:spPr>
      </p:pic>
      <p:pic>
        <p:nvPicPr>
          <p:cNvPr id="4" name="!!mb" descr="شعار نظرة ثمانية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040" y="621903"/>
            <a:ext cx="527050" cy="520700"/>
          </a:xfrm>
          <a:prstGeom prst="rect">
            <a:avLst/>
          </a:prstGeom>
        </p:spPr>
      </p:pic>
      <p:pic>
        <p:nvPicPr>
          <p:cNvPr id="5" name="!!ma" descr="شعار نظرة ثمانية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3988" y="502196"/>
            <a:ext cx="95250" cy="82550"/>
          </a:xfrm>
          <a:prstGeom prst="rect">
            <a:avLst/>
          </a:prstGeom>
        </p:spPr>
      </p:pic>
      <p:pic>
        <p:nvPicPr>
          <p:cNvPr id="6" name="!!hud" descr="!!hud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7800" y="177800"/>
            <a:ext cx="11836400" cy="6502400"/>
          </a:xfrm>
          <a:prstGeom prst="rect">
            <a:avLst/>
          </a:prstGeom>
        </p:spPr>
      </p:pic>
      <p:sp>
        <p:nvSpPr>
          <p:cNvPr id="7" name="!!rec"/>
          <p:cNvSpPr/>
          <p:nvPr/>
        </p:nvSpPr>
        <p:spPr>
          <a:xfrm>
            <a:off x="635000" y="6337300"/>
            <a:ext cx="101600" cy="1016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!!num"/>
          <p:cNvSpPr txBox="1"/>
          <p:nvPr/>
        </p:nvSpPr>
        <p:spPr>
          <a:xfrm>
            <a:off x="825500" y="6281750"/>
            <a:ext cx="696516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altLang="en-US" sz="12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REC · 24</a:t>
            </a:r>
            <a:endParaRPr lang="en-US" sz="1200" dirty="0"/>
          </a:p>
        </p:txBody>
      </p:sp>
      <p:sp>
        <p:nvSpPr>
          <p:cNvPr id="9" name="!!kick"/>
          <p:cNvSpPr txBox="1"/>
          <p:nvPr/>
        </p:nvSpPr>
        <p:spPr>
          <a:xfrm>
            <a:off x="10362208" y="318834"/>
            <a:ext cx="1194792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ar-SA" altLang="en-US" sz="1500" b="1" dirty="0">
                <a:solidFill>
                  <a:srgbClr val="FFFFFF"/>
                </a:solidFill>
                <a:latin typeface="Sakkal Saad TN Trial Light"/>
                <a:cs typeface="Sakkal Saad TN Trial Light"/>
              </a:rPr>
              <a:t>06</a:t>
            </a:r>
            <a:r>
              <a:rPr lang="ar-SA" altLang="en-US" sz="15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 تحليل SWOT</a:t>
            </a:r>
            <a:endParaRPr lang="ar-SA" sz="1500" dirty="0"/>
          </a:p>
        </p:txBody>
      </p:sp>
      <p:sp>
        <p:nvSpPr>
          <p:cNvPr id="10" name="!!lens2"/>
          <p:cNvSpPr/>
          <p:nvPr/>
        </p:nvSpPr>
        <p:spPr>
          <a:xfrm>
            <a:off x="-1270000" y="1143000"/>
            <a:ext cx="6350000" cy="6350000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pic>
        <p:nvPicPr>
          <p:cNvPr id="11" name="s24-asset-10" descr="شعار نظرة ثمانية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3000" y="1587450"/>
            <a:ext cx="2794000" cy="4178300"/>
          </a:xfrm>
          <a:prstGeom prst="rect">
            <a:avLst/>
          </a:prstGeom>
        </p:spPr>
      </p:pic>
      <p:sp>
        <p:nvSpPr>
          <p:cNvPr id="12" name="s24-text-11"/>
          <p:cNvSpPr txBox="1"/>
          <p:nvPr/>
        </p:nvSpPr>
        <p:spPr>
          <a:xfrm>
            <a:off x="9459353" y="1302296"/>
            <a:ext cx="2034147" cy="459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3220"/>
              </a:lnSpc>
              <a:buNone/>
            </a:pPr>
            <a:r>
              <a:rPr lang="ar-SA" altLang="en-US" sz="23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الخلاصة الاستراتيجية</a:t>
            </a:r>
            <a:endParaRPr lang="ar-SA" sz="2300" dirty="0"/>
          </a:p>
        </p:txBody>
      </p:sp>
      <p:pic>
        <p:nvPicPr>
          <p:cNvPr id="13" name="s24-snap-12" descr="s24-snap-12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66424" y="1549400"/>
            <a:ext cx="1628676" cy="2457450"/>
          </a:xfrm>
          <a:prstGeom prst="rect">
            <a:avLst/>
          </a:prstGeom>
        </p:spPr>
      </p:pic>
      <p:sp>
        <p:nvSpPr>
          <p:cNvPr id="14" name="s24-shape-13"/>
          <p:cNvSpPr/>
          <p:nvPr/>
        </p:nvSpPr>
        <p:spPr>
          <a:xfrm>
            <a:off x="4762500" y="4064000"/>
            <a:ext cx="6731000" cy="215900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0" dist="76200" dir="5400000">
              <a:srgbClr val="1E2A36">
                <a:alpha val="10000"/>
              </a:srgbClr>
            </a:outerShdw>
          </a:effectLst>
        </p:spPr>
      </p:sp>
      <p:pic>
        <p:nvPicPr>
          <p:cNvPr id="15" name="s24-snap-14" descr="s24-snap-14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52100" y="4305300"/>
            <a:ext cx="774700" cy="774700"/>
          </a:xfrm>
          <a:prstGeom prst="rect">
            <a:avLst/>
          </a:prstGeom>
        </p:spPr>
      </p:pic>
      <p:sp>
        <p:nvSpPr>
          <p:cNvPr id="16" name="s24-text-15"/>
          <p:cNvSpPr txBox="1"/>
          <p:nvPr/>
        </p:nvSpPr>
        <p:spPr>
          <a:xfrm>
            <a:off x="4650740" y="4254659"/>
            <a:ext cx="5623560" cy="1178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960"/>
              </a:lnSpc>
              <a:buNone/>
            </a:pPr>
            <a:r>
              <a:rPr lang="ar-SA" altLang="en-US" sz="18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تتجه نظرة ثمانية إلى استراتيجية نمو من خلال التوسع في شرائح العملاء</a:t>
            </a:r>
            <a:endParaRPr lang="ar-SA" sz="1850" dirty="0"/>
          </a:p>
          <a:p>
            <a:pPr rtl="1" algn="r" indent="0" marL="0">
              <a:lnSpc>
                <a:spcPts val="2960"/>
              </a:lnSpc>
              <a:buNone/>
            </a:pPr>
            <a:r>
              <a:rPr lang="ar-SA" altLang="en-US" sz="18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والمشاريع، تطوير الباقات والخدمات، وزيادة المبيعات عبر القنوات الرقمية، مع</a:t>
            </a:r>
            <a:endParaRPr lang="ar-SA" sz="1850" dirty="0"/>
          </a:p>
          <a:p>
            <a:pPr rtl="1" algn="r" indent="0" marL="0">
              <a:lnSpc>
                <a:spcPts val="2960"/>
              </a:lnSpc>
              <a:buNone/>
            </a:pPr>
            <a:r>
              <a:rPr lang="ar-SA" altLang="en-US" sz="18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تحسين الحضور التسويقي والدليل الاجتماعي لدعم هذا النمو.</a:t>
            </a:r>
            <a:endParaRPr lang="ar-SA" sz="18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3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4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3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900" fill="hold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900" fill="hold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75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32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1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1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3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10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5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10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5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10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11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75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75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75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75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7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2" grpId="0"/>
      <p:bldP spid="14" grpId="0" animBg="1"/>
      <p:bldP spid="16" grpId="0"/>
    </p:bldLst>
  </p:timing>
</p:sld>
</file>

<file path=ppt/slides/slide25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lens"/>
          <p:cNvSpPr/>
          <p:nvPr/>
        </p:nvSpPr>
        <p:spPr>
          <a:xfrm>
            <a:off x="-635000" y="-127000"/>
            <a:ext cx="7112000" cy="7112000"/>
          </a:xfrm>
          <a:prstGeom prst="ellipse">
            <a:avLst/>
          </a:prstGeom>
          <a:solidFill>
            <a:srgbClr val="FFFFFF">
              <a:alpha val="7000"/>
            </a:srgbClr>
          </a:solidFill>
          <a:ln/>
        </p:spPr>
      </p:sp>
      <p:pic>
        <p:nvPicPr>
          <p:cNvPr id="3" name="!!mt" descr="شعار نظرة ثمانية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5400000">
            <a:off x="900013" y="2109788"/>
            <a:ext cx="2635250" cy="2597150"/>
          </a:xfrm>
          <a:prstGeom prst="rect">
            <a:avLst/>
          </a:prstGeom>
        </p:spPr>
      </p:pic>
      <p:pic>
        <p:nvPicPr>
          <p:cNvPr id="4" name="!!mb" descr="شعار نظرة ثمانية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5400000">
            <a:off x="2375843" y="2218928"/>
            <a:ext cx="2565400" cy="2527300"/>
          </a:xfrm>
          <a:prstGeom prst="rect">
            <a:avLst/>
          </a:prstGeom>
        </p:spPr>
      </p:pic>
      <p:pic>
        <p:nvPicPr>
          <p:cNvPr id="5" name="!!ma" descr="شعار نظرة ثمانية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-5400000">
            <a:off x="1782961" y="3027908"/>
            <a:ext cx="463550" cy="412750"/>
          </a:xfrm>
          <a:prstGeom prst="rect">
            <a:avLst/>
          </a:prstGeom>
        </p:spPr>
      </p:pic>
      <p:pic>
        <p:nvPicPr>
          <p:cNvPr id="6" name="!!hud" descr="!!hud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7800" y="177800"/>
            <a:ext cx="11836400" cy="6502400"/>
          </a:xfrm>
          <a:prstGeom prst="rect">
            <a:avLst/>
          </a:prstGeom>
        </p:spPr>
      </p:pic>
      <p:sp>
        <p:nvSpPr>
          <p:cNvPr id="7" name="!!rec"/>
          <p:cNvSpPr/>
          <p:nvPr/>
        </p:nvSpPr>
        <p:spPr>
          <a:xfrm>
            <a:off x="635000" y="6337300"/>
            <a:ext cx="101600" cy="101600"/>
          </a:xfrm>
          <a:prstGeom prst="ellipse">
            <a:avLst/>
          </a:prstGeom>
          <a:solidFill>
            <a:srgbClr val="FF8D26"/>
          </a:solidFill>
          <a:ln/>
        </p:spPr>
      </p:sp>
      <p:sp>
        <p:nvSpPr>
          <p:cNvPr id="8" name="!!num"/>
          <p:cNvSpPr txBox="1"/>
          <p:nvPr/>
        </p:nvSpPr>
        <p:spPr>
          <a:xfrm>
            <a:off x="825500" y="6281750"/>
            <a:ext cx="688578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altLang="en-US" sz="1200" dirty="0">
                <a:solidFill>
                  <a:srgbClr val="D9E0DB"/>
                </a:solidFill>
                <a:latin typeface="Sakkal Saad TN Trial Light"/>
                <a:cs typeface="Sakkal Saad TN Trial Light"/>
              </a:rPr>
              <a:t>REC · 25</a:t>
            </a:r>
            <a:endParaRPr lang="en-US" sz="1200" dirty="0"/>
          </a:p>
        </p:txBody>
      </p:sp>
      <p:pic>
        <p:nvPicPr>
          <p:cNvPr id="9" name="s25-snap-8" descr="s25-snap-8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3809" y="1041400"/>
            <a:ext cx="1880791" cy="1981200"/>
          </a:xfrm>
          <a:prstGeom prst="rect">
            <a:avLst/>
          </a:prstGeom>
        </p:spPr>
      </p:pic>
      <p:pic>
        <p:nvPicPr>
          <p:cNvPr id="10" name="s25-snap-9" descr="s25-snap-9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78400" y="3263900"/>
            <a:ext cx="6426200" cy="121404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3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4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53" presetClass="entr" presetSubtype="3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9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1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9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1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9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5" dur="63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6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lens"/>
          <p:cNvSpPr/>
          <p:nvPr/>
        </p:nvSpPr>
        <p:spPr>
          <a:xfrm>
            <a:off x="368300" y="127000"/>
            <a:ext cx="1206500" cy="1206500"/>
          </a:xfrm>
          <a:prstGeom prst="ellipse">
            <a:avLst/>
          </a:prstGeom>
          <a:solidFill>
            <a:srgbClr val="EEF2EF"/>
          </a:solidFill>
          <a:ln/>
        </p:spPr>
      </p:sp>
      <p:pic>
        <p:nvPicPr>
          <p:cNvPr id="3" name="!!mt" descr="شعار نظرة ثماني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5400000">
            <a:off x="833735" y="467668"/>
            <a:ext cx="546100" cy="533400"/>
          </a:xfrm>
          <a:prstGeom prst="rect">
            <a:avLst/>
          </a:prstGeom>
        </p:spPr>
      </p:pic>
      <p:pic>
        <p:nvPicPr>
          <p:cNvPr id="4" name="!!mb" descr="شعار نظرة ثمانية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546050" y="458688"/>
            <a:ext cx="527050" cy="520700"/>
          </a:xfrm>
          <a:prstGeom prst="rect">
            <a:avLst/>
          </a:prstGeom>
        </p:spPr>
      </p:pic>
      <p:pic>
        <p:nvPicPr>
          <p:cNvPr id="5" name="!!ma" descr="شعار نظرة ثمانية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101328" y="728911"/>
            <a:ext cx="95250" cy="82550"/>
          </a:xfrm>
          <a:prstGeom prst="rect">
            <a:avLst/>
          </a:prstGeom>
        </p:spPr>
      </p:pic>
      <p:pic>
        <p:nvPicPr>
          <p:cNvPr id="6" name="!!hud" descr="!!hu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800" y="177800"/>
            <a:ext cx="11836400" cy="6502400"/>
          </a:xfrm>
          <a:prstGeom prst="rect">
            <a:avLst/>
          </a:prstGeom>
        </p:spPr>
      </p:pic>
      <p:sp>
        <p:nvSpPr>
          <p:cNvPr id="7" name="!!rec"/>
          <p:cNvSpPr/>
          <p:nvPr/>
        </p:nvSpPr>
        <p:spPr>
          <a:xfrm>
            <a:off x="635000" y="6337300"/>
            <a:ext cx="101600" cy="101600"/>
          </a:xfrm>
          <a:prstGeom prst="ellipse">
            <a:avLst/>
          </a:prstGeom>
          <a:solidFill>
            <a:srgbClr val="FF8D26"/>
          </a:solidFill>
          <a:ln/>
        </p:spPr>
      </p:sp>
      <p:sp>
        <p:nvSpPr>
          <p:cNvPr id="8" name="!!num"/>
          <p:cNvSpPr txBox="1"/>
          <p:nvPr/>
        </p:nvSpPr>
        <p:spPr>
          <a:xfrm>
            <a:off x="825500" y="6281750"/>
            <a:ext cx="690959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altLang="en-US" sz="1200" dirty="0">
                <a:solidFill>
                  <a:srgbClr val="5E6D7C"/>
                </a:solidFill>
                <a:latin typeface="Sakkal Saad TN Trial Light"/>
                <a:cs typeface="Sakkal Saad TN Trial Light"/>
              </a:rPr>
              <a:t>REC · 26</a:t>
            </a:r>
            <a:endParaRPr lang="en-US" sz="1200" dirty="0"/>
          </a:p>
        </p:txBody>
      </p:sp>
      <p:sp>
        <p:nvSpPr>
          <p:cNvPr id="9" name="!!kick"/>
          <p:cNvSpPr txBox="1"/>
          <p:nvPr/>
        </p:nvSpPr>
        <p:spPr>
          <a:xfrm>
            <a:off x="9854180" y="318834"/>
            <a:ext cx="170282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ar-SA" altLang="en-US" sz="1500" b="1" dirty="0">
                <a:solidFill>
                  <a:srgbClr val="43644B"/>
                </a:solidFill>
                <a:latin typeface="Sakkal Saad TN Trial Light"/>
                <a:cs typeface="Sakkal Saad TN Trial Light"/>
              </a:rPr>
              <a:t>07</a:t>
            </a:r>
            <a:r>
              <a:rPr lang="ar-SA" altLang="en-US" sz="1500" dirty="0">
                <a:solidFill>
                  <a:srgbClr val="E9720C"/>
                </a:solidFill>
                <a:latin typeface="Sakkal Saad TN Trial Light"/>
                <a:cs typeface="Sakkal Saad TN Trial Light"/>
              </a:rPr>
              <a:t> الاستراتيجية التسويقية</a:t>
            </a:r>
            <a:endParaRPr lang="ar-SA" sz="1500" dirty="0"/>
          </a:p>
        </p:txBody>
      </p:sp>
      <p:sp>
        <p:nvSpPr>
          <p:cNvPr id="10" name="s26-text-8"/>
          <p:cNvSpPr txBox="1"/>
          <p:nvPr/>
        </p:nvSpPr>
        <p:spPr>
          <a:xfrm>
            <a:off x="6255016" y="695134"/>
            <a:ext cx="5301984" cy="702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5130"/>
              </a:lnSpc>
              <a:buNone/>
            </a:pPr>
            <a:r>
              <a:rPr lang="ar-SA" altLang="en-US" sz="3800" b="1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الاستراتيجية التسويقية لنظرة ثمانية</a:t>
            </a:r>
            <a:endParaRPr lang="ar-SA" sz="3800" dirty="0"/>
          </a:p>
        </p:txBody>
      </p:sp>
      <p:sp>
        <p:nvSpPr>
          <p:cNvPr id="11" name="s26-shape-9"/>
          <p:cNvSpPr/>
          <p:nvPr/>
        </p:nvSpPr>
        <p:spPr>
          <a:xfrm>
            <a:off x="825500" y="1905000"/>
            <a:ext cx="3937000" cy="3937000"/>
          </a:xfrm>
          <a:prstGeom prst="ellipse">
            <a:avLst/>
          </a:prstGeom>
          <a:solidFill>
            <a:srgbClr val="EEF2EF"/>
          </a:solidFill>
          <a:ln/>
        </p:spPr>
      </p:sp>
      <p:sp>
        <p:nvSpPr>
          <p:cNvPr id="12" name="s26-shape-10"/>
          <p:cNvSpPr/>
          <p:nvPr/>
        </p:nvSpPr>
        <p:spPr>
          <a:xfrm>
            <a:off x="1365250" y="2444750"/>
            <a:ext cx="2857500" cy="28575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s26-shape-11"/>
          <p:cNvSpPr/>
          <p:nvPr/>
        </p:nvSpPr>
        <p:spPr>
          <a:xfrm>
            <a:off x="1905000" y="2984500"/>
            <a:ext cx="1778000" cy="1778000"/>
          </a:xfrm>
          <a:prstGeom prst="ellipse">
            <a:avLst/>
          </a:prstGeom>
          <a:solidFill>
            <a:srgbClr val="FF8D26"/>
          </a:solidFill>
          <a:ln/>
        </p:spPr>
      </p:sp>
      <p:sp>
        <p:nvSpPr>
          <p:cNvPr id="14" name="s26-shape-12"/>
          <p:cNvSpPr/>
          <p:nvPr/>
        </p:nvSpPr>
        <p:spPr>
          <a:xfrm>
            <a:off x="2444750" y="3524250"/>
            <a:ext cx="698500" cy="698500"/>
          </a:xfrm>
          <a:prstGeom prst="ellipse">
            <a:avLst/>
          </a:prstGeom>
          <a:solidFill>
            <a:srgbClr val="F6C342"/>
          </a:solidFill>
          <a:ln/>
        </p:spPr>
      </p:sp>
      <p:pic>
        <p:nvPicPr>
          <p:cNvPr id="15" name="s26-snap-13" descr="s26-snap-13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400" y="1739900"/>
            <a:ext cx="4267200" cy="4267200"/>
          </a:xfrm>
          <a:prstGeom prst="rect">
            <a:avLst/>
          </a:prstGeom>
        </p:spPr>
      </p:pic>
      <p:sp>
        <p:nvSpPr>
          <p:cNvPr id="16" name="s26-text-14"/>
          <p:cNvSpPr txBox="1"/>
          <p:nvPr/>
        </p:nvSpPr>
        <p:spPr>
          <a:xfrm>
            <a:off x="9837614" y="2000910"/>
            <a:ext cx="1655886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3080"/>
              </a:lnSpc>
              <a:buNone/>
            </a:pPr>
            <a:r>
              <a:rPr lang="ar-SA" altLang="en-US" sz="2200" b="1" dirty="0">
                <a:solidFill>
                  <a:srgbClr val="E9720C"/>
                </a:solidFill>
                <a:latin typeface="Sakkal Saad TN Trial Light"/>
                <a:cs typeface="Sakkal Saad TN Trial Light"/>
              </a:rPr>
              <a:t>الهدف العام للحملة</a:t>
            </a:r>
            <a:endParaRPr lang="ar-SA" sz="2200" dirty="0"/>
          </a:p>
        </p:txBody>
      </p:sp>
      <p:sp>
        <p:nvSpPr>
          <p:cNvPr id="17" name="s26-text-15"/>
          <p:cNvSpPr txBox="1"/>
          <p:nvPr/>
        </p:nvSpPr>
        <p:spPr>
          <a:xfrm>
            <a:off x="4909820" y="2549785"/>
            <a:ext cx="6583680" cy="197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3795"/>
              </a:lnSpc>
              <a:buNone/>
            </a:pPr>
            <a:r>
              <a:rPr lang="ar-SA" altLang="en-US" sz="23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تهدف الحملة التسويقية إلى زيادة مبيعات منتجات وباقات نظرة ثمانية من</a:t>
            </a:r>
            <a:endParaRPr lang="ar-SA" sz="2300" dirty="0"/>
          </a:p>
          <a:p>
            <a:pPr rtl="1" algn="r" indent="0" marL="0">
              <a:lnSpc>
                <a:spcPts val="3795"/>
              </a:lnSpc>
              <a:buNone/>
            </a:pPr>
            <a:r>
              <a:rPr lang="ar-SA" altLang="en-US" sz="23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خلال الوصول إلى العملاء المناسبين، وتعريفهم بالحلول الأمنية والتقنية</a:t>
            </a:r>
            <a:endParaRPr lang="ar-SA" sz="2300" dirty="0"/>
          </a:p>
          <a:p>
            <a:pPr rtl="1" algn="r" indent="0" marL="0">
              <a:lnSpc>
                <a:spcPts val="3795"/>
              </a:lnSpc>
              <a:buNone/>
            </a:pPr>
            <a:r>
              <a:rPr lang="ar-SA" altLang="en-US" sz="23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التي تناسب احتياجاتهم، وبناء الثقة بالعلامة ثم توجيههم إلى المتجر</a:t>
            </a:r>
            <a:endParaRPr lang="ar-SA" sz="2300" dirty="0"/>
          </a:p>
          <a:p>
            <a:pPr rtl="1" algn="r" indent="0" marL="0">
              <a:lnSpc>
                <a:spcPts val="3795"/>
              </a:lnSpc>
              <a:buNone/>
            </a:pPr>
            <a:r>
              <a:rPr lang="ar-SA" altLang="en-US" sz="23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الإلكتروني أو واتساب لإتمام عملية الشراء أو طلب عرض سعر.</a:t>
            </a:r>
            <a:endParaRPr lang="ar-SA" sz="23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3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4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0" dur="489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3" presetClass="entr" presetSubtype="16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3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90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90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75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75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3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90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90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75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63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90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90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7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89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70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70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/>
      <p:bldP spid="11" grpId="0" animBg="1"/>
      <p:bldP spid="16" grpId="0"/>
      <p:bldP spid="12" grpId="0" animBg="1"/>
      <p:bldP spid="17" grpId="0"/>
      <p:bldP spid="13" grpId="0" animBg="1"/>
      <p:bldP spid="14" grpId="0" animBg="1"/>
    </p:bldLst>
  </p:timing>
</p:sld>
</file>

<file path=ppt/slides/slide27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lens"/>
          <p:cNvSpPr/>
          <p:nvPr/>
        </p:nvSpPr>
        <p:spPr>
          <a:xfrm>
            <a:off x="368300" y="127000"/>
            <a:ext cx="1206500" cy="1206500"/>
          </a:xfrm>
          <a:prstGeom prst="ellipse">
            <a:avLst/>
          </a:prstGeom>
          <a:solidFill>
            <a:srgbClr val="EEF2EF"/>
          </a:solidFill>
          <a:ln/>
        </p:spPr>
      </p:sp>
      <p:pic>
        <p:nvPicPr>
          <p:cNvPr id="3" name="!!mt" descr="شعار نظرة ثماني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8100000">
            <a:off x="788591" y="569268"/>
            <a:ext cx="546100" cy="533400"/>
          </a:xfrm>
          <a:prstGeom prst="rect">
            <a:avLst/>
          </a:prstGeom>
        </p:spPr>
      </p:pic>
      <p:pic>
        <p:nvPicPr>
          <p:cNvPr id="4" name="!!mb" descr="شعار نظرة ثمانية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8100000">
            <a:off x="598140" y="354608"/>
            <a:ext cx="527050" cy="520700"/>
          </a:xfrm>
          <a:prstGeom prst="rect">
            <a:avLst/>
          </a:prstGeom>
        </p:spPr>
      </p:pic>
      <p:pic>
        <p:nvPicPr>
          <p:cNvPr id="5" name="!!ma" descr="شعار نظرة ثمانية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8100000">
            <a:off x="1018183" y="849561"/>
            <a:ext cx="95250" cy="82550"/>
          </a:xfrm>
          <a:prstGeom prst="rect">
            <a:avLst/>
          </a:prstGeom>
        </p:spPr>
      </p:pic>
      <p:pic>
        <p:nvPicPr>
          <p:cNvPr id="6" name="!!hud" descr="!!hu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800" y="177800"/>
            <a:ext cx="11836400" cy="6502400"/>
          </a:xfrm>
          <a:prstGeom prst="rect">
            <a:avLst/>
          </a:prstGeom>
        </p:spPr>
      </p:pic>
      <p:sp>
        <p:nvSpPr>
          <p:cNvPr id="7" name="!!rec"/>
          <p:cNvSpPr/>
          <p:nvPr/>
        </p:nvSpPr>
        <p:spPr>
          <a:xfrm>
            <a:off x="635000" y="6337300"/>
            <a:ext cx="101600" cy="101600"/>
          </a:xfrm>
          <a:prstGeom prst="ellipse">
            <a:avLst/>
          </a:prstGeom>
          <a:solidFill>
            <a:srgbClr val="FF8D26"/>
          </a:solidFill>
          <a:ln/>
        </p:spPr>
      </p:sp>
      <p:sp>
        <p:nvSpPr>
          <p:cNvPr id="8" name="!!num"/>
          <p:cNvSpPr txBox="1"/>
          <p:nvPr/>
        </p:nvSpPr>
        <p:spPr>
          <a:xfrm>
            <a:off x="825500" y="6281750"/>
            <a:ext cx="680343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altLang="en-US" sz="1200" dirty="0">
                <a:solidFill>
                  <a:srgbClr val="5E6D7C"/>
                </a:solidFill>
                <a:latin typeface="Sakkal Saad TN Trial Light"/>
                <a:cs typeface="Sakkal Saad TN Trial Light"/>
              </a:rPr>
              <a:t>REC · 27</a:t>
            </a:r>
            <a:endParaRPr lang="en-US" sz="1200" dirty="0"/>
          </a:p>
        </p:txBody>
      </p:sp>
      <p:sp>
        <p:nvSpPr>
          <p:cNvPr id="9" name="!!kick"/>
          <p:cNvSpPr txBox="1"/>
          <p:nvPr/>
        </p:nvSpPr>
        <p:spPr>
          <a:xfrm>
            <a:off x="9854180" y="318834"/>
            <a:ext cx="170282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ar-SA" altLang="en-US" sz="1500" b="1" dirty="0">
                <a:solidFill>
                  <a:srgbClr val="43644B"/>
                </a:solidFill>
                <a:latin typeface="Sakkal Saad TN Trial Light"/>
                <a:cs typeface="Sakkal Saad TN Trial Light"/>
              </a:rPr>
              <a:t>07</a:t>
            </a:r>
            <a:r>
              <a:rPr lang="ar-SA" altLang="en-US" sz="1500" dirty="0">
                <a:solidFill>
                  <a:srgbClr val="E9720C"/>
                </a:solidFill>
                <a:latin typeface="Sakkal Saad TN Trial Light"/>
                <a:cs typeface="Sakkal Saad TN Trial Light"/>
              </a:rPr>
              <a:t> الاستراتيجية التسويقية</a:t>
            </a:r>
            <a:endParaRPr lang="ar-SA" sz="1500" dirty="0"/>
          </a:p>
        </p:txBody>
      </p:sp>
      <p:sp>
        <p:nvSpPr>
          <p:cNvPr id="10" name="s27-text-8"/>
          <p:cNvSpPr txBox="1"/>
          <p:nvPr/>
        </p:nvSpPr>
        <p:spPr>
          <a:xfrm>
            <a:off x="8625419" y="695134"/>
            <a:ext cx="2931581" cy="702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5130"/>
              </a:lnSpc>
              <a:buNone/>
            </a:pPr>
            <a:r>
              <a:rPr lang="ar-SA" altLang="en-US" sz="3800" b="1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الأهداف التفصيلية</a:t>
            </a:r>
            <a:endParaRPr lang="ar-SA" sz="3800" dirty="0"/>
          </a:p>
        </p:txBody>
      </p:sp>
      <p:sp>
        <p:nvSpPr>
          <p:cNvPr id="11" name="s27-shape-9"/>
          <p:cNvSpPr/>
          <p:nvPr/>
        </p:nvSpPr>
        <p:spPr>
          <a:xfrm>
            <a:off x="8921750" y="1905000"/>
            <a:ext cx="2571750" cy="2044700"/>
          </a:xfrm>
          <a:prstGeom prst="roundRect">
            <a:avLst>
              <a:gd name="adj" fmla="val 12422"/>
            </a:avLst>
          </a:prstGeom>
          <a:solidFill>
            <a:srgbClr val="43644B"/>
          </a:solidFill>
          <a:ln/>
        </p:spPr>
      </p:sp>
      <p:pic>
        <p:nvPicPr>
          <p:cNvPr id="12" name="s27-snap-10" descr="s27-snap-10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06100" y="2082800"/>
            <a:ext cx="609600" cy="609600"/>
          </a:xfrm>
          <a:prstGeom prst="rect">
            <a:avLst/>
          </a:prstGeom>
        </p:spPr>
      </p:pic>
      <p:sp>
        <p:nvSpPr>
          <p:cNvPr id="13" name="s27-text-11"/>
          <p:cNvSpPr txBox="1"/>
          <p:nvPr/>
        </p:nvSpPr>
        <p:spPr>
          <a:xfrm>
            <a:off x="9036050" y="2155457"/>
            <a:ext cx="426442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700"/>
              </a:lnSpc>
              <a:buNone/>
            </a:pPr>
            <a:r>
              <a:rPr lang="ar-SA" altLang="en-US" sz="2700" b="1" dirty="0">
                <a:solidFill>
                  <a:srgbClr val="98AA9C"/>
                </a:solidFill>
                <a:latin typeface="Sakkal Saad TN Trial Light"/>
                <a:cs typeface="Sakkal Saad TN Trial Light"/>
              </a:rPr>
              <a:t>01</a:t>
            </a:r>
            <a:endParaRPr lang="ar-SA" sz="2700" dirty="0"/>
          </a:p>
        </p:txBody>
      </p:sp>
      <p:sp>
        <p:nvSpPr>
          <p:cNvPr id="14" name="s27-text-12"/>
          <p:cNvSpPr txBox="1"/>
          <p:nvPr/>
        </p:nvSpPr>
        <p:spPr>
          <a:xfrm>
            <a:off x="8966454" y="3077227"/>
            <a:ext cx="231114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320"/>
              </a:lnSpc>
              <a:buNone/>
            </a:pPr>
            <a:r>
              <a:rPr lang="ar-SA" altLang="en-US" sz="1600" dirty="0">
                <a:solidFill>
                  <a:srgbClr val="FFFFFF"/>
                </a:solidFill>
                <a:latin typeface="Sakkal Saad TN Trial Light"/>
                <a:cs typeface="Sakkal Saad TN Trial Light"/>
              </a:rPr>
              <a:t>زيادة الوعي بعلامة نظرة ثمانية</a:t>
            </a:r>
            <a:endParaRPr lang="ar-SA" sz="1600" dirty="0"/>
          </a:p>
          <a:p>
            <a:pPr rtl="1" algn="r" indent="0" marL="0">
              <a:lnSpc>
                <a:spcPts val="2320"/>
              </a:lnSpc>
              <a:buNone/>
            </a:pPr>
            <a:r>
              <a:rPr lang="ar-SA" altLang="en-US" sz="1600" dirty="0">
                <a:solidFill>
                  <a:srgbClr val="FFFFFF"/>
                </a:solidFill>
                <a:latin typeface="Sakkal Saad TN Trial Light"/>
                <a:cs typeface="Sakkal Saad TN Trial Light"/>
              </a:rPr>
              <a:t>وخدماتها</a:t>
            </a:r>
            <a:endParaRPr lang="ar-SA" sz="1600" dirty="0"/>
          </a:p>
        </p:txBody>
      </p:sp>
      <p:sp>
        <p:nvSpPr>
          <p:cNvPr id="15" name="s27-shape-13"/>
          <p:cNvSpPr/>
          <p:nvPr/>
        </p:nvSpPr>
        <p:spPr>
          <a:xfrm>
            <a:off x="6191250" y="1905000"/>
            <a:ext cx="2571750" cy="2044700"/>
          </a:xfrm>
          <a:prstGeom prst="roundRect">
            <a:avLst>
              <a:gd name="adj" fmla="val 124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0" dist="76200" dir="5400000">
              <a:srgbClr val="1E2A36">
                <a:alpha val="10000"/>
              </a:srgbClr>
            </a:outerShdw>
          </a:effectLst>
        </p:spPr>
      </p:sp>
      <p:pic>
        <p:nvPicPr>
          <p:cNvPr id="16" name="s27-snap-14" descr="s27-snap-14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75600" y="2082800"/>
            <a:ext cx="609600" cy="609600"/>
          </a:xfrm>
          <a:prstGeom prst="rect">
            <a:avLst/>
          </a:prstGeom>
        </p:spPr>
      </p:pic>
      <p:sp>
        <p:nvSpPr>
          <p:cNvPr id="17" name="s27-text-15"/>
          <p:cNvSpPr txBox="1"/>
          <p:nvPr/>
        </p:nvSpPr>
        <p:spPr>
          <a:xfrm>
            <a:off x="6305550" y="2155457"/>
            <a:ext cx="426442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700"/>
              </a:lnSpc>
              <a:buNone/>
            </a:pPr>
            <a:r>
              <a:rPr lang="ar-SA" altLang="en-US" sz="2700" b="1" dirty="0">
                <a:solidFill>
                  <a:srgbClr val="D9E0DB"/>
                </a:solidFill>
                <a:latin typeface="Sakkal Saad TN Trial Light"/>
                <a:cs typeface="Sakkal Saad TN Trial Light"/>
              </a:rPr>
              <a:t>02</a:t>
            </a:r>
            <a:endParaRPr lang="ar-SA" sz="2700" dirty="0"/>
          </a:p>
        </p:txBody>
      </p:sp>
      <p:sp>
        <p:nvSpPr>
          <p:cNvPr id="18" name="s27-text-16"/>
          <p:cNvSpPr txBox="1"/>
          <p:nvPr/>
        </p:nvSpPr>
        <p:spPr>
          <a:xfrm>
            <a:off x="6235954" y="3077227"/>
            <a:ext cx="231114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320"/>
              </a:lnSpc>
              <a:buNone/>
            </a:pPr>
            <a:r>
              <a:rPr lang="ar-SA" altLang="en-US" sz="16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جذب عملاء محتملين من الأفراد</a:t>
            </a:r>
            <a:endParaRPr lang="ar-SA" sz="1600" dirty="0"/>
          </a:p>
          <a:p>
            <a:pPr rtl="1" algn="r" indent="0" marL="0">
              <a:lnSpc>
                <a:spcPts val="2320"/>
              </a:lnSpc>
              <a:buNone/>
            </a:pPr>
            <a:r>
              <a:rPr lang="ar-SA" altLang="en-US" sz="16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والشركات</a:t>
            </a:r>
            <a:endParaRPr lang="ar-SA" sz="1600" dirty="0"/>
          </a:p>
        </p:txBody>
      </p:sp>
      <p:sp>
        <p:nvSpPr>
          <p:cNvPr id="19" name="s27-shape-17"/>
          <p:cNvSpPr/>
          <p:nvPr/>
        </p:nvSpPr>
        <p:spPr>
          <a:xfrm>
            <a:off x="3460750" y="1905000"/>
            <a:ext cx="2571750" cy="2044700"/>
          </a:xfrm>
          <a:prstGeom prst="roundRect">
            <a:avLst>
              <a:gd name="adj" fmla="val 124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0" dist="76200" dir="5400000">
              <a:srgbClr val="1E2A36">
                <a:alpha val="10000"/>
              </a:srgbClr>
            </a:outerShdw>
          </a:effectLst>
        </p:spPr>
      </p:sp>
      <p:pic>
        <p:nvPicPr>
          <p:cNvPr id="20" name="s27-snap-18" descr="s27-snap-18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45100" y="2082800"/>
            <a:ext cx="609600" cy="609600"/>
          </a:xfrm>
          <a:prstGeom prst="rect">
            <a:avLst/>
          </a:prstGeom>
        </p:spPr>
      </p:pic>
      <p:sp>
        <p:nvSpPr>
          <p:cNvPr id="21" name="s27-text-19"/>
          <p:cNvSpPr txBox="1"/>
          <p:nvPr/>
        </p:nvSpPr>
        <p:spPr>
          <a:xfrm>
            <a:off x="3575050" y="2155457"/>
            <a:ext cx="426442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700"/>
              </a:lnSpc>
              <a:buNone/>
            </a:pPr>
            <a:r>
              <a:rPr lang="ar-SA" altLang="en-US" sz="2700" b="1" dirty="0">
                <a:solidFill>
                  <a:srgbClr val="D9E0DB"/>
                </a:solidFill>
                <a:latin typeface="Sakkal Saad TN Trial Light"/>
                <a:cs typeface="Sakkal Saad TN Trial Light"/>
              </a:rPr>
              <a:t>03</a:t>
            </a:r>
            <a:endParaRPr lang="ar-SA" sz="2700" dirty="0"/>
          </a:p>
        </p:txBody>
      </p:sp>
      <p:sp>
        <p:nvSpPr>
          <p:cNvPr id="22" name="s27-text-20"/>
          <p:cNvSpPr txBox="1"/>
          <p:nvPr/>
        </p:nvSpPr>
        <p:spPr>
          <a:xfrm>
            <a:off x="3505454" y="3371808"/>
            <a:ext cx="2311146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320"/>
              </a:lnSpc>
              <a:buNone/>
            </a:pPr>
            <a:r>
              <a:rPr lang="ar-SA" altLang="en-US" sz="16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زيادة الزيارات إلى المتجر الإلكتروني</a:t>
            </a:r>
            <a:endParaRPr lang="ar-SA" sz="1600" dirty="0"/>
          </a:p>
        </p:txBody>
      </p:sp>
      <p:sp>
        <p:nvSpPr>
          <p:cNvPr id="23" name="s27-shape-21"/>
          <p:cNvSpPr/>
          <p:nvPr/>
        </p:nvSpPr>
        <p:spPr>
          <a:xfrm>
            <a:off x="730250" y="1905000"/>
            <a:ext cx="2571750" cy="2044700"/>
          </a:xfrm>
          <a:prstGeom prst="roundRect">
            <a:avLst>
              <a:gd name="adj" fmla="val 12422"/>
            </a:avLst>
          </a:prstGeom>
          <a:solidFill>
            <a:srgbClr val="FFF1E3"/>
          </a:solidFill>
          <a:ln/>
        </p:spPr>
      </p:sp>
      <p:pic>
        <p:nvPicPr>
          <p:cNvPr id="24" name="s27-snap-22" descr="s27-snap-22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14600" y="2082800"/>
            <a:ext cx="609600" cy="609600"/>
          </a:xfrm>
          <a:prstGeom prst="rect">
            <a:avLst/>
          </a:prstGeom>
        </p:spPr>
      </p:pic>
      <p:sp>
        <p:nvSpPr>
          <p:cNvPr id="25" name="s27-text-23"/>
          <p:cNvSpPr txBox="1"/>
          <p:nvPr/>
        </p:nvSpPr>
        <p:spPr>
          <a:xfrm>
            <a:off x="844550" y="2155457"/>
            <a:ext cx="426442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700"/>
              </a:lnSpc>
              <a:buNone/>
            </a:pPr>
            <a:r>
              <a:rPr lang="ar-SA" altLang="en-US" sz="2700" b="1" dirty="0">
                <a:solidFill>
                  <a:srgbClr val="F7C598"/>
                </a:solidFill>
                <a:latin typeface="Sakkal Saad TN Trial Light"/>
                <a:cs typeface="Sakkal Saad TN Trial Light"/>
              </a:rPr>
              <a:t>04</a:t>
            </a:r>
            <a:endParaRPr lang="ar-SA" sz="2700" dirty="0"/>
          </a:p>
        </p:txBody>
      </p:sp>
      <p:sp>
        <p:nvSpPr>
          <p:cNvPr id="26" name="s27-text-24"/>
          <p:cNvSpPr txBox="1"/>
          <p:nvPr/>
        </p:nvSpPr>
        <p:spPr>
          <a:xfrm>
            <a:off x="774954" y="3117755"/>
            <a:ext cx="2311146" cy="603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75"/>
              </a:lnSpc>
              <a:buNone/>
            </a:pPr>
            <a:r>
              <a:rPr lang="ar-SA" altLang="en-US" sz="15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زيادة الاستفسارات وطلبات عروض</a:t>
            </a:r>
            <a:endParaRPr lang="ar-SA" sz="1500" dirty="0"/>
          </a:p>
          <a:p>
            <a:pPr rtl="1" algn="r" indent="0" marL="0">
              <a:lnSpc>
                <a:spcPts val="2175"/>
              </a:lnSpc>
              <a:buNone/>
            </a:pPr>
            <a:r>
              <a:rPr lang="ar-SA" altLang="en-US" sz="15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الأسعار عبر واتساب</a:t>
            </a:r>
            <a:endParaRPr lang="ar-SA" sz="1500" dirty="0"/>
          </a:p>
        </p:txBody>
      </p:sp>
      <p:sp>
        <p:nvSpPr>
          <p:cNvPr id="27" name="s27-shape-25"/>
          <p:cNvSpPr/>
          <p:nvPr/>
        </p:nvSpPr>
        <p:spPr>
          <a:xfrm>
            <a:off x="8921750" y="4095750"/>
            <a:ext cx="2571750" cy="2044700"/>
          </a:xfrm>
          <a:prstGeom prst="roundRect">
            <a:avLst>
              <a:gd name="adj" fmla="val 124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0" dist="76200" dir="5400000">
              <a:srgbClr val="1E2A36">
                <a:alpha val="10000"/>
              </a:srgbClr>
            </a:outerShdw>
          </a:effectLst>
        </p:spPr>
      </p:sp>
      <p:pic>
        <p:nvPicPr>
          <p:cNvPr id="28" name="s27-snap-26" descr="s27-snap-26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06100" y="4273550"/>
            <a:ext cx="609600" cy="609600"/>
          </a:xfrm>
          <a:prstGeom prst="rect">
            <a:avLst/>
          </a:prstGeom>
        </p:spPr>
      </p:pic>
      <p:sp>
        <p:nvSpPr>
          <p:cNvPr id="29" name="s27-text-27"/>
          <p:cNvSpPr txBox="1"/>
          <p:nvPr/>
        </p:nvSpPr>
        <p:spPr>
          <a:xfrm>
            <a:off x="9036050" y="4346207"/>
            <a:ext cx="426442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700"/>
              </a:lnSpc>
              <a:buNone/>
            </a:pPr>
            <a:r>
              <a:rPr lang="ar-SA" altLang="en-US" sz="2700" b="1" dirty="0">
                <a:solidFill>
                  <a:srgbClr val="D9E0DB"/>
                </a:solidFill>
                <a:latin typeface="Sakkal Saad TN Trial Light"/>
                <a:cs typeface="Sakkal Saad TN Trial Light"/>
              </a:rPr>
              <a:t>05</a:t>
            </a:r>
            <a:endParaRPr lang="ar-SA" sz="2700" dirty="0"/>
          </a:p>
        </p:txBody>
      </p:sp>
      <p:sp>
        <p:nvSpPr>
          <p:cNvPr id="30" name="s27-text-28"/>
          <p:cNvSpPr txBox="1"/>
          <p:nvPr/>
        </p:nvSpPr>
        <p:spPr>
          <a:xfrm>
            <a:off x="8966454" y="5267977"/>
            <a:ext cx="231114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320"/>
              </a:lnSpc>
              <a:buNone/>
            </a:pPr>
            <a:r>
              <a:rPr lang="ar-SA" altLang="en-US" sz="16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زيادة مبيعات المنتجات والباقات</a:t>
            </a:r>
            <a:endParaRPr lang="ar-SA" sz="1600" dirty="0"/>
          </a:p>
          <a:p>
            <a:pPr rtl="1" algn="r" indent="0" marL="0">
              <a:lnSpc>
                <a:spcPts val="2320"/>
              </a:lnSpc>
              <a:buNone/>
            </a:pPr>
            <a:r>
              <a:rPr lang="ar-SA" altLang="en-US" sz="16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المتكاملة</a:t>
            </a:r>
            <a:endParaRPr lang="ar-SA" sz="1600" dirty="0"/>
          </a:p>
        </p:txBody>
      </p:sp>
      <p:sp>
        <p:nvSpPr>
          <p:cNvPr id="31" name="s27-shape-29"/>
          <p:cNvSpPr/>
          <p:nvPr/>
        </p:nvSpPr>
        <p:spPr>
          <a:xfrm>
            <a:off x="6191250" y="4095750"/>
            <a:ext cx="2571750" cy="2044700"/>
          </a:xfrm>
          <a:prstGeom prst="roundRect">
            <a:avLst>
              <a:gd name="adj" fmla="val 124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0" dist="76200" dir="5400000">
              <a:srgbClr val="1E2A36">
                <a:alpha val="10000"/>
              </a:srgbClr>
            </a:outerShdw>
          </a:effectLst>
        </p:spPr>
      </p:sp>
      <p:pic>
        <p:nvPicPr>
          <p:cNvPr id="32" name="s27-snap-30" descr="s27-snap-30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75600" y="4273550"/>
            <a:ext cx="609600" cy="609600"/>
          </a:xfrm>
          <a:prstGeom prst="rect">
            <a:avLst/>
          </a:prstGeom>
        </p:spPr>
      </p:pic>
      <p:sp>
        <p:nvSpPr>
          <p:cNvPr id="33" name="s27-text-31"/>
          <p:cNvSpPr txBox="1"/>
          <p:nvPr/>
        </p:nvSpPr>
        <p:spPr>
          <a:xfrm>
            <a:off x="6305550" y="4346207"/>
            <a:ext cx="426442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700"/>
              </a:lnSpc>
              <a:buNone/>
            </a:pPr>
            <a:r>
              <a:rPr lang="ar-SA" altLang="en-US" sz="2700" b="1" dirty="0">
                <a:solidFill>
                  <a:srgbClr val="D9E0DB"/>
                </a:solidFill>
                <a:latin typeface="Sakkal Saad TN Trial Light"/>
                <a:cs typeface="Sakkal Saad TN Trial Light"/>
              </a:rPr>
              <a:t>06</a:t>
            </a:r>
            <a:endParaRPr lang="ar-SA" sz="2700" dirty="0"/>
          </a:p>
        </p:txBody>
      </p:sp>
      <p:sp>
        <p:nvSpPr>
          <p:cNvPr id="34" name="s27-text-32"/>
          <p:cNvSpPr txBox="1"/>
          <p:nvPr/>
        </p:nvSpPr>
        <p:spPr>
          <a:xfrm>
            <a:off x="6235954" y="5308505"/>
            <a:ext cx="2311146" cy="603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75"/>
              </a:lnSpc>
              <a:buNone/>
            </a:pPr>
            <a:r>
              <a:rPr lang="ar-SA" altLang="en-US" sz="15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إبراز خدمات الاستشارة والتركيب</a:t>
            </a:r>
            <a:endParaRPr lang="ar-SA" sz="1500" dirty="0"/>
          </a:p>
          <a:p>
            <a:pPr rtl="1" algn="r" indent="0" marL="0">
              <a:lnSpc>
                <a:spcPts val="2175"/>
              </a:lnSpc>
              <a:buNone/>
            </a:pPr>
            <a:r>
              <a:rPr lang="ar-SA" altLang="en-US" sz="15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والبرمجة والدعم الفني</a:t>
            </a:r>
            <a:endParaRPr lang="ar-SA" sz="1500" dirty="0"/>
          </a:p>
        </p:txBody>
      </p:sp>
      <p:sp>
        <p:nvSpPr>
          <p:cNvPr id="35" name="s27-shape-33"/>
          <p:cNvSpPr/>
          <p:nvPr/>
        </p:nvSpPr>
        <p:spPr>
          <a:xfrm>
            <a:off x="3460750" y="4095750"/>
            <a:ext cx="2571750" cy="2044700"/>
          </a:xfrm>
          <a:prstGeom prst="roundRect">
            <a:avLst>
              <a:gd name="adj" fmla="val 12422"/>
            </a:avLst>
          </a:prstGeom>
          <a:solidFill>
            <a:srgbClr val="43644B"/>
          </a:solidFill>
          <a:ln/>
        </p:spPr>
      </p:sp>
      <p:pic>
        <p:nvPicPr>
          <p:cNvPr id="36" name="s27-snap-34" descr="s27-snap-34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45100" y="4273550"/>
            <a:ext cx="609600" cy="609600"/>
          </a:xfrm>
          <a:prstGeom prst="rect">
            <a:avLst/>
          </a:prstGeom>
        </p:spPr>
      </p:pic>
      <p:sp>
        <p:nvSpPr>
          <p:cNvPr id="37" name="s27-text-35"/>
          <p:cNvSpPr txBox="1"/>
          <p:nvPr/>
        </p:nvSpPr>
        <p:spPr>
          <a:xfrm>
            <a:off x="3575050" y="4346207"/>
            <a:ext cx="426442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700"/>
              </a:lnSpc>
              <a:buNone/>
            </a:pPr>
            <a:r>
              <a:rPr lang="ar-SA" altLang="en-US" sz="2700" b="1" dirty="0">
                <a:solidFill>
                  <a:srgbClr val="98AA9C"/>
                </a:solidFill>
                <a:latin typeface="Sakkal Saad TN Trial Light"/>
                <a:cs typeface="Sakkal Saad TN Trial Light"/>
              </a:rPr>
              <a:t>07</a:t>
            </a:r>
            <a:endParaRPr lang="ar-SA" sz="2700" dirty="0"/>
          </a:p>
        </p:txBody>
      </p:sp>
      <p:sp>
        <p:nvSpPr>
          <p:cNvPr id="38" name="s27-text-36"/>
          <p:cNvSpPr txBox="1"/>
          <p:nvPr/>
        </p:nvSpPr>
        <p:spPr>
          <a:xfrm>
            <a:off x="3505454" y="5308505"/>
            <a:ext cx="2311146" cy="603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75"/>
              </a:lnSpc>
              <a:buNone/>
            </a:pPr>
            <a:r>
              <a:rPr lang="ar-SA" altLang="en-US" sz="1500" dirty="0">
                <a:solidFill>
                  <a:srgbClr val="FFFFFF"/>
                </a:solidFill>
                <a:latin typeface="Sakkal Saad TN Trial Light"/>
                <a:cs typeface="Sakkal Saad TN Trial Light"/>
              </a:rPr>
              <a:t>بناء الثقة من خلال المشاريع الحقيقية،</a:t>
            </a:r>
            <a:endParaRPr lang="ar-SA" sz="1500" dirty="0"/>
          </a:p>
          <a:p>
            <a:pPr rtl="1" algn="r" indent="0" marL="0">
              <a:lnSpc>
                <a:spcPts val="2175"/>
              </a:lnSpc>
              <a:buNone/>
            </a:pPr>
            <a:r>
              <a:rPr lang="ar-SA" altLang="en-US" sz="1500" dirty="0">
                <a:solidFill>
                  <a:srgbClr val="FFFFFF"/>
                </a:solidFill>
                <a:latin typeface="Sakkal Saad TN Trial Light"/>
                <a:cs typeface="Sakkal Saad TN Trial Light"/>
              </a:rPr>
              <a:t>التقييمات وتجارب العملاء</a:t>
            </a:r>
            <a:endParaRPr lang="ar-SA" sz="1500" dirty="0"/>
          </a:p>
        </p:txBody>
      </p:sp>
      <p:sp>
        <p:nvSpPr>
          <p:cNvPr id="39" name="s27-shape-37"/>
          <p:cNvSpPr/>
          <p:nvPr/>
        </p:nvSpPr>
        <p:spPr>
          <a:xfrm>
            <a:off x="730250" y="4095750"/>
            <a:ext cx="2571750" cy="2044700"/>
          </a:xfrm>
          <a:prstGeom prst="roundRect">
            <a:avLst>
              <a:gd name="adj" fmla="val 124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0" dist="76200" dir="5400000">
              <a:srgbClr val="1E2A36">
                <a:alpha val="10000"/>
              </a:srgbClr>
            </a:outerShdw>
          </a:effectLst>
        </p:spPr>
      </p:sp>
      <p:pic>
        <p:nvPicPr>
          <p:cNvPr id="40" name="s27-snap-38" descr="s27-snap-38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514600" y="4273550"/>
            <a:ext cx="609600" cy="609600"/>
          </a:xfrm>
          <a:prstGeom prst="rect">
            <a:avLst/>
          </a:prstGeom>
        </p:spPr>
      </p:pic>
      <p:sp>
        <p:nvSpPr>
          <p:cNvPr id="41" name="s27-text-39"/>
          <p:cNvSpPr txBox="1"/>
          <p:nvPr/>
        </p:nvSpPr>
        <p:spPr>
          <a:xfrm>
            <a:off x="844550" y="4346207"/>
            <a:ext cx="426442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700"/>
              </a:lnSpc>
              <a:buNone/>
            </a:pPr>
            <a:r>
              <a:rPr lang="ar-SA" altLang="en-US" sz="2700" b="1" dirty="0">
                <a:solidFill>
                  <a:srgbClr val="D9E0DB"/>
                </a:solidFill>
                <a:latin typeface="Sakkal Saad TN Trial Light"/>
                <a:cs typeface="Sakkal Saad TN Trial Light"/>
              </a:rPr>
              <a:t>08</a:t>
            </a:r>
            <a:endParaRPr lang="ar-SA" sz="2700" dirty="0"/>
          </a:p>
        </p:txBody>
      </p:sp>
      <p:sp>
        <p:nvSpPr>
          <p:cNvPr id="42" name="s27-text-40"/>
          <p:cNvSpPr txBox="1"/>
          <p:nvPr/>
        </p:nvSpPr>
        <p:spPr>
          <a:xfrm>
            <a:off x="774954" y="5267977"/>
            <a:ext cx="231114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320"/>
              </a:lnSpc>
              <a:buNone/>
            </a:pPr>
            <a:r>
              <a:rPr lang="ar-SA" altLang="en-US" sz="16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تشجيع العملاء على شراء منتجات</a:t>
            </a:r>
            <a:endParaRPr lang="ar-SA" sz="1600" dirty="0"/>
          </a:p>
          <a:p>
            <a:pPr rtl="1" algn="r" indent="0" marL="0">
              <a:lnSpc>
                <a:spcPts val="2320"/>
              </a:lnSpc>
              <a:buNone/>
            </a:pPr>
            <a:r>
              <a:rPr lang="ar-SA" altLang="en-US" sz="16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وخدمات مكملة</a:t>
            </a:r>
            <a:endParaRPr lang="ar-SA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3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4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0" dur="489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75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75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75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5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75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75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75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75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75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31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75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75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31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75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75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31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75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75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75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75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750" fill="hold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750" fill="hold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750" fill="hold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750" fill="hold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27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750" fill="hold" decel="10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750" fill="hold" decel="10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750" fill="hold" decel="100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750" fill="hold" decel="100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750" fill="hold" decel="100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750" fill="hold" decel="100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53" presetClass="entr" presetSubtype="16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27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750" fill="hold" decel="100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750" fill="hold" decel="100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750" fill="hold" decel="1000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750" fill="hold" decel="1000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42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750" fill="hold" decel="100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750" fill="hold" decel="100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27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9" dur="750" fill="hold" decel="1000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750" fill="hold" decel="1000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42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6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750" fill="hold" decel="100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750" fill="hold" decel="100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42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6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9" dur="750" fill="hold" decel="100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750" fill="hold" decel="100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53" presetClass="entr" presetSubtype="16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27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4" dur="6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6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42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6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9" dur="750" fill="hold" decel="100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750" fill="hold" decel="100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42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6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4" dur="750" fill="hold" decel="1000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750" fill="hold" decel="1000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6" presetID="42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6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9" dur="750" fill="hold" decel="1000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750" fill="hold" decel="1000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1" presetID="53" presetClass="entr" presetSubtype="16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27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4" dur="6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6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6" presetID="53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27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9" dur="6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6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1" presetID="53" presetClass="entr" presetSubtype="16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27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4" dur="6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6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6" presetID="53" presetClass="entr" presetSubtype="16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27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9" dur="6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6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/>
      <p:bldP spid="11" grpId="0" animBg="1"/>
      <p:bldP spid="13" grpId="0"/>
      <p:bldP spid="14" grpId="0"/>
      <p:bldP spid="15" grpId="0" animBg="1"/>
      <p:bldP spid="17" grpId="0"/>
      <p:bldP spid="18" grpId="0"/>
      <p:bldP spid="19" grpId="0" animBg="1"/>
      <p:bldP spid="21" grpId="0"/>
      <p:bldP spid="22" grpId="0"/>
      <p:bldP spid="23" grpId="0" animBg="1"/>
      <p:bldP spid="25" grpId="0"/>
      <p:bldP spid="26" grpId="0"/>
      <p:bldP spid="27" grpId="0" animBg="1"/>
      <p:bldP spid="29" grpId="0"/>
      <p:bldP spid="30" grpId="0"/>
      <p:bldP spid="31" grpId="0" animBg="1"/>
      <p:bldP spid="33" grpId="0"/>
      <p:bldP spid="34" grpId="0"/>
      <p:bldP spid="35" grpId="0" animBg="1"/>
      <p:bldP spid="37" grpId="0"/>
      <p:bldP spid="38" grpId="0"/>
      <p:bldP spid="39" grpId="0" animBg="1"/>
      <p:bldP spid="41" grpId="0"/>
      <p:bldP spid="42" grpId="0"/>
    </p:bldLst>
  </p:timing>
</p:sld>
</file>

<file path=ppt/slides/slide28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lens"/>
          <p:cNvSpPr/>
          <p:nvPr/>
        </p:nvSpPr>
        <p:spPr>
          <a:xfrm>
            <a:off x="368300" y="127000"/>
            <a:ext cx="1206500" cy="1206500"/>
          </a:xfrm>
          <a:prstGeom prst="ellipse">
            <a:avLst/>
          </a:prstGeom>
          <a:solidFill>
            <a:srgbClr val="EEF2EF"/>
          </a:solidFill>
          <a:ln/>
        </p:spPr>
      </p:sp>
      <p:pic>
        <p:nvPicPr>
          <p:cNvPr id="3" name="!!mt" descr="شعار نظرة ثماني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10800000">
            <a:off x="684510" y="608558"/>
            <a:ext cx="546100" cy="533400"/>
          </a:xfrm>
          <a:prstGeom prst="rect">
            <a:avLst/>
          </a:prstGeom>
        </p:spPr>
      </p:pic>
      <p:pic>
        <p:nvPicPr>
          <p:cNvPr id="4" name="!!mb" descr="شعار نظرة ثمانية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709265" y="317798"/>
            <a:ext cx="527050" cy="520700"/>
          </a:xfrm>
          <a:prstGeom prst="rect">
            <a:avLst/>
          </a:prstGeom>
        </p:spPr>
      </p:pic>
      <p:pic>
        <p:nvPicPr>
          <p:cNvPr id="5" name="!!ma" descr="شعار نظرة ثمانية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874018" y="875556"/>
            <a:ext cx="95250" cy="82550"/>
          </a:xfrm>
          <a:prstGeom prst="rect">
            <a:avLst/>
          </a:prstGeom>
        </p:spPr>
      </p:pic>
      <p:pic>
        <p:nvPicPr>
          <p:cNvPr id="6" name="!!hud" descr="!!hu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800" y="177800"/>
            <a:ext cx="11836400" cy="6502400"/>
          </a:xfrm>
          <a:prstGeom prst="rect">
            <a:avLst/>
          </a:prstGeom>
        </p:spPr>
      </p:pic>
      <p:sp>
        <p:nvSpPr>
          <p:cNvPr id="7" name="!!rec"/>
          <p:cNvSpPr/>
          <p:nvPr/>
        </p:nvSpPr>
        <p:spPr>
          <a:xfrm>
            <a:off x="635000" y="6337300"/>
            <a:ext cx="101600" cy="101600"/>
          </a:xfrm>
          <a:prstGeom prst="ellipse">
            <a:avLst/>
          </a:prstGeom>
          <a:solidFill>
            <a:srgbClr val="FF8D26"/>
          </a:solidFill>
          <a:ln/>
        </p:spPr>
      </p:sp>
      <p:sp>
        <p:nvSpPr>
          <p:cNvPr id="8" name="!!num"/>
          <p:cNvSpPr txBox="1"/>
          <p:nvPr/>
        </p:nvSpPr>
        <p:spPr>
          <a:xfrm>
            <a:off x="825500" y="6281750"/>
            <a:ext cx="687784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altLang="en-US" sz="1200" dirty="0">
                <a:solidFill>
                  <a:srgbClr val="5E6D7C"/>
                </a:solidFill>
                <a:latin typeface="Sakkal Saad TN Trial Light"/>
                <a:cs typeface="Sakkal Saad TN Trial Light"/>
              </a:rPr>
              <a:t>REC · 28</a:t>
            </a:r>
            <a:endParaRPr lang="en-US" sz="1200" dirty="0"/>
          </a:p>
        </p:txBody>
      </p:sp>
      <p:sp>
        <p:nvSpPr>
          <p:cNvPr id="9" name="!!kick"/>
          <p:cNvSpPr txBox="1"/>
          <p:nvPr/>
        </p:nvSpPr>
        <p:spPr>
          <a:xfrm>
            <a:off x="9854180" y="318834"/>
            <a:ext cx="170282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ar-SA" altLang="en-US" sz="1500" b="1" dirty="0">
                <a:solidFill>
                  <a:srgbClr val="43644B"/>
                </a:solidFill>
                <a:latin typeface="Sakkal Saad TN Trial Light"/>
                <a:cs typeface="Sakkal Saad TN Trial Light"/>
              </a:rPr>
              <a:t>07</a:t>
            </a:r>
            <a:r>
              <a:rPr lang="ar-SA" altLang="en-US" sz="1500" dirty="0">
                <a:solidFill>
                  <a:srgbClr val="E9720C"/>
                </a:solidFill>
                <a:latin typeface="Sakkal Saad TN Trial Light"/>
                <a:cs typeface="Sakkal Saad TN Trial Light"/>
              </a:rPr>
              <a:t> الاستراتيجية التسويقية</a:t>
            </a:r>
            <a:endParaRPr lang="ar-SA" sz="1500" dirty="0"/>
          </a:p>
        </p:txBody>
      </p:sp>
      <p:sp>
        <p:nvSpPr>
          <p:cNvPr id="10" name="s28-text-8"/>
          <p:cNvSpPr txBox="1"/>
          <p:nvPr/>
        </p:nvSpPr>
        <p:spPr>
          <a:xfrm>
            <a:off x="8240836" y="695134"/>
            <a:ext cx="3316164" cy="702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5130"/>
              </a:lnSpc>
              <a:buNone/>
            </a:pPr>
            <a:r>
              <a:rPr lang="ar-SA" altLang="en-US" sz="3800" b="1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المنصات المختارة ولماذا</a:t>
            </a:r>
            <a:endParaRPr lang="ar-SA" sz="3800" dirty="0"/>
          </a:p>
        </p:txBody>
      </p:sp>
      <p:sp>
        <p:nvSpPr>
          <p:cNvPr id="11" name="s28-shape-9"/>
          <p:cNvSpPr/>
          <p:nvPr/>
        </p:nvSpPr>
        <p:spPr>
          <a:xfrm>
            <a:off x="6191250" y="1905000"/>
            <a:ext cx="5302250" cy="990600"/>
          </a:xfrm>
          <a:prstGeom prst="roundRect">
            <a:avLst>
              <a:gd name="adj" fmla="val 2564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0" dist="76200" dir="5400000">
              <a:srgbClr val="1E2A36">
                <a:alpha val="10000"/>
              </a:srgbClr>
            </a:outerShdw>
          </a:effectLst>
        </p:spPr>
      </p:sp>
      <p:pic>
        <p:nvPicPr>
          <p:cNvPr id="12" name="s28-snap-10" descr="s28-snap-10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17200" y="2032000"/>
            <a:ext cx="736600" cy="736600"/>
          </a:xfrm>
          <a:prstGeom prst="rect">
            <a:avLst/>
          </a:prstGeom>
        </p:spPr>
      </p:pic>
      <p:sp>
        <p:nvSpPr>
          <p:cNvPr id="13" name="s28-text-11"/>
          <p:cNvSpPr txBox="1"/>
          <p:nvPr/>
        </p:nvSpPr>
        <p:spPr>
          <a:xfrm>
            <a:off x="6039358" y="2092803"/>
            <a:ext cx="4450842" cy="306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015"/>
              </a:lnSpc>
              <a:buNone/>
            </a:pPr>
            <a:r>
              <a:rPr lang="en-US" altLang="en-US" sz="1550" b="1" dirty="0">
                <a:solidFill>
                  <a:srgbClr val="E9720C"/>
                </a:solidFill>
                <a:latin typeface="Sakkal Saad TN Trial Light"/>
                <a:cs typeface="Sakkal Saad TN Trial Light"/>
              </a:rPr>
              <a:t>Instagram</a:t>
            </a:r>
            <a:endParaRPr lang="en-US" sz="1550" dirty="0"/>
          </a:p>
        </p:txBody>
      </p:sp>
      <p:sp>
        <p:nvSpPr>
          <p:cNvPr id="14" name="s28-text-12"/>
          <p:cNvSpPr txBox="1"/>
          <p:nvPr/>
        </p:nvSpPr>
        <p:spPr>
          <a:xfrm>
            <a:off x="6039358" y="2344513"/>
            <a:ext cx="4450842" cy="299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958"/>
              </a:lnSpc>
              <a:buNone/>
            </a:pPr>
            <a:r>
              <a:rPr lang="ar-SA" altLang="en-US" sz="13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لعرض المنتجات، الباقات، المشاريع، Reels والمحتوى التعليمي وبناء الهوية البصرية.</a:t>
            </a:r>
            <a:endParaRPr lang="ar-SA" sz="1350" dirty="0"/>
          </a:p>
        </p:txBody>
      </p:sp>
      <p:sp>
        <p:nvSpPr>
          <p:cNvPr id="15" name="s28-shape-13"/>
          <p:cNvSpPr/>
          <p:nvPr/>
        </p:nvSpPr>
        <p:spPr>
          <a:xfrm>
            <a:off x="6191250" y="2997200"/>
            <a:ext cx="5302250" cy="990600"/>
          </a:xfrm>
          <a:prstGeom prst="roundRect">
            <a:avLst>
              <a:gd name="adj" fmla="val 2564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0" dist="76200" dir="5400000">
              <a:srgbClr val="1E2A36">
                <a:alpha val="10000"/>
              </a:srgbClr>
            </a:outerShdw>
          </a:effectLst>
        </p:spPr>
      </p:sp>
      <p:pic>
        <p:nvPicPr>
          <p:cNvPr id="16" name="s28-snap-14" descr="s28-snap-14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17200" y="3124200"/>
            <a:ext cx="736600" cy="736600"/>
          </a:xfrm>
          <a:prstGeom prst="rect">
            <a:avLst/>
          </a:prstGeom>
        </p:spPr>
      </p:pic>
      <p:sp>
        <p:nvSpPr>
          <p:cNvPr id="17" name="s28-text-15"/>
          <p:cNvSpPr txBox="1"/>
          <p:nvPr/>
        </p:nvSpPr>
        <p:spPr>
          <a:xfrm>
            <a:off x="6039358" y="3060781"/>
            <a:ext cx="4450842" cy="306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015"/>
              </a:lnSpc>
              <a:buNone/>
            </a:pPr>
            <a:r>
              <a:rPr lang="en-US" altLang="en-US" sz="1550" b="1" dirty="0">
                <a:solidFill>
                  <a:srgbClr val="E9720C"/>
                </a:solidFill>
                <a:latin typeface="Sakkal Saad TN Trial Light"/>
                <a:cs typeface="Sakkal Saad TN Trial Light"/>
              </a:rPr>
              <a:t>TikTok</a:t>
            </a:r>
            <a:endParaRPr lang="en-US" sz="1550" dirty="0"/>
          </a:p>
        </p:txBody>
      </p:sp>
      <p:sp>
        <p:nvSpPr>
          <p:cNvPr id="18" name="s28-text-16"/>
          <p:cNvSpPr txBox="1"/>
          <p:nvPr/>
        </p:nvSpPr>
        <p:spPr>
          <a:xfrm>
            <a:off x="6039358" y="3312491"/>
            <a:ext cx="4450842" cy="548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958"/>
              </a:lnSpc>
              <a:buNone/>
            </a:pPr>
            <a:r>
              <a:rPr lang="ar-SA" altLang="en-US" sz="13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للوصول إلى جمهور أكبر من خلال الفيديوهات القصيرة والمحتوى التعليمي</a:t>
            </a:r>
            <a:endParaRPr lang="ar-SA" sz="1350" dirty="0"/>
          </a:p>
          <a:p>
            <a:pPr rtl="1" algn="r" indent="0" marL="0">
              <a:lnSpc>
                <a:spcPts val="1958"/>
              </a:lnSpc>
              <a:buNone/>
            </a:pPr>
            <a:r>
              <a:rPr lang="ar-SA" altLang="en-US" sz="13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والمشكلات والحلول.</a:t>
            </a:r>
            <a:endParaRPr lang="ar-SA" sz="1350" dirty="0"/>
          </a:p>
        </p:txBody>
      </p:sp>
      <p:sp>
        <p:nvSpPr>
          <p:cNvPr id="19" name="s28-shape-17"/>
          <p:cNvSpPr/>
          <p:nvPr/>
        </p:nvSpPr>
        <p:spPr>
          <a:xfrm>
            <a:off x="6191250" y="4089400"/>
            <a:ext cx="5302250" cy="990600"/>
          </a:xfrm>
          <a:prstGeom prst="roundRect">
            <a:avLst>
              <a:gd name="adj" fmla="val 2564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0" dist="76200" dir="5400000">
              <a:srgbClr val="1E2A36">
                <a:alpha val="10000"/>
              </a:srgbClr>
            </a:outerShdw>
          </a:effectLst>
        </p:spPr>
      </p:sp>
      <p:pic>
        <p:nvPicPr>
          <p:cNvPr id="20" name="s28-snap-18" descr="s28-snap-18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17200" y="4216400"/>
            <a:ext cx="736600" cy="736600"/>
          </a:xfrm>
          <a:prstGeom prst="rect">
            <a:avLst/>
          </a:prstGeom>
        </p:spPr>
      </p:pic>
      <p:sp>
        <p:nvSpPr>
          <p:cNvPr id="21" name="s28-text-19"/>
          <p:cNvSpPr txBox="1"/>
          <p:nvPr/>
        </p:nvSpPr>
        <p:spPr>
          <a:xfrm>
            <a:off x="6039358" y="4272540"/>
            <a:ext cx="4450842" cy="306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015"/>
              </a:lnSpc>
              <a:buNone/>
            </a:pPr>
            <a:r>
              <a:rPr lang="en-US" altLang="en-US" sz="1550" b="1" dirty="0">
                <a:solidFill>
                  <a:srgbClr val="E9720C"/>
                </a:solidFill>
                <a:latin typeface="Sakkal Saad TN Trial Light"/>
                <a:cs typeface="Sakkal Saad TN Trial Light"/>
              </a:rPr>
              <a:t>Snapchat</a:t>
            </a:r>
            <a:endParaRPr lang="en-US" sz="1550" dirty="0"/>
          </a:p>
        </p:txBody>
      </p:sp>
      <p:sp>
        <p:nvSpPr>
          <p:cNvPr id="22" name="s28-text-20"/>
          <p:cNvSpPr txBox="1"/>
          <p:nvPr/>
        </p:nvSpPr>
        <p:spPr>
          <a:xfrm>
            <a:off x="6039358" y="4520754"/>
            <a:ext cx="4450842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030"/>
              </a:lnSpc>
              <a:buNone/>
            </a:pPr>
            <a:r>
              <a:rPr lang="ar-SA" altLang="en-US" sz="14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للوصول إلى الجمهور السعودي بمحتوى سريع وعروض ومقاطع يومية.</a:t>
            </a:r>
            <a:endParaRPr lang="ar-SA" sz="1400" dirty="0"/>
          </a:p>
        </p:txBody>
      </p:sp>
      <p:sp>
        <p:nvSpPr>
          <p:cNvPr id="23" name="s28-shape-21"/>
          <p:cNvSpPr/>
          <p:nvPr/>
        </p:nvSpPr>
        <p:spPr>
          <a:xfrm>
            <a:off x="6191250" y="5181600"/>
            <a:ext cx="5302250" cy="990600"/>
          </a:xfrm>
          <a:prstGeom prst="roundRect">
            <a:avLst>
              <a:gd name="adj" fmla="val 2564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0" dist="76200" dir="5400000">
              <a:srgbClr val="1E2A36">
                <a:alpha val="10000"/>
              </a:srgbClr>
            </a:outerShdw>
          </a:effectLst>
        </p:spPr>
      </p:sp>
      <p:pic>
        <p:nvPicPr>
          <p:cNvPr id="24" name="s28-snap-22" descr="s28-snap-22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17200" y="5308600"/>
            <a:ext cx="736600" cy="736600"/>
          </a:xfrm>
          <a:prstGeom prst="rect">
            <a:avLst/>
          </a:prstGeom>
        </p:spPr>
      </p:pic>
      <p:sp>
        <p:nvSpPr>
          <p:cNvPr id="25" name="s28-text-23"/>
          <p:cNvSpPr txBox="1"/>
          <p:nvPr/>
        </p:nvSpPr>
        <p:spPr>
          <a:xfrm>
            <a:off x="6039358" y="5235954"/>
            <a:ext cx="4450842" cy="306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015"/>
              </a:lnSpc>
              <a:buNone/>
            </a:pPr>
            <a:r>
              <a:rPr lang="en-US" altLang="en-US" sz="1550" b="1" dirty="0">
                <a:solidFill>
                  <a:srgbClr val="E9720C"/>
                </a:solidFill>
                <a:latin typeface="Sakkal Saad TN Trial Light"/>
                <a:cs typeface="Sakkal Saad TN Trial Light"/>
              </a:rPr>
              <a:t>Facebook</a:t>
            </a:r>
            <a:endParaRPr lang="en-US" sz="1550" dirty="0"/>
          </a:p>
        </p:txBody>
      </p:sp>
      <p:sp>
        <p:nvSpPr>
          <p:cNvPr id="26" name="s28-text-24"/>
          <p:cNvSpPr txBox="1"/>
          <p:nvPr/>
        </p:nvSpPr>
        <p:spPr>
          <a:xfrm>
            <a:off x="6039358" y="5484168"/>
            <a:ext cx="4450842" cy="566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030"/>
              </a:lnSpc>
              <a:buNone/>
            </a:pPr>
            <a:r>
              <a:rPr lang="ar-SA" altLang="en-US" sz="14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لدعم الحملات الإعلانية والوصول إلى شرائح مختلفة من العملاء وأصحاب</a:t>
            </a:r>
            <a:endParaRPr lang="ar-SA" sz="1400" dirty="0"/>
          </a:p>
          <a:p>
            <a:pPr rtl="1" algn="r" indent="0" marL="0">
              <a:lnSpc>
                <a:spcPts val="2030"/>
              </a:lnSpc>
              <a:buNone/>
            </a:pPr>
            <a:r>
              <a:rPr lang="ar-SA" altLang="en-US" sz="14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الأعمال.</a:t>
            </a:r>
            <a:endParaRPr lang="ar-SA" sz="1400" dirty="0"/>
          </a:p>
        </p:txBody>
      </p:sp>
      <p:sp>
        <p:nvSpPr>
          <p:cNvPr id="27" name="s28-shape-25"/>
          <p:cNvSpPr/>
          <p:nvPr/>
        </p:nvSpPr>
        <p:spPr>
          <a:xfrm>
            <a:off x="698500" y="1905000"/>
            <a:ext cx="5302250" cy="990600"/>
          </a:xfrm>
          <a:prstGeom prst="roundRect">
            <a:avLst>
              <a:gd name="adj" fmla="val 2564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0" dist="76200" dir="5400000">
              <a:srgbClr val="1E2A36">
                <a:alpha val="10000"/>
              </a:srgbClr>
            </a:outerShdw>
          </a:effectLst>
        </p:spPr>
      </p:sp>
      <p:pic>
        <p:nvPicPr>
          <p:cNvPr id="28" name="s28-snap-26" descr="s28-snap-26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24450" y="2032000"/>
            <a:ext cx="736600" cy="736600"/>
          </a:xfrm>
          <a:prstGeom prst="rect">
            <a:avLst/>
          </a:prstGeom>
        </p:spPr>
      </p:pic>
      <p:sp>
        <p:nvSpPr>
          <p:cNvPr id="29" name="s28-text-27"/>
          <p:cNvSpPr txBox="1"/>
          <p:nvPr/>
        </p:nvSpPr>
        <p:spPr>
          <a:xfrm>
            <a:off x="546608" y="1968581"/>
            <a:ext cx="4450842" cy="306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015"/>
              </a:lnSpc>
              <a:buNone/>
            </a:pPr>
            <a:r>
              <a:rPr lang="en-US" altLang="en-US" sz="1550" b="1" dirty="0">
                <a:solidFill>
                  <a:srgbClr val="E9720C"/>
                </a:solidFill>
                <a:latin typeface="Sakkal Saad TN Trial Light"/>
                <a:cs typeface="Sakkal Saad TN Trial Light"/>
              </a:rPr>
              <a:t>Google</a:t>
            </a:r>
            <a:endParaRPr lang="en-US" sz="1550" dirty="0"/>
          </a:p>
        </p:txBody>
      </p:sp>
      <p:sp>
        <p:nvSpPr>
          <p:cNvPr id="30" name="s28-text-28"/>
          <p:cNvSpPr txBox="1"/>
          <p:nvPr/>
        </p:nvSpPr>
        <p:spPr>
          <a:xfrm>
            <a:off x="546608" y="2220291"/>
            <a:ext cx="4450842" cy="548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958"/>
              </a:lnSpc>
              <a:buNone/>
            </a:pPr>
            <a:r>
              <a:rPr lang="ar-SA" altLang="en-US" sz="13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للوصول إلى العملاء الذين لديهم نية بحث وشراء فعلية عن كاميرات المراقبة أو</a:t>
            </a:r>
            <a:endParaRPr lang="ar-SA" sz="1350" dirty="0"/>
          </a:p>
          <a:p>
            <a:pPr rtl="1" algn="r" indent="0" marL="0">
              <a:lnSpc>
                <a:spcPts val="1958"/>
              </a:lnSpc>
              <a:buNone/>
            </a:pPr>
            <a:r>
              <a:rPr lang="ar-SA" altLang="en-US" sz="13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خدمات التركيب والأنظمة الأمنية.</a:t>
            </a:r>
            <a:endParaRPr lang="ar-SA" sz="1350" dirty="0"/>
          </a:p>
        </p:txBody>
      </p:sp>
      <p:sp>
        <p:nvSpPr>
          <p:cNvPr id="31" name="s28-shape-29"/>
          <p:cNvSpPr/>
          <p:nvPr/>
        </p:nvSpPr>
        <p:spPr>
          <a:xfrm>
            <a:off x="698500" y="2997200"/>
            <a:ext cx="5302250" cy="990600"/>
          </a:xfrm>
          <a:prstGeom prst="roundRect">
            <a:avLst>
              <a:gd name="adj" fmla="val 2564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0" dist="76200" dir="5400000">
              <a:srgbClr val="1E2A36">
                <a:alpha val="10000"/>
              </a:srgbClr>
            </a:outerShdw>
          </a:effectLst>
        </p:spPr>
      </p:sp>
      <p:pic>
        <p:nvPicPr>
          <p:cNvPr id="32" name="s28-snap-30" descr="s28-snap-30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24450" y="3124200"/>
            <a:ext cx="736600" cy="736600"/>
          </a:xfrm>
          <a:prstGeom prst="rect">
            <a:avLst/>
          </a:prstGeom>
        </p:spPr>
      </p:pic>
      <p:sp>
        <p:nvSpPr>
          <p:cNvPr id="33" name="s28-text-31"/>
          <p:cNvSpPr txBox="1"/>
          <p:nvPr/>
        </p:nvSpPr>
        <p:spPr>
          <a:xfrm>
            <a:off x="546608" y="3180340"/>
            <a:ext cx="4450842" cy="306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015"/>
              </a:lnSpc>
              <a:buNone/>
            </a:pPr>
            <a:r>
              <a:rPr lang="en-US" altLang="en-US" sz="1550" b="1" dirty="0">
                <a:solidFill>
                  <a:srgbClr val="E9720C"/>
                </a:solidFill>
                <a:latin typeface="Sakkal Saad TN Trial Light"/>
                <a:cs typeface="Sakkal Saad TN Trial Light"/>
              </a:rPr>
              <a:t>WhatsApp Business</a:t>
            </a:r>
            <a:endParaRPr lang="en-US" sz="1550" dirty="0"/>
          </a:p>
        </p:txBody>
      </p:sp>
      <p:sp>
        <p:nvSpPr>
          <p:cNvPr id="34" name="s28-text-32"/>
          <p:cNvSpPr txBox="1"/>
          <p:nvPr/>
        </p:nvSpPr>
        <p:spPr>
          <a:xfrm>
            <a:off x="546608" y="3428554"/>
            <a:ext cx="4450842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030"/>
              </a:lnSpc>
              <a:buNone/>
            </a:pPr>
            <a:r>
              <a:rPr lang="ar-SA" altLang="en-US" sz="14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للاستشارة، الرد على الاستفسارات، إرسال العروض وتحويل العميل إلى طلب.</a:t>
            </a:r>
            <a:endParaRPr lang="ar-SA" sz="1400" dirty="0"/>
          </a:p>
        </p:txBody>
      </p:sp>
      <p:sp>
        <p:nvSpPr>
          <p:cNvPr id="35" name="s28-shape-33"/>
          <p:cNvSpPr/>
          <p:nvPr/>
        </p:nvSpPr>
        <p:spPr>
          <a:xfrm>
            <a:off x="698500" y="4089400"/>
            <a:ext cx="5302250" cy="990600"/>
          </a:xfrm>
          <a:prstGeom prst="roundRect">
            <a:avLst>
              <a:gd name="adj" fmla="val 25641"/>
            </a:avLst>
          </a:prstGeom>
          <a:solidFill>
            <a:srgbClr val="43644B"/>
          </a:solidFill>
          <a:ln/>
        </p:spPr>
      </p:sp>
      <p:pic>
        <p:nvPicPr>
          <p:cNvPr id="36" name="s28-snap-34" descr="s28-snap-34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24450" y="4216400"/>
            <a:ext cx="736600" cy="736600"/>
          </a:xfrm>
          <a:prstGeom prst="rect">
            <a:avLst/>
          </a:prstGeom>
        </p:spPr>
      </p:pic>
      <p:sp>
        <p:nvSpPr>
          <p:cNvPr id="37" name="s28-text-35"/>
          <p:cNvSpPr txBox="1"/>
          <p:nvPr/>
        </p:nvSpPr>
        <p:spPr>
          <a:xfrm>
            <a:off x="546608" y="4272540"/>
            <a:ext cx="4450842" cy="306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015"/>
              </a:lnSpc>
              <a:buNone/>
            </a:pPr>
            <a:r>
              <a:rPr lang="ar-SA" altLang="en-US" sz="1550" b="1" dirty="0">
                <a:solidFill>
                  <a:srgbClr val="F6C342"/>
                </a:solidFill>
                <a:latin typeface="Sakkal Saad TN Trial Light"/>
                <a:cs typeface="Sakkal Saad TN Trial Light"/>
              </a:rPr>
              <a:t>المتجر الإلكتروني</a:t>
            </a:r>
            <a:endParaRPr lang="ar-SA" sz="1550" dirty="0"/>
          </a:p>
        </p:txBody>
      </p:sp>
      <p:sp>
        <p:nvSpPr>
          <p:cNvPr id="38" name="s28-text-36"/>
          <p:cNvSpPr txBox="1"/>
          <p:nvPr/>
        </p:nvSpPr>
        <p:spPr>
          <a:xfrm>
            <a:off x="546608" y="4520754"/>
            <a:ext cx="4450842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030"/>
              </a:lnSpc>
              <a:buNone/>
            </a:pPr>
            <a:r>
              <a:rPr lang="ar-SA" altLang="en-US" sz="1400" dirty="0">
                <a:solidFill>
                  <a:srgbClr val="FFFFFF"/>
                </a:solidFill>
                <a:latin typeface="Sakkal Saad TN Trial Light"/>
                <a:cs typeface="Sakkal Saad TN Trial Light"/>
              </a:rPr>
              <a:t>لعرض المنتجات والباقات والمعلومات وإتمام عملية الشراء.</a:t>
            </a:r>
            <a:endParaRPr lang="ar-SA" sz="1400" dirty="0"/>
          </a:p>
        </p:txBody>
      </p:sp>
      <p:sp>
        <p:nvSpPr>
          <p:cNvPr id="39" name="s28-shape-37"/>
          <p:cNvSpPr/>
          <p:nvPr/>
        </p:nvSpPr>
        <p:spPr>
          <a:xfrm>
            <a:off x="698500" y="5181600"/>
            <a:ext cx="5302250" cy="990600"/>
          </a:xfrm>
          <a:prstGeom prst="roundRect">
            <a:avLst>
              <a:gd name="adj" fmla="val 25641"/>
            </a:avLst>
          </a:prstGeom>
          <a:solidFill>
            <a:srgbClr val="FFF7DE"/>
          </a:solidFill>
          <a:ln/>
        </p:spPr>
      </p:sp>
      <p:pic>
        <p:nvPicPr>
          <p:cNvPr id="40" name="s28-snap-38" descr="s28-snap-38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26025" y="5410200"/>
            <a:ext cx="533400" cy="533400"/>
          </a:xfrm>
          <a:prstGeom prst="rect">
            <a:avLst/>
          </a:prstGeom>
        </p:spPr>
      </p:pic>
      <p:pic>
        <p:nvPicPr>
          <p:cNvPr id="41" name="s28-snap-39" descr="s28-snap-39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78325" y="5410200"/>
            <a:ext cx="533400" cy="533400"/>
          </a:xfrm>
          <a:prstGeom prst="rect">
            <a:avLst/>
          </a:prstGeom>
        </p:spPr>
      </p:pic>
      <p:pic>
        <p:nvPicPr>
          <p:cNvPr id="42" name="s28-snap-40" descr="s28-snap-40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30625" y="5410200"/>
            <a:ext cx="533400" cy="533400"/>
          </a:xfrm>
          <a:prstGeom prst="rect">
            <a:avLst/>
          </a:prstGeom>
        </p:spPr>
      </p:pic>
      <p:pic>
        <p:nvPicPr>
          <p:cNvPr id="43" name="s28-snap-41" descr="s28-snap-41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082925" y="5410200"/>
            <a:ext cx="533400" cy="533400"/>
          </a:xfrm>
          <a:prstGeom prst="rect">
            <a:avLst/>
          </a:prstGeom>
        </p:spPr>
      </p:pic>
      <p:pic>
        <p:nvPicPr>
          <p:cNvPr id="44" name="s28-snap-42" descr="s28-snap-42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435225" y="5410200"/>
            <a:ext cx="533400" cy="533400"/>
          </a:xfrm>
          <a:prstGeom prst="rect">
            <a:avLst/>
          </a:prstGeom>
        </p:spPr>
      </p:pic>
      <p:pic>
        <p:nvPicPr>
          <p:cNvPr id="45" name="s28-snap-43" descr="s28-snap-43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787525" y="5410200"/>
            <a:ext cx="533400" cy="533400"/>
          </a:xfrm>
          <a:prstGeom prst="rect">
            <a:avLst/>
          </a:prstGeom>
        </p:spPr>
      </p:pic>
      <p:pic>
        <p:nvPicPr>
          <p:cNvPr id="46" name="s28-snap-44" descr="s28-snap-44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39825" y="5410200"/>
            <a:ext cx="533400" cy="533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3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4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0" dur="489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75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75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75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5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75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75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75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75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75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75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75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75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75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75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75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53" presetClass="entr" presetSubtype="16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27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75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75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750" fill="hold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750" fill="hold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750" fill="hold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750" fill="hold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53" presetClass="entr" presetSubtype="16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27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750" fill="hold" decel="10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750" fill="hold" decel="10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750" fill="hold" decel="100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750" fill="hold" decel="100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750" fill="hold" decel="100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750" fill="hold" decel="100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53" presetClass="entr" presetSubtype="16" fill="hold" grpId="0" nodeType="withEffect">
                                  <p:stCondLst>
                                    <p:cond delay="53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27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750" fill="hold" decel="100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750" fill="hold" decel="100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750" fill="hold" decel="1000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750" fill="hold" decel="1000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750" fill="hold" decel="100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750" fill="hold" decel="100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53" presetClass="entr" presetSubtype="16" fill="hold" grpId="0" nodeType="withEffect">
                                  <p:stCondLst>
                                    <p:cond delay="62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27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9" dur="6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6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42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750" fill="hold" decel="1000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750" fill="hold" decel="1000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42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6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9" dur="750" fill="hold" decel="100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750" fill="hold" decel="100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42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6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4" dur="750" fill="hold" decel="100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750" fill="hold" decel="100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53" presetClass="entr" presetSubtype="16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27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9" dur="6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6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53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27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4" dur="6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6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6" presetID="53" presetClass="entr" presetSubtype="16" fill="hold" grpId="0" nodeType="withEffect">
                                  <p:stCondLst>
                                    <p:cond delay="89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27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9" dur="6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6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1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6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4" dur="750" fill="hold" decel="100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750" fill="hold" decel="100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6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27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9" dur="6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6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1" presetID="53" presetClass="entr" presetSubtype="16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27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4" dur="6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6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6" presetID="53" presetClass="entr" presetSubtype="16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27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9" dur="6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6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1" presetID="53" presetClass="entr" presetSubtype="16" fill="hold" grpId="0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27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4" dur="6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6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6" presetID="53" presetClass="entr" presetSubtype="16" fill="hold" grpId="0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27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9" dur="6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0" dur="6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1" presetID="53" presetClass="entr" presetSubtype="16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27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4" dur="6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5" dur="6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6" presetID="53" presetClass="entr" presetSubtype="16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27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9" dur="6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6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/>
      <p:bldP spid="11" grpId="0" animBg="1"/>
      <p:bldP spid="13" grpId="0"/>
      <p:bldP spid="14" grpId="0"/>
      <p:bldP spid="15" grpId="0" animBg="1"/>
      <p:bldP spid="17" grpId="0"/>
      <p:bldP spid="18" grpId="0"/>
      <p:bldP spid="19" grpId="0" animBg="1"/>
      <p:bldP spid="21" grpId="0"/>
      <p:bldP spid="22" grpId="0"/>
      <p:bldP spid="23" grpId="0" animBg="1"/>
      <p:bldP spid="25" grpId="0"/>
      <p:bldP spid="26" grpId="0"/>
      <p:bldP spid="27" grpId="0" animBg="1"/>
      <p:bldP spid="29" grpId="0"/>
      <p:bldP spid="30" grpId="0"/>
      <p:bldP spid="31" grpId="0" animBg="1"/>
      <p:bldP spid="33" grpId="0"/>
      <p:bldP spid="34" grpId="0"/>
      <p:bldP spid="35" grpId="0" animBg="1"/>
      <p:bldP spid="37" grpId="0"/>
      <p:bldP spid="38" grpId="0"/>
      <p:bldP spid="39" grpId="0" animBg="1"/>
    </p:bldLst>
  </p:timing>
</p:sld>
</file>

<file path=ppt/slides/slide29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lens"/>
          <p:cNvSpPr/>
          <p:nvPr/>
        </p:nvSpPr>
        <p:spPr>
          <a:xfrm>
            <a:off x="368300" y="127000"/>
            <a:ext cx="1206500" cy="1206500"/>
          </a:xfrm>
          <a:prstGeom prst="ellipse">
            <a:avLst/>
          </a:prstGeom>
          <a:solidFill>
            <a:srgbClr val="EEF2EF"/>
          </a:solidFill>
          <a:ln/>
        </p:spPr>
      </p:sp>
      <p:pic>
        <p:nvPicPr>
          <p:cNvPr id="3" name="!!mt" descr="شعار نظرة ثماني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-8100000">
            <a:off x="582910" y="562918"/>
            <a:ext cx="546100" cy="533400"/>
          </a:xfrm>
          <a:prstGeom prst="rect">
            <a:avLst/>
          </a:prstGeom>
        </p:spPr>
      </p:pic>
      <p:pic>
        <p:nvPicPr>
          <p:cNvPr id="4" name="!!mb" descr="شعار نظرة ثمانية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8100000">
            <a:off x="813346" y="370483"/>
            <a:ext cx="527050" cy="520700"/>
          </a:xfrm>
          <a:prstGeom prst="rect">
            <a:avLst/>
          </a:prstGeom>
        </p:spPr>
      </p:pic>
      <p:pic>
        <p:nvPicPr>
          <p:cNvPr id="5" name="!!ma" descr="شعار نظرة ثمانية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8100000">
            <a:off x="753368" y="792411"/>
            <a:ext cx="95250" cy="82550"/>
          </a:xfrm>
          <a:prstGeom prst="rect">
            <a:avLst/>
          </a:prstGeom>
        </p:spPr>
      </p:pic>
      <p:pic>
        <p:nvPicPr>
          <p:cNvPr id="6" name="!!hud" descr="!!hu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800" y="177800"/>
            <a:ext cx="11836400" cy="6502400"/>
          </a:xfrm>
          <a:prstGeom prst="rect">
            <a:avLst/>
          </a:prstGeom>
        </p:spPr>
      </p:pic>
      <p:sp>
        <p:nvSpPr>
          <p:cNvPr id="7" name="!!rec"/>
          <p:cNvSpPr/>
          <p:nvPr/>
        </p:nvSpPr>
        <p:spPr>
          <a:xfrm>
            <a:off x="635000" y="6337300"/>
            <a:ext cx="101600" cy="101600"/>
          </a:xfrm>
          <a:prstGeom prst="ellipse">
            <a:avLst/>
          </a:prstGeom>
          <a:solidFill>
            <a:srgbClr val="FF8D26"/>
          </a:solidFill>
          <a:ln/>
        </p:spPr>
      </p:sp>
      <p:sp>
        <p:nvSpPr>
          <p:cNvPr id="8" name="!!num"/>
          <p:cNvSpPr txBox="1"/>
          <p:nvPr/>
        </p:nvSpPr>
        <p:spPr>
          <a:xfrm>
            <a:off x="825500" y="6281750"/>
            <a:ext cx="690364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altLang="en-US" sz="1200" dirty="0">
                <a:solidFill>
                  <a:srgbClr val="5E6D7C"/>
                </a:solidFill>
                <a:latin typeface="Sakkal Saad TN Trial Light"/>
                <a:cs typeface="Sakkal Saad TN Trial Light"/>
              </a:rPr>
              <a:t>REC · 29</a:t>
            </a:r>
            <a:endParaRPr lang="en-US" sz="1200" dirty="0"/>
          </a:p>
        </p:txBody>
      </p:sp>
      <p:sp>
        <p:nvSpPr>
          <p:cNvPr id="9" name="!!kick"/>
          <p:cNvSpPr txBox="1"/>
          <p:nvPr/>
        </p:nvSpPr>
        <p:spPr>
          <a:xfrm>
            <a:off x="9854180" y="318834"/>
            <a:ext cx="170282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ar-SA" altLang="en-US" sz="1500" b="1" dirty="0">
                <a:solidFill>
                  <a:srgbClr val="43644B"/>
                </a:solidFill>
                <a:latin typeface="Sakkal Saad TN Trial Light"/>
                <a:cs typeface="Sakkal Saad TN Trial Light"/>
              </a:rPr>
              <a:t>07</a:t>
            </a:r>
            <a:r>
              <a:rPr lang="ar-SA" altLang="en-US" sz="1500" dirty="0">
                <a:solidFill>
                  <a:srgbClr val="E9720C"/>
                </a:solidFill>
                <a:latin typeface="Sakkal Saad TN Trial Light"/>
                <a:cs typeface="Sakkal Saad TN Trial Light"/>
              </a:rPr>
              <a:t> الاستراتيجية التسويقية</a:t>
            </a:r>
            <a:endParaRPr lang="ar-SA" sz="1500" dirty="0"/>
          </a:p>
        </p:txBody>
      </p:sp>
      <p:sp>
        <p:nvSpPr>
          <p:cNvPr id="10" name="s29-text-8"/>
          <p:cNvSpPr txBox="1"/>
          <p:nvPr/>
        </p:nvSpPr>
        <p:spPr>
          <a:xfrm>
            <a:off x="7507137" y="695134"/>
            <a:ext cx="4049863" cy="702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5130"/>
              </a:lnSpc>
              <a:buNone/>
            </a:pPr>
            <a:r>
              <a:rPr lang="ar-SA" altLang="en-US" sz="3800" b="1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أسلوب المحتوى المستخدم</a:t>
            </a:r>
            <a:endParaRPr lang="ar-SA" sz="3800" dirty="0"/>
          </a:p>
        </p:txBody>
      </p:sp>
      <p:sp>
        <p:nvSpPr>
          <p:cNvPr id="11" name="s29-text-9"/>
          <p:cNvSpPr txBox="1"/>
          <p:nvPr/>
        </p:nvSpPr>
        <p:spPr>
          <a:xfrm>
            <a:off x="9113988" y="1633068"/>
            <a:ext cx="2379512" cy="370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520"/>
              </a:lnSpc>
              <a:buNone/>
            </a:pPr>
            <a:r>
              <a:rPr lang="ar-SA" altLang="en-US" sz="1800" dirty="0">
                <a:solidFill>
                  <a:srgbClr val="5E6D7C"/>
                </a:solidFill>
                <a:latin typeface="Sakkal Saad TN Trial Light"/>
                <a:cs typeface="Sakkal Saad TN Trial Light"/>
              </a:rPr>
              <a:t>تعتمد الاستراتيجية على مزيج من:</a:t>
            </a:r>
            <a:endParaRPr lang="ar-SA" sz="1800" dirty="0"/>
          </a:p>
        </p:txBody>
      </p:sp>
      <p:sp>
        <p:nvSpPr>
          <p:cNvPr id="12" name="s29-shape-10"/>
          <p:cNvSpPr/>
          <p:nvPr/>
        </p:nvSpPr>
        <p:spPr>
          <a:xfrm>
            <a:off x="9436100" y="2222500"/>
            <a:ext cx="2057400" cy="2794000"/>
          </a:xfrm>
          <a:prstGeom prst="roundRect">
            <a:avLst>
              <a:gd name="adj" fmla="val 12346"/>
            </a:avLst>
          </a:prstGeom>
          <a:solidFill>
            <a:srgbClr val="43644B"/>
          </a:solidFill>
          <a:ln/>
        </p:spPr>
      </p:sp>
      <p:pic>
        <p:nvPicPr>
          <p:cNvPr id="13" name="s29-snap-11" descr="s29-snap-11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06100" y="2400300"/>
            <a:ext cx="635000" cy="635000"/>
          </a:xfrm>
          <a:prstGeom prst="rect">
            <a:avLst/>
          </a:prstGeom>
        </p:spPr>
      </p:pic>
      <p:sp>
        <p:nvSpPr>
          <p:cNvPr id="14" name="s29-text-12"/>
          <p:cNvSpPr txBox="1"/>
          <p:nvPr/>
        </p:nvSpPr>
        <p:spPr>
          <a:xfrm>
            <a:off x="9492488" y="3080791"/>
            <a:ext cx="1810512" cy="347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340"/>
              </a:lnSpc>
              <a:buNone/>
            </a:pPr>
            <a:r>
              <a:rPr lang="ar-SA" altLang="en-US" sz="1800" b="1" dirty="0">
                <a:solidFill>
                  <a:srgbClr val="F6C342"/>
                </a:solidFill>
                <a:latin typeface="Sakkal Saad TN Trial Light"/>
                <a:cs typeface="Sakkal Saad TN Trial Light"/>
              </a:rPr>
              <a:t>محتوى تعليمي</a:t>
            </a:r>
            <a:endParaRPr lang="ar-SA" sz="1800" dirty="0"/>
          </a:p>
        </p:txBody>
      </p:sp>
      <p:sp>
        <p:nvSpPr>
          <p:cNvPr id="15" name="s29-text-13"/>
          <p:cNvSpPr txBox="1"/>
          <p:nvPr/>
        </p:nvSpPr>
        <p:spPr>
          <a:xfrm>
            <a:off x="9492488" y="3455218"/>
            <a:ext cx="1810512" cy="603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75"/>
              </a:lnSpc>
              <a:buNone/>
            </a:pPr>
            <a:r>
              <a:rPr lang="ar-SA" altLang="en-US" sz="1450" dirty="0">
                <a:solidFill>
                  <a:srgbClr val="FFFFFF"/>
                </a:solidFill>
                <a:latin typeface="Sakkal Saad TN Trial Light"/>
                <a:cs typeface="Sakkal Saad TN Trial Light"/>
              </a:rPr>
              <a:t>شرح الأنظمة والمنتجات</a:t>
            </a:r>
            <a:endParaRPr lang="ar-SA" sz="1450" dirty="0"/>
          </a:p>
          <a:p>
            <a:pPr rtl="1" algn="r" indent="0" marL="0">
              <a:lnSpc>
                <a:spcPts val="2175"/>
              </a:lnSpc>
              <a:buNone/>
            </a:pPr>
            <a:r>
              <a:rPr lang="ar-SA" altLang="en-US" sz="1450" dirty="0">
                <a:solidFill>
                  <a:srgbClr val="FFFFFF"/>
                </a:solidFill>
                <a:latin typeface="Sakkal Saad TN Trial Light"/>
                <a:cs typeface="Sakkal Saad TN Trial Light"/>
              </a:rPr>
              <a:t>ومساعدة العميل على الاختيار.</a:t>
            </a:r>
            <a:endParaRPr lang="ar-SA" sz="1450" dirty="0"/>
          </a:p>
        </p:txBody>
      </p:sp>
      <p:sp>
        <p:nvSpPr>
          <p:cNvPr id="16" name="s29-shape-14"/>
          <p:cNvSpPr/>
          <p:nvPr/>
        </p:nvSpPr>
        <p:spPr>
          <a:xfrm>
            <a:off x="7251700" y="2222500"/>
            <a:ext cx="2057400" cy="2794000"/>
          </a:xfrm>
          <a:prstGeom prst="roundRect">
            <a:avLst>
              <a:gd name="adj" fmla="val 123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0" dist="76200" dir="5400000">
              <a:srgbClr val="1E2A36">
                <a:alpha val="10000"/>
              </a:srgbClr>
            </a:outerShdw>
          </a:effectLst>
        </p:spPr>
      </p:sp>
      <p:pic>
        <p:nvPicPr>
          <p:cNvPr id="17" name="s29-snap-15" descr="s29-snap-15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1700" y="2400300"/>
            <a:ext cx="635000" cy="635000"/>
          </a:xfrm>
          <a:prstGeom prst="rect">
            <a:avLst/>
          </a:prstGeom>
        </p:spPr>
      </p:pic>
      <p:sp>
        <p:nvSpPr>
          <p:cNvPr id="18" name="s29-text-16"/>
          <p:cNvSpPr txBox="1"/>
          <p:nvPr/>
        </p:nvSpPr>
        <p:spPr>
          <a:xfrm>
            <a:off x="7308088" y="3080791"/>
            <a:ext cx="1810512" cy="347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340"/>
              </a:lnSpc>
              <a:buNone/>
            </a:pPr>
            <a:r>
              <a:rPr lang="ar-SA" altLang="en-US" sz="1800" b="1" dirty="0">
                <a:solidFill>
                  <a:srgbClr val="E9720C"/>
                </a:solidFill>
                <a:latin typeface="Sakkal Saad TN Trial Light"/>
                <a:cs typeface="Sakkal Saad TN Trial Light"/>
              </a:rPr>
              <a:t>محتوى استشاري</a:t>
            </a:r>
            <a:endParaRPr lang="ar-SA" sz="1800" dirty="0"/>
          </a:p>
        </p:txBody>
      </p:sp>
      <p:sp>
        <p:nvSpPr>
          <p:cNvPr id="19" name="s29-text-17"/>
          <p:cNvSpPr txBox="1"/>
          <p:nvPr/>
        </p:nvSpPr>
        <p:spPr>
          <a:xfrm>
            <a:off x="7308088" y="3455218"/>
            <a:ext cx="1810512" cy="603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75"/>
              </a:lnSpc>
              <a:buNone/>
            </a:pPr>
            <a:r>
              <a:rPr lang="ar-SA" altLang="en-US" sz="14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تقديم الحل المناسب حسب</a:t>
            </a:r>
            <a:endParaRPr lang="ar-SA" sz="1450" dirty="0"/>
          </a:p>
          <a:p>
            <a:pPr rtl="1" algn="r" indent="0" marL="0">
              <a:lnSpc>
                <a:spcPts val="2175"/>
              </a:lnSpc>
              <a:buNone/>
            </a:pPr>
            <a:r>
              <a:rPr lang="ar-SA" altLang="en-US" sz="14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نوع المكان والاحتياج.</a:t>
            </a:r>
            <a:endParaRPr lang="ar-SA" sz="1450" dirty="0"/>
          </a:p>
        </p:txBody>
      </p:sp>
      <p:sp>
        <p:nvSpPr>
          <p:cNvPr id="20" name="s29-shape-18"/>
          <p:cNvSpPr/>
          <p:nvPr/>
        </p:nvSpPr>
        <p:spPr>
          <a:xfrm>
            <a:off x="5067300" y="2222500"/>
            <a:ext cx="2057400" cy="2794000"/>
          </a:xfrm>
          <a:prstGeom prst="roundRect">
            <a:avLst>
              <a:gd name="adj" fmla="val 12346"/>
            </a:avLst>
          </a:prstGeom>
          <a:solidFill>
            <a:srgbClr val="FFF1E3"/>
          </a:solidFill>
          <a:ln/>
        </p:spPr>
      </p:sp>
      <p:pic>
        <p:nvPicPr>
          <p:cNvPr id="21" name="s29-snap-19" descr="s29-snap-19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37300" y="2400300"/>
            <a:ext cx="635000" cy="635000"/>
          </a:xfrm>
          <a:prstGeom prst="rect">
            <a:avLst/>
          </a:prstGeom>
        </p:spPr>
      </p:pic>
      <p:sp>
        <p:nvSpPr>
          <p:cNvPr id="22" name="s29-text-20"/>
          <p:cNvSpPr txBox="1"/>
          <p:nvPr/>
        </p:nvSpPr>
        <p:spPr>
          <a:xfrm>
            <a:off x="5123688" y="3080791"/>
            <a:ext cx="1810512" cy="347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340"/>
              </a:lnSpc>
              <a:buNone/>
            </a:pPr>
            <a:r>
              <a:rPr lang="ar-SA" altLang="en-US" sz="1800" b="1" dirty="0">
                <a:solidFill>
                  <a:srgbClr val="E9720C"/>
                </a:solidFill>
                <a:latin typeface="Sakkal Saad TN Trial Light"/>
                <a:cs typeface="Sakkal Saad TN Trial Light"/>
              </a:rPr>
              <a:t>محتوى بناء الثقة</a:t>
            </a:r>
            <a:endParaRPr lang="ar-SA" sz="1800" dirty="0"/>
          </a:p>
        </p:txBody>
      </p:sp>
      <p:sp>
        <p:nvSpPr>
          <p:cNvPr id="23" name="s29-text-21"/>
          <p:cNvSpPr txBox="1"/>
          <p:nvPr/>
        </p:nvSpPr>
        <p:spPr>
          <a:xfrm>
            <a:off x="5123688" y="3455218"/>
            <a:ext cx="1810512" cy="603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75"/>
              </a:lnSpc>
              <a:buNone/>
            </a:pPr>
            <a:r>
              <a:rPr lang="ar-SA" altLang="en-US" sz="14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مشاريع حقيقية، قبل/بعد،</a:t>
            </a:r>
            <a:endParaRPr lang="ar-SA" sz="1450" dirty="0"/>
          </a:p>
          <a:p>
            <a:pPr rtl="1" algn="r" indent="0" marL="0">
              <a:lnSpc>
                <a:spcPts val="2175"/>
              </a:lnSpc>
              <a:buNone/>
            </a:pPr>
            <a:r>
              <a:rPr lang="ar-SA" altLang="en-US" sz="14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تقييمات وتجارب العملاء.</a:t>
            </a:r>
            <a:endParaRPr lang="ar-SA" sz="1450" dirty="0"/>
          </a:p>
        </p:txBody>
      </p:sp>
      <p:sp>
        <p:nvSpPr>
          <p:cNvPr id="24" name="s29-shape-22"/>
          <p:cNvSpPr/>
          <p:nvPr/>
        </p:nvSpPr>
        <p:spPr>
          <a:xfrm>
            <a:off x="2882900" y="2222500"/>
            <a:ext cx="2057400" cy="2794000"/>
          </a:xfrm>
          <a:prstGeom prst="roundRect">
            <a:avLst>
              <a:gd name="adj" fmla="val 123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0" dist="76200" dir="5400000">
              <a:srgbClr val="1E2A36">
                <a:alpha val="10000"/>
              </a:srgbClr>
            </a:outerShdw>
          </a:effectLst>
        </p:spPr>
      </p:sp>
      <p:pic>
        <p:nvPicPr>
          <p:cNvPr id="25" name="s29-snap-23" descr="s29-snap-23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52900" y="2400300"/>
            <a:ext cx="635000" cy="635000"/>
          </a:xfrm>
          <a:prstGeom prst="rect">
            <a:avLst/>
          </a:prstGeom>
        </p:spPr>
      </p:pic>
      <p:sp>
        <p:nvSpPr>
          <p:cNvPr id="26" name="s29-text-24"/>
          <p:cNvSpPr txBox="1"/>
          <p:nvPr/>
        </p:nvSpPr>
        <p:spPr>
          <a:xfrm>
            <a:off x="2939288" y="3080791"/>
            <a:ext cx="1810512" cy="347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340"/>
              </a:lnSpc>
              <a:buNone/>
            </a:pPr>
            <a:r>
              <a:rPr lang="ar-SA" altLang="en-US" sz="1800" b="1" dirty="0">
                <a:solidFill>
                  <a:srgbClr val="E9720C"/>
                </a:solidFill>
                <a:latin typeface="Sakkal Saad TN Trial Light"/>
                <a:cs typeface="Sakkal Saad TN Trial Light"/>
              </a:rPr>
              <a:t>محتوى بيعي</a:t>
            </a:r>
            <a:endParaRPr lang="ar-SA" sz="1800" dirty="0"/>
          </a:p>
        </p:txBody>
      </p:sp>
      <p:sp>
        <p:nvSpPr>
          <p:cNvPr id="27" name="s29-text-25"/>
          <p:cNvSpPr txBox="1"/>
          <p:nvPr/>
        </p:nvSpPr>
        <p:spPr>
          <a:xfrm>
            <a:off x="2939288" y="3455218"/>
            <a:ext cx="1810512" cy="603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75"/>
              </a:lnSpc>
              <a:buNone/>
            </a:pPr>
            <a:r>
              <a:rPr lang="ar-SA" altLang="en-US" sz="14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المنتجات، الباقات، العروض</a:t>
            </a:r>
            <a:endParaRPr lang="ar-SA" sz="1450" dirty="0"/>
          </a:p>
          <a:p>
            <a:pPr rtl="1" algn="r" indent="0" marL="0">
              <a:lnSpc>
                <a:spcPts val="2175"/>
              </a:lnSpc>
              <a:buNone/>
            </a:pPr>
            <a:r>
              <a:rPr lang="ar-SA" altLang="en-US" sz="14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والمزايا مع CTA واضح.</a:t>
            </a:r>
            <a:endParaRPr lang="ar-SA" sz="1450" dirty="0"/>
          </a:p>
        </p:txBody>
      </p:sp>
      <p:sp>
        <p:nvSpPr>
          <p:cNvPr id="28" name="s29-shape-26"/>
          <p:cNvSpPr/>
          <p:nvPr/>
        </p:nvSpPr>
        <p:spPr>
          <a:xfrm>
            <a:off x="698500" y="2222500"/>
            <a:ext cx="2057400" cy="2794000"/>
          </a:xfrm>
          <a:prstGeom prst="roundRect">
            <a:avLst>
              <a:gd name="adj" fmla="val 12346"/>
            </a:avLst>
          </a:prstGeom>
          <a:solidFill>
            <a:srgbClr val="FFF7DE"/>
          </a:solidFill>
          <a:ln/>
        </p:spPr>
      </p:sp>
      <p:pic>
        <p:nvPicPr>
          <p:cNvPr id="29" name="s29-snap-27" descr="s29-snap-27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68500" y="2400300"/>
            <a:ext cx="635000" cy="635000"/>
          </a:xfrm>
          <a:prstGeom prst="rect">
            <a:avLst/>
          </a:prstGeom>
        </p:spPr>
      </p:pic>
      <p:sp>
        <p:nvSpPr>
          <p:cNvPr id="30" name="s29-text-28"/>
          <p:cNvSpPr txBox="1"/>
          <p:nvPr/>
        </p:nvSpPr>
        <p:spPr>
          <a:xfrm>
            <a:off x="754888" y="3080791"/>
            <a:ext cx="1810512" cy="347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340"/>
              </a:lnSpc>
              <a:buNone/>
            </a:pPr>
            <a:r>
              <a:rPr lang="ar-SA" altLang="en-US" sz="1800" b="1" dirty="0">
                <a:solidFill>
                  <a:srgbClr val="E9720C"/>
                </a:solidFill>
                <a:latin typeface="Sakkal Saad TN Trial Light"/>
                <a:cs typeface="Sakkal Saad TN Trial Light"/>
              </a:rPr>
              <a:t>محتوى تفاعلي</a:t>
            </a:r>
            <a:endParaRPr lang="ar-SA" sz="1800" dirty="0"/>
          </a:p>
        </p:txBody>
      </p:sp>
      <p:sp>
        <p:nvSpPr>
          <p:cNvPr id="31" name="s29-text-29"/>
          <p:cNvSpPr txBox="1"/>
          <p:nvPr/>
        </p:nvSpPr>
        <p:spPr>
          <a:xfrm>
            <a:off x="754888" y="3455218"/>
            <a:ext cx="1810512" cy="603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75"/>
              </a:lnSpc>
              <a:buNone/>
            </a:pPr>
            <a:r>
              <a:rPr lang="ar-SA" altLang="en-US" sz="14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أسئلة، استطلاعات ومشكلات</a:t>
            </a:r>
            <a:endParaRPr lang="ar-SA" sz="1450" dirty="0"/>
          </a:p>
          <a:p>
            <a:pPr rtl="1" algn="r" indent="0" marL="0">
              <a:lnSpc>
                <a:spcPts val="2175"/>
              </a:lnSpc>
              <a:buNone/>
            </a:pPr>
            <a:r>
              <a:rPr lang="ar-SA" altLang="en-US" sz="14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شائعة لتحفيز المشاركة.</a:t>
            </a:r>
            <a:endParaRPr lang="ar-SA" sz="1450" dirty="0"/>
          </a:p>
        </p:txBody>
      </p:sp>
      <p:sp>
        <p:nvSpPr>
          <p:cNvPr id="32" name="s29-shape-30"/>
          <p:cNvSpPr/>
          <p:nvPr/>
        </p:nvSpPr>
        <p:spPr>
          <a:xfrm>
            <a:off x="698500" y="5207000"/>
            <a:ext cx="10795000" cy="1016000"/>
          </a:xfrm>
          <a:prstGeom prst="roundRect">
            <a:avLst>
              <a:gd name="adj" fmla="val 25000"/>
            </a:avLst>
          </a:prstGeom>
          <a:solidFill>
            <a:srgbClr val="F6C342"/>
          </a:solidFill>
          <a:ln/>
        </p:spPr>
      </p:sp>
      <p:sp>
        <p:nvSpPr>
          <p:cNvPr id="33" name="s29-shape-31"/>
          <p:cNvSpPr/>
          <p:nvPr/>
        </p:nvSpPr>
        <p:spPr>
          <a:xfrm>
            <a:off x="7909620" y="5473700"/>
            <a:ext cx="1008360" cy="482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4" name="s29-text-32"/>
          <p:cNvSpPr txBox="1"/>
          <p:nvPr/>
        </p:nvSpPr>
        <p:spPr>
          <a:xfrm>
            <a:off x="8062020" y="5479796"/>
            <a:ext cx="6019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600"/>
              </a:lnSpc>
              <a:buNone/>
            </a:pPr>
            <a:r>
              <a:rPr lang="ar-SA" altLang="en-US" sz="2000" b="1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تعليمي</a:t>
            </a:r>
            <a:endParaRPr lang="ar-SA" sz="2000" dirty="0"/>
          </a:p>
        </p:txBody>
      </p:sp>
      <p:sp>
        <p:nvSpPr>
          <p:cNvPr id="35" name="s29-text-33"/>
          <p:cNvSpPr txBox="1"/>
          <p:nvPr/>
        </p:nvSpPr>
        <p:spPr>
          <a:xfrm>
            <a:off x="7467798" y="5482857"/>
            <a:ext cx="264021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700"/>
              </a:lnSpc>
              <a:buNone/>
            </a:pPr>
            <a:r>
              <a:rPr lang="ar-SA" altLang="en-US" sz="2700" b="1" dirty="0">
                <a:solidFill>
                  <a:srgbClr val="FF8D26"/>
                </a:solidFill>
                <a:latin typeface="Sakkal Saad TN Trial Light"/>
                <a:cs typeface="Sakkal Saad TN Trial Light"/>
              </a:rPr>
              <a:t>+</a:t>
            </a:r>
            <a:endParaRPr lang="ar-SA" sz="2700" dirty="0"/>
          </a:p>
        </p:txBody>
      </p:sp>
      <p:sp>
        <p:nvSpPr>
          <p:cNvPr id="36" name="s29-shape-34"/>
          <p:cNvSpPr/>
          <p:nvPr/>
        </p:nvSpPr>
        <p:spPr>
          <a:xfrm>
            <a:off x="6144419" y="5473700"/>
            <a:ext cx="1247180" cy="482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7" name="s29-text-35"/>
          <p:cNvSpPr txBox="1"/>
          <p:nvPr/>
        </p:nvSpPr>
        <p:spPr>
          <a:xfrm>
            <a:off x="6296819" y="5479796"/>
            <a:ext cx="8407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600"/>
              </a:lnSpc>
              <a:buNone/>
            </a:pPr>
            <a:r>
              <a:rPr lang="ar-SA" altLang="en-US" sz="2000" b="1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استشاري</a:t>
            </a:r>
            <a:endParaRPr lang="ar-SA" sz="2000" dirty="0"/>
          </a:p>
        </p:txBody>
      </p:sp>
      <p:sp>
        <p:nvSpPr>
          <p:cNvPr id="38" name="s29-text-36"/>
          <p:cNvSpPr txBox="1"/>
          <p:nvPr/>
        </p:nvSpPr>
        <p:spPr>
          <a:xfrm>
            <a:off x="5702598" y="5482857"/>
            <a:ext cx="264021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700"/>
              </a:lnSpc>
              <a:buNone/>
            </a:pPr>
            <a:r>
              <a:rPr lang="ar-SA" altLang="en-US" sz="2700" b="1" dirty="0">
                <a:solidFill>
                  <a:srgbClr val="FF8D26"/>
                </a:solidFill>
                <a:latin typeface="Sakkal Saad TN Trial Light"/>
                <a:cs typeface="Sakkal Saad TN Trial Light"/>
              </a:rPr>
              <a:t>+</a:t>
            </a:r>
            <a:endParaRPr lang="ar-SA" sz="2700" dirty="0"/>
          </a:p>
        </p:txBody>
      </p:sp>
      <p:sp>
        <p:nvSpPr>
          <p:cNvPr id="39" name="s29-shape-37"/>
          <p:cNvSpPr/>
          <p:nvPr/>
        </p:nvSpPr>
        <p:spPr>
          <a:xfrm>
            <a:off x="4635004" y="5473700"/>
            <a:ext cx="991394" cy="482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0" name="s29-text-38"/>
          <p:cNvSpPr txBox="1"/>
          <p:nvPr/>
        </p:nvSpPr>
        <p:spPr>
          <a:xfrm>
            <a:off x="4787404" y="5479796"/>
            <a:ext cx="58499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600"/>
              </a:lnSpc>
              <a:buNone/>
            </a:pPr>
            <a:r>
              <a:rPr lang="ar-SA" altLang="en-US" sz="2000" b="1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موثوق</a:t>
            </a:r>
            <a:endParaRPr lang="ar-SA" sz="2000" dirty="0"/>
          </a:p>
        </p:txBody>
      </p:sp>
      <p:sp>
        <p:nvSpPr>
          <p:cNvPr id="41" name="s29-text-39"/>
          <p:cNvSpPr txBox="1"/>
          <p:nvPr/>
        </p:nvSpPr>
        <p:spPr>
          <a:xfrm>
            <a:off x="4193183" y="5482857"/>
            <a:ext cx="264021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700"/>
              </a:lnSpc>
              <a:buNone/>
            </a:pPr>
            <a:r>
              <a:rPr lang="ar-SA" altLang="en-US" sz="2700" b="1" dirty="0">
                <a:solidFill>
                  <a:srgbClr val="FF8D26"/>
                </a:solidFill>
                <a:latin typeface="Sakkal Saad TN Trial Light"/>
                <a:cs typeface="Sakkal Saad TN Trial Light"/>
              </a:rPr>
              <a:t>+</a:t>
            </a:r>
            <a:endParaRPr lang="ar-SA" sz="2700" dirty="0"/>
          </a:p>
        </p:txBody>
      </p:sp>
      <p:sp>
        <p:nvSpPr>
          <p:cNvPr id="42" name="s29-shape-40"/>
          <p:cNvSpPr/>
          <p:nvPr/>
        </p:nvSpPr>
        <p:spPr>
          <a:xfrm>
            <a:off x="3274120" y="5473700"/>
            <a:ext cx="842863" cy="482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3" name="s29-text-41"/>
          <p:cNvSpPr txBox="1"/>
          <p:nvPr/>
        </p:nvSpPr>
        <p:spPr>
          <a:xfrm>
            <a:off x="3426520" y="5479796"/>
            <a:ext cx="43646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600"/>
              </a:lnSpc>
              <a:buNone/>
            </a:pPr>
            <a:r>
              <a:rPr lang="ar-SA" altLang="en-US" sz="2000" b="1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بيعي</a:t>
            </a:r>
            <a:endParaRPr lang="ar-SA" sz="2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3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4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0" dur="489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75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75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75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5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75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75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75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75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75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75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75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75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75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75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75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75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75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53" presetClass="entr" presetSubtype="16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7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75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75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750" fill="hold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750" fill="hold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750" fill="hold" decel="10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750" fill="hold" decel="10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53" presetClass="entr" presetSubtype="16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27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750" fill="hold" decel="100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750" fill="hold" decel="100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750" fill="hold" decel="100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750" fill="hold" decel="100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750" fill="hold" decel="100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750" fill="hold" decel="100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53" presetClass="entr" presetSubtype="16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27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6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6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27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6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6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53" presetClass="entr" presetSubtype="16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27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6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6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9" dur="750" fill="hold" decel="100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750" fill="hold" decel="100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27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6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6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27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9" dur="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53" presetClass="entr" presetSubtype="16" fill="hold" grpId="0" nodeType="withEffect">
                                  <p:stCondLst>
                                    <p:cond delay="122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27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4" dur="6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6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53" presetClass="entr" presetSubtype="16" fill="hold" grpId="0" nodeType="withEffect">
                                  <p:stCondLst>
                                    <p:cond delay="122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27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9" dur="6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6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53" presetClass="entr" presetSubtype="16" fill="hold" grpId="0" nodeType="withEffect">
                                  <p:stCondLst>
                                    <p:cond delay="127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27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4" dur="6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6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6" presetID="53" presetClass="entr" presetSubtype="16" fill="hold" grpId="0" nodeType="withEffect">
                                  <p:stCondLst>
                                    <p:cond delay="134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27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9" dur="6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6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1" presetID="53" presetClass="entr" presetSubtype="16" fill="hold" grpId="0" nodeType="withEffect">
                                  <p:stCondLst>
                                    <p:cond delay="134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27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4" dur="6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6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6" presetID="53" presetClass="entr" presetSubtype="16" fill="hold" grpId="0" nodeType="withEffect">
                                  <p:stCondLst>
                                    <p:cond delay="139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27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9" dur="6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6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1" presetID="53" presetClass="entr" presetSubtype="16" fill="hold" grpId="0" nodeType="withEffect">
                                  <p:stCondLst>
                                    <p:cond delay="146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27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4" dur="6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6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6" presetID="53" presetClass="entr" presetSubtype="16" fill="hold" grpId="0" nodeType="withEffect">
                                  <p:stCondLst>
                                    <p:cond delay="146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27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9" dur="6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6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1" presetID="53" presetClass="entr" presetSubtype="16" fill="hold" grpId="0" nodeType="withEffect">
                                  <p:stCondLst>
                                    <p:cond delay="151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27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4" dur="6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6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/>
      <p:bldP spid="11" grpId="0"/>
      <p:bldP spid="12" grpId="0" animBg="1"/>
      <p:bldP spid="14" grpId="0"/>
      <p:bldP spid="15" grpId="0"/>
      <p:bldP spid="16" grpId="0" animBg="1"/>
      <p:bldP spid="18" grpId="0"/>
      <p:bldP spid="19" grpId="0"/>
      <p:bldP spid="20" grpId="0" animBg="1"/>
      <p:bldP spid="22" grpId="0"/>
      <p:bldP spid="23" grpId="0"/>
      <p:bldP spid="24" grpId="0" animBg="1"/>
      <p:bldP spid="26" grpId="0"/>
      <p:bldP spid="27" grpId="0"/>
      <p:bldP spid="28" grpId="0" animBg="1"/>
      <p:bldP spid="30" grpId="0"/>
      <p:bldP spid="31" grpId="0"/>
      <p:bldP spid="32" grpId="0" animBg="1"/>
      <p:bldP spid="33" grpId="0" animBg="1"/>
      <p:bldP spid="34" grpId="0"/>
      <p:bldP spid="36" grpId="0" animBg="1"/>
      <p:bldP spid="37" grpId="0"/>
      <p:bldP spid="35" grpId="0"/>
      <p:bldP spid="39" grpId="0" animBg="1"/>
      <p:bldP spid="40" grpId="0"/>
      <p:bldP spid="38" grpId="0"/>
      <p:bldP spid="42" grpId="0" animBg="1"/>
      <p:bldP spid="43" grpId="0"/>
      <p:bldP spid="41" grpId="0"/>
    </p:bldLst>
  </p:timing>
</p:sld>
</file>

<file path=ppt/slides/slide30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lens"/>
          <p:cNvSpPr/>
          <p:nvPr/>
        </p:nvSpPr>
        <p:spPr>
          <a:xfrm>
            <a:off x="368300" y="127000"/>
            <a:ext cx="1206500" cy="1206500"/>
          </a:xfrm>
          <a:prstGeom prst="ellipse">
            <a:avLst/>
          </a:prstGeom>
          <a:solidFill>
            <a:srgbClr val="EEF2EF"/>
          </a:solidFill>
          <a:ln/>
        </p:spPr>
      </p:sp>
      <p:pic>
        <p:nvPicPr>
          <p:cNvPr id="3" name="!!mt" descr="شعار نظرة ثماني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-5400000">
            <a:off x="543520" y="459333"/>
            <a:ext cx="546100" cy="533400"/>
          </a:xfrm>
          <a:prstGeom prst="rect">
            <a:avLst/>
          </a:prstGeom>
        </p:spPr>
      </p:pic>
      <p:pic>
        <p:nvPicPr>
          <p:cNvPr id="4" name="!!mb" descr="شعار نظرة ثمانية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5400000">
            <a:off x="850156" y="480913"/>
            <a:ext cx="527050" cy="520700"/>
          </a:xfrm>
          <a:prstGeom prst="rect">
            <a:avLst/>
          </a:prstGeom>
        </p:spPr>
      </p:pic>
      <p:pic>
        <p:nvPicPr>
          <p:cNvPr id="5" name="!!ma" descr="شعار نظرة ثمانية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5400000">
            <a:off x="727373" y="648940"/>
            <a:ext cx="95250" cy="82550"/>
          </a:xfrm>
          <a:prstGeom prst="rect">
            <a:avLst/>
          </a:prstGeom>
        </p:spPr>
      </p:pic>
      <p:pic>
        <p:nvPicPr>
          <p:cNvPr id="6" name="!!hud" descr="!!hu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800" y="177800"/>
            <a:ext cx="11836400" cy="6502400"/>
          </a:xfrm>
          <a:prstGeom prst="rect">
            <a:avLst/>
          </a:prstGeom>
        </p:spPr>
      </p:pic>
      <p:sp>
        <p:nvSpPr>
          <p:cNvPr id="7" name="!!rec"/>
          <p:cNvSpPr/>
          <p:nvPr/>
        </p:nvSpPr>
        <p:spPr>
          <a:xfrm>
            <a:off x="635000" y="6337300"/>
            <a:ext cx="101600" cy="101600"/>
          </a:xfrm>
          <a:prstGeom prst="ellipse">
            <a:avLst/>
          </a:prstGeom>
          <a:solidFill>
            <a:srgbClr val="FF8D26"/>
          </a:solidFill>
          <a:ln/>
        </p:spPr>
      </p:sp>
      <p:sp>
        <p:nvSpPr>
          <p:cNvPr id="8" name="!!num"/>
          <p:cNvSpPr txBox="1"/>
          <p:nvPr/>
        </p:nvSpPr>
        <p:spPr>
          <a:xfrm>
            <a:off x="825500" y="6281750"/>
            <a:ext cx="69979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altLang="en-US" sz="1200" dirty="0">
                <a:solidFill>
                  <a:srgbClr val="5E6D7C"/>
                </a:solidFill>
                <a:latin typeface="Sakkal Saad TN Trial Light"/>
                <a:cs typeface="Sakkal Saad TN Trial Light"/>
              </a:rPr>
              <a:t>REC · 30</a:t>
            </a:r>
            <a:endParaRPr lang="en-US" sz="1200" dirty="0"/>
          </a:p>
        </p:txBody>
      </p:sp>
      <p:sp>
        <p:nvSpPr>
          <p:cNvPr id="9" name="!!kick"/>
          <p:cNvSpPr txBox="1"/>
          <p:nvPr/>
        </p:nvSpPr>
        <p:spPr>
          <a:xfrm>
            <a:off x="9854180" y="318834"/>
            <a:ext cx="170282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ar-SA" altLang="en-US" sz="1500" b="1" dirty="0">
                <a:solidFill>
                  <a:srgbClr val="43644B"/>
                </a:solidFill>
                <a:latin typeface="Sakkal Saad TN Trial Light"/>
                <a:cs typeface="Sakkal Saad TN Trial Light"/>
              </a:rPr>
              <a:t>07</a:t>
            </a:r>
            <a:r>
              <a:rPr lang="ar-SA" altLang="en-US" sz="1500" dirty="0">
                <a:solidFill>
                  <a:srgbClr val="E9720C"/>
                </a:solidFill>
                <a:latin typeface="Sakkal Saad TN Trial Light"/>
                <a:cs typeface="Sakkal Saad TN Trial Light"/>
              </a:rPr>
              <a:t> الاستراتيجية التسويقية</a:t>
            </a:r>
            <a:endParaRPr lang="ar-SA" sz="1500" dirty="0"/>
          </a:p>
        </p:txBody>
      </p:sp>
      <p:sp>
        <p:nvSpPr>
          <p:cNvPr id="10" name="s30-text-8"/>
          <p:cNvSpPr txBox="1"/>
          <p:nvPr/>
        </p:nvSpPr>
        <p:spPr>
          <a:xfrm>
            <a:off x="6056991" y="695134"/>
            <a:ext cx="5500009" cy="702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5130"/>
              </a:lnSpc>
              <a:buNone/>
            </a:pPr>
            <a:r>
              <a:rPr lang="ar-SA" altLang="en-US" sz="3800" b="1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رحلة العميل من التعرف إلى الشراء</a:t>
            </a:r>
            <a:endParaRPr lang="ar-SA" sz="3800" dirty="0"/>
          </a:p>
        </p:txBody>
      </p:sp>
      <p:pic>
        <p:nvPicPr>
          <p:cNvPr id="11" name="s30-snap-9" descr="s30-snap-9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0650" y="2508250"/>
            <a:ext cx="9283700" cy="127000"/>
          </a:xfrm>
          <a:prstGeom prst="rect">
            <a:avLst/>
          </a:prstGeom>
        </p:spPr>
      </p:pic>
      <p:pic>
        <p:nvPicPr>
          <p:cNvPr id="12" name="s30-snap-10" descr="s30-snap-10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21900" y="2057400"/>
            <a:ext cx="1028700" cy="1028700"/>
          </a:xfrm>
          <a:prstGeom prst="rect">
            <a:avLst/>
          </a:prstGeom>
        </p:spPr>
      </p:pic>
      <p:sp>
        <p:nvSpPr>
          <p:cNvPr id="13" name="s30-text-11"/>
          <p:cNvSpPr txBox="1"/>
          <p:nvPr/>
        </p:nvSpPr>
        <p:spPr>
          <a:xfrm>
            <a:off x="10483155" y="3090507"/>
            <a:ext cx="306189" cy="353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2380"/>
              </a:lnSpc>
              <a:buNone/>
            </a:pPr>
            <a:r>
              <a:rPr lang="ar-SA" altLang="en-US" sz="1700" b="1" dirty="0">
                <a:solidFill>
                  <a:srgbClr val="FF8D26"/>
                </a:solidFill>
                <a:latin typeface="Sakkal Saad TN Trial Light"/>
                <a:cs typeface="Sakkal Saad TN Trial Light"/>
              </a:rPr>
              <a:t>01</a:t>
            </a:r>
            <a:endParaRPr lang="ar-SA" sz="1700" dirty="0"/>
          </a:p>
        </p:txBody>
      </p:sp>
      <p:sp>
        <p:nvSpPr>
          <p:cNvPr id="14" name="s30-text-12"/>
          <p:cNvSpPr txBox="1"/>
          <p:nvPr/>
        </p:nvSpPr>
        <p:spPr>
          <a:xfrm>
            <a:off x="10341173" y="3567162"/>
            <a:ext cx="590252" cy="347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2340"/>
              </a:lnSpc>
              <a:buNone/>
            </a:pPr>
            <a:r>
              <a:rPr lang="ar-SA" altLang="en-US" sz="1800" b="1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التعرف</a:t>
            </a:r>
            <a:endParaRPr lang="ar-SA" sz="1800" dirty="0"/>
          </a:p>
        </p:txBody>
      </p:sp>
      <p:sp>
        <p:nvSpPr>
          <p:cNvPr id="15" name="s30-text-13"/>
          <p:cNvSpPr txBox="1"/>
          <p:nvPr/>
        </p:nvSpPr>
        <p:spPr>
          <a:xfrm>
            <a:off x="9710420" y="4082567"/>
            <a:ext cx="185166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2100"/>
              </a:lnSpc>
              <a:buNone/>
            </a:pPr>
            <a:r>
              <a:rPr lang="ar-SA" altLang="en-US" sz="14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يشاهد العميل إعلانًا أو محتوى</a:t>
            </a:r>
            <a:endParaRPr lang="ar-SA" sz="1400" dirty="0"/>
          </a:p>
          <a:p>
            <a:pPr rtl="1" algn="ctr" indent="0" marL="0">
              <a:lnSpc>
                <a:spcPts val="2100"/>
              </a:lnSpc>
              <a:buNone/>
            </a:pPr>
            <a:r>
              <a:rPr lang="ar-SA" altLang="en-US" sz="14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من نظرة ثمانية.</a:t>
            </a:r>
            <a:endParaRPr lang="ar-SA" sz="1400" dirty="0"/>
          </a:p>
        </p:txBody>
      </p:sp>
      <p:pic>
        <p:nvPicPr>
          <p:cNvPr id="16" name="s30-snap-14" descr="s30-snap-14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80400" y="2057400"/>
            <a:ext cx="1028700" cy="1028700"/>
          </a:xfrm>
          <a:prstGeom prst="rect">
            <a:avLst/>
          </a:prstGeom>
        </p:spPr>
      </p:pic>
      <p:sp>
        <p:nvSpPr>
          <p:cNvPr id="17" name="s30-text-15"/>
          <p:cNvSpPr txBox="1"/>
          <p:nvPr/>
        </p:nvSpPr>
        <p:spPr>
          <a:xfrm>
            <a:off x="8641655" y="3090507"/>
            <a:ext cx="306189" cy="353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2380"/>
              </a:lnSpc>
              <a:buNone/>
            </a:pPr>
            <a:r>
              <a:rPr lang="ar-SA" altLang="en-US" sz="1700" b="1" dirty="0">
                <a:solidFill>
                  <a:srgbClr val="FF8D26"/>
                </a:solidFill>
                <a:latin typeface="Sakkal Saad TN Trial Light"/>
                <a:cs typeface="Sakkal Saad TN Trial Light"/>
              </a:rPr>
              <a:t>02</a:t>
            </a:r>
            <a:endParaRPr lang="ar-SA" sz="1700" dirty="0"/>
          </a:p>
        </p:txBody>
      </p:sp>
      <p:sp>
        <p:nvSpPr>
          <p:cNvPr id="18" name="s30-text-16"/>
          <p:cNvSpPr txBox="1"/>
          <p:nvPr/>
        </p:nvSpPr>
        <p:spPr>
          <a:xfrm>
            <a:off x="8479433" y="3567162"/>
            <a:ext cx="630634" cy="347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2340"/>
              </a:lnSpc>
              <a:buNone/>
            </a:pPr>
            <a:r>
              <a:rPr lang="ar-SA" altLang="en-US" sz="1800" b="1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الاهتمام</a:t>
            </a:r>
            <a:endParaRPr lang="ar-SA" sz="1800" dirty="0"/>
          </a:p>
        </p:txBody>
      </p:sp>
      <p:sp>
        <p:nvSpPr>
          <p:cNvPr id="19" name="s30-text-17"/>
          <p:cNvSpPr txBox="1"/>
          <p:nvPr/>
        </p:nvSpPr>
        <p:spPr>
          <a:xfrm>
            <a:off x="7868920" y="4082567"/>
            <a:ext cx="185166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2100"/>
              </a:lnSpc>
              <a:buNone/>
            </a:pPr>
            <a:r>
              <a:rPr lang="ar-SA" altLang="en-US" sz="14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يتعرف على المنتجات والخدمات</a:t>
            </a:r>
            <a:endParaRPr lang="ar-SA" sz="1400" dirty="0"/>
          </a:p>
          <a:p>
            <a:pPr rtl="1" algn="ctr" indent="0" marL="0">
              <a:lnSpc>
                <a:spcPts val="2100"/>
              </a:lnSpc>
              <a:buNone/>
            </a:pPr>
            <a:r>
              <a:rPr lang="ar-SA" altLang="en-US" sz="14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والحلول المتاحة.</a:t>
            </a:r>
            <a:endParaRPr lang="ar-SA" sz="1400" dirty="0"/>
          </a:p>
        </p:txBody>
      </p:sp>
      <p:pic>
        <p:nvPicPr>
          <p:cNvPr id="20" name="s30-snap-18" descr="s30-snap-18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38900" y="2057400"/>
            <a:ext cx="1028700" cy="1028700"/>
          </a:xfrm>
          <a:prstGeom prst="rect">
            <a:avLst/>
          </a:prstGeom>
        </p:spPr>
      </p:pic>
      <p:sp>
        <p:nvSpPr>
          <p:cNvPr id="21" name="s30-text-19"/>
          <p:cNvSpPr txBox="1"/>
          <p:nvPr/>
        </p:nvSpPr>
        <p:spPr>
          <a:xfrm>
            <a:off x="6800155" y="3090507"/>
            <a:ext cx="306189" cy="353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2380"/>
              </a:lnSpc>
              <a:buNone/>
            </a:pPr>
            <a:r>
              <a:rPr lang="ar-SA" altLang="en-US" sz="1700" b="1" dirty="0">
                <a:solidFill>
                  <a:srgbClr val="FF8D26"/>
                </a:solidFill>
                <a:latin typeface="Sakkal Saad TN Trial Light"/>
                <a:cs typeface="Sakkal Saad TN Trial Light"/>
              </a:rPr>
              <a:t>03</a:t>
            </a:r>
            <a:endParaRPr lang="ar-SA" sz="1700" dirty="0"/>
          </a:p>
        </p:txBody>
      </p:sp>
      <p:sp>
        <p:nvSpPr>
          <p:cNvPr id="22" name="s30-text-20"/>
          <p:cNvSpPr txBox="1"/>
          <p:nvPr/>
        </p:nvSpPr>
        <p:spPr>
          <a:xfrm>
            <a:off x="6318052" y="3567162"/>
            <a:ext cx="1270397" cy="347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2340"/>
              </a:lnSpc>
              <a:buNone/>
            </a:pPr>
            <a:r>
              <a:rPr lang="ar-SA" altLang="en-US" sz="1800" b="1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المقارنة وبناء الثقة</a:t>
            </a:r>
            <a:endParaRPr lang="ar-SA" sz="1800" dirty="0"/>
          </a:p>
        </p:txBody>
      </p:sp>
      <p:sp>
        <p:nvSpPr>
          <p:cNvPr id="23" name="s30-text-21"/>
          <p:cNvSpPr txBox="1"/>
          <p:nvPr/>
        </p:nvSpPr>
        <p:spPr>
          <a:xfrm>
            <a:off x="6027420" y="4082567"/>
            <a:ext cx="185166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2100"/>
              </a:lnSpc>
              <a:buNone/>
            </a:pPr>
            <a:r>
              <a:rPr lang="ar-SA" altLang="en-US" sz="14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يشاهد المشاريع، التقييمات، المزايا</a:t>
            </a:r>
            <a:endParaRPr lang="ar-SA" sz="1400" dirty="0"/>
          </a:p>
          <a:p>
            <a:pPr rtl="1" algn="ctr" indent="0" marL="0">
              <a:lnSpc>
                <a:spcPts val="2100"/>
              </a:lnSpc>
              <a:buNone/>
            </a:pPr>
            <a:r>
              <a:rPr lang="ar-SA" altLang="en-US" sz="14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والمحتوى التعليمي.</a:t>
            </a:r>
            <a:endParaRPr lang="ar-SA" sz="1400" dirty="0"/>
          </a:p>
        </p:txBody>
      </p:sp>
      <p:pic>
        <p:nvPicPr>
          <p:cNvPr id="24" name="s30-snap-22" descr="s30-snap-22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97400" y="2057400"/>
            <a:ext cx="1028700" cy="1028700"/>
          </a:xfrm>
          <a:prstGeom prst="rect">
            <a:avLst/>
          </a:prstGeom>
        </p:spPr>
      </p:pic>
      <p:sp>
        <p:nvSpPr>
          <p:cNvPr id="25" name="s30-text-23"/>
          <p:cNvSpPr txBox="1"/>
          <p:nvPr/>
        </p:nvSpPr>
        <p:spPr>
          <a:xfrm>
            <a:off x="4958655" y="3090507"/>
            <a:ext cx="306189" cy="353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2380"/>
              </a:lnSpc>
              <a:buNone/>
            </a:pPr>
            <a:r>
              <a:rPr lang="ar-SA" altLang="en-US" sz="1700" b="1" dirty="0">
                <a:solidFill>
                  <a:srgbClr val="FF8D26"/>
                </a:solidFill>
                <a:latin typeface="Sakkal Saad TN Trial Light"/>
                <a:cs typeface="Sakkal Saad TN Trial Light"/>
              </a:rPr>
              <a:t>04</a:t>
            </a:r>
            <a:endParaRPr lang="ar-SA" sz="1700" dirty="0"/>
          </a:p>
        </p:txBody>
      </p:sp>
      <p:sp>
        <p:nvSpPr>
          <p:cNvPr id="26" name="s30-text-24"/>
          <p:cNvSpPr txBox="1"/>
          <p:nvPr/>
        </p:nvSpPr>
        <p:spPr>
          <a:xfrm>
            <a:off x="4692253" y="3567162"/>
            <a:ext cx="838994" cy="347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2340"/>
              </a:lnSpc>
              <a:buNone/>
            </a:pPr>
            <a:r>
              <a:rPr lang="ar-SA" altLang="en-US" sz="1800" b="1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الاستفسار</a:t>
            </a:r>
            <a:endParaRPr lang="ar-SA" sz="1800" dirty="0"/>
          </a:p>
        </p:txBody>
      </p:sp>
      <p:sp>
        <p:nvSpPr>
          <p:cNvPr id="27" name="s30-text-25"/>
          <p:cNvSpPr txBox="1"/>
          <p:nvPr/>
        </p:nvSpPr>
        <p:spPr>
          <a:xfrm>
            <a:off x="4185920" y="4082567"/>
            <a:ext cx="185166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2100"/>
              </a:lnSpc>
              <a:buNone/>
            </a:pPr>
            <a:r>
              <a:rPr lang="ar-SA" altLang="en-US" sz="14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ينتقل إلى المتجر أو WhatsApp</a:t>
            </a:r>
            <a:endParaRPr lang="ar-SA" sz="1400" dirty="0"/>
          </a:p>
          <a:p>
            <a:pPr rtl="1" algn="ctr" indent="0" marL="0">
              <a:lnSpc>
                <a:spcPts val="2100"/>
              </a:lnSpc>
              <a:buNone/>
            </a:pPr>
            <a:r>
              <a:rPr lang="ar-SA" altLang="en-US" sz="14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للسؤال عن السعر أو الحل</a:t>
            </a:r>
            <a:endParaRPr lang="ar-SA" sz="1400" dirty="0"/>
          </a:p>
          <a:p>
            <a:pPr rtl="1" algn="ctr" indent="0" marL="0">
              <a:lnSpc>
                <a:spcPts val="2100"/>
              </a:lnSpc>
              <a:buNone/>
            </a:pPr>
            <a:r>
              <a:rPr lang="ar-SA" altLang="en-US" sz="14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المناسب.</a:t>
            </a:r>
            <a:endParaRPr lang="ar-SA" sz="1400" dirty="0"/>
          </a:p>
        </p:txBody>
      </p:sp>
      <p:pic>
        <p:nvPicPr>
          <p:cNvPr id="28" name="s30-snap-26" descr="s30-snap-26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55900" y="2057400"/>
            <a:ext cx="1028700" cy="1028700"/>
          </a:xfrm>
          <a:prstGeom prst="rect">
            <a:avLst/>
          </a:prstGeom>
        </p:spPr>
      </p:pic>
      <p:sp>
        <p:nvSpPr>
          <p:cNvPr id="29" name="s30-text-27"/>
          <p:cNvSpPr txBox="1"/>
          <p:nvPr/>
        </p:nvSpPr>
        <p:spPr>
          <a:xfrm>
            <a:off x="3117155" y="3090507"/>
            <a:ext cx="306189" cy="353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2380"/>
              </a:lnSpc>
              <a:buNone/>
            </a:pPr>
            <a:r>
              <a:rPr lang="ar-SA" altLang="en-US" sz="1700" b="1" dirty="0">
                <a:solidFill>
                  <a:srgbClr val="FF8D26"/>
                </a:solidFill>
                <a:latin typeface="Sakkal Saad TN Trial Light"/>
                <a:cs typeface="Sakkal Saad TN Trial Light"/>
              </a:rPr>
              <a:t>05</a:t>
            </a:r>
            <a:endParaRPr lang="ar-SA" sz="1700" dirty="0"/>
          </a:p>
        </p:txBody>
      </p:sp>
      <p:sp>
        <p:nvSpPr>
          <p:cNvPr id="30" name="s30-text-28"/>
          <p:cNvSpPr txBox="1"/>
          <p:nvPr/>
        </p:nvSpPr>
        <p:spPr>
          <a:xfrm>
            <a:off x="2560979" y="3567162"/>
            <a:ext cx="1418642" cy="347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2340"/>
              </a:lnSpc>
              <a:buNone/>
            </a:pPr>
            <a:r>
              <a:rPr lang="ar-SA" altLang="en-US" sz="1800" b="1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الاستشارة والعرض</a:t>
            </a:r>
            <a:endParaRPr lang="ar-SA" sz="1800" dirty="0"/>
          </a:p>
        </p:txBody>
      </p:sp>
      <p:sp>
        <p:nvSpPr>
          <p:cNvPr id="31" name="s30-text-29"/>
          <p:cNvSpPr txBox="1"/>
          <p:nvPr/>
        </p:nvSpPr>
        <p:spPr>
          <a:xfrm>
            <a:off x="2344420" y="4082567"/>
            <a:ext cx="185166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2100"/>
              </a:lnSpc>
              <a:buNone/>
            </a:pPr>
            <a:r>
              <a:rPr lang="ar-SA" altLang="en-US" sz="14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يتم تحديد احتياجه وتقديم المنتج</a:t>
            </a:r>
            <a:endParaRPr lang="ar-SA" sz="1400" dirty="0"/>
          </a:p>
          <a:p>
            <a:pPr rtl="1" algn="ctr" indent="0" marL="0">
              <a:lnSpc>
                <a:spcPts val="2100"/>
              </a:lnSpc>
              <a:buNone/>
            </a:pPr>
            <a:r>
              <a:rPr lang="ar-SA" altLang="en-US" sz="14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أو الباقة المناسبة.</a:t>
            </a:r>
            <a:endParaRPr lang="ar-SA" sz="1400" dirty="0"/>
          </a:p>
        </p:txBody>
      </p:sp>
      <p:pic>
        <p:nvPicPr>
          <p:cNvPr id="32" name="s30-snap-30" descr="s30-snap-30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4400" y="2057400"/>
            <a:ext cx="1028700" cy="1028700"/>
          </a:xfrm>
          <a:prstGeom prst="rect">
            <a:avLst/>
          </a:prstGeom>
        </p:spPr>
      </p:pic>
      <p:sp>
        <p:nvSpPr>
          <p:cNvPr id="33" name="s30-text-31"/>
          <p:cNvSpPr txBox="1"/>
          <p:nvPr/>
        </p:nvSpPr>
        <p:spPr>
          <a:xfrm>
            <a:off x="1275655" y="3090507"/>
            <a:ext cx="306189" cy="353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2380"/>
              </a:lnSpc>
              <a:buNone/>
            </a:pPr>
            <a:r>
              <a:rPr lang="ar-SA" altLang="en-US" sz="1700" b="1" dirty="0">
                <a:solidFill>
                  <a:srgbClr val="FF8D26"/>
                </a:solidFill>
                <a:latin typeface="Sakkal Saad TN Trial Light"/>
                <a:cs typeface="Sakkal Saad TN Trial Light"/>
              </a:rPr>
              <a:t>06</a:t>
            </a:r>
            <a:endParaRPr lang="ar-SA" sz="1700" dirty="0"/>
          </a:p>
        </p:txBody>
      </p:sp>
      <p:sp>
        <p:nvSpPr>
          <p:cNvPr id="34" name="s30-text-32"/>
          <p:cNvSpPr txBox="1"/>
          <p:nvPr/>
        </p:nvSpPr>
        <p:spPr>
          <a:xfrm>
            <a:off x="1174948" y="3567162"/>
            <a:ext cx="507702" cy="347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2340"/>
              </a:lnSpc>
              <a:buNone/>
            </a:pPr>
            <a:r>
              <a:rPr lang="ar-SA" altLang="en-US" sz="1800" b="1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الشراء</a:t>
            </a:r>
            <a:endParaRPr lang="ar-SA" sz="1800" dirty="0"/>
          </a:p>
        </p:txBody>
      </p:sp>
      <p:sp>
        <p:nvSpPr>
          <p:cNvPr id="35" name="s30-text-33"/>
          <p:cNvSpPr txBox="1"/>
          <p:nvPr/>
        </p:nvSpPr>
        <p:spPr>
          <a:xfrm>
            <a:off x="502920" y="4082567"/>
            <a:ext cx="185166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2100"/>
              </a:lnSpc>
              <a:buNone/>
            </a:pPr>
            <a:r>
              <a:rPr lang="ar-SA" altLang="en-US" sz="14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يؤكد العميل الطلب ويتم</a:t>
            </a:r>
            <a:endParaRPr lang="ar-SA" sz="1400" dirty="0"/>
          </a:p>
          <a:p>
            <a:pPr rtl="1" algn="ctr" indent="0" marL="0">
              <a:lnSpc>
                <a:spcPts val="2100"/>
              </a:lnSpc>
              <a:buNone/>
            </a:pPr>
            <a:r>
              <a:rPr lang="ar-SA" altLang="en-US" sz="14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استكمال البيع والتركيب والبرمجة</a:t>
            </a:r>
            <a:endParaRPr lang="ar-SA" sz="1400" dirty="0"/>
          </a:p>
          <a:p>
            <a:pPr rtl="1" algn="ctr" indent="0" marL="0">
              <a:lnSpc>
                <a:spcPts val="2100"/>
              </a:lnSpc>
              <a:buNone/>
            </a:pPr>
            <a:r>
              <a:rPr lang="ar-SA" altLang="en-US" sz="14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عند الحاجة.</a:t>
            </a:r>
            <a:endParaRPr lang="ar-SA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3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4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0" dur="489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1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4" dur="979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7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5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5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75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5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75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5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7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75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5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75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5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75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75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>
                                  <p:stCondLst>
                                    <p:cond delay="62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7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62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75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75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62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75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75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62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75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75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53" presetClass="entr" presetSubtype="16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7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6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6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750" fill="hold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750" fill="hold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750" fill="hold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750" fill="hold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750" fill="hold" decel="10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750" fill="hold" decel="10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53" presetClass="entr" presetSubtype="16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7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6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6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750" fill="hold" decel="100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750" fill="hold" decel="100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750" fill="hold" decel="100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750" fill="hold" decel="100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750" fill="hold" decel="100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750" fill="hold" decel="100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27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6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6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750" fill="hold" decel="1000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750" fill="hold" decel="1000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42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750" fill="hold" decel="100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750" fill="hold" decel="100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42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750" fill="hold" decel="1000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750" fill="hold" decel="1000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/>
      <p:bldP spid="13" grpId="0"/>
      <p:bldP spid="14" grpId="0"/>
      <p:bldP spid="15" grpId="0"/>
      <p:bldP spid="17" grpId="0"/>
      <p:bldP spid="18" grpId="0"/>
      <p:bldP spid="19" grpId="0"/>
      <p:bldP spid="21" grpId="0"/>
      <p:bldP spid="22" grpId="0"/>
      <p:bldP spid="23" grpId="0"/>
      <p:bldP spid="25" grpId="0"/>
      <p:bldP spid="26" grpId="0"/>
      <p:bldP spid="27" grpId="0"/>
      <p:bldP spid="29" grpId="0"/>
      <p:bldP spid="30" grpId="0"/>
      <p:bldP spid="31" grpId="0"/>
      <p:bldP spid="33" grpId="0"/>
      <p:bldP spid="34" grpId="0"/>
      <p:bldP spid="35" grpId="0"/>
    </p:bldLst>
  </p:timing>
</p:sld>
</file>

<file path=ppt/slides/slide31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lens"/>
          <p:cNvSpPr/>
          <p:nvPr/>
        </p:nvSpPr>
        <p:spPr>
          <a:xfrm>
            <a:off x="368300" y="127000"/>
            <a:ext cx="1206500" cy="1206500"/>
          </a:xfrm>
          <a:prstGeom prst="ellipse">
            <a:avLst/>
          </a:prstGeom>
          <a:solidFill>
            <a:srgbClr val="FFFFFF">
              <a:alpha val="7000"/>
            </a:srgbClr>
          </a:solidFill>
          <a:ln/>
        </p:spPr>
      </p:sp>
      <p:pic>
        <p:nvPicPr>
          <p:cNvPr id="3" name="!!mt" descr="شعار نظرة ثمانية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2700000">
            <a:off x="589260" y="357733"/>
            <a:ext cx="546100" cy="533400"/>
          </a:xfrm>
          <a:prstGeom prst="rect">
            <a:avLst/>
          </a:prstGeom>
        </p:spPr>
      </p:pic>
      <p:pic>
        <p:nvPicPr>
          <p:cNvPr id="4" name="!!mb" descr="شعار نظرة ثمانية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2700000">
            <a:off x="798165" y="585093"/>
            <a:ext cx="527050" cy="520700"/>
          </a:xfrm>
          <a:prstGeom prst="rect">
            <a:avLst/>
          </a:prstGeom>
        </p:spPr>
      </p:pic>
      <p:pic>
        <p:nvPicPr>
          <p:cNvPr id="5" name="!!ma" descr="شعار نظرة ثمانية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-2700000">
            <a:off x="810518" y="528290"/>
            <a:ext cx="95250" cy="82550"/>
          </a:xfrm>
          <a:prstGeom prst="rect">
            <a:avLst/>
          </a:prstGeom>
        </p:spPr>
      </p:pic>
      <p:pic>
        <p:nvPicPr>
          <p:cNvPr id="6" name="!!hud" descr="!!hud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7800" y="177800"/>
            <a:ext cx="11836400" cy="6502400"/>
          </a:xfrm>
          <a:prstGeom prst="rect">
            <a:avLst/>
          </a:prstGeom>
        </p:spPr>
      </p:pic>
      <p:sp>
        <p:nvSpPr>
          <p:cNvPr id="7" name="!!rec"/>
          <p:cNvSpPr/>
          <p:nvPr/>
        </p:nvSpPr>
        <p:spPr>
          <a:xfrm>
            <a:off x="635000" y="6337300"/>
            <a:ext cx="101600" cy="101600"/>
          </a:xfrm>
          <a:prstGeom prst="ellipse">
            <a:avLst/>
          </a:prstGeom>
          <a:solidFill>
            <a:srgbClr val="FF8D26"/>
          </a:solidFill>
          <a:ln/>
        </p:spPr>
      </p:sp>
      <p:sp>
        <p:nvSpPr>
          <p:cNvPr id="8" name="!!num"/>
          <p:cNvSpPr txBox="1"/>
          <p:nvPr/>
        </p:nvSpPr>
        <p:spPr>
          <a:xfrm>
            <a:off x="825500" y="6281750"/>
            <a:ext cx="673497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altLang="en-US" sz="1200" dirty="0">
                <a:solidFill>
                  <a:srgbClr val="D9E0DB"/>
                </a:solidFill>
                <a:latin typeface="Sakkal Saad TN Trial Light"/>
                <a:cs typeface="Sakkal Saad TN Trial Light"/>
              </a:rPr>
              <a:t>REC · 31</a:t>
            </a:r>
            <a:endParaRPr lang="en-US" sz="1200" dirty="0"/>
          </a:p>
        </p:txBody>
      </p:sp>
      <p:sp>
        <p:nvSpPr>
          <p:cNvPr id="9" name="!!kick"/>
          <p:cNvSpPr txBox="1"/>
          <p:nvPr/>
        </p:nvSpPr>
        <p:spPr>
          <a:xfrm>
            <a:off x="9854180" y="318834"/>
            <a:ext cx="170282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ar-SA" altLang="en-US" sz="1500" b="1" dirty="0">
                <a:solidFill>
                  <a:srgbClr val="FFFFFF"/>
                </a:solidFill>
                <a:latin typeface="Sakkal Saad TN Trial Light"/>
                <a:cs typeface="Sakkal Saad TN Trial Light"/>
              </a:rPr>
              <a:t>07</a:t>
            </a:r>
            <a:r>
              <a:rPr lang="ar-SA" altLang="en-US" sz="1500" dirty="0">
                <a:solidFill>
                  <a:srgbClr val="F6C342"/>
                </a:solidFill>
                <a:latin typeface="Sakkal Saad TN Trial Light"/>
                <a:cs typeface="Sakkal Saad TN Trial Light"/>
              </a:rPr>
              <a:t> الاستراتيجية التسويقية</a:t>
            </a:r>
            <a:endParaRPr lang="ar-SA" sz="1500" dirty="0"/>
          </a:p>
        </p:txBody>
      </p:sp>
      <p:sp>
        <p:nvSpPr>
          <p:cNvPr id="10" name="s31-text-9"/>
          <p:cNvSpPr txBox="1"/>
          <p:nvPr/>
        </p:nvSpPr>
        <p:spPr>
          <a:xfrm>
            <a:off x="8196366" y="695134"/>
            <a:ext cx="3360634" cy="702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5130"/>
              </a:lnSpc>
              <a:buNone/>
            </a:pPr>
            <a:r>
              <a:rPr lang="ar-SA" altLang="en-US" sz="3800" b="1" dirty="0">
                <a:solidFill>
                  <a:srgbClr val="FFFFFF"/>
                </a:solidFill>
                <a:latin typeface="Sakkal Saad TN Trial Light"/>
                <a:cs typeface="Sakkal Saad TN Trial Light"/>
              </a:rPr>
              <a:t>الخلاصة الاستراتيجية</a:t>
            </a:r>
            <a:endParaRPr lang="ar-SA" sz="3800" dirty="0"/>
          </a:p>
        </p:txBody>
      </p:sp>
      <p:sp>
        <p:nvSpPr>
          <p:cNvPr id="11" name="s31-shape-10"/>
          <p:cNvSpPr/>
          <p:nvPr/>
        </p:nvSpPr>
        <p:spPr>
          <a:xfrm>
            <a:off x="9588500" y="2413000"/>
            <a:ext cx="1905000" cy="3048000"/>
          </a:xfrm>
          <a:prstGeom prst="roundRect">
            <a:avLst>
              <a:gd name="adj" fmla="val 13333"/>
            </a:avLst>
          </a:prstGeom>
          <a:solidFill>
            <a:srgbClr val="FFFFFF">
              <a:alpha val="10000"/>
            </a:srgbClr>
          </a:solidFill>
          <a:ln/>
        </p:spPr>
      </p:sp>
      <p:pic>
        <p:nvPicPr>
          <p:cNvPr id="12" name="s31-snap-11" descr="s31-snap-11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55300" y="2603500"/>
            <a:ext cx="685800" cy="685800"/>
          </a:xfrm>
          <a:prstGeom prst="rect">
            <a:avLst/>
          </a:prstGeom>
        </p:spPr>
      </p:pic>
      <p:sp>
        <p:nvSpPr>
          <p:cNvPr id="13" name="s31-text-12"/>
          <p:cNvSpPr txBox="1"/>
          <p:nvPr/>
        </p:nvSpPr>
        <p:spPr>
          <a:xfrm>
            <a:off x="9657080" y="3306064"/>
            <a:ext cx="164592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800"/>
              </a:lnSpc>
              <a:buNone/>
            </a:pPr>
            <a:r>
              <a:rPr lang="ar-SA" altLang="en-US" sz="2000" b="1" dirty="0">
                <a:solidFill>
                  <a:srgbClr val="F6C342"/>
                </a:solidFill>
                <a:latin typeface="Sakkal Saad TN Trial Light"/>
                <a:cs typeface="Sakkal Saad TN Trial Light"/>
              </a:rPr>
              <a:t>01</a:t>
            </a:r>
            <a:endParaRPr lang="ar-SA" sz="2000" dirty="0"/>
          </a:p>
        </p:txBody>
      </p:sp>
      <p:sp>
        <p:nvSpPr>
          <p:cNvPr id="14" name="s31-text-13"/>
          <p:cNvSpPr txBox="1"/>
          <p:nvPr/>
        </p:nvSpPr>
        <p:spPr>
          <a:xfrm>
            <a:off x="9657080" y="3795281"/>
            <a:ext cx="1645920" cy="713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610"/>
              </a:lnSpc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Sakkal Saad TN Trial Light"/>
                <a:cs typeface="Sakkal Saad TN Trial Light"/>
              </a:rPr>
              <a:t>جذب العميل</a:t>
            </a:r>
            <a:endParaRPr lang="ar-SA" sz="1800" dirty="0"/>
          </a:p>
          <a:p>
            <a:pPr rtl="1" algn="r" indent="0" marL="0">
              <a:lnSpc>
                <a:spcPts val="2610"/>
              </a:lnSpc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Sakkal Saad TN Trial Light"/>
                <a:cs typeface="Sakkal Saad TN Trial Light"/>
              </a:rPr>
              <a:t>بالمحتوى المناسب</a:t>
            </a:r>
            <a:endParaRPr lang="ar-SA" sz="1800" dirty="0"/>
          </a:p>
        </p:txBody>
      </p:sp>
      <p:pic>
        <p:nvPicPr>
          <p:cNvPr id="15" name="s31-snap-14" descr="s31-snap-14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71000" y="3708400"/>
            <a:ext cx="342900" cy="457200"/>
          </a:xfrm>
          <a:prstGeom prst="rect">
            <a:avLst/>
          </a:prstGeom>
        </p:spPr>
      </p:pic>
      <p:sp>
        <p:nvSpPr>
          <p:cNvPr id="16" name="s31-shape-15"/>
          <p:cNvSpPr/>
          <p:nvPr/>
        </p:nvSpPr>
        <p:spPr>
          <a:xfrm>
            <a:off x="7391400" y="2413000"/>
            <a:ext cx="1905000" cy="3048000"/>
          </a:xfrm>
          <a:prstGeom prst="roundRect">
            <a:avLst>
              <a:gd name="adj" fmla="val 13333"/>
            </a:avLst>
          </a:prstGeom>
          <a:solidFill>
            <a:srgbClr val="FFFFFF">
              <a:alpha val="10000"/>
            </a:srgbClr>
          </a:solidFill>
          <a:ln/>
        </p:spPr>
      </p:sp>
      <p:pic>
        <p:nvPicPr>
          <p:cNvPr id="17" name="s31-snap-16" descr="s31-snap-16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58200" y="2603500"/>
            <a:ext cx="685800" cy="685800"/>
          </a:xfrm>
          <a:prstGeom prst="rect">
            <a:avLst/>
          </a:prstGeom>
        </p:spPr>
      </p:pic>
      <p:sp>
        <p:nvSpPr>
          <p:cNvPr id="18" name="s31-text-17"/>
          <p:cNvSpPr txBox="1"/>
          <p:nvPr/>
        </p:nvSpPr>
        <p:spPr>
          <a:xfrm>
            <a:off x="7459980" y="3306064"/>
            <a:ext cx="164592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800"/>
              </a:lnSpc>
              <a:buNone/>
            </a:pPr>
            <a:r>
              <a:rPr lang="ar-SA" altLang="en-US" sz="2000" b="1" dirty="0">
                <a:solidFill>
                  <a:srgbClr val="F6C342"/>
                </a:solidFill>
                <a:latin typeface="Sakkal Saad TN Trial Light"/>
                <a:cs typeface="Sakkal Saad TN Trial Light"/>
              </a:rPr>
              <a:t>02</a:t>
            </a:r>
            <a:endParaRPr lang="ar-SA" sz="2000" dirty="0"/>
          </a:p>
        </p:txBody>
      </p:sp>
      <p:sp>
        <p:nvSpPr>
          <p:cNvPr id="19" name="s31-text-18"/>
          <p:cNvSpPr txBox="1"/>
          <p:nvPr/>
        </p:nvSpPr>
        <p:spPr>
          <a:xfrm>
            <a:off x="7459980" y="3795281"/>
            <a:ext cx="1645920" cy="382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610"/>
              </a:lnSpc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Sakkal Saad TN Trial Light"/>
                <a:cs typeface="Sakkal Saad TN Trial Light"/>
              </a:rPr>
              <a:t>بناء الثقة</a:t>
            </a:r>
            <a:endParaRPr lang="ar-SA" sz="1800" dirty="0"/>
          </a:p>
        </p:txBody>
      </p:sp>
      <p:pic>
        <p:nvPicPr>
          <p:cNvPr id="20" name="s31-snap-19" descr="s31-snap-19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73900" y="3708400"/>
            <a:ext cx="342900" cy="457200"/>
          </a:xfrm>
          <a:prstGeom prst="rect">
            <a:avLst/>
          </a:prstGeom>
        </p:spPr>
      </p:pic>
      <p:sp>
        <p:nvSpPr>
          <p:cNvPr id="21" name="s31-shape-20"/>
          <p:cNvSpPr/>
          <p:nvPr/>
        </p:nvSpPr>
        <p:spPr>
          <a:xfrm>
            <a:off x="5194300" y="2413000"/>
            <a:ext cx="1905000" cy="3048000"/>
          </a:xfrm>
          <a:prstGeom prst="roundRect">
            <a:avLst>
              <a:gd name="adj" fmla="val 13333"/>
            </a:avLst>
          </a:prstGeom>
          <a:solidFill>
            <a:srgbClr val="FFFFFF">
              <a:alpha val="10000"/>
            </a:srgbClr>
          </a:solidFill>
          <a:ln/>
        </p:spPr>
      </p:sp>
      <p:pic>
        <p:nvPicPr>
          <p:cNvPr id="22" name="s31-snap-21" descr="s31-snap-21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61100" y="2603500"/>
            <a:ext cx="685800" cy="685800"/>
          </a:xfrm>
          <a:prstGeom prst="rect">
            <a:avLst/>
          </a:prstGeom>
        </p:spPr>
      </p:pic>
      <p:sp>
        <p:nvSpPr>
          <p:cNvPr id="23" name="s31-text-22"/>
          <p:cNvSpPr txBox="1"/>
          <p:nvPr/>
        </p:nvSpPr>
        <p:spPr>
          <a:xfrm>
            <a:off x="5262880" y="3306064"/>
            <a:ext cx="164592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800"/>
              </a:lnSpc>
              <a:buNone/>
            </a:pPr>
            <a:r>
              <a:rPr lang="ar-SA" altLang="en-US" sz="2000" b="1" dirty="0">
                <a:solidFill>
                  <a:srgbClr val="F6C342"/>
                </a:solidFill>
                <a:latin typeface="Sakkal Saad TN Trial Light"/>
                <a:cs typeface="Sakkal Saad TN Trial Light"/>
              </a:rPr>
              <a:t>03</a:t>
            </a:r>
            <a:endParaRPr lang="ar-SA" sz="2000" dirty="0"/>
          </a:p>
        </p:txBody>
      </p:sp>
      <p:sp>
        <p:nvSpPr>
          <p:cNvPr id="24" name="s31-text-23"/>
          <p:cNvSpPr txBox="1"/>
          <p:nvPr/>
        </p:nvSpPr>
        <p:spPr>
          <a:xfrm>
            <a:off x="5262880" y="3795281"/>
            <a:ext cx="1645920" cy="382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610"/>
              </a:lnSpc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Sakkal Saad TN Trial Light"/>
                <a:cs typeface="Sakkal Saad TN Trial Light"/>
              </a:rPr>
              <a:t>فهم احتياجه</a:t>
            </a:r>
            <a:endParaRPr lang="ar-SA" sz="1800" dirty="0"/>
          </a:p>
        </p:txBody>
      </p:sp>
      <p:pic>
        <p:nvPicPr>
          <p:cNvPr id="25" name="s31-snap-24" descr="s31-snap-24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76800" y="3708400"/>
            <a:ext cx="342900" cy="457200"/>
          </a:xfrm>
          <a:prstGeom prst="rect">
            <a:avLst/>
          </a:prstGeom>
        </p:spPr>
      </p:pic>
      <p:sp>
        <p:nvSpPr>
          <p:cNvPr id="26" name="s31-shape-25"/>
          <p:cNvSpPr/>
          <p:nvPr/>
        </p:nvSpPr>
        <p:spPr>
          <a:xfrm>
            <a:off x="2997200" y="2413000"/>
            <a:ext cx="1905000" cy="3048000"/>
          </a:xfrm>
          <a:prstGeom prst="roundRect">
            <a:avLst>
              <a:gd name="adj" fmla="val 13333"/>
            </a:avLst>
          </a:prstGeom>
          <a:solidFill>
            <a:srgbClr val="FFFFFF">
              <a:alpha val="10000"/>
            </a:srgbClr>
          </a:solidFill>
          <a:ln/>
        </p:spPr>
      </p:sp>
      <p:pic>
        <p:nvPicPr>
          <p:cNvPr id="27" name="s31-snap-26" descr="s31-snap-26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064000" y="2603500"/>
            <a:ext cx="685800" cy="685800"/>
          </a:xfrm>
          <a:prstGeom prst="rect">
            <a:avLst/>
          </a:prstGeom>
        </p:spPr>
      </p:pic>
      <p:sp>
        <p:nvSpPr>
          <p:cNvPr id="28" name="s31-text-27"/>
          <p:cNvSpPr txBox="1"/>
          <p:nvPr/>
        </p:nvSpPr>
        <p:spPr>
          <a:xfrm>
            <a:off x="3065780" y="3306064"/>
            <a:ext cx="164592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800"/>
              </a:lnSpc>
              <a:buNone/>
            </a:pPr>
            <a:r>
              <a:rPr lang="ar-SA" altLang="en-US" sz="2000" b="1" dirty="0">
                <a:solidFill>
                  <a:srgbClr val="F6C342"/>
                </a:solidFill>
                <a:latin typeface="Sakkal Saad TN Trial Light"/>
                <a:cs typeface="Sakkal Saad TN Trial Light"/>
              </a:rPr>
              <a:t>04</a:t>
            </a:r>
            <a:endParaRPr lang="ar-SA" sz="2000" dirty="0"/>
          </a:p>
        </p:txBody>
      </p:sp>
      <p:sp>
        <p:nvSpPr>
          <p:cNvPr id="29" name="s31-text-28"/>
          <p:cNvSpPr txBox="1"/>
          <p:nvPr/>
        </p:nvSpPr>
        <p:spPr>
          <a:xfrm>
            <a:off x="3065780" y="3795281"/>
            <a:ext cx="1645920" cy="382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610"/>
              </a:lnSpc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Sakkal Saad TN Trial Light"/>
                <a:cs typeface="Sakkal Saad TN Trial Light"/>
              </a:rPr>
              <a:t>تقديم الحل المناسب</a:t>
            </a:r>
            <a:endParaRPr lang="ar-SA" sz="1800" dirty="0"/>
          </a:p>
        </p:txBody>
      </p:sp>
      <p:pic>
        <p:nvPicPr>
          <p:cNvPr id="30" name="s31-snap-29" descr="s31-snap-29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679700" y="3708400"/>
            <a:ext cx="342900" cy="457200"/>
          </a:xfrm>
          <a:prstGeom prst="rect">
            <a:avLst/>
          </a:prstGeom>
        </p:spPr>
      </p:pic>
      <p:sp>
        <p:nvSpPr>
          <p:cNvPr id="31" name="s31-shape-30"/>
          <p:cNvSpPr/>
          <p:nvPr/>
        </p:nvSpPr>
        <p:spPr>
          <a:xfrm>
            <a:off x="800100" y="2413000"/>
            <a:ext cx="1905000" cy="3048000"/>
          </a:xfrm>
          <a:prstGeom prst="roundRect">
            <a:avLst>
              <a:gd name="adj" fmla="val 13333"/>
            </a:avLst>
          </a:prstGeom>
          <a:solidFill>
            <a:srgbClr val="FF8D26"/>
          </a:solidFill>
          <a:ln/>
        </p:spPr>
      </p:sp>
      <p:pic>
        <p:nvPicPr>
          <p:cNvPr id="32" name="s31-snap-31" descr="s31-snap-31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866900" y="2603500"/>
            <a:ext cx="685800" cy="685800"/>
          </a:xfrm>
          <a:prstGeom prst="rect">
            <a:avLst/>
          </a:prstGeom>
        </p:spPr>
      </p:pic>
      <p:sp>
        <p:nvSpPr>
          <p:cNvPr id="33" name="s31-text-32"/>
          <p:cNvSpPr txBox="1"/>
          <p:nvPr/>
        </p:nvSpPr>
        <p:spPr>
          <a:xfrm>
            <a:off x="868680" y="3306064"/>
            <a:ext cx="164592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800"/>
              </a:lnSpc>
              <a:buNone/>
            </a:pPr>
            <a:r>
              <a:rPr lang="ar-SA" altLang="en-US" sz="2000" b="1" dirty="0">
                <a:solidFill>
                  <a:srgbClr val="FFFFFF"/>
                </a:solidFill>
                <a:latin typeface="Sakkal Saad TN Trial Light"/>
                <a:cs typeface="Sakkal Saad TN Trial Light"/>
              </a:rPr>
              <a:t>05</a:t>
            </a:r>
            <a:endParaRPr lang="ar-SA" sz="2000" dirty="0"/>
          </a:p>
        </p:txBody>
      </p:sp>
      <p:sp>
        <p:nvSpPr>
          <p:cNvPr id="34" name="s31-text-33"/>
          <p:cNvSpPr txBox="1"/>
          <p:nvPr/>
        </p:nvSpPr>
        <p:spPr>
          <a:xfrm>
            <a:off x="868680" y="3795281"/>
            <a:ext cx="1645920" cy="713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610"/>
              </a:lnSpc>
              <a:buNone/>
            </a:pPr>
            <a:r>
              <a:rPr lang="ar-SA" altLang="en-US" sz="1800" b="1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تحويله إلى استفسار</a:t>
            </a:r>
            <a:endParaRPr lang="ar-SA" sz="1800" dirty="0"/>
          </a:p>
          <a:p>
            <a:pPr rtl="1" algn="r" indent="0" marL="0">
              <a:lnSpc>
                <a:spcPts val="2610"/>
              </a:lnSpc>
              <a:buNone/>
            </a:pPr>
            <a:r>
              <a:rPr lang="ar-SA" altLang="en-US" sz="1800" b="1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ثم عملية شراء</a:t>
            </a:r>
            <a:endParaRPr lang="ar-SA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3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4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0" dur="489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75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75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75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5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7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75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75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75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75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75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75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27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75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75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75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75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75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75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53" presetClass="entr" presetSubtype="16" fill="hold" grpId="0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27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6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6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750" fill="hold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750" fill="hold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750" fill="hold" decel="100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750" fill="hold" decel="100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750" fill="hold" decel="100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750" fill="hold" decel="100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53" presetClass="entr" presetSubtype="16" fill="hold" grpId="0" nodeType="withEffect">
                                  <p:stCondLst>
                                    <p:cond delay="99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7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6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6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750" fill="hold" decel="100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750" fill="hold" decel="100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750" fill="hold" decel="1000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750" fill="hold" decel="1000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750" fill="hold" decel="100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750" fill="hold" decel="100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53" presetClass="entr" presetSubtype="16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27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1" dur="6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6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/>
      <p:bldP spid="11" grpId="0" animBg="1"/>
      <p:bldP spid="13" grpId="0"/>
      <p:bldP spid="14" grpId="0"/>
      <p:bldP spid="16" grpId="0" animBg="1"/>
      <p:bldP spid="18" grpId="0"/>
      <p:bldP spid="19" grpId="0"/>
      <p:bldP spid="21" grpId="0" animBg="1"/>
      <p:bldP spid="23" grpId="0"/>
      <p:bldP spid="24" grpId="0"/>
      <p:bldP spid="26" grpId="0" animBg="1"/>
      <p:bldP spid="28" grpId="0"/>
      <p:bldP spid="29" grpId="0"/>
      <p:bldP spid="31" grpId="0" animBg="1"/>
      <p:bldP spid="33" grpId="0"/>
      <p:bldP spid="34" grpId="0"/>
    </p:bldLst>
  </p:timing>
</p:sld>
</file>

<file path=ppt/slides/slide32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lens"/>
          <p:cNvSpPr/>
          <p:nvPr/>
        </p:nvSpPr>
        <p:spPr>
          <a:xfrm>
            <a:off x="5715000" y="-127000"/>
            <a:ext cx="7112000" cy="7112000"/>
          </a:xfrm>
          <a:prstGeom prst="ellipse">
            <a:avLst/>
          </a:prstGeom>
          <a:solidFill>
            <a:srgbClr val="FFFFFF">
              <a:alpha val="7000"/>
            </a:srgbClr>
          </a:solidFill>
          <a:ln/>
        </p:spPr>
      </p:sp>
      <p:pic>
        <p:nvPicPr>
          <p:cNvPr id="3" name="!!mt" descr="شعار نظرة ثمانية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8171" y="951508"/>
            <a:ext cx="3257550" cy="3213100"/>
          </a:xfrm>
          <a:prstGeom prst="rect">
            <a:avLst/>
          </a:prstGeom>
        </p:spPr>
      </p:pic>
      <p:pic>
        <p:nvPicPr>
          <p:cNvPr id="4" name="!!mb" descr="شعار نظرة ثمانية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3551" y="2779961"/>
            <a:ext cx="3181350" cy="3124200"/>
          </a:xfrm>
          <a:prstGeom prst="rect">
            <a:avLst/>
          </a:prstGeom>
        </p:spPr>
      </p:pic>
      <p:pic>
        <p:nvPicPr>
          <p:cNvPr id="5" name="!!ma" descr="شعار نظرة ثمانية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3276" y="2052886"/>
            <a:ext cx="577850" cy="508000"/>
          </a:xfrm>
          <a:prstGeom prst="rect">
            <a:avLst/>
          </a:prstGeom>
        </p:spPr>
      </p:pic>
      <p:pic>
        <p:nvPicPr>
          <p:cNvPr id="6" name="!!hud" descr="!!hud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7800" y="177800"/>
            <a:ext cx="11836400" cy="6502400"/>
          </a:xfrm>
          <a:prstGeom prst="rect">
            <a:avLst/>
          </a:prstGeom>
        </p:spPr>
      </p:pic>
      <p:sp>
        <p:nvSpPr>
          <p:cNvPr id="7" name="!!rec"/>
          <p:cNvSpPr/>
          <p:nvPr/>
        </p:nvSpPr>
        <p:spPr>
          <a:xfrm>
            <a:off x="635000" y="6337300"/>
            <a:ext cx="101600" cy="101600"/>
          </a:xfrm>
          <a:prstGeom prst="ellipse">
            <a:avLst/>
          </a:prstGeom>
          <a:solidFill>
            <a:srgbClr val="FF8D26"/>
          </a:solidFill>
          <a:ln/>
        </p:spPr>
      </p:sp>
      <p:sp>
        <p:nvSpPr>
          <p:cNvPr id="8" name="!!num"/>
          <p:cNvSpPr txBox="1"/>
          <p:nvPr/>
        </p:nvSpPr>
        <p:spPr>
          <a:xfrm>
            <a:off x="825500" y="6281750"/>
            <a:ext cx="684113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altLang="en-US" sz="1200" dirty="0">
                <a:solidFill>
                  <a:srgbClr val="D9E0DB"/>
                </a:solidFill>
                <a:latin typeface="Sakkal Saad TN Trial Light"/>
                <a:cs typeface="Sakkal Saad TN Trial Light"/>
              </a:rPr>
              <a:t>REC · 32</a:t>
            </a:r>
            <a:endParaRPr lang="en-US" sz="1200" dirty="0"/>
          </a:p>
        </p:txBody>
      </p:sp>
      <p:pic>
        <p:nvPicPr>
          <p:cNvPr id="9" name="s32-snap-8" descr="s32-snap-8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7400" y="1041400"/>
            <a:ext cx="1880791" cy="1981200"/>
          </a:xfrm>
          <a:prstGeom prst="rect">
            <a:avLst/>
          </a:prstGeom>
        </p:spPr>
      </p:pic>
      <p:pic>
        <p:nvPicPr>
          <p:cNvPr id="10" name="s32-snap-9" descr="s32-snap-9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7400" y="3263900"/>
            <a:ext cx="6426200" cy="235188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3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4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53" presetClass="entr" presetSubtype="3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9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1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9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1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9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5" dur="63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3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lens"/>
          <p:cNvSpPr/>
          <p:nvPr/>
        </p:nvSpPr>
        <p:spPr>
          <a:xfrm>
            <a:off x="368300" y="127000"/>
            <a:ext cx="1206500" cy="1206500"/>
          </a:xfrm>
          <a:prstGeom prst="ellipse">
            <a:avLst/>
          </a:prstGeom>
          <a:solidFill>
            <a:srgbClr val="EEF2EF"/>
          </a:solidFill>
          <a:ln/>
        </p:spPr>
      </p:sp>
      <p:pic>
        <p:nvPicPr>
          <p:cNvPr id="3" name="!!mt" descr="شعار نظرة ثماني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700000">
            <a:off x="794345" y="364083"/>
            <a:ext cx="546100" cy="533400"/>
          </a:xfrm>
          <a:prstGeom prst="rect">
            <a:avLst/>
          </a:prstGeom>
        </p:spPr>
      </p:pic>
      <p:pic>
        <p:nvPicPr>
          <p:cNvPr id="4" name="!!mb" descr="شعار نظرة ثمانية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700000">
            <a:off x="582861" y="569813"/>
            <a:ext cx="527050" cy="520700"/>
          </a:xfrm>
          <a:prstGeom prst="rect">
            <a:avLst/>
          </a:prstGeom>
        </p:spPr>
      </p:pic>
      <p:pic>
        <p:nvPicPr>
          <p:cNvPr id="5" name="!!ma" descr="شعار نظرة ثمانية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700000">
            <a:off x="1074638" y="585440"/>
            <a:ext cx="95250" cy="82550"/>
          </a:xfrm>
          <a:prstGeom prst="rect">
            <a:avLst/>
          </a:prstGeom>
        </p:spPr>
      </p:pic>
      <p:pic>
        <p:nvPicPr>
          <p:cNvPr id="6" name="!!hud" descr="!!hu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800" y="177800"/>
            <a:ext cx="11836400" cy="6502400"/>
          </a:xfrm>
          <a:prstGeom prst="rect">
            <a:avLst/>
          </a:prstGeom>
        </p:spPr>
      </p:pic>
      <p:sp>
        <p:nvSpPr>
          <p:cNvPr id="7" name="!!rec"/>
          <p:cNvSpPr/>
          <p:nvPr/>
        </p:nvSpPr>
        <p:spPr>
          <a:xfrm>
            <a:off x="635000" y="6337300"/>
            <a:ext cx="101600" cy="101600"/>
          </a:xfrm>
          <a:prstGeom prst="ellipse">
            <a:avLst/>
          </a:prstGeom>
          <a:solidFill>
            <a:srgbClr val="FF8D26"/>
          </a:solidFill>
          <a:ln/>
        </p:spPr>
      </p:sp>
      <p:sp>
        <p:nvSpPr>
          <p:cNvPr id="8" name="!!num"/>
          <p:cNvSpPr txBox="1"/>
          <p:nvPr/>
        </p:nvSpPr>
        <p:spPr>
          <a:xfrm>
            <a:off x="825500" y="6281750"/>
            <a:ext cx="685304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altLang="en-US" sz="1200" dirty="0">
                <a:solidFill>
                  <a:srgbClr val="5E6D7C"/>
                </a:solidFill>
                <a:latin typeface="Sakkal Saad TN Trial Light"/>
                <a:cs typeface="Sakkal Saad TN Trial Light"/>
              </a:rPr>
              <a:t>REC · 33</a:t>
            </a:r>
            <a:endParaRPr lang="en-US" sz="1200" dirty="0"/>
          </a:p>
        </p:txBody>
      </p:sp>
      <p:sp>
        <p:nvSpPr>
          <p:cNvPr id="9" name="!!kick"/>
          <p:cNvSpPr txBox="1"/>
          <p:nvPr/>
        </p:nvSpPr>
        <p:spPr>
          <a:xfrm>
            <a:off x="9821712" y="318834"/>
            <a:ext cx="1735288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ar-SA" altLang="en-US" sz="1500" b="1" dirty="0">
                <a:solidFill>
                  <a:srgbClr val="43644B"/>
                </a:solidFill>
                <a:latin typeface="Sakkal Saad TN Trial Light"/>
                <a:cs typeface="Sakkal Saad TN Trial Light"/>
              </a:rPr>
              <a:t>08</a:t>
            </a:r>
            <a:r>
              <a:rPr lang="ar-SA" altLang="en-US" sz="1500" dirty="0">
                <a:solidFill>
                  <a:srgbClr val="E9720C"/>
                </a:solidFill>
                <a:latin typeface="Sakkal Saad TN Trial Light"/>
                <a:cs typeface="Sakkal Saad TN Trial Light"/>
              </a:rPr>
              <a:t> خطة المحتوى التسويقي</a:t>
            </a:r>
            <a:endParaRPr lang="ar-SA" sz="1500" dirty="0"/>
          </a:p>
        </p:txBody>
      </p:sp>
      <p:sp>
        <p:nvSpPr>
          <p:cNvPr id="10" name="s33-text-8"/>
          <p:cNvSpPr txBox="1"/>
          <p:nvPr/>
        </p:nvSpPr>
        <p:spPr>
          <a:xfrm>
            <a:off x="6371388" y="695134"/>
            <a:ext cx="5185612" cy="702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5130"/>
              </a:lnSpc>
              <a:buNone/>
            </a:pPr>
            <a:r>
              <a:rPr lang="ar-SA" altLang="en-US" sz="3800" b="1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خطة المحتوى التسويقي لمدة شهر</a:t>
            </a:r>
            <a:endParaRPr lang="ar-SA" sz="3800" dirty="0"/>
          </a:p>
        </p:txBody>
      </p:sp>
      <p:sp>
        <p:nvSpPr>
          <p:cNvPr id="11" name="s33-text-9"/>
          <p:cNvSpPr txBox="1"/>
          <p:nvPr/>
        </p:nvSpPr>
        <p:spPr>
          <a:xfrm>
            <a:off x="-165100" y="1714500"/>
            <a:ext cx="116586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3200"/>
              </a:lnSpc>
              <a:buNone/>
            </a:pPr>
            <a:r>
              <a:rPr lang="ar-SA" altLang="en-US" sz="20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يتم إعداد المحتوى لمدة 4 أسابيع بمتوسط 4 منشورات رئيسية أسبوعيًا بالإضافة إلى Stories مستمرة، مع الانتقال من التوعية إلى بناء الثقة ثم</a:t>
            </a:r>
            <a:endParaRPr lang="ar-SA" sz="2000" dirty="0"/>
          </a:p>
          <a:p>
            <a:pPr rtl="1" algn="r" indent="0" marL="0">
              <a:lnSpc>
                <a:spcPts val="3200"/>
              </a:lnSpc>
              <a:buNone/>
            </a:pPr>
            <a:r>
              <a:rPr lang="ar-SA" altLang="en-US" sz="20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التحويل إلى استفسار أو شراء.</a:t>
            </a:r>
            <a:endParaRPr lang="ar-SA" sz="2000" dirty="0"/>
          </a:p>
        </p:txBody>
      </p:sp>
      <p:sp>
        <p:nvSpPr>
          <p:cNvPr id="12" name="s33-shape-10"/>
          <p:cNvSpPr/>
          <p:nvPr/>
        </p:nvSpPr>
        <p:spPr>
          <a:xfrm>
            <a:off x="8921750" y="3175000"/>
            <a:ext cx="2571750" cy="2413000"/>
          </a:xfrm>
          <a:prstGeom prst="roundRect">
            <a:avLst>
              <a:gd name="adj" fmla="val 10526"/>
            </a:avLst>
          </a:prstGeom>
          <a:solidFill>
            <a:srgbClr val="43644B"/>
          </a:solidFill>
          <a:ln/>
        </p:spPr>
      </p:sp>
      <p:sp>
        <p:nvSpPr>
          <p:cNvPr id="13" name="s33-text-11"/>
          <p:cNvSpPr txBox="1"/>
          <p:nvPr/>
        </p:nvSpPr>
        <p:spPr>
          <a:xfrm>
            <a:off x="9069578" y="3346501"/>
            <a:ext cx="2119122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4800"/>
              </a:lnSpc>
              <a:buNone/>
            </a:pPr>
            <a:r>
              <a:rPr lang="ar-SA" altLang="en-US" sz="4800" b="1" dirty="0">
                <a:solidFill>
                  <a:srgbClr val="8EA293"/>
                </a:solidFill>
                <a:latin typeface="Sakkal Saad TN Trial Light"/>
                <a:cs typeface="Sakkal Saad TN Trial Light"/>
              </a:rPr>
              <a:t>01</a:t>
            </a:r>
            <a:endParaRPr lang="ar-SA" sz="4800" dirty="0"/>
          </a:p>
        </p:txBody>
      </p:sp>
      <p:sp>
        <p:nvSpPr>
          <p:cNvPr id="14" name="s33-text-12"/>
          <p:cNvSpPr txBox="1"/>
          <p:nvPr/>
        </p:nvSpPr>
        <p:spPr>
          <a:xfrm>
            <a:off x="9069578" y="4610370"/>
            <a:ext cx="2119122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00"/>
              </a:lnSpc>
              <a:buNone/>
            </a:pPr>
            <a:r>
              <a:rPr lang="ar-SA" altLang="en-US" sz="1500" dirty="0">
                <a:solidFill>
                  <a:srgbClr val="F6C342"/>
                </a:solidFill>
                <a:latin typeface="Sakkal Saad TN Trial Light"/>
                <a:cs typeface="Sakkal Saad TN Trial Light"/>
              </a:rPr>
              <a:t>الأسبوع الأول</a:t>
            </a:r>
            <a:endParaRPr lang="ar-SA" sz="1500" dirty="0"/>
          </a:p>
        </p:txBody>
      </p:sp>
      <p:sp>
        <p:nvSpPr>
          <p:cNvPr id="15" name="s33-text-13"/>
          <p:cNvSpPr txBox="1"/>
          <p:nvPr/>
        </p:nvSpPr>
        <p:spPr>
          <a:xfrm>
            <a:off x="9069578" y="4892488"/>
            <a:ext cx="2119122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660"/>
              </a:lnSpc>
              <a:buNone/>
            </a:pPr>
            <a:r>
              <a:rPr lang="ar-SA" altLang="en-US" sz="1900" b="1" dirty="0">
                <a:solidFill>
                  <a:srgbClr val="FFFFFF"/>
                </a:solidFill>
                <a:latin typeface="Sakkal Saad TN Trial Light"/>
                <a:cs typeface="Sakkal Saad TN Trial Light"/>
              </a:rPr>
              <a:t>التوعية وتحديد الاحتياج</a:t>
            </a:r>
            <a:endParaRPr lang="ar-SA" sz="1900" dirty="0"/>
          </a:p>
        </p:txBody>
      </p:sp>
      <p:sp>
        <p:nvSpPr>
          <p:cNvPr id="16" name="s33-shape-14"/>
          <p:cNvSpPr/>
          <p:nvPr/>
        </p:nvSpPr>
        <p:spPr>
          <a:xfrm>
            <a:off x="6191250" y="3175000"/>
            <a:ext cx="2571750" cy="24130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0" dist="76200" dir="5400000">
              <a:srgbClr val="1E2A36">
                <a:alpha val="10000"/>
              </a:srgbClr>
            </a:outerShdw>
          </a:effectLst>
        </p:spPr>
      </p:sp>
      <p:sp>
        <p:nvSpPr>
          <p:cNvPr id="17" name="s33-text-15"/>
          <p:cNvSpPr txBox="1"/>
          <p:nvPr/>
        </p:nvSpPr>
        <p:spPr>
          <a:xfrm>
            <a:off x="6339078" y="3346501"/>
            <a:ext cx="2119122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4800"/>
              </a:lnSpc>
              <a:buNone/>
            </a:pPr>
            <a:r>
              <a:rPr lang="ar-SA" altLang="en-US" sz="4800" b="1" dirty="0">
                <a:solidFill>
                  <a:srgbClr val="D9E0DB"/>
                </a:solidFill>
                <a:latin typeface="Sakkal Saad TN Trial Light"/>
                <a:cs typeface="Sakkal Saad TN Trial Light"/>
              </a:rPr>
              <a:t>02</a:t>
            </a:r>
            <a:endParaRPr lang="ar-SA" sz="4800" dirty="0"/>
          </a:p>
        </p:txBody>
      </p:sp>
      <p:sp>
        <p:nvSpPr>
          <p:cNvPr id="18" name="s33-text-16"/>
          <p:cNvSpPr txBox="1"/>
          <p:nvPr/>
        </p:nvSpPr>
        <p:spPr>
          <a:xfrm>
            <a:off x="6339078" y="4610370"/>
            <a:ext cx="2119122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00"/>
              </a:lnSpc>
              <a:buNone/>
            </a:pPr>
            <a:r>
              <a:rPr lang="ar-SA" altLang="en-US" sz="1500" dirty="0">
                <a:solidFill>
                  <a:srgbClr val="E9720C"/>
                </a:solidFill>
                <a:latin typeface="Sakkal Saad TN Trial Light"/>
                <a:cs typeface="Sakkal Saad TN Trial Light"/>
              </a:rPr>
              <a:t>الأسبوع الثاني</a:t>
            </a:r>
            <a:endParaRPr lang="ar-SA" sz="1500" dirty="0"/>
          </a:p>
        </p:txBody>
      </p:sp>
      <p:sp>
        <p:nvSpPr>
          <p:cNvPr id="19" name="s33-text-17"/>
          <p:cNvSpPr txBox="1"/>
          <p:nvPr/>
        </p:nvSpPr>
        <p:spPr>
          <a:xfrm>
            <a:off x="6339078" y="4892488"/>
            <a:ext cx="2119122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660"/>
              </a:lnSpc>
              <a:buNone/>
            </a:pPr>
            <a:r>
              <a:rPr lang="ar-SA" altLang="en-US" sz="1900" b="1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حلول المنازل والمحلات</a:t>
            </a:r>
            <a:endParaRPr lang="ar-SA" sz="1900" dirty="0"/>
          </a:p>
        </p:txBody>
      </p:sp>
      <p:sp>
        <p:nvSpPr>
          <p:cNvPr id="20" name="s33-shape-18"/>
          <p:cNvSpPr/>
          <p:nvPr/>
        </p:nvSpPr>
        <p:spPr>
          <a:xfrm>
            <a:off x="3460750" y="3175000"/>
            <a:ext cx="2571750" cy="24130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0" dist="76200" dir="5400000">
              <a:srgbClr val="1E2A36">
                <a:alpha val="10000"/>
              </a:srgbClr>
            </a:outerShdw>
          </a:effectLst>
        </p:spPr>
      </p:sp>
      <p:sp>
        <p:nvSpPr>
          <p:cNvPr id="21" name="s33-text-19"/>
          <p:cNvSpPr txBox="1"/>
          <p:nvPr/>
        </p:nvSpPr>
        <p:spPr>
          <a:xfrm>
            <a:off x="3608578" y="3346501"/>
            <a:ext cx="2119122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4800"/>
              </a:lnSpc>
              <a:buNone/>
            </a:pPr>
            <a:r>
              <a:rPr lang="ar-SA" altLang="en-US" sz="4800" b="1" dirty="0">
                <a:solidFill>
                  <a:srgbClr val="D9E0DB"/>
                </a:solidFill>
                <a:latin typeface="Sakkal Saad TN Trial Light"/>
                <a:cs typeface="Sakkal Saad TN Trial Light"/>
              </a:rPr>
              <a:t>03</a:t>
            </a:r>
            <a:endParaRPr lang="ar-SA" sz="4800" dirty="0"/>
          </a:p>
        </p:txBody>
      </p:sp>
      <p:sp>
        <p:nvSpPr>
          <p:cNvPr id="22" name="s33-text-20"/>
          <p:cNvSpPr txBox="1"/>
          <p:nvPr/>
        </p:nvSpPr>
        <p:spPr>
          <a:xfrm>
            <a:off x="3608578" y="4272629"/>
            <a:ext cx="2119122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00"/>
              </a:lnSpc>
              <a:buNone/>
            </a:pPr>
            <a:r>
              <a:rPr lang="ar-SA" altLang="en-US" sz="1500" dirty="0">
                <a:solidFill>
                  <a:srgbClr val="E9720C"/>
                </a:solidFill>
                <a:latin typeface="Sakkal Saad TN Trial Light"/>
                <a:cs typeface="Sakkal Saad TN Trial Light"/>
              </a:rPr>
              <a:t>الأسبوع الثالث</a:t>
            </a:r>
            <a:endParaRPr lang="ar-SA" sz="1500" dirty="0"/>
          </a:p>
        </p:txBody>
      </p:sp>
      <p:sp>
        <p:nvSpPr>
          <p:cNvPr id="23" name="s33-text-21"/>
          <p:cNvSpPr txBox="1"/>
          <p:nvPr/>
        </p:nvSpPr>
        <p:spPr>
          <a:xfrm>
            <a:off x="3608578" y="4554747"/>
            <a:ext cx="2119122" cy="726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660"/>
              </a:lnSpc>
              <a:buNone/>
            </a:pPr>
            <a:r>
              <a:rPr lang="ar-SA" altLang="en-US" sz="1900" b="1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بناء الثقة والشركات</a:t>
            </a:r>
            <a:endParaRPr lang="ar-SA" sz="1900" dirty="0"/>
          </a:p>
          <a:p>
            <a:pPr rtl="1" algn="r" indent="0" marL="0">
              <a:lnSpc>
                <a:spcPts val="2660"/>
              </a:lnSpc>
              <a:buNone/>
            </a:pPr>
            <a:r>
              <a:rPr lang="ar-SA" altLang="en-US" sz="1900" b="1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والمشاريع</a:t>
            </a:r>
            <a:endParaRPr lang="ar-SA" sz="1900" dirty="0"/>
          </a:p>
        </p:txBody>
      </p:sp>
      <p:sp>
        <p:nvSpPr>
          <p:cNvPr id="24" name="s33-shape-22"/>
          <p:cNvSpPr/>
          <p:nvPr/>
        </p:nvSpPr>
        <p:spPr>
          <a:xfrm>
            <a:off x="730250" y="3175000"/>
            <a:ext cx="2571750" cy="2413000"/>
          </a:xfrm>
          <a:prstGeom prst="roundRect">
            <a:avLst>
              <a:gd name="adj" fmla="val 10526"/>
            </a:avLst>
          </a:prstGeom>
          <a:solidFill>
            <a:srgbClr val="FF8D26"/>
          </a:solidFill>
          <a:ln/>
        </p:spPr>
      </p:sp>
      <p:sp>
        <p:nvSpPr>
          <p:cNvPr id="25" name="s33-text-23"/>
          <p:cNvSpPr txBox="1"/>
          <p:nvPr/>
        </p:nvSpPr>
        <p:spPr>
          <a:xfrm>
            <a:off x="878078" y="3346501"/>
            <a:ext cx="2119122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4800"/>
              </a:lnSpc>
              <a:buNone/>
            </a:pPr>
            <a:r>
              <a:rPr lang="ar-SA" altLang="en-US" sz="4800" b="1" dirty="0">
                <a:solidFill>
                  <a:srgbClr val="FFCC9D"/>
                </a:solidFill>
                <a:latin typeface="Sakkal Saad TN Trial Light"/>
                <a:cs typeface="Sakkal Saad TN Trial Light"/>
              </a:rPr>
              <a:t>04</a:t>
            </a:r>
            <a:endParaRPr lang="ar-SA" sz="4800" dirty="0"/>
          </a:p>
        </p:txBody>
      </p:sp>
      <p:sp>
        <p:nvSpPr>
          <p:cNvPr id="26" name="s33-text-24"/>
          <p:cNvSpPr txBox="1"/>
          <p:nvPr/>
        </p:nvSpPr>
        <p:spPr>
          <a:xfrm>
            <a:off x="878078" y="4272629"/>
            <a:ext cx="2119122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00"/>
              </a:lnSpc>
              <a:buNone/>
            </a:pPr>
            <a:r>
              <a:rPr lang="ar-SA" altLang="en-US" sz="15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الأسبوع الرابع</a:t>
            </a:r>
            <a:endParaRPr lang="ar-SA" sz="1500" dirty="0"/>
          </a:p>
        </p:txBody>
      </p:sp>
      <p:sp>
        <p:nvSpPr>
          <p:cNvPr id="27" name="s33-text-25"/>
          <p:cNvSpPr txBox="1"/>
          <p:nvPr/>
        </p:nvSpPr>
        <p:spPr>
          <a:xfrm>
            <a:off x="878078" y="4554747"/>
            <a:ext cx="2119122" cy="726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660"/>
              </a:lnSpc>
              <a:buNone/>
            </a:pPr>
            <a:r>
              <a:rPr lang="ar-SA" altLang="en-US" sz="1900" b="1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إزالة التردد والتحويل إلى</a:t>
            </a:r>
            <a:endParaRPr lang="ar-SA" sz="1900" dirty="0"/>
          </a:p>
          <a:p>
            <a:pPr rtl="1" algn="r" indent="0" marL="0">
              <a:lnSpc>
                <a:spcPts val="2660"/>
              </a:lnSpc>
              <a:buNone/>
            </a:pPr>
            <a:r>
              <a:rPr lang="ar-SA" altLang="en-US" sz="1900" b="1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شراء</a:t>
            </a:r>
            <a:endParaRPr lang="ar-SA" sz="1900" dirty="0"/>
          </a:p>
        </p:txBody>
      </p:sp>
      <p:pic>
        <p:nvPicPr>
          <p:cNvPr id="28" name="s33-snap-26" descr="s33-snap-26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400" y="5835650"/>
            <a:ext cx="10871200" cy="1651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3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4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0" dur="489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75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75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75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5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75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75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75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75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75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75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75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75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75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75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75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75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75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75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75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75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75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75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75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75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75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750" fill="hold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750" fill="hold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750" fill="hold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750" fill="hold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750" fill="hold" decel="10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750" fill="hold" decel="10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22" presetClass="entr" presetSubtype="2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8" dur="12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99" dur="84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/>
      <p:bldP spid="11" grpId="0"/>
      <p:bldP spid="12" grpId="0" animBg="1"/>
      <p:bldP spid="13" grpId="0"/>
      <p:bldP spid="14" grpId="0"/>
      <p:bldP spid="15" grpId="0"/>
      <p:bldP spid="16" grpId="0" animBg="1"/>
      <p:bldP spid="17" grpId="0"/>
      <p:bldP spid="18" grpId="0"/>
      <p:bldP spid="19" grpId="0"/>
      <p:bldP spid="20" grpId="0" animBg="1"/>
      <p:bldP spid="21" grpId="0"/>
      <p:bldP spid="22" grpId="0"/>
      <p:bldP spid="23" grpId="0"/>
      <p:bldP spid="24" grpId="0" animBg="1"/>
      <p:bldP spid="25" grpId="0"/>
      <p:bldP spid="26" grpId="0"/>
      <p:bldP spid="27" grpId="0"/>
    </p:bldLst>
  </p:timing>
</p:sld>
</file>

<file path=ppt/slides/slide34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lens"/>
          <p:cNvSpPr/>
          <p:nvPr/>
        </p:nvSpPr>
        <p:spPr>
          <a:xfrm>
            <a:off x="368300" y="127000"/>
            <a:ext cx="1206500" cy="1206500"/>
          </a:xfrm>
          <a:prstGeom prst="ellipse">
            <a:avLst/>
          </a:prstGeom>
          <a:solidFill>
            <a:srgbClr val="EEF2EF"/>
          </a:solidFill>
          <a:ln/>
        </p:spPr>
      </p:sp>
      <p:pic>
        <p:nvPicPr>
          <p:cNvPr id="3" name="!!mt" descr="شعار نظرة ثماني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5400000">
            <a:off x="833735" y="467668"/>
            <a:ext cx="546100" cy="533400"/>
          </a:xfrm>
          <a:prstGeom prst="rect">
            <a:avLst/>
          </a:prstGeom>
        </p:spPr>
      </p:pic>
      <p:pic>
        <p:nvPicPr>
          <p:cNvPr id="4" name="!!mb" descr="شعار نظرة ثمانية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546050" y="458688"/>
            <a:ext cx="527050" cy="520700"/>
          </a:xfrm>
          <a:prstGeom prst="rect">
            <a:avLst/>
          </a:prstGeom>
        </p:spPr>
      </p:pic>
      <p:pic>
        <p:nvPicPr>
          <p:cNvPr id="5" name="!!ma" descr="شعار نظرة ثمانية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101328" y="728911"/>
            <a:ext cx="95250" cy="82550"/>
          </a:xfrm>
          <a:prstGeom prst="rect">
            <a:avLst/>
          </a:prstGeom>
        </p:spPr>
      </p:pic>
      <p:pic>
        <p:nvPicPr>
          <p:cNvPr id="6" name="!!hud" descr="!!hu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800" y="177800"/>
            <a:ext cx="11836400" cy="6502400"/>
          </a:xfrm>
          <a:prstGeom prst="rect">
            <a:avLst/>
          </a:prstGeom>
        </p:spPr>
      </p:pic>
      <p:sp>
        <p:nvSpPr>
          <p:cNvPr id="7" name="!!rec"/>
          <p:cNvSpPr/>
          <p:nvPr/>
        </p:nvSpPr>
        <p:spPr>
          <a:xfrm>
            <a:off x="635000" y="6337300"/>
            <a:ext cx="101600" cy="101600"/>
          </a:xfrm>
          <a:prstGeom prst="ellipse">
            <a:avLst/>
          </a:prstGeom>
          <a:solidFill>
            <a:srgbClr val="FF8D26"/>
          </a:solidFill>
          <a:ln/>
        </p:spPr>
      </p:sp>
      <p:sp>
        <p:nvSpPr>
          <p:cNvPr id="8" name="!!num"/>
          <p:cNvSpPr txBox="1"/>
          <p:nvPr/>
        </p:nvSpPr>
        <p:spPr>
          <a:xfrm>
            <a:off x="825500" y="6281750"/>
            <a:ext cx="696218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altLang="en-US" sz="1200" dirty="0">
                <a:solidFill>
                  <a:srgbClr val="5E6D7C"/>
                </a:solidFill>
                <a:latin typeface="Sakkal Saad TN Trial Light"/>
                <a:cs typeface="Sakkal Saad TN Trial Light"/>
              </a:rPr>
              <a:t>REC · 34</a:t>
            </a:r>
            <a:endParaRPr lang="en-US" sz="1200" dirty="0"/>
          </a:p>
        </p:txBody>
      </p:sp>
      <p:sp>
        <p:nvSpPr>
          <p:cNvPr id="9" name="!!kick"/>
          <p:cNvSpPr txBox="1"/>
          <p:nvPr/>
        </p:nvSpPr>
        <p:spPr>
          <a:xfrm>
            <a:off x="9821712" y="318834"/>
            <a:ext cx="1735288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ar-SA" altLang="en-US" sz="1500" b="1" dirty="0">
                <a:solidFill>
                  <a:srgbClr val="43644B"/>
                </a:solidFill>
                <a:latin typeface="Sakkal Saad TN Trial Light"/>
                <a:cs typeface="Sakkal Saad TN Trial Light"/>
              </a:rPr>
              <a:t>08</a:t>
            </a:r>
            <a:r>
              <a:rPr lang="ar-SA" altLang="en-US" sz="1500" dirty="0">
                <a:solidFill>
                  <a:srgbClr val="E9720C"/>
                </a:solidFill>
                <a:latin typeface="Sakkal Saad TN Trial Light"/>
                <a:cs typeface="Sakkal Saad TN Trial Light"/>
              </a:rPr>
              <a:t> خطة المحتوى التسويقي</a:t>
            </a:r>
            <a:endParaRPr lang="ar-SA" sz="1500" dirty="0"/>
          </a:p>
        </p:txBody>
      </p:sp>
      <p:sp>
        <p:nvSpPr>
          <p:cNvPr id="10" name="s34-text-8"/>
          <p:cNvSpPr txBox="1"/>
          <p:nvPr/>
        </p:nvSpPr>
        <p:spPr>
          <a:xfrm>
            <a:off x="6508655" y="695420"/>
            <a:ext cx="5048345" cy="5822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4185"/>
              </a:lnSpc>
              <a:buNone/>
            </a:pPr>
            <a:r>
              <a:rPr lang="ar-SA" altLang="en-US" sz="3100" b="1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الأسبوع الأول </a:t>
            </a:r>
            <a:r>
              <a:rPr lang="ar-SA" altLang="en-US" sz="3100" b="1" dirty="0">
                <a:solidFill>
                  <a:srgbClr val="E9720C"/>
                </a:solidFill>
                <a:latin typeface="Sakkal Saad TN Trial Light"/>
                <a:cs typeface="Sakkal Saad TN Trial Light"/>
              </a:rPr>
              <a:t>:</a:t>
            </a:r>
            <a:r>
              <a:rPr lang="ar-SA" altLang="en-US" sz="3100" b="1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 </a:t>
            </a:r>
            <a:r>
              <a:rPr lang="ar-SA" altLang="en-US" sz="3100" b="1" dirty="0">
                <a:solidFill>
                  <a:srgbClr val="E9720C"/>
                </a:solidFill>
                <a:latin typeface="Sakkal Saad TN Trial Light"/>
                <a:cs typeface="Sakkal Saad TN Trial Light"/>
              </a:rPr>
              <a:t>التوعية وتحديد الاحتياج</a:t>
            </a:r>
            <a:endParaRPr lang="ar-SA" sz="3100" dirty="0"/>
          </a:p>
        </p:txBody>
      </p:sp>
      <p:sp>
        <p:nvSpPr>
          <p:cNvPr id="11" name="s34-shape-9"/>
          <p:cNvSpPr/>
          <p:nvPr/>
        </p:nvSpPr>
        <p:spPr>
          <a:xfrm>
            <a:off x="6127750" y="1663700"/>
            <a:ext cx="5365750" cy="1879600"/>
          </a:xfrm>
          <a:prstGeom prst="roundRect">
            <a:avLst>
              <a:gd name="adj" fmla="val 13514"/>
            </a:avLst>
          </a:prstGeom>
          <a:solidFill>
            <a:srgbClr val="EEF2EF"/>
          </a:solidFill>
          <a:ln/>
        </p:spPr>
      </p:sp>
      <p:sp>
        <p:nvSpPr>
          <p:cNvPr id="12" name="s34-shape-10"/>
          <p:cNvSpPr/>
          <p:nvPr/>
        </p:nvSpPr>
        <p:spPr>
          <a:xfrm>
            <a:off x="10636250" y="1841500"/>
            <a:ext cx="641350" cy="299045"/>
          </a:xfrm>
          <a:prstGeom prst="roundRect">
            <a:avLst>
              <a:gd name="adj" fmla="val 50000"/>
            </a:avLst>
          </a:prstGeom>
          <a:solidFill>
            <a:srgbClr val="FF8D26"/>
          </a:solidFill>
          <a:ln/>
        </p:spPr>
      </p:sp>
      <p:sp>
        <p:nvSpPr>
          <p:cNvPr id="13" name="s34-text-11"/>
          <p:cNvSpPr txBox="1"/>
          <p:nvPr/>
        </p:nvSpPr>
        <p:spPr>
          <a:xfrm>
            <a:off x="10674350" y="1828787"/>
            <a:ext cx="463550" cy="2736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755"/>
              </a:lnSpc>
              <a:buNone/>
            </a:pPr>
            <a:r>
              <a:rPr lang="ar-SA" altLang="en-US" sz="1350" b="1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السبت</a:t>
            </a:r>
            <a:endParaRPr lang="ar-SA" sz="1350" dirty="0"/>
          </a:p>
        </p:txBody>
      </p:sp>
      <p:pic>
        <p:nvPicPr>
          <p:cNvPr id="14" name="s34-snap-12" descr="s34-snap-12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78305" y="1811635"/>
            <a:ext cx="807145" cy="358775"/>
          </a:xfrm>
          <a:prstGeom prst="rect">
            <a:avLst/>
          </a:prstGeom>
        </p:spPr>
      </p:pic>
      <p:sp>
        <p:nvSpPr>
          <p:cNvPr id="15" name="s34-text-13"/>
          <p:cNvSpPr txBox="1"/>
          <p:nvPr/>
        </p:nvSpPr>
        <p:spPr>
          <a:xfrm>
            <a:off x="10197405" y="1842433"/>
            <a:ext cx="32454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altLang="en-US" sz="1250" dirty="0">
                <a:solidFill>
                  <a:srgbClr val="FFFFFF"/>
                </a:solidFill>
                <a:latin typeface="Sakkal Saad TN Trial Light"/>
                <a:cs typeface="Sakkal Saad TN Trial Light"/>
              </a:rPr>
              <a:t>Reel</a:t>
            </a:r>
            <a:endParaRPr lang="en-US" sz="1250" dirty="0"/>
          </a:p>
        </p:txBody>
      </p:sp>
      <p:sp>
        <p:nvSpPr>
          <p:cNvPr id="16" name="s34-text-14"/>
          <p:cNvSpPr txBox="1"/>
          <p:nvPr/>
        </p:nvSpPr>
        <p:spPr>
          <a:xfrm>
            <a:off x="5948934" y="2148070"/>
            <a:ext cx="5328666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450"/>
              </a:lnSpc>
              <a:buNone/>
            </a:pPr>
            <a:r>
              <a:rPr lang="ar-SA" altLang="en-US" sz="1750" b="1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قبل ما تختار كاميرا، حدد احتياج المكان.</a:t>
            </a:r>
            <a:endParaRPr lang="ar-SA" sz="1750" dirty="0"/>
          </a:p>
        </p:txBody>
      </p:sp>
      <p:sp>
        <p:nvSpPr>
          <p:cNvPr id="17" name="s34-text-15"/>
          <p:cNvSpPr txBox="1"/>
          <p:nvPr/>
        </p:nvSpPr>
        <p:spPr>
          <a:xfrm>
            <a:off x="10693400" y="2558217"/>
            <a:ext cx="58420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750"/>
              </a:lnSpc>
              <a:buNone/>
            </a:pPr>
            <a:r>
              <a:rPr lang="ar-SA" altLang="en-US" sz="1250" b="1" dirty="0">
                <a:solidFill>
                  <a:srgbClr val="43644B"/>
                </a:solidFill>
                <a:latin typeface="Sakkal Saad TN Trial Light"/>
                <a:cs typeface="Sakkal Saad TN Trial Light"/>
              </a:rPr>
              <a:t>الهدف</a:t>
            </a:r>
            <a:endParaRPr lang="ar-SA" sz="1250" dirty="0"/>
          </a:p>
        </p:txBody>
      </p:sp>
      <p:sp>
        <p:nvSpPr>
          <p:cNvPr id="18" name="s34-text-16"/>
          <p:cNvSpPr txBox="1"/>
          <p:nvPr/>
        </p:nvSpPr>
        <p:spPr>
          <a:xfrm>
            <a:off x="8059984" y="2518596"/>
            <a:ext cx="2646116" cy="317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03"/>
              </a:lnSpc>
              <a:buNone/>
            </a:pPr>
            <a:r>
              <a:rPr lang="ar-SA" altLang="en-US" sz="14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توعية العميل ومساعدته على تحديد احتياجه.</a:t>
            </a:r>
            <a:endParaRPr lang="ar-SA" sz="1450" dirty="0"/>
          </a:p>
        </p:txBody>
      </p:sp>
      <p:sp>
        <p:nvSpPr>
          <p:cNvPr id="19" name="s34-text-17"/>
          <p:cNvSpPr txBox="1"/>
          <p:nvPr/>
        </p:nvSpPr>
        <p:spPr>
          <a:xfrm>
            <a:off x="10693400" y="2850614"/>
            <a:ext cx="58420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750"/>
              </a:lnSpc>
              <a:buNone/>
            </a:pPr>
            <a:r>
              <a:rPr lang="en-US" altLang="en-US" sz="1250" b="1" dirty="0">
                <a:solidFill>
                  <a:srgbClr val="E9720C"/>
                </a:solidFill>
                <a:latin typeface="Sakkal Saad TN Trial Light"/>
                <a:cs typeface="Sakkal Saad TN Trial Light"/>
              </a:rPr>
              <a:t>CTA</a:t>
            </a:r>
            <a:endParaRPr lang="en-US" sz="1250" dirty="0"/>
          </a:p>
        </p:txBody>
      </p:sp>
      <p:sp>
        <p:nvSpPr>
          <p:cNvPr id="20" name="s34-text-18"/>
          <p:cNvSpPr txBox="1"/>
          <p:nvPr/>
        </p:nvSpPr>
        <p:spPr>
          <a:xfrm>
            <a:off x="8303228" y="2810993"/>
            <a:ext cx="2402872" cy="317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03"/>
              </a:lnSpc>
              <a:buNone/>
            </a:pPr>
            <a:r>
              <a:rPr lang="ar-SA" altLang="en-US" sz="14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أرسل نوع المكان والمدينة ونساعدك تختار.</a:t>
            </a:r>
            <a:endParaRPr lang="ar-SA" sz="1450" dirty="0"/>
          </a:p>
        </p:txBody>
      </p:sp>
      <p:sp>
        <p:nvSpPr>
          <p:cNvPr id="21" name="s34-shape-19"/>
          <p:cNvSpPr/>
          <p:nvPr/>
        </p:nvSpPr>
        <p:spPr>
          <a:xfrm>
            <a:off x="635000" y="1663700"/>
            <a:ext cx="5365750" cy="1879600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0" dist="76200" dir="5400000">
              <a:srgbClr val="1E2A36">
                <a:alpha val="10000"/>
              </a:srgbClr>
            </a:outerShdw>
          </a:effectLst>
        </p:spPr>
      </p:sp>
      <p:sp>
        <p:nvSpPr>
          <p:cNvPr id="22" name="s34-shape-20"/>
          <p:cNvSpPr/>
          <p:nvPr/>
        </p:nvSpPr>
        <p:spPr>
          <a:xfrm>
            <a:off x="5159276" y="1841500"/>
            <a:ext cx="625574" cy="299045"/>
          </a:xfrm>
          <a:prstGeom prst="roundRect">
            <a:avLst>
              <a:gd name="adj" fmla="val 50000"/>
            </a:avLst>
          </a:prstGeom>
          <a:solidFill>
            <a:srgbClr val="FF8D26"/>
          </a:solidFill>
          <a:ln/>
        </p:spPr>
      </p:sp>
      <p:sp>
        <p:nvSpPr>
          <p:cNvPr id="23" name="s34-text-21"/>
          <p:cNvSpPr txBox="1"/>
          <p:nvPr/>
        </p:nvSpPr>
        <p:spPr>
          <a:xfrm>
            <a:off x="5197376" y="1828787"/>
            <a:ext cx="447774" cy="2736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755"/>
              </a:lnSpc>
              <a:buNone/>
            </a:pPr>
            <a:r>
              <a:rPr lang="ar-SA" altLang="en-US" sz="1350" b="1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الاثنين</a:t>
            </a:r>
            <a:endParaRPr lang="ar-SA" sz="1350" dirty="0"/>
          </a:p>
        </p:txBody>
      </p:sp>
      <p:pic>
        <p:nvPicPr>
          <p:cNvPr id="24" name="s34-snap-22" descr="s34-snap-22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58642" y="1811635"/>
            <a:ext cx="1049834" cy="358775"/>
          </a:xfrm>
          <a:prstGeom prst="rect">
            <a:avLst/>
          </a:prstGeom>
        </p:spPr>
      </p:pic>
      <p:sp>
        <p:nvSpPr>
          <p:cNvPr id="25" name="s34-text-23"/>
          <p:cNvSpPr txBox="1"/>
          <p:nvPr/>
        </p:nvSpPr>
        <p:spPr>
          <a:xfrm>
            <a:off x="4477742" y="1842433"/>
            <a:ext cx="567234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altLang="en-US" sz="1250" dirty="0">
                <a:solidFill>
                  <a:srgbClr val="FFFFFF"/>
                </a:solidFill>
                <a:latin typeface="Sakkal Saad TN Trial Light"/>
                <a:cs typeface="Sakkal Saad TN Trial Light"/>
              </a:rPr>
              <a:t>Carousel</a:t>
            </a:r>
            <a:endParaRPr lang="en-US" sz="1250" dirty="0"/>
          </a:p>
        </p:txBody>
      </p:sp>
      <p:sp>
        <p:nvSpPr>
          <p:cNvPr id="26" name="s34-text-24"/>
          <p:cNvSpPr txBox="1"/>
          <p:nvPr/>
        </p:nvSpPr>
        <p:spPr>
          <a:xfrm>
            <a:off x="456184" y="2148070"/>
            <a:ext cx="5328666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450"/>
              </a:lnSpc>
              <a:buNone/>
            </a:pPr>
            <a:r>
              <a:rPr lang="ar-SA" altLang="en-US" sz="1750" b="1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ما الفرق بين كاميرات IP وHD؟</a:t>
            </a:r>
            <a:endParaRPr lang="ar-SA" sz="1750" dirty="0"/>
          </a:p>
        </p:txBody>
      </p:sp>
      <p:sp>
        <p:nvSpPr>
          <p:cNvPr id="27" name="s34-text-25"/>
          <p:cNvSpPr txBox="1"/>
          <p:nvPr/>
        </p:nvSpPr>
        <p:spPr>
          <a:xfrm>
            <a:off x="5200650" y="2558217"/>
            <a:ext cx="58420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750"/>
              </a:lnSpc>
              <a:buNone/>
            </a:pPr>
            <a:r>
              <a:rPr lang="ar-SA" altLang="en-US" sz="1250" b="1" dirty="0">
                <a:solidFill>
                  <a:srgbClr val="43644B"/>
                </a:solidFill>
                <a:latin typeface="Sakkal Saad TN Trial Light"/>
                <a:cs typeface="Sakkal Saad TN Trial Light"/>
              </a:rPr>
              <a:t>الهدف</a:t>
            </a:r>
            <a:endParaRPr lang="ar-SA" sz="1250" dirty="0"/>
          </a:p>
        </p:txBody>
      </p:sp>
      <p:sp>
        <p:nvSpPr>
          <p:cNvPr id="28" name="s34-text-26"/>
          <p:cNvSpPr txBox="1"/>
          <p:nvPr/>
        </p:nvSpPr>
        <p:spPr>
          <a:xfrm>
            <a:off x="4249043" y="2518596"/>
            <a:ext cx="964307" cy="317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03"/>
              </a:lnSpc>
              <a:buNone/>
            </a:pPr>
            <a:r>
              <a:rPr lang="ar-SA" altLang="en-US" sz="14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التعليم والمقارنة.</a:t>
            </a:r>
            <a:endParaRPr lang="ar-SA" sz="1450" dirty="0"/>
          </a:p>
        </p:txBody>
      </p:sp>
      <p:sp>
        <p:nvSpPr>
          <p:cNvPr id="29" name="s34-text-27"/>
          <p:cNvSpPr txBox="1"/>
          <p:nvPr/>
        </p:nvSpPr>
        <p:spPr>
          <a:xfrm>
            <a:off x="5200650" y="2850614"/>
            <a:ext cx="58420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750"/>
              </a:lnSpc>
              <a:buNone/>
            </a:pPr>
            <a:r>
              <a:rPr lang="en-US" altLang="en-US" sz="1250" b="1" dirty="0">
                <a:solidFill>
                  <a:srgbClr val="E9720C"/>
                </a:solidFill>
                <a:latin typeface="Sakkal Saad TN Trial Light"/>
                <a:cs typeface="Sakkal Saad TN Trial Light"/>
              </a:rPr>
              <a:t>CTA</a:t>
            </a:r>
            <a:endParaRPr lang="en-US" sz="1250" dirty="0"/>
          </a:p>
        </p:txBody>
      </p:sp>
      <p:sp>
        <p:nvSpPr>
          <p:cNvPr id="30" name="s34-text-28"/>
          <p:cNvSpPr txBox="1"/>
          <p:nvPr/>
        </p:nvSpPr>
        <p:spPr>
          <a:xfrm>
            <a:off x="3657656" y="2810993"/>
            <a:ext cx="1555694" cy="317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03"/>
              </a:lnSpc>
              <a:buNone/>
            </a:pPr>
            <a:r>
              <a:rPr lang="ar-SA" altLang="en-US" sz="14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احفظ المنشور للرجوع إليه.</a:t>
            </a:r>
            <a:endParaRPr lang="ar-SA" sz="1450" dirty="0"/>
          </a:p>
        </p:txBody>
      </p:sp>
      <p:sp>
        <p:nvSpPr>
          <p:cNvPr id="31" name="s34-shape-29"/>
          <p:cNvSpPr/>
          <p:nvPr/>
        </p:nvSpPr>
        <p:spPr>
          <a:xfrm>
            <a:off x="6127750" y="3644900"/>
            <a:ext cx="5365750" cy="1879600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0" dist="76200" dir="5400000">
              <a:srgbClr val="1E2A36">
                <a:alpha val="10000"/>
              </a:srgbClr>
            </a:outerShdw>
          </a:effectLst>
        </p:spPr>
      </p:sp>
      <p:sp>
        <p:nvSpPr>
          <p:cNvPr id="32" name="s34-shape-30"/>
          <p:cNvSpPr/>
          <p:nvPr/>
        </p:nvSpPr>
        <p:spPr>
          <a:xfrm>
            <a:off x="10640219" y="3822700"/>
            <a:ext cx="637381" cy="299045"/>
          </a:xfrm>
          <a:prstGeom prst="roundRect">
            <a:avLst>
              <a:gd name="adj" fmla="val 50000"/>
            </a:avLst>
          </a:prstGeom>
          <a:solidFill>
            <a:srgbClr val="FF8D26"/>
          </a:solidFill>
          <a:ln/>
        </p:spPr>
      </p:sp>
      <p:sp>
        <p:nvSpPr>
          <p:cNvPr id="33" name="s34-text-31"/>
          <p:cNvSpPr txBox="1"/>
          <p:nvPr/>
        </p:nvSpPr>
        <p:spPr>
          <a:xfrm>
            <a:off x="10678319" y="3809987"/>
            <a:ext cx="459581" cy="2736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755"/>
              </a:lnSpc>
              <a:buNone/>
            </a:pPr>
            <a:r>
              <a:rPr lang="ar-SA" altLang="en-US" sz="1350" b="1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الأربعاء</a:t>
            </a:r>
            <a:endParaRPr lang="ar-SA" sz="1350" dirty="0"/>
          </a:p>
        </p:txBody>
      </p:sp>
      <p:pic>
        <p:nvPicPr>
          <p:cNvPr id="34" name="s34-snap-32" descr="s34-snap-32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82274" y="3792835"/>
            <a:ext cx="807145" cy="358775"/>
          </a:xfrm>
          <a:prstGeom prst="rect">
            <a:avLst/>
          </a:prstGeom>
        </p:spPr>
      </p:pic>
      <p:sp>
        <p:nvSpPr>
          <p:cNvPr id="35" name="s34-text-33"/>
          <p:cNvSpPr txBox="1"/>
          <p:nvPr/>
        </p:nvSpPr>
        <p:spPr>
          <a:xfrm>
            <a:off x="10201374" y="3823633"/>
            <a:ext cx="32454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altLang="en-US" sz="1250" dirty="0">
                <a:solidFill>
                  <a:srgbClr val="FFFFFF"/>
                </a:solidFill>
                <a:latin typeface="Sakkal Saad TN Trial Light"/>
                <a:cs typeface="Sakkal Saad TN Trial Light"/>
              </a:rPr>
              <a:t>Reel</a:t>
            </a:r>
            <a:endParaRPr lang="en-US" sz="1250" dirty="0"/>
          </a:p>
        </p:txBody>
      </p:sp>
      <p:sp>
        <p:nvSpPr>
          <p:cNvPr id="36" name="s34-text-34"/>
          <p:cNvSpPr txBox="1"/>
          <p:nvPr/>
        </p:nvSpPr>
        <p:spPr>
          <a:xfrm>
            <a:off x="5948934" y="4129270"/>
            <a:ext cx="5328666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450"/>
              </a:lnSpc>
              <a:buNone/>
            </a:pPr>
            <a:r>
              <a:rPr lang="ar-SA" altLang="en-US" sz="1750" b="1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هل تستطيع مشاهدة كاميراتك من الجوال؟ وما الذي تحتاجه؟</a:t>
            </a:r>
            <a:endParaRPr lang="ar-SA" sz="1750" dirty="0"/>
          </a:p>
        </p:txBody>
      </p:sp>
      <p:sp>
        <p:nvSpPr>
          <p:cNvPr id="37" name="s34-text-35"/>
          <p:cNvSpPr txBox="1"/>
          <p:nvPr/>
        </p:nvSpPr>
        <p:spPr>
          <a:xfrm>
            <a:off x="10693400" y="4539417"/>
            <a:ext cx="58420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750"/>
              </a:lnSpc>
              <a:buNone/>
            </a:pPr>
            <a:r>
              <a:rPr lang="ar-SA" altLang="en-US" sz="1250" b="1" dirty="0">
                <a:solidFill>
                  <a:srgbClr val="43644B"/>
                </a:solidFill>
                <a:latin typeface="Sakkal Saad TN Trial Light"/>
                <a:cs typeface="Sakkal Saad TN Trial Light"/>
              </a:rPr>
              <a:t>الهدف</a:t>
            </a:r>
            <a:endParaRPr lang="ar-SA" sz="1250" dirty="0"/>
          </a:p>
        </p:txBody>
      </p:sp>
      <p:sp>
        <p:nvSpPr>
          <p:cNvPr id="38" name="s34-text-36"/>
          <p:cNvSpPr txBox="1"/>
          <p:nvPr/>
        </p:nvSpPr>
        <p:spPr>
          <a:xfrm>
            <a:off x="8592229" y="4499796"/>
            <a:ext cx="2113871" cy="317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03"/>
              </a:lnSpc>
              <a:buNone/>
            </a:pPr>
            <a:r>
              <a:rPr lang="ar-SA" altLang="en-US" sz="14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الإجابة عن سؤال شائع وإبراز الخبرة.</a:t>
            </a:r>
            <a:endParaRPr lang="ar-SA" sz="1450" dirty="0"/>
          </a:p>
        </p:txBody>
      </p:sp>
      <p:sp>
        <p:nvSpPr>
          <p:cNvPr id="39" name="s34-text-37"/>
          <p:cNvSpPr txBox="1"/>
          <p:nvPr/>
        </p:nvSpPr>
        <p:spPr>
          <a:xfrm>
            <a:off x="10693400" y="4831814"/>
            <a:ext cx="58420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750"/>
              </a:lnSpc>
              <a:buNone/>
            </a:pPr>
            <a:r>
              <a:rPr lang="en-US" altLang="en-US" sz="1250" b="1" dirty="0">
                <a:solidFill>
                  <a:srgbClr val="E9720C"/>
                </a:solidFill>
                <a:latin typeface="Sakkal Saad TN Trial Light"/>
                <a:cs typeface="Sakkal Saad TN Trial Light"/>
              </a:rPr>
              <a:t>CTA</a:t>
            </a:r>
            <a:endParaRPr lang="en-US" sz="1250" dirty="0"/>
          </a:p>
        </p:txBody>
      </p:sp>
      <p:sp>
        <p:nvSpPr>
          <p:cNvPr id="40" name="s34-text-38"/>
          <p:cNvSpPr txBox="1"/>
          <p:nvPr/>
        </p:nvSpPr>
        <p:spPr>
          <a:xfrm>
            <a:off x="8330660" y="4792193"/>
            <a:ext cx="2375440" cy="317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03"/>
              </a:lnSpc>
              <a:buNone/>
            </a:pPr>
            <a:r>
              <a:rPr lang="ar-SA" altLang="en-US" sz="14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أرسل موديل الجهاز أو النظام ونساعدك.</a:t>
            </a:r>
            <a:endParaRPr lang="ar-SA" sz="1450" dirty="0"/>
          </a:p>
        </p:txBody>
      </p:sp>
      <p:sp>
        <p:nvSpPr>
          <p:cNvPr id="41" name="s34-shape-39"/>
          <p:cNvSpPr/>
          <p:nvPr/>
        </p:nvSpPr>
        <p:spPr>
          <a:xfrm>
            <a:off x="635000" y="3644900"/>
            <a:ext cx="5365750" cy="1879600"/>
          </a:xfrm>
          <a:prstGeom prst="roundRect">
            <a:avLst>
              <a:gd name="adj" fmla="val 13514"/>
            </a:avLst>
          </a:prstGeom>
          <a:solidFill>
            <a:srgbClr val="EEF2EF"/>
          </a:solidFill>
          <a:ln/>
        </p:spPr>
      </p:sp>
      <p:sp>
        <p:nvSpPr>
          <p:cNvPr id="42" name="s34-shape-40"/>
          <p:cNvSpPr/>
          <p:nvPr/>
        </p:nvSpPr>
        <p:spPr>
          <a:xfrm>
            <a:off x="5100042" y="3822700"/>
            <a:ext cx="684808" cy="299045"/>
          </a:xfrm>
          <a:prstGeom prst="roundRect">
            <a:avLst>
              <a:gd name="adj" fmla="val 50000"/>
            </a:avLst>
          </a:prstGeom>
          <a:solidFill>
            <a:srgbClr val="FF8D26"/>
          </a:solidFill>
          <a:ln/>
        </p:spPr>
      </p:sp>
      <p:sp>
        <p:nvSpPr>
          <p:cNvPr id="43" name="s34-text-41"/>
          <p:cNvSpPr txBox="1"/>
          <p:nvPr/>
        </p:nvSpPr>
        <p:spPr>
          <a:xfrm>
            <a:off x="5138142" y="3809987"/>
            <a:ext cx="507008" cy="2736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755"/>
              </a:lnSpc>
              <a:buNone/>
            </a:pPr>
            <a:r>
              <a:rPr lang="ar-SA" altLang="en-US" sz="1350" b="1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الخميس</a:t>
            </a:r>
            <a:endParaRPr lang="ar-SA" sz="1350" dirty="0"/>
          </a:p>
        </p:txBody>
      </p:sp>
      <p:pic>
        <p:nvPicPr>
          <p:cNvPr id="44" name="s34-snap-42" descr="s34-snap-42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99409" y="3792835"/>
            <a:ext cx="1049834" cy="358775"/>
          </a:xfrm>
          <a:prstGeom prst="rect">
            <a:avLst/>
          </a:prstGeom>
        </p:spPr>
      </p:pic>
      <p:sp>
        <p:nvSpPr>
          <p:cNvPr id="45" name="s34-text-43"/>
          <p:cNvSpPr txBox="1"/>
          <p:nvPr/>
        </p:nvSpPr>
        <p:spPr>
          <a:xfrm>
            <a:off x="4418509" y="3823633"/>
            <a:ext cx="567234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altLang="en-US" sz="1250" dirty="0">
                <a:solidFill>
                  <a:srgbClr val="FFFFFF"/>
                </a:solidFill>
                <a:latin typeface="Sakkal Saad TN Trial Light"/>
                <a:cs typeface="Sakkal Saad TN Trial Light"/>
              </a:rPr>
              <a:t>Carousel</a:t>
            </a:r>
            <a:endParaRPr lang="en-US" sz="1250" dirty="0"/>
          </a:p>
        </p:txBody>
      </p:sp>
      <p:sp>
        <p:nvSpPr>
          <p:cNvPr id="46" name="s34-text-44"/>
          <p:cNvSpPr txBox="1"/>
          <p:nvPr/>
        </p:nvSpPr>
        <p:spPr>
          <a:xfrm>
            <a:off x="456184" y="4129270"/>
            <a:ext cx="5328666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450"/>
              </a:lnSpc>
              <a:buNone/>
            </a:pPr>
            <a:r>
              <a:rPr lang="ar-SA" altLang="en-US" sz="1750" b="1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كيف تعرف عدد الكاميرات التي يحتاجها مكانك؟</a:t>
            </a:r>
            <a:endParaRPr lang="ar-SA" sz="1750" dirty="0"/>
          </a:p>
        </p:txBody>
      </p:sp>
      <p:sp>
        <p:nvSpPr>
          <p:cNvPr id="47" name="s34-text-45"/>
          <p:cNvSpPr txBox="1"/>
          <p:nvPr/>
        </p:nvSpPr>
        <p:spPr>
          <a:xfrm>
            <a:off x="5200650" y="4539417"/>
            <a:ext cx="58420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750"/>
              </a:lnSpc>
              <a:buNone/>
            </a:pPr>
            <a:r>
              <a:rPr lang="ar-SA" altLang="en-US" sz="1250" b="1" dirty="0">
                <a:solidFill>
                  <a:srgbClr val="43644B"/>
                </a:solidFill>
                <a:latin typeface="Sakkal Saad TN Trial Light"/>
                <a:cs typeface="Sakkal Saad TN Trial Light"/>
              </a:rPr>
              <a:t>الهدف</a:t>
            </a:r>
            <a:endParaRPr lang="ar-SA" sz="1250" dirty="0"/>
          </a:p>
        </p:txBody>
      </p:sp>
      <p:sp>
        <p:nvSpPr>
          <p:cNvPr id="48" name="s34-text-46"/>
          <p:cNvSpPr txBox="1"/>
          <p:nvPr/>
        </p:nvSpPr>
        <p:spPr>
          <a:xfrm>
            <a:off x="3145770" y="4499796"/>
            <a:ext cx="2067580" cy="317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03"/>
              </a:lnSpc>
              <a:buNone/>
            </a:pPr>
            <a:r>
              <a:rPr lang="ar-SA" altLang="en-US" sz="14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ربط احتياج العميل بالحل المناسب.</a:t>
            </a:r>
            <a:endParaRPr lang="ar-SA" sz="1450" dirty="0"/>
          </a:p>
        </p:txBody>
      </p:sp>
      <p:sp>
        <p:nvSpPr>
          <p:cNvPr id="49" name="s34-text-47"/>
          <p:cNvSpPr txBox="1"/>
          <p:nvPr/>
        </p:nvSpPr>
        <p:spPr>
          <a:xfrm>
            <a:off x="5200650" y="4831814"/>
            <a:ext cx="58420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750"/>
              </a:lnSpc>
              <a:buNone/>
            </a:pPr>
            <a:r>
              <a:rPr lang="en-US" altLang="en-US" sz="1250" b="1" dirty="0">
                <a:solidFill>
                  <a:srgbClr val="E9720C"/>
                </a:solidFill>
                <a:latin typeface="Sakkal Saad TN Trial Light"/>
                <a:cs typeface="Sakkal Saad TN Trial Light"/>
              </a:rPr>
              <a:t>CTA</a:t>
            </a:r>
            <a:endParaRPr lang="en-US" sz="1250" dirty="0"/>
          </a:p>
        </p:txBody>
      </p:sp>
      <p:sp>
        <p:nvSpPr>
          <p:cNvPr id="50" name="s34-text-48"/>
          <p:cNvSpPr txBox="1"/>
          <p:nvPr/>
        </p:nvSpPr>
        <p:spPr>
          <a:xfrm>
            <a:off x="3011075" y="4792193"/>
            <a:ext cx="2202275" cy="317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03"/>
              </a:lnSpc>
              <a:buNone/>
            </a:pPr>
            <a:r>
              <a:rPr lang="ar-SA" altLang="en-US" sz="14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أرسل نوع المكان وعدد النقاط المطلوبة.</a:t>
            </a:r>
            <a:endParaRPr lang="ar-SA" sz="1450" dirty="0"/>
          </a:p>
        </p:txBody>
      </p:sp>
      <p:sp>
        <p:nvSpPr>
          <p:cNvPr id="51" name="s34-shape-49"/>
          <p:cNvSpPr/>
          <p:nvPr/>
        </p:nvSpPr>
        <p:spPr>
          <a:xfrm>
            <a:off x="698500" y="5664200"/>
            <a:ext cx="10795000" cy="584200"/>
          </a:xfrm>
          <a:prstGeom prst="roundRect">
            <a:avLst>
              <a:gd name="adj" fmla="val 43478"/>
            </a:avLst>
          </a:prstGeom>
          <a:solidFill>
            <a:srgbClr val="F6C342"/>
          </a:solidFill>
          <a:ln/>
        </p:spPr>
      </p:sp>
      <p:pic>
        <p:nvPicPr>
          <p:cNvPr id="52" name="s34-snap-50" descr="s34-snap-50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01598" y="5772745"/>
            <a:ext cx="952202" cy="367010"/>
          </a:xfrm>
          <a:prstGeom prst="rect">
            <a:avLst/>
          </a:prstGeom>
        </p:spPr>
      </p:pic>
      <p:sp>
        <p:nvSpPr>
          <p:cNvPr id="53" name="s34-text-51"/>
          <p:cNvSpPr txBox="1"/>
          <p:nvPr/>
        </p:nvSpPr>
        <p:spPr>
          <a:xfrm>
            <a:off x="10807998" y="5797663"/>
            <a:ext cx="482302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altLang="en-US" sz="1300" b="1" dirty="0">
                <a:solidFill>
                  <a:srgbClr val="FFFFFF"/>
                </a:solidFill>
                <a:latin typeface="Sakkal Saad TN Trial Light"/>
                <a:cs typeface="Sakkal Saad TN Trial Light"/>
              </a:rPr>
              <a:t>Stories</a:t>
            </a:r>
            <a:endParaRPr lang="en-US" sz="1300" dirty="0"/>
          </a:p>
        </p:txBody>
      </p:sp>
      <p:sp>
        <p:nvSpPr>
          <p:cNvPr id="54" name="s34-shape-52"/>
          <p:cNvSpPr/>
          <p:nvPr/>
        </p:nvSpPr>
        <p:spPr>
          <a:xfrm>
            <a:off x="9431834" y="5810845"/>
            <a:ext cx="918964" cy="29081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5" name="s34-text-53"/>
          <p:cNvSpPr txBox="1"/>
          <p:nvPr/>
        </p:nvSpPr>
        <p:spPr>
          <a:xfrm>
            <a:off x="9444534" y="5797663"/>
            <a:ext cx="791964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690"/>
              </a:lnSpc>
              <a:buNone/>
            </a:pPr>
            <a:r>
              <a:rPr lang="ar-SA" altLang="en-US" sz="13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منزل أم محل؟</a:t>
            </a:r>
            <a:endParaRPr lang="ar-SA" sz="1300" dirty="0"/>
          </a:p>
        </p:txBody>
      </p:sp>
      <p:sp>
        <p:nvSpPr>
          <p:cNvPr id="56" name="s34-shape-54"/>
          <p:cNvSpPr/>
          <p:nvPr/>
        </p:nvSpPr>
        <p:spPr>
          <a:xfrm>
            <a:off x="8431510" y="5810845"/>
            <a:ext cx="911423" cy="29081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7" name="s34-text-55"/>
          <p:cNvSpPr txBox="1"/>
          <p:nvPr/>
        </p:nvSpPr>
        <p:spPr>
          <a:xfrm>
            <a:off x="8444210" y="5797663"/>
            <a:ext cx="784423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690"/>
              </a:lnSpc>
              <a:buNone/>
            </a:pPr>
            <a:r>
              <a:rPr lang="ar-SA" altLang="en-US" sz="13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صندوق أسئلة</a:t>
            </a:r>
            <a:endParaRPr lang="ar-SA" sz="1300" dirty="0"/>
          </a:p>
        </p:txBody>
      </p:sp>
      <p:sp>
        <p:nvSpPr>
          <p:cNvPr id="58" name="s34-shape-56"/>
          <p:cNvSpPr/>
          <p:nvPr/>
        </p:nvSpPr>
        <p:spPr>
          <a:xfrm>
            <a:off x="6594971" y="5810845"/>
            <a:ext cx="1747639" cy="29081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9" name="s34-text-57"/>
          <p:cNvSpPr txBox="1"/>
          <p:nvPr/>
        </p:nvSpPr>
        <p:spPr>
          <a:xfrm>
            <a:off x="6587748" y="5797663"/>
            <a:ext cx="1640562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690"/>
              </a:lnSpc>
              <a:buNone/>
            </a:pPr>
            <a:r>
              <a:rPr lang="ar-SA" altLang="en-US" sz="13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أكثر شيء يحيرك في الكاميرات؟</a:t>
            </a:r>
            <a:endParaRPr lang="ar-SA" sz="1300" dirty="0"/>
          </a:p>
        </p:txBody>
      </p:sp>
      <p:sp>
        <p:nvSpPr>
          <p:cNvPr id="60" name="s34-shape-58"/>
          <p:cNvSpPr/>
          <p:nvPr/>
        </p:nvSpPr>
        <p:spPr>
          <a:xfrm>
            <a:off x="5756771" y="5810845"/>
            <a:ext cx="749300" cy="29081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61" name="s34-text-59"/>
          <p:cNvSpPr txBox="1"/>
          <p:nvPr/>
        </p:nvSpPr>
        <p:spPr>
          <a:xfrm>
            <a:off x="5769471" y="5797663"/>
            <a:ext cx="622300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690"/>
              </a:lnSpc>
              <a:buNone/>
            </a:pPr>
            <a:r>
              <a:rPr lang="ar-SA" altLang="en-US" sz="13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عرض باقة</a:t>
            </a:r>
            <a:endParaRPr lang="ar-SA" sz="1300" dirty="0"/>
          </a:p>
        </p:txBody>
      </p:sp>
      <p:sp>
        <p:nvSpPr>
          <p:cNvPr id="62" name="s34-shape-60"/>
          <p:cNvSpPr/>
          <p:nvPr/>
        </p:nvSpPr>
        <p:spPr>
          <a:xfrm>
            <a:off x="4803180" y="5810845"/>
            <a:ext cx="864691" cy="29081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63" name="s34-text-61"/>
          <p:cNvSpPr txBox="1"/>
          <p:nvPr/>
        </p:nvSpPr>
        <p:spPr>
          <a:xfrm>
            <a:off x="4815880" y="5797663"/>
            <a:ext cx="737691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690"/>
              </a:lnSpc>
              <a:buNone/>
            </a:pPr>
            <a:r>
              <a:rPr lang="ar-SA" altLang="en-US" sz="13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رابط واتساب</a:t>
            </a:r>
            <a:endParaRPr lang="ar-SA" sz="1300" dirty="0"/>
          </a:p>
        </p:txBody>
      </p:sp>
      <p:sp>
        <p:nvSpPr>
          <p:cNvPr id="64" name="s34-shape-62"/>
          <p:cNvSpPr/>
          <p:nvPr/>
        </p:nvSpPr>
        <p:spPr>
          <a:xfrm>
            <a:off x="3380581" y="5810845"/>
            <a:ext cx="1333698" cy="29081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65" name="s34-text-63"/>
          <p:cNvSpPr txBox="1"/>
          <p:nvPr/>
        </p:nvSpPr>
        <p:spPr>
          <a:xfrm>
            <a:off x="3393281" y="5797663"/>
            <a:ext cx="1206698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690"/>
              </a:lnSpc>
              <a:buNone/>
            </a:pPr>
            <a:r>
              <a:rPr lang="ar-SA" altLang="en-US" sz="13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إجابة على سؤال متابع.</a:t>
            </a:r>
            <a:endParaRPr lang="ar-SA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3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4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0" dur="489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75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75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75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5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75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75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75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75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75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75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75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75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75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75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75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75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75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75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75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75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75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75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75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75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75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750" fill="hold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750" fill="hold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750" fill="hold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750" fill="hold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750" fill="hold" decel="10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750" fill="hold" decel="10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750" fill="hold" decel="100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750" fill="hold" decel="100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750" fill="hold" decel="100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750" fill="hold" decel="100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750" fill="hold" decel="100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750" fill="hold" decel="100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42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750" fill="hold" decel="100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750" fill="hold" decel="100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9" dur="750" fill="hold" decel="100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750" fill="hold" decel="100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42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750" fill="hold" decel="1000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750" fill="hold" decel="1000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42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9" dur="750" fill="hold" decel="100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750" fill="hold" decel="100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42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4" dur="750" fill="hold" decel="1000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750" fill="hold" decel="1000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42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6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9" dur="750" fill="hold" decel="100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750" fill="hold" decel="100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42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6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4" dur="750" fill="hold" decel="100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750" fill="hold" decel="100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6" presetID="42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6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9" dur="750" fill="hold" decel="100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750" fill="hold" decel="100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1" presetID="42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6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4" dur="750" fill="hold" decel="100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750" fill="hold" decel="100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6" presetID="42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6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9" dur="750" fill="hold" decel="100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750" fill="hold" decel="100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1" presetID="42" presetClass="entr" presetSubtype="0" fill="hold" grpId="0" nodeType="withEffect">
                                  <p:stCondLst>
                                    <p:cond delay="59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6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4" dur="750" fill="hold" decel="1000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750" fill="hold" decel="1000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6" presetID="42" presetClass="entr" presetSubtype="0" fill="hold" grpId="0" nodeType="withEffect">
                                  <p:stCondLst>
                                    <p:cond delay="59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6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9" dur="750" fill="hold" decel="1000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750" fill="hold" decel="1000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1" presetID="42" presetClass="entr" presetSubtype="0" fill="hold" grpId="0" nodeType="withEffect">
                                  <p:stCondLst>
                                    <p:cond delay="59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6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4" dur="750" fill="hold" decel="1000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750" fill="hold" decel="1000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6" presetID="42" presetClass="entr" presetSubtype="0" fill="hold" grpId="0" nodeType="withEffect">
                                  <p:stCondLst>
                                    <p:cond delay="59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6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9" dur="750" fill="hold" decel="1000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0" dur="750" fill="hold" decel="1000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1" presetID="42" presetClass="entr" presetSubtype="0" fill="hold" grpId="0" nodeType="withEffect">
                                  <p:stCondLst>
                                    <p:cond delay="59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6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4" dur="750" fill="hold" decel="1000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5" dur="750" fill="hold" decel="1000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6" presetID="42" presetClass="entr" presetSubtype="0" fill="hold" grpId="0" nodeType="withEffect">
                                  <p:stCondLst>
                                    <p:cond delay="59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6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9" dur="750" fill="hold" decel="1000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750" fill="hold" decel="1000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1" presetID="42" presetClass="entr" presetSubtype="0" fill="hold" grpId="0" nodeType="withEffect">
                                  <p:stCondLst>
                                    <p:cond delay="59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6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4" dur="750" fill="hold" decel="1000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5" dur="750" fill="hold" decel="1000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6" presetID="42" presetClass="entr" presetSubtype="0" fill="hold" grpId="0" nodeType="withEffect">
                                  <p:stCondLst>
                                    <p:cond delay="59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6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9" dur="750" fill="hold" decel="1000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0" dur="750" fill="hold" decel="1000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1" presetID="42" presetClass="entr" presetSubtype="0" fill="hold" grpId="0" nodeType="withEffect">
                                  <p:stCondLst>
                                    <p:cond delay="59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3" dur="6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4" dur="750" fill="hold" decel="1000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5" dur="750" fill="hold" decel="1000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6" presetID="42" presetClass="entr" presetSubtype="0" fill="hold" grpId="0" nodeType="withEffect">
                                  <p:stCondLst>
                                    <p:cond delay="59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6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9" dur="750" fill="hold" decel="1000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0" dur="750" fill="hold" decel="1000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1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6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4" dur="750" fill="hold" decel="1000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5" dur="750" fill="hold" decel="1000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6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8" dur="6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9" dur="750" fill="hold" decel="1000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0" dur="750" fill="hold" decel="1000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1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3" dur="6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4" dur="750" fill="hold" decel="10000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5" dur="750" fill="hold" decel="10000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6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8" dur="27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9" dur="6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0" dur="6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1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3" dur="27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4" dur="6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5" dur="6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6" presetID="53" presetClass="entr" presetSubtype="16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8" dur="27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9" dur="6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0" dur="6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1" presetID="53" presetClass="entr" presetSubtype="16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3" dur="27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4" dur="6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5" dur="6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6" presetID="53" presetClass="entr" presetSubtype="16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8" dur="27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9" dur="6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0" dur="6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1" presetID="53" presetClass="entr" presetSubtype="16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3" dur="27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4" dur="6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5" dur="6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6" presetID="53" presetClass="entr" presetSubtype="16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8" dur="27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9" dur="6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0" dur="6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1" presetID="53" presetClass="entr" presetSubtype="16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3" dur="27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4" dur="6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5" dur="6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6" presetID="53" presetClass="entr" presetSubtype="16" fill="hold" grpId="0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8" dur="27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9" dur="6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0" dur="6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1" presetID="53" presetClass="entr" presetSubtype="16" fill="hold" grpId="0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3" dur="27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4" dur="6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5" dur="6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6" presetID="53" presetClass="entr" presetSubtype="16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8" dur="27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9" dur="6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0" dur="6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1" presetID="53" presetClass="entr" presetSubtype="16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3" dur="27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4" dur="6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5" dur="6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/>
      <p:bldP spid="11" grpId="0" animBg="1"/>
      <p:bldP spid="12" grpId="0" animBg="1"/>
      <p:bldP spid="13" grpId="0"/>
      <p:bldP spid="15" grpId="0"/>
      <p:bldP spid="16" grpId="0"/>
      <p:bldP spid="17" grpId="0"/>
      <p:bldP spid="18" grpId="0"/>
      <p:bldP spid="19" grpId="0"/>
      <p:bldP spid="20" grpId="0"/>
      <p:bldP spid="21" grpId="0" animBg="1"/>
      <p:bldP spid="22" grpId="0" animBg="1"/>
      <p:bldP spid="23" grpId="0"/>
      <p:bldP spid="25" grpId="0"/>
      <p:bldP spid="26" grpId="0"/>
      <p:bldP spid="27" grpId="0"/>
      <p:bldP spid="28" grpId="0"/>
      <p:bldP spid="29" grpId="0"/>
      <p:bldP spid="30" grpId="0"/>
      <p:bldP spid="31" grpId="0" animBg="1"/>
      <p:bldP spid="32" grpId="0" animBg="1"/>
      <p:bldP spid="33" grpId="0"/>
      <p:bldP spid="35" grpId="0"/>
      <p:bldP spid="36" grpId="0"/>
      <p:bldP spid="37" grpId="0"/>
      <p:bldP spid="38" grpId="0"/>
      <p:bldP spid="39" grpId="0"/>
      <p:bldP spid="40" grpId="0"/>
      <p:bldP spid="41" grpId="0" animBg="1"/>
      <p:bldP spid="42" grpId="0" animBg="1"/>
      <p:bldP spid="43" grpId="0"/>
      <p:bldP spid="45" grpId="0"/>
      <p:bldP spid="46" grpId="0"/>
      <p:bldP spid="47" grpId="0"/>
      <p:bldP spid="48" grpId="0"/>
      <p:bldP spid="49" grpId="0"/>
      <p:bldP spid="50" grpId="0"/>
      <p:bldP spid="51" grpId="0" animBg="1"/>
      <p:bldP spid="53" grpId="0"/>
      <p:bldP spid="54" grpId="0" animBg="1"/>
      <p:bldP spid="55" grpId="0"/>
      <p:bldP spid="56" grpId="0" animBg="1"/>
      <p:bldP spid="57" grpId="0"/>
      <p:bldP spid="58" grpId="0" animBg="1"/>
      <p:bldP spid="59" grpId="0"/>
      <p:bldP spid="60" grpId="0" animBg="1"/>
      <p:bldP spid="61" grpId="0"/>
      <p:bldP spid="62" grpId="0" animBg="1"/>
      <p:bldP spid="63" grpId="0"/>
      <p:bldP spid="64" grpId="0" animBg="1"/>
      <p:bldP spid="65" grpId="0"/>
    </p:bldLst>
  </p:timing>
</p:sld>
</file>

<file path=ppt/slides/slide35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lens"/>
          <p:cNvSpPr/>
          <p:nvPr/>
        </p:nvSpPr>
        <p:spPr>
          <a:xfrm>
            <a:off x="368300" y="127000"/>
            <a:ext cx="1206500" cy="1206500"/>
          </a:xfrm>
          <a:prstGeom prst="ellipse">
            <a:avLst/>
          </a:prstGeom>
          <a:solidFill>
            <a:srgbClr val="EEF2EF"/>
          </a:solidFill>
          <a:ln/>
        </p:spPr>
      </p:sp>
      <p:pic>
        <p:nvPicPr>
          <p:cNvPr id="3" name="!!mt" descr="شعار نظرة ثماني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8100000">
            <a:off x="788591" y="569268"/>
            <a:ext cx="546100" cy="533400"/>
          </a:xfrm>
          <a:prstGeom prst="rect">
            <a:avLst/>
          </a:prstGeom>
        </p:spPr>
      </p:pic>
      <p:pic>
        <p:nvPicPr>
          <p:cNvPr id="4" name="!!mb" descr="شعار نظرة ثمانية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8100000">
            <a:off x="598140" y="354608"/>
            <a:ext cx="527050" cy="520700"/>
          </a:xfrm>
          <a:prstGeom prst="rect">
            <a:avLst/>
          </a:prstGeom>
        </p:spPr>
      </p:pic>
      <p:pic>
        <p:nvPicPr>
          <p:cNvPr id="5" name="!!ma" descr="شعار نظرة ثمانية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8100000">
            <a:off x="1018183" y="849561"/>
            <a:ext cx="95250" cy="82550"/>
          </a:xfrm>
          <a:prstGeom prst="rect">
            <a:avLst/>
          </a:prstGeom>
        </p:spPr>
      </p:pic>
      <p:pic>
        <p:nvPicPr>
          <p:cNvPr id="6" name="!!hud" descr="!!hu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800" y="177800"/>
            <a:ext cx="11836400" cy="6502400"/>
          </a:xfrm>
          <a:prstGeom prst="rect">
            <a:avLst/>
          </a:prstGeom>
        </p:spPr>
      </p:pic>
      <p:sp>
        <p:nvSpPr>
          <p:cNvPr id="7" name="!!rec"/>
          <p:cNvSpPr/>
          <p:nvPr/>
        </p:nvSpPr>
        <p:spPr>
          <a:xfrm>
            <a:off x="635000" y="6337300"/>
            <a:ext cx="101600" cy="101600"/>
          </a:xfrm>
          <a:prstGeom prst="ellipse">
            <a:avLst/>
          </a:prstGeom>
          <a:solidFill>
            <a:srgbClr val="FF8D26"/>
          </a:solidFill>
          <a:ln/>
        </p:spPr>
      </p:sp>
      <p:sp>
        <p:nvSpPr>
          <p:cNvPr id="8" name="!!num"/>
          <p:cNvSpPr txBox="1"/>
          <p:nvPr/>
        </p:nvSpPr>
        <p:spPr>
          <a:xfrm>
            <a:off x="825500" y="6281750"/>
            <a:ext cx="687685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altLang="en-US" sz="1200" dirty="0">
                <a:solidFill>
                  <a:srgbClr val="5E6D7C"/>
                </a:solidFill>
                <a:latin typeface="Sakkal Saad TN Trial Light"/>
                <a:cs typeface="Sakkal Saad TN Trial Light"/>
              </a:rPr>
              <a:t>REC · 35</a:t>
            </a:r>
            <a:endParaRPr lang="en-US" sz="1200" dirty="0"/>
          </a:p>
        </p:txBody>
      </p:sp>
      <p:sp>
        <p:nvSpPr>
          <p:cNvPr id="9" name="!!kick"/>
          <p:cNvSpPr txBox="1"/>
          <p:nvPr/>
        </p:nvSpPr>
        <p:spPr>
          <a:xfrm>
            <a:off x="9821712" y="318834"/>
            <a:ext cx="1735288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ar-SA" altLang="en-US" sz="1500" b="1" dirty="0">
                <a:solidFill>
                  <a:srgbClr val="43644B"/>
                </a:solidFill>
                <a:latin typeface="Sakkal Saad TN Trial Light"/>
                <a:cs typeface="Sakkal Saad TN Trial Light"/>
              </a:rPr>
              <a:t>08</a:t>
            </a:r>
            <a:r>
              <a:rPr lang="ar-SA" altLang="en-US" sz="1500" dirty="0">
                <a:solidFill>
                  <a:srgbClr val="E9720C"/>
                </a:solidFill>
                <a:latin typeface="Sakkal Saad TN Trial Light"/>
                <a:cs typeface="Sakkal Saad TN Trial Light"/>
              </a:rPr>
              <a:t> خطة المحتوى التسويقي</a:t>
            </a:r>
            <a:endParaRPr lang="ar-SA" sz="1500" dirty="0"/>
          </a:p>
        </p:txBody>
      </p:sp>
      <p:sp>
        <p:nvSpPr>
          <p:cNvPr id="10" name="s35-text-8"/>
          <p:cNvSpPr txBox="1"/>
          <p:nvPr/>
        </p:nvSpPr>
        <p:spPr>
          <a:xfrm>
            <a:off x="6634456" y="695420"/>
            <a:ext cx="4922544" cy="5822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4185"/>
              </a:lnSpc>
              <a:buNone/>
            </a:pPr>
            <a:r>
              <a:rPr lang="ar-SA" altLang="en-US" sz="3100" b="1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الأسبوع الثاني </a:t>
            </a:r>
            <a:r>
              <a:rPr lang="ar-SA" altLang="en-US" sz="3100" b="1" dirty="0">
                <a:solidFill>
                  <a:srgbClr val="E9720C"/>
                </a:solidFill>
                <a:latin typeface="Sakkal Saad TN Trial Light"/>
                <a:cs typeface="Sakkal Saad TN Trial Light"/>
              </a:rPr>
              <a:t>:</a:t>
            </a:r>
            <a:r>
              <a:rPr lang="ar-SA" altLang="en-US" sz="3100" b="1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 </a:t>
            </a:r>
            <a:r>
              <a:rPr lang="ar-SA" altLang="en-US" sz="3100" b="1" dirty="0">
                <a:solidFill>
                  <a:srgbClr val="E9720C"/>
                </a:solidFill>
                <a:latin typeface="Sakkal Saad TN Trial Light"/>
                <a:cs typeface="Sakkal Saad TN Trial Light"/>
              </a:rPr>
              <a:t>حلول المنازل والمحلات</a:t>
            </a:r>
            <a:endParaRPr lang="ar-SA" sz="3100" dirty="0"/>
          </a:p>
        </p:txBody>
      </p:sp>
      <p:sp>
        <p:nvSpPr>
          <p:cNvPr id="11" name="s35-shape-9"/>
          <p:cNvSpPr/>
          <p:nvPr/>
        </p:nvSpPr>
        <p:spPr>
          <a:xfrm>
            <a:off x="6127750" y="1663700"/>
            <a:ext cx="5365750" cy="1879600"/>
          </a:xfrm>
          <a:prstGeom prst="roundRect">
            <a:avLst>
              <a:gd name="adj" fmla="val 13514"/>
            </a:avLst>
          </a:prstGeom>
          <a:solidFill>
            <a:srgbClr val="EEF2EF"/>
          </a:solidFill>
          <a:ln/>
        </p:spPr>
      </p:sp>
      <p:sp>
        <p:nvSpPr>
          <p:cNvPr id="12" name="s35-shape-10"/>
          <p:cNvSpPr/>
          <p:nvPr/>
        </p:nvSpPr>
        <p:spPr>
          <a:xfrm>
            <a:off x="10636250" y="1841500"/>
            <a:ext cx="641350" cy="299045"/>
          </a:xfrm>
          <a:prstGeom prst="roundRect">
            <a:avLst>
              <a:gd name="adj" fmla="val 50000"/>
            </a:avLst>
          </a:prstGeom>
          <a:solidFill>
            <a:srgbClr val="FF8D26"/>
          </a:solidFill>
          <a:ln/>
        </p:spPr>
      </p:sp>
      <p:sp>
        <p:nvSpPr>
          <p:cNvPr id="13" name="s35-text-11"/>
          <p:cNvSpPr txBox="1"/>
          <p:nvPr/>
        </p:nvSpPr>
        <p:spPr>
          <a:xfrm>
            <a:off x="10674350" y="1828787"/>
            <a:ext cx="463550" cy="2736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755"/>
              </a:lnSpc>
              <a:buNone/>
            </a:pPr>
            <a:r>
              <a:rPr lang="ar-SA" altLang="en-US" sz="1350" b="1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السبت</a:t>
            </a:r>
            <a:endParaRPr lang="ar-SA" sz="1350" dirty="0"/>
          </a:p>
        </p:txBody>
      </p:sp>
      <p:pic>
        <p:nvPicPr>
          <p:cNvPr id="14" name="s35-snap-12" descr="s35-snap-12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78305" y="1811635"/>
            <a:ext cx="807145" cy="358775"/>
          </a:xfrm>
          <a:prstGeom prst="rect">
            <a:avLst/>
          </a:prstGeom>
        </p:spPr>
      </p:pic>
      <p:sp>
        <p:nvSpPr>
          <p:cNvPr id="15" name="s35-text-13"/>
          <p:cNvSpPr txBox="1"/>
          <p:nvPr/>
        </p:nvSpPr>
        <p:spPr>
          <a:xfrm>
            <a:off x="10197405" y="1842433"/>
            <a:ext cx="32454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altLang="en-US" sz="1250" dirty="0">
                <a:solidFill>
                  <a:srgbClr val="FFFFFF"/>
                </a:solidFill>
                <a:latin typeface="Sakkal Saad TN Trial Light"/>
                <a:cs typeface="Sakkal Saad TN Trial Light"/>
              </a:rPr>
              <a:t>Reel</a:t>
            </a:r>
            <a:endParaRPr lang="en-US" sz="1250" dirty="0"/>
          </a:p>
        </p:txBody>
      </p:sp>
      <p:sp>
        <p:nvSpPr>
          <p:cNvPr id="16" name="s35-text-14"/>
          <p:cNvSpPr txBox="1"/>
          <p:nvPr/>
        </p:nvSpPr>
        <p:spPr>
          <a:xfrm>
            <a:off x="5948934" y="2148070"/>
            <a:ext cx="5328666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450"/>
              </a:lnSpc>
              <a:buNone/>
            </a:pPr>
            <a:r>
              <a:rPr lang="ar-SA" altLang="en-US" sz="1750" b="1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هل كاميرا Wi-Fi مناسبة لمكانك أم تحتاج نظامًا سلكيًا؟</a:t>
            </a:r>
            <a:endParaRPr lang="ar-SA" sz="1750" dirty="0"/>
          </a:p>
        </p:txBody>
      </p:sp>
      <p:sp>
        <p:nvSpPr>
          <p:cNvPr id="17" name="s35-text-15"/>
          <p:cNvSpPr txBox="1"/>
          <p:nvPr/>
        </p:nvSpPr>
        <p:spPr>
          <a:xfrm>
            <a:off x="10693400" y="2558217"/>
            <a:ext cx="58420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750"/>
              </a:lnSpc>
              <a:buNone/>
            </a:pPr>
            <a:r>
              <a:rPr lang="ar-SA" altLang="en-US" sz="1250" b="1" dirty="0">
                <a:solidFill>
                  <a:srgbClr val="43644B"/>
                </a:solidFill>
                <a:latin typeface="Sakkal Saad TN Trial Light"/>
                <a:cs typeface="Sakkal Saad TN Trial Light"/>
              </a:rPr>
              <a:t>الهدف</a:t>
            </a:r>
            <a:endParaRPr lang="ar-SA" sz="1250" dirty="0"/>
          </a:p>
        </p:txBody>
      </p:sp>
      <p:sp>
        <p:nvSpPr>
          <p:cNvPr id="18" name="s35-text-16"/>
          <p:cNvSpPr txBox="1"/>
          <p:nvPr/>
        </p:nvSpPr>
        <p:spPr>
          <a:xfrm>
            <a:off x="8977670" y="2518596"/>
            <a:ext cx="1728430" cy="317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03"/>
              </a:lnSpc>
              <a:buNone/>
            </a:pPr>
            <a:r>
              <a:rPr lang="ar-SA" altLang="en-US" sz="14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مساعدة العميل على الاختيار.</a:t>
            </a:r>
            <a:endParaRPr lang="ar-SA" sz="1450" dirty="0"/>
          </a:p>
        </p:txBody>
      </p:sp>
      <p:sp>
        <p:nvSpPr>
          <p:cNvPr id="19" name="s35-text-17"/>
          <p:cNvSpPr txBox="1"/>
          <p:nvPr/>
        </p:nvSpPr>
        <p:spPr>
          <a:xfrm>
            <a:off x="10693400" y="2850614"/>
            <a:ext cx="58420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750"/>
              </a:lnSpc>
              <a:buNone/>
            </a:pPr>
            <a:r>
              <a:rPr lang="en-US" altLang="en-US" sz="1250" b="1" dirty="0">
                <a:solidFill>
                  <a:srgbClr val="E9720C"/>
                </a:solidFill>
                <a:latin typeface="Sakkal Saad TN Trial Light"/>
                <a:cs typeface="Sakkal Saad TN Trial Light"/>
              </a:rPr>
              <a:t>CTA</a:t>
            </a:r>
            <a:endParaRPr lang="en-US" sz="1250" dirty="0"/>
          </a:p>
        </p:txBody>
      </p:sp>
      <p:sp>
        <p:nvSpPr>
          <p:cNvPr id="20" name="s35-text-18"/>
          <p:cNvSpPr txBox="1"/>
          <p:nvPr/>
        </p:nvSpPr>
        <p:spPr>
          <a:xfrm>
            <a:off x="8279547" y="2810993"/>
            <a:ext cx="2426553" cy="317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03"/>
              </a:lnSpc>
              <a:buNone/>
            </a:pPr>
            <a:r>
              <a:rPr lang="ar-SA" altLang="en-US" sz="14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أرسل نوع المكان ونساعدك تحدد الأنسب.</a:t>
            </a:r>
            <a:endParaRPr lang="ar-SA" sz="1450" dirty="0"/>
          </a:p>
        </p:txBody>
      </p:sp>
      <p:sp>
        <p:nvSpPr>
          <p:cNvPr id="21" name="s35-shape-19"/>
          <p:cNvSpPr/>
          <p:nvPr/>
        </p:nvSpPr>
        <p:spPr>
          <a:xfrm>
            <a:off x="635000" y="1663700"/>
            <a:ext cx="5365750" cy="1879600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0" dist="76200" dir="5400000">
              <a:srgbClr val="1E2A36">
                <a:alpha val="10000"/>
              </a:srgbClr>
            </a:outerShdw>
          </a:effectLst>
        </p:spPr>
      </p:sp>
      <p:sp>
        <p:nvSpPr>
          <p:cNvPr id="22" name="s35-shape-20"/>
          <p:cNvSpPr/>
          <p:nvPr/>
        </p:nvSpPr>
        <p:spPr>
          <a:xfrm>
            <a:off x="5159276" y="1841500"/>
            <a:ext cx="625574" cy="299045"/>
          </a:xfrm>
          <a:prstGeom prst="roundRect">
            <a:avLst>
              <a:gd name="adj" fmla="val 50000"/>
            </a:avLst>
          </a:prstGeom>
          <a:solidFill>
            <a:srgbClr val="FF8D26"/>
          </a:solidFill>
          <a:ln/>
        </p:spPr>
      </p:sp>
      <p:sp>
        <p:nvSpPr>
          <p:cNvPr id="23" name="s35-text-21"/>
          <p:cNvSpPr txBox="1"/>
          <p:nvPr/>
        </p:nvSpPr>
        <p:spPr>
          <a:xfrm>
            <a:off x="5197376" y="1828787"/>
            <a:ext cx="447774" cy="2736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755"/>
              </a:lnSpc>
              <a:buNone/>
            </a:pPr>
            <a:r>
              <a:rPr lang="ar-SA" altLang="en-US" sz="1350" b="1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الاثنين</a:t>
            </a:r>
            <a:endParaRPr lang="ar-SA" sz="1350" dirty="0"/>
          </a:p>
        </p:txBody>
      </p:sp>
      <p:pic>
        <p:nvPicPr>
          <p:cNvPr id="24" name="s35-snap-22" descr="s35-snap-22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58642" y="1811635"/>
            <a:ext cx="1049834" cy="358775"/>
          </a:xfrm>
          <a:prstGeom prst="rect">
            <a:avLst/>
          </a:prstGeom>
        </p:spPr>
      </p:pic>
      <p:sp>
        <p:nvSpPr>
          <p:cNvPr id="25" name="s35-text-23"/>
          <p:cNvSpPr txBox="1"/>
          <p:nvPr/>
        </p:nvSpPr>
        <p:spPr>
          <a:xfrm>
            <a:off x="4477742" y="1842433"/>
            <a:ext cx="567234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altLang="en-US" sz="1250" dirty="0">
                <a:solidFill>
                  <a:srgbClr val="FFFFFF"/>
                </a:solidFill>
                <a:latin typeface="Sakkal Saad TN Trial Light"/>
                <a:cs typeface="Sakkal Saad TN Trial Light"/>
              </a:rPr>
              <a:t>Carousel</a:t>
            </a:r>
            <a:endParaRPr lang="en-US" sz="1250" dirty="0"/>
          </a:p>
        </p:txBody>
      </p:sp>
      <p:sp>
        <p:nvSpPr>
          <p:cNvPr id="26" name="s35-text-24"/>
          <p:cNvSpPr txBox="1"/>
          <p:nvPr/>
        </p:nvSpPr>
        <p:spPr>
          <a:xfrm>
            <a:off x="456184" y="2148070"/>
            <a:ext cx="5328666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450"/>
              </a:lnSpc>
              <a:buNone/>
            </a:pPr>
            <a:r>
              <a:rPr lang="ar-SA" altLang="en-US" sz="1750" b="1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ما مكونات نظام المراقبة المتكامل؟</a:t>
            </a:r>
            <a:endParaRPr lang="ar-SA" sz="1750" dirty="0"/>
          </a:p>
        </p:txBody>
      </p:sp>
      <p:sp>
        <p:nvSpPr>
          <p:cNvPr id="27" name="s35-text-25"/>
          <p:cNvSpPr txBox="1"/>
          <p:nvPr/>
        </p:nvSpPr>
        <p:spPr>
          <a:xfrm>
            <a:off x="5200650" y="2558217"/>
            <a:ext cx="58420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750"/>
              </a:lnSpc>
              <a:buNone/>
            </a:pPr>
            <a:r>
              <a:rPr lang="ar-SA" altLang="en-US" sz="1250" b="1" dirty="0">
                <a:solidFill>
                  <a:srgbClr val="43644B"/>
                </a:solidFill>
                <a:latin typeface="Sakkal Saad TN Trial Light"/>
                <a:cs typeface="Sakkal Saad TN Trial Light"/>
              </a:rPr>
              <a:t>الهدف</a:t>
            </a:r>
            <a:endParaRPr lang="ar-SA" sz="1250" dirty="0"/>
          </a:p>
        </p:txBody>
      </p:sp>
      <p:sp>
        <p:nvSpPr>
          <p:cNvPr id="28" name="s35-text-26"/>
          <p:cNvSpPr txBox="1"/>
          <p:nvPr/>
        </p:nvSpPr>
        <p:spPr>
          <a:xfrm>
            <a:off x="2957711" y="2518596"/>
            <a:ext cx="2255639" cy="317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03"/>
              </a:lnSpc>
              <a:buNone/>
            </a:pPr>
            <a:r>
              <a:rPr lang="ar-SA" altLang="en-US" sz="14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تعليم العميل وفهم قيمة النظام بالكامل.</a:t>
            </a:r>
            <a:endParaRPr lang="ar-SA" sz="1450" dirty="0"/>
          </a:p>
        </p:txBody>
      </p:sp>
      <p:sp>
        <p:nvSpPr>
          <p:cNvPr id="29" name="s35-text-27"/>
          <p:cNvSpPr txBox="1"/>
          <p:nvPr/>
        </p:nvSpPr>
        <p:spPr>
          <a:xfrm>
            <a:off x="5200650" y="2850614"/>
            <a:ext cx="58420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750"/>
              </a:lnSpc>
              <a:buNone/>
            </a:pPr>
            <a:r>
              <a:rPr lang="en-US" altLang="en-US" sz="1250" b="1" dirty="0">
                <a:solidFill>
                  <a:srgbClr val="E9720C"/>
                </a:solidFill>
                <a:latin typeface="Sakkal Saad TN Trial Light"/>
                <a:cs typeface="Sakkal Saad TN Trial Light"/>
              </a:rPr>
              <a:t>CTA</a:t>
            </a:r>
            <a:endParaRPr lang="en-US" sz="1250" dirty="0"/>
          </a:p>
        </p:txBody>
      </p:sp>
      <p:sp>
        <p:nvSpPr>
          <p:cNvPr id="30" name="s35-text-28"/>
          <p:cNvSpPr txBox="1"/>
          <p:nvPr/>
        </p:nvSpPr>
        <p:spPr>
          <a:xfrm>
            <a:off x="3677265" y="2810993"/>
            <a:ext cx="1536085" cy="317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03"/>
              </a:lnSpc>
              <a:buNone/>
            </a:pPr>
            <a:r>
              <a:rPr lang="ar-SA" altLang="en-US" sz="14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تعرف على الحلول المتوفرة.</a:t>
            </a:r>
            <a:endParaRPr lang="ar-SA" sz="1450" dirty="0"/>
          </a:p>
        </p:txBody>
      </p:sp>
      <p:sp>
        <p:nvSpPr>
          <p:cNvPr id="31" name="s35-shape-29"/>
          <p:cNvSpPr/>
          <p:nvPr/>
        </p:nvSpPr>
        <p:spPr>
          <a:xfrm>
            <a:off x="6127750" y="3644900"/>
            <a:ext cx="5365750" cy="1879600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0" dist="76200" dir="5400000">
              <a:srgbClr val="1E2A36">
                <a:alpha val="10000"/>
              </a:srgbClr>
            </a:outerShdw>
          </a:effectLst>
        </p:spPr>
      </p:sp>
      <p:sp>
        <p:nvSpPr>
          <p:cNvPr id="32" name="s35-shape-30"/>
          <p:cNvSpPr/>
          <p:nvPr/>
        </p:nvSpPr>
        <p:spPr>
          <a:xfrm>
            <a:off x="10640219" y="3822700"/>
            <a:ext cx="637381" cy="299045"/>
          </a:xfrm>
          <a:prstGeom prst="roundRect">
            <a:avLst>
              <a:gd name="adj" fmla="val 50000"/>
            </a:avLst>
          </a:prstGeom>
          <a:solidFill>
            <a:srgbClr val="FF8D26"/>
          </a:solidFill>
          <a:ln/>
        </p:spPr>
      </p:sp>
      <p:sp>
        <p:nvSpPr>
          <p:cNvPr id="33" name="s35-text-31"/>
          <p:cNvSpPr txBox="1"/>
          <p:nvPr/>
        </p:nvSpPr>
        <p:spPr>
          <a:xfrm>
            <a:off x="10678319" y="3809987"/>
            <a:ext cx="459581" cy="2736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755"/>
              </a:lnSpc>
              <a:buNone/>
            </a:pPr>
            <a:r>
              <a:rPr lang="ar-SA" altLang="en-US" sz="1350" b="1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الأربعاء</a:t>
            </a:r>
            <a:endParaRPr lang="ar-SA" sz="1350" dirty="0"/>
          </a:p>
        </p:txBody>
      </p:sp>
      <p:pic>
        <p:nvPicPr>
          <p:cNvPr id="34" name="s35-snap-32" descr="s35-snap-32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82274" y="3792835"/>
            <a:ext cx="807145" cy="358775"/>
          </a:xfrm>
          <a:prstGeom prst="rect">
            <a:avLst/>
          </a:prstGeom>
        </p:spPr>
      </p:pic>
      <p:sp>
        <p:nvSpPr>
          <p:cNvPr id="35" name="s35-text-33"/>
          <p:cNvSpPr txBox="1"/>
          <p:nvPr/>
        </p:nvSpPr>
        <p:spPr>
          <a:xfrm>
            <a:off x="10201374" y="3823633"/>
            <a:ext cx="32454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altLang="en-US" sz="1250" dirty="0">
                <a:solidFill>
                  <a:srgbClr val="FFFFFF"/>
                </a:solidFill>
                <a:latin typeface="Sakkal Saad TN Trial Light"/>
                <a:cs typeface="Sakkal Saad TN Trial Light"/>
              </a:rPr>
              <a:t>Reel</a:t>
            </a:r>
            <a:endParaRPr lang="en-US" sz="1250" dirty="0"/>
          </a:p>
        </p:txBody>
      </p:sp>
      <p:sp>
        <p:nvSpPr>
          <p:cNvPr id="36" name="s35-text-34"/>
          <p:cNvSpPr txBox="1"/>
          <p:nvPr/>
        </p:nvSpPr>
        <p:spPr>
          <a:xfrm>
            <a:off x="5948934" y="4129270"/>
            <a:ext cx="5328666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450"/>
              </a:lnSpc>
              <a:buNone/>
            </a:pPr>
            <a:r>
              <a:rPr lang="ar-SA" altLang="en-US" sz="1750" b="1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تحتاج تعرف من عند الباب قبل ما تفتح؟</a:t>
            </a:r>
            <a:endParaRPr lang="ar-SA" sz="1750" dirty="0"/>
          </a:p>
        </p:txBody>
      </p:sp>
      <p:sp>
        <p:nvSpPr>
          <p:cNvPr id="37" name="s35-text-35"/>
          <p:cNvSpPr txBox="1"/>
          <p:nvPr/>
        </p:nvSpPr>
        <p:spPr>
          <a:xfrm>
            <a:off x="10693400" y="4539417"/>
            <a:ext cx="58420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750"/>
              </a:lnSpc>
              <a:buNone/>
            </a:pPr>
            <a:r>
              <a:rPr lang="ar-SA" altLang="en-US" sz="1250" b="1" dirty="0">
                <a:solidFill>
                  <a:srgbClr val="43644B"/>
                </a:solidFill>
                <a:latin typeface="Sakkal Saad TN Trial Light"/>
                <a:cs typeface="Sakkal Saad TN Trial Light"/>
              </a:rPr>
              <a:t>الهدف</a:t>
            </a:r>
            <a:endParaRPr lang="ar-SA" sz="1250" dirty="0"/>
          </a:p>
        </p:txBody>
      </p:sp>
      <p:sp>
        <p:nvSpPr>
          <p:cNvPr id="38" name="s35-text-36"/>
          <p:cNvSpPr txBox="1"/>
          <p:nvPr/>
        </p:nvSpPr>
        <p:spPr>
          <a:xfrm>
            <a:off x="8090309" y="4499796"/>
            <a:ext cx="2615791" cy="317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03"/>
              </a:lnSpc>
              <a:buNone/>
            </a:pPr>
            <a:r>
              <a:rPr lang="ar-SA" altLang="en-US" sz="14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التعريف بحلول الإنتركوم وربط المنتج بالمشكلة.</a:t>
            </a:r>
            <a:endParaRPr lang="ar-SA" sz="1450" dirty="0"/>
          </a:p>
        </p:txBody>
      </p:sp>
      <p:sp>
        <p:nvSpPr>
          <p:cNvPr id="39" name="s35-text-37"/>
          <p:cNvSpPr txBox="1"/>
          <p:nvPr/>
        </p:nvSpPr>
        <p:spPr>
          <a:xfrm>
            <a:off x="10693400" y="4831814"/>
            <a:ext cx="58420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750"/>
              </a:lnSpc>
              <a:buNone/>
            </a:pPr>
            <a:r>
              <a:rPr lang="en-US" altLang="en-US" sz="1250" b="1" dirty="0">
                <a:solidFill>
                  <a:srgbClr val="E9720C"/>
                </a:solidFill>
                <a:latin typeface="Sakkal Saad TN Trial Light"/>
                <a:cs typeface="Sakkal Saad TN Trial Light"/>
              </a:rPr>
              <a:t>CTA</a:t>
            </a:r>
            <a:endParaRPr lang="en-US" sz="1250" dirty="0"/>
          </a:p>
        </p:txBody>
      </p:sp>
      <p:sp>
        <p:nvSpPr>
          <p:cNvPr id="40" name="s35-text-38"/>
          <p:cNvSpPr txBox="1"/>
          <p:nvPr/>
        </p:nvSpPr>
        <p:spPr>
          <a:xfrm>
            <a:off x="9170015" y="4792193"/>
            <a:ext cx="1536085" cy="317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03"/>
              </a:lnSpc>
              <a:buNone/>
            </a:pPr>
            <a:r>
              <a:rPr lang="ar-SA" altLang="en-US" sz="14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تعرف على حلول الإنتركوم.</a:t>
            </a:r>
            <a:endParaRPr lang="ar-SA" sz="1450" dirty="0"/>
          </a:p>
        </p:txBody>
      </p:sp>
      <p:sp>
        <p:nvSpPr>
          <p:cNvPr id="41" name="s35-shape-39"/>
          <p:cNvSpPr/>
          <p:nvPr/>
        </p:nvSpPr>
        <p:spPr>
          <a:xfrm>
            <a:off x="635000" y="3644900"/>
            <a:ext cx="5365750" cy="1879600"/>
          </a:xfrm>
          <a:prstGeom prst="roundRect">
            <a:avLst>
              <a:gd name="adj" fmla="val 13514"/>
            </a:avLst>
          </a:prstGeom>
          <a:solidFill>
            <a:srgbClr val="EEF2EF"/>
          </a:solidFill>
          <a:ln/>
        </p:spPr>
      </p:sp>
      <p:sp>
        <p:nvSpPr>
          <p:cNvPr id="42" name="s35-shape-40"/>
          <p:cNvSpPr/>
          <p:nvPr/>
        </p:nvSpPr>
        <p:spPr>
          <a:xfrm>
            <a:off x="5100042" y="3822700"/>
            <a:ext cx="684808" cy="299045"/>
          </a:xfrm>
          <a:prstGeom prst="roundRect">
            <a:avLst>
              <a:gd name="adj" fmla="val 50000"/>
            </a:avLst>
          </a:prstGeom>
          <a:solidFill>
            <a:srgbClr val="FF8D26"/>
          </a:solidFill>
          <a:ln/>
        </p:spPr>
      </p:sp>
      <p:sp>
        <p:nvSpPr>
          <p:cNvPr id="43" name="s35-text-41"/>
          <p:cNvSpPr txBox="1"/>
          <p:nvPr/>
        </p:nvSpPr>
        <p:spPr>
          <a:xfrm>
            <a:off x="5138142" y="3809987"/>
            <a:ext cx="507008" cy="2736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755"/>
              </a:lnSpc>
              <a:buNone/>
            </a:pPr>
            <a:r>
              <a:rPr lang="ar-SA" altLang="en-US" sz="1350" b="1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الخميس</a:t>
            </a:r>
            <a:endParaRPr lang="ar-SA" sz="1350" dirty="0"/>
          </a:p>
        </p:txBody>
      </p:sp>
      <p:pic>
        <p:nvPicPr>
          <p:cNvPr id="44" name="s35-snap-42" descr="s35-snap-42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72234" y="3792835"/>
            <a:ext cx="1777008" cy="358775"/>
          </a:xfrm>
          <a:prstGeom prst="rect">
            <a:avLst/>
          </a:prstGeom>
        </p:spPr>
      </p:pic>
      <p:sp>
        <p:nvSpPr>
          <p:cNvPr id="45" name="s35-text-43"/>
          <p:cNvSpPr txBox="1"/>
          <p:nvPr/>
        </p:nvSpPr>
        <p:spPr>
          <a:xfrm>
            <a:off x="3691334" y="3823633"/>
            <a:ext cx="129440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altLang="en-US" sz="1250" dirty="0">
                <a:solidFill>
                  <a:srgbClr val="FFFFFF"/>
                </a:solidFill>
                <a:latin typeface="Sakkal Saad TN Trial Light"/>
                <a:cs typeface="Sakkal Saad TN Trial Light"/>
              </a:rPr>
              <a:t>Product / Package Post</a:t>
            </a:r>
            <a:endParaRPr lang="en-US" sz="1250" dirty="0"/>
          </a:p>
        </p:txBody>
      </p:sp>
      <p:sp>
        <p:nvSpPr>
          <p:cNvPr id="46" name="s35-text-44"/>
          <p:cNvSpPr txBox="1"/>
          <p:nvPr/>
        </p:nvSpPr>
        <p:spPr>
          <a:xfrm>
            <a:off x="456184" y="4129270"/>
            <a:ext cx="5328666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450"/>
              </a:lnSpc>
              <a:buNone/>
            </a:pPr>
            <a:r>
              <a:rPr lang="ar-SA" altLang="en-US" sz="1750" b="1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كيف تختار باقة مراقبة مناسبة لبيتك أو محلك؟</a:t>
            </a:r>
            <a:endParaRPr lang="ar-SA" sz="1750" dirty="0"/>
          </a:p>
        </p:txBody>
      </p:sp>
      <p:sp>
        <p:nvSpPr>
          <p:cNvPr id="47" name="s35-text-45"/>
          <p:cNvSpPr txBox="1"/>
          <p:nvPr/>
        </p:nvSpPr>
        <p:spPr>
          <a:xfrm>
            <a:off x="5200650" y="4539417"/>
            <a:ext cx="58420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750"/>
              </a:lnSpc>
              <a:buNone/>
            </a:pPr>
            <a:r>
              <a:rPr lang="ar-SA" altLang="en-US" sz="1250" b="1" dirty="0">
                <a:solidFill>
                  <a:srgbClr val="43644B"/>
                </a:solidFill>
                <a:latin typeface="Sakkal Saad TN Trial Light"/>
                <a:cs typeface="Sakkal Saad TN Trial Light"/>
              </a:rPr>
              <a:t>الهدف</a:t>
            </a:r>
            <a:endParaRPr lang="ar-SA" sz="1250" dirty="0"/>
          </a:p>
        </p:txBody>
      </p:sp>
      <p:sp>
        <p:nvSpPr>
          <p:cNvPr id="48" name="s35-text-46"/>
          <p:cNvSpPr txBox="1"/>
          <p:nvPr/>
        </p:nvSpPr>
        <p:spPr>
          <a:xfrm>
            <a:off x="3754525" y="4499796"/>
            <a:ext cx="1458825" cy="317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03"/>
              </a:lnSpc>
              <a:buNone/>
            </a:pPr>
            <a:r>
              <a:rPr lang="ar-SA" altLang="en-US" sz="14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التحويل إلى منتج أو باقة.</a:t>
            </a:r>
            <a:endParaRPr lang="ar-SA" sz="1450" dirty="0"/>
          </a:p>
        </p:txBody>
      </p:sp>
      <p:sp>
        <p:nvSpPr>
          <p:cNvPr id="49" name="s35-text-47"/>
          <p:cNvSpPr txBox="1"/>
          <p:nvPr/>
        </p:nvSpPr>
        <p:spPr>
          <a:xfrm>
            <a:off x="5200650" y="4831814"/>
            <a:ext cx="58420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750"/>
              </a:lnSpc>
              <a:buNone/>
            </a:pPr>
            <a:r>
              <a:rPr lang="en-US" altLang="en-US" sz="1250" b="1" dirty="0">
                <a:solidFill>
                  <a:srgbClr val="E9720C"/>
                </a:solidFill>
                <a:latin typeface="Sakkal Saad TN Trial Light"/>
                <a:cs typeface="Sakkal Saad TN Trial Light"/>
              </a:rPr>
              <a:t>CTA</a:t>
            </a:r>
            <a:endParaRPr lang="en-US" sz="1250" dirty="0"/>
          </a:p>
        </p:txBody>
      </p:sp>
      <p:sp>
        <p:nvSpPr>
          <p:cNvPr id="50" name="s35-text-48"/>
          <p:cNvSpPr txBox="1"/>
          <p:nvPr/>
        </p:nvSpPr>
        <p:spPr>
          <a:xfrm>
            <a:off x="2531979" y="4792193"/>
            <a:ext cx="2681371" cy="317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03"/>
              </a:lnSpc>
              <a:buNone/>
            </a:pPr>
            <a:r>
              <a:rPr lang="ar-SA" altLang="en-US" sz="14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تصفح الباقات أو تواصل معنا عبر WhatsApp.</a:t>
            </a:r>
            <a:endParaRPr lang="ar-SA" sz="1450" dirty="0"/>
          </a:p>
        </p:txBody>
      </p:sp>
      <p:sp>
        <p:nvSpPr>
          <p:cNvPr id="51" name="s35-shape-49"/>
          <p:cNvSpPr/>
          <p:nvPr/>
        </p:nvSpPr>
        <p:spPr>
          <a:xfrm>
            <a:off x="698500" y="5664200"/>
            <a:ext cx="10795000" cy="584200"/>
          </a:xfrm>
          <a:prstGeom prst="roundRect">
            <a:avLst>
              <a:gd name="adj" fmla="val 43478"/>
            </a:avLst>
          </a:prstGeom>
          <a:solidFill>
            <a:srgbClr val="F6C342"/>
          </a:solidFill>
          <a:ln/>
        </p:spPr>
      </p:sp>
      <p:pic>
        <p:nvPicPr>
          <p:cNvPr id="52" name="s35-snap-50" descr="s35-snap-50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01598" y="5772745"/>
            <a:ext cx="952202" cy="367010"/>
          </a:xfrm>
          <a:prstGeom prst="rect">
            <a:avLst/>
          </a:prstGeom>
        </p:spPr>
      </p:pic>
      <p:sp>
        <p:nvSpPr>
          <p:cNvPr id="53" name="s35-text-51"/>
          <p:cNvSpPr txBox="1"/>
          <p:nvPr/>
        </p:nvSpPr>
        <p:spPr>
          <a:xfrm>
            <a:off x="10807998" y="5797663"/>
            <a:ext cx="482302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altLang="en-US" sz="1300" b="1" dirty="0">
                <a:solidFill>
                  <a:srgbClr val="FFFFFF"/>
                </a:solidFill>
                <a:latin typeface="Sakkal Saad TN Trial Light"/>
                <a:cs typeface="Sakkal Saad TN Trial Light"/>
              </a:rPr>
              <a:t>Stories</a:t>
            </a:r>
            <a:endParaRPr lang="en-US" sz="1300" dirty="0"/>
          </a:p>
        </p:txBody>
      </p:sp>
      <p:sp>
        <p:nvSpPr>
          <p:cNvPr id="54" name="s35-shape-52"/>
          <p:cNvSpPr/>
          <p:nvPr/>
        </p:nvSpPr>
        <p:spPr>
          <a:xfrm>
            <a:off x="9327952" y="5810845"/>
            <a:ext cx="1022846" cy="29081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5" name="s35-text-53"/>
          <p:cNvSpPr txBox="1"/>
          <p:nvPr/>
        </p:nvSpPr>
        <p:spPr>
          <a:xfrm>
            <a:off x="9340652" y="5797663"/>
            <a:ext cx="895846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690"/>
              </a:lnSpc>
              <a:buNone/>
            </a:pPr>
            <a:r>
              <a:rPr lang="ar-SA" altLang="en-US" sz="13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Wi-Fi أم سلكي؟</a:t>
            </a:r>
            <a:endParaRPr lang="ar-SA" sz="1300" dirty="0"/>
          </a:p>
        </p:txBody>
      </p:sp>
      <p:sp>
        <p:nvSpPr>
          <p:cNvPr id="56" name="s35-shape-54"/>
          <p:cNvSpPr/>
          <p:nvPr/>
        </p:nvSpPr>
        <p:spPr>
          <a:xfrm>
            <a:off x="8414048" y="5810845"/>
            <a:ext cx="825004" cy="29081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7" name="s35-text-55"/>
          <p:cNvSpPr txBox="1"/>
          <p:nvPr/>
        </p:nvSpPr>
        <p:spPr>
          <a:xfrm>
            <a:off x="8426748" y="5797663"/>
            <a:ext cx="698004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690"/>
              </a:lnSpc>
              <a:buNone/>
            </a:pPr>
            <a:r>
              <a:rPr lang="ar-SA" altLang="en-US" sz="13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منتج حقيقي</a:t>
            </a:r>
            <a:endParaRPr lang="ar-SA" sz="1300" dirty="0"/>
          </a:p>
        </p:txBody>
      </p:sp>
      <p:sp>
        <p:nvSpPr>
          <p:cNvPr id="58" name="s35-shape-56"/>
          <p:cNvSpPr/>
          <p:nvPr/>
        </p:nvSpPr>
        <p:spPr>
          <a:xfrm>
            <a:off x="7463730" y="5810845"/>
            <a:ext cx="861417" cy="29081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9" name="s35-text-57"/>
          <p:cNvSpPr txBox="1"/>
          <p:nvPr/>
        </p:nvSpPr>
        <p:spPr>
          <a:xfrm>
            <a:off x="7476430" y="5797663"/>
            <a:ext cx="734417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690"/>
              </a:lnSpc>
              <a:buNone/>
            </a:pPr>
            <a:r>
              <a:rPr lang="ar-SA" altLang="en-US" sz="13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مقارنة سريعة</a:t>
            </a:r>
            <a:endParaRPr lang="ar-SA" sz="1300" dirty="0"/>
          </a:p>
        </p:txBody>
      </p:sp>
      <p:sp>
        <p:nvSpPr>
          <p:cNvPr id="60" name="s35-shape-58"/>
          <p:cNvSpPr/>
          <p:nvPr/>
        </p:nvSpPr>
        <p:spPr>
          <a:xfrm>
            <a:off x="6460927" y="5810845"/>
            <a:ext cx="913904" cy="29081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61" name="s35-text-59"/>
          <p:cNvSpPr txBox="1"/>
          <p:nvPr/>
        </p:nvSpPr>
        <p:spPr>
          <a:xfrm>
            <a:off x="6473627" y="5797663"/>
            <a:ext cx="786904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690"/>
              </a:lnSpc>
              <a:buNone/>
            </a:pPr>
            <a:r>
              <a:rPr lang="ar-SA" altLang="en-US" sz="13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سؤال وجواب</a:t>
            </a:r>
            <a:endParaRPr lang="ar-SA" sz="1300" dirty="0"/>
          </a:p>
        </p:txBody>
      </p:sp>
      <p:sp>
        <p:nvSpPr>
          <p:cNvPr id="62" name="s35-shape-60"/>
          <p:cNvSpPr/>
          <p:nvPr/>
        </p:nvSpPr>
        <p:spPr>
          <a:xfrm>
            <a:off x="5692080" y="5810845"/>
            <a:ext cx="679946" cy="29081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63" name="s35-text-61"/>
          <p:cNvSpPr txBox="1"/>
          <p:nvPr/>
        </p:nvSpPr>
        <p:spPr>
          <a:xfrm>
            <a:off x="5704780" y="5797663"/>
            <a:ext cx="552946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690"/>
              </a:lnSpc>
              <a:buNone/>
            </a:pPr>
            <a:r>
              <a:rPr lang="ar-SA" altLang="en-US" sz="13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رابط باقة</a:t>
            </a:r>
            <a:endParaRPr lang="ar-SA" sz="1300" dirty="0"/>
          </a:p>
        </p:txBody>
      </p:sp>
      <p:sp>
        <p:nvSpPr>
          <p:cNvPr id="64" name="s35-shape-62"/>
          <p:cNvSpPr/>
          <p:nvPr/>
        </p:nvSpPr>
        <p:spPr>
          <a:xfrm>
            <a:off x="3847405" y="5810845"/>
            <a:ext cx="1755775" cy="29081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65" name="s35-text-63"/>
          <p:cNvSpPr txBox="1"/>
          <p:nvPr/>
        </p:nvSpPr>
        <p:spPr>
          <a:xfrm>
            <a:off x="3839531" y="5797663"/>
            <a:ext cx="1649349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690"/>
              </a:lnSpc>
              <a:buNone/>
            </a:pPr>
            <a:r>
              <a:rPr lang="ar-SA" altLang="en-US" sz="13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استطلاع عن التركيب والتخزين.</a:t>
            </a:r>
            <a:endParaRPr lang="ar-SA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3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4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0" dur="489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75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75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75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5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75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75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75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75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75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75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75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75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75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75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75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75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75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75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75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75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75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75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75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75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75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750" fill="hold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750" fill="hold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750" fill="hold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750" fill="hold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750" fill="hold" decel="10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750" fill="hold" decel="10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750" fill="hold" decel="100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750" fill="hold" decel="100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750" fill="hold" decel="100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750" fill="hold" decel="100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750" fill="hold" decel="100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750" fill="hold" decel="100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42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750" fill="hold" decel="100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750" fill="hold" decel="100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9" dur="750" fill="hold" decel="100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750" fill="hold" decel="100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42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750" fill="hold" decel="1000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750" fill="hold" decel="1000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42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9" dur="750" fill="hold" decel="100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750" fill="hold" decel="100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42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4" dur="750" fill="hold" decel="1000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750" fill="hold" decel="1000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42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6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9" dur="750" fill="hold" decel="100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750" fill="hold" decel="100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42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6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4" dur="750" fill="hold" decel="100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750" fill="hold" decel="100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6" presetID="42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6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9" dur="750" fill="hold" decel="100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750" fill="hold" decel="100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1" presetID="42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6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4" dur="750" fill="hold" decel="100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750" fill="hold" decel="100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6" presetID="42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6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9" dur="750" fill="hold" decel="100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750" fill="hold" decel="100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1" presetID="42" presetClass="entr" presetSubtype="0" fill="hold" grpId="0" nodeType="withEffect">
                                  <p:stCondLst>
                                    <p:cond delay="59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6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4" dur="750" fill="hold" decel="1000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750" fill="hold" decel="1000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6" presetID="42" presetClass="entr" presetSubtype="0" fill="hold" grpId="0" nodeType="withEffect">
                                  <p:stCondLst>
                                    <p:cond delay="59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6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9" dur="750" fill="hold" decel="1000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750" fill="hold" decel="1000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1" presetID="42" presetClass="entr" presetSubtype="0" fill="hold" grpId="0" nodeType="withEffect">
                                  <p:stCondLst>
                                    <p:cond delay="59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6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4" dur="750" fill="hold" decel="1000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750" fill="hold" decel="1000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6" presetID="42" presetClass="entr" presetSubtype="0" fill="hold" grpId="0" nodeType="withEffect">
                                  <p:stCondLst>
                                    <p:cond delay="59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6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9" dur="750" fill="hold" decel="1000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0" dur="750" fill="hold" decel="1000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1" presetID="42" presetClass="entr" presetSubtype="0" fill="hold" grpId="0" nodeType="withEffect">
                                  <p:stCondLst>
                                    <p:cond delay="59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6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4" dur="750" fill="hold" decel="1000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5" dur="750" fill="hold" decel="1000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6" presetID="42" presetClass="entr" presetSubtype="0" fill="hold" grpId="0" nodeType="withEffect">
                                  <p:stCondLst>
                                    <p:cond delay="59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6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9" dur="750" fill="hold" decel="1000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750" fill="hold" decel="1000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1" presetID="42" presetClass="entr" presetSubtype="0" fill="hold" grpId="0" nodeType="withEffect">
                                  <p:stCondLst>
                                    <p:cond delay="59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6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4" dur="750" fill="hold" decel="1000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5" dur="750" fill="hold" decel="1000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6" presetID="42" presetClass="entr" presetSubtype="0" fill="hold" grpId="0" nodeType="withEffect">
                                  <p:stCondLst>
                                    <p:cond delay="59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6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9" dur="750" fill="hold" decel="1000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0" dur="750" fill="hold" decel="1000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1" presetID="42" presetClass="entr" presetSubtype="0" fill="hold" grpId="0" nodeType="withEffect">
                                  <p:stCondLst>
                                    <p:cond delay="59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3" dur="6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4" dur="750" fill="hold" decel="1000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5" dur="750" fill="hold" decel="1000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6" presetID="42" presetClass="entr" presetSubtype="0" fill="hold" grpId="0" nodeType="withEffect">
                                  <p:stCondLst>
                                    <p:cond delay="59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6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9" dur="750" fill="hold" decel="1000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0" dur="750" fill="hold" decel="1000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1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6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4" dur="750" fill="hold" decel="1000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5" dur="750" fill="hold" decel="1000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6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8" dur="6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9" dur="750" fill="hold" decel="1000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0" dur="750" fill="hold" decel="1000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1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3" dur="6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4" dur="750" fill="hold" decel="10000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5" dur="750" fill="hold" decel="10000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6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8" dur="27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9" dur="6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0" dur="6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1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3" dur="27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4" dur="6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5" dur="6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6" presetID="53" presetClass="entr" presetSubtype="16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8" dur="27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9" dur="6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0" dur="6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1" presetID="53" presetClass="entr" presetSubtype="16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3" dur="27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4" dur="6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5" dur="6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6" presetID="53" presetClass="entr" presetSubtype="16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8" dur="27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9" dur="6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0" dur="6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1" presetID="53" presetClass="entr" presetSubtype="16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3" dur="27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4" dur="6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5" dur="6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6" presetID="53" presetClass="entr" presetSubtype="16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8" dur="27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9" dur="6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0" dur="6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1" presetID="53" presetClass="entr" presetSubtype="16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3" dur="27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4" dur="6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5" dur="6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6" presetID="53" presetClass="entr" presetSubtype="16" fill="hold" grpId="0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8" dur="27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9" dur="6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0" dur="6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1" presetID="53" presetClass="entr" presetSubtype="16" fill="hold" grpId="0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3" dur="27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4" dur="6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5" dur="6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6" presetID="53" presetClass="entr" presetSubtype="16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8" dur="27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9" dur="6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0" dur="6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1" presetID="53" presetClass="entr" presetSubtype="16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3" dur="27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4" dur="6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5" dur="6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/>
      <p:bldP spid="11" grpId="0" animBg="1"/>
      <p:bldP spid="12" grpId="0" animBg="1"/>
      <p:bldP spid="13" grpId="0"/>
      <p:bldP spid="15" grpId="0"/>
      <p:bldP spid="16" grpId="0"/>
      <p:bldP spid="17" grpId="0"/>
      <p:bldP spid="18" grpId="0"/>
      <p:bldP spid="19" grpId="0"/>
      <p:bldP spid="20" grpId="0"/>
      <p:bldP spid="21" grpId="0" animBg="1"/>
      <p:bldP spid="22" grpId="0" animBg="1"/>
      <p:bldP spid="23" grpId="0"/>
      <p:bldP spid="25" grpId="0"/>
      <p:bldP spid="26" grpId="0"/>
      <p:bldP spid="27" grpId="0"/>
      <p:bldP spid="28" grpId="0"/>
      <p:bldP spid="29" grpId="0"/>
      <p:bldP spid="30" grpId="0"/>
      <p:bldP spid="31" grpId="0" animBg="1"/>
      <p:bldP spid="32" grpId="0" animBg="1"/>
      <p:bldP spid="33" grpId="0"/>
      <p:bldP spid="35" grpId="0"/>
      <p:bldP spid="36" grpId="0"/>
      <p:bldP spid="37" grpId="0"/>
      <p:bldP spid="38" grpId="0"/>
      <p:bldP spid="39" grpId="0"/>
      <p:bldP spid="40" grpId="0"/>
      <p:bldP spid="41" grpId="0" animBg="1"/>
      <p:bldP spid="42" grpId="0" animBg="1"/>
      <p:bldP spid="43" grpId="0"/>
      <p:bldP spid="45" grpId="0"/>
      <p:bldP spid="46" grpId="0"/>
      <p:bldP spid="47" grpId="0"/>
      <p:bldP spid="48" grpId="0"/>
      <p:bldP spid="49" grpId="0"/>
      <p:bldP spid="50" grpId="0"/>
      <p:bldP spid="51" grpId="0" animBg="1"/>
      <p:bldP spid="53" grpId="0"/>
      <p:bldP spid="54" grpId="0" animBg="1"/>
      <p:bldP spid="55" grpId="0"/>
      <p:bldP spid="56" grpId="0" animBg="1"/>
      <p:bldP spid="57" grpId="0"/>
      <p:bldP spid="58" grpId="0" animBg="1"/>
      <p:bldP spid="59" grpId="0"/>
      <p:bldP spid="60" grpId="0" animBg="1"/>
      <p:bldP spid="61" grpId="0"/>
      <p:bldP spid="62" grpId="0" animBg="1"/>
      <p:bldP spid="63" grpId="0"/>
      <p:bldP spid="64" grpId="0" animBg="1"/>
      <p:bldP spid="65" grpId="0"/>
    </p:bldLst>
  </p:timing>
</p:sld>
</file>

<file path=ppt/slides/slide36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lens"/>
          <p:cNvSpPr/>
          <p:nvPr/>
        </p:nvSpPr>
        <p:spPr>
          <a:xfrm>
            <a:off x="368300" y="127000"/>
            <a:ext cx="1206500" cy="1206500"/>
          </a:xfrm>
          <a:prstGeom prst="ellipse">
            <a:avLst/>
          </a:prstGeom>
          <a:solidFill>
            <a:srgbClr val="EEF2EF"/>
          </a:solidFill>
          <a:ln/>
        </p:spPr>
      </p:sp>
      <p:pic>
        <p:nvPicPr>
          <p:cNvPr id="3" name="!!mt" descr="شعار نظرة ثماني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10800000">
            <a:off x="684510" y="608558"/>
            <a:ext cx="546100" cy="533400"/>
          </a:xfrm>
          <a:prstGeom prst="rect">
            <a:avLst/>
          </a:prstGeom>
        </p:spPr>
      </p:pic>
      <p:pic>
        <p:nvPicPr>
          <p:cNvPr id="4" name="!!mb" descr="شعار نظرة ثمانية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709265" y="317798"/>
            <a:ext cx="527050" cy="520700"/>
          </a:xfrm>
          <a:prstGeom prst="rect">
            <a:avLst/>
          </a:prstGeom>
        </p:spPr>
      </p:pic>
      <p:pic>
        <p:nvPicPr>
          <p:cNvPr id="5" name="!!ma" descr="شعار نظرة ثمانية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874018" y="875556"/>
            <a:ext cx="95250" cy="82550"/>
          </a:xfrm>
          <a:prstGeom prst="rect">
            <a:avLst/>
          </a:prstGeom>
        </p:spPr>
      </p:pic>
      <p:pic>
        <p:nvPicPr>
          <p:cNvPr id="6" name="!!hud" descr="!!hu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800" y="177800"/>
            <a:ext cx="11836400" cy="6502400"/>
          </a:xfrm>
          <a:prstGeom prst="rect">
            <a:avLst/>
          </a:prstGeom>
        </p:spPr>
      </p:pic>
      <p:sp>
        <p:nvSpPr>
          <p:cNvPr id="7" name="!!rec"/>
          <p:cNvSpPr/>
          <p:nvPr/>
        </p:nvSpPr>
        <p:spPr>
          <a:xfrm>
            <a:off x="635000" y="6337300"/>
            <a:ext cx="101600" cy="101600"/>
          </a:xfrm>
          <a:prstGeom prst="ellipse">
            <a:avLst/>
          </a:prstGeom>
          <a:solidFill>
            <a:srgbClr val="FF8D26"/>
          </a:solidFill>
          <a:ln/>
        </p:spPr>
      </p:sp>
      <p:sp>
        <p:nvSpPr>
          <p:cNvPr id="8" name="!!num"/>
          <p:cNvSpPr txBox="1"/>
          <p:nvPr/>
        </p:nvSpPr>
        <p:spPr>
          <a:xfrm>
            <a:off x="825500" y="6281750"/>
            <a:ext cx="690662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altLang="en-US" sz="1200" dirty="0">
                <a:solidFill>
                  <a:srgbClr val="5E6D7C"/>
                </a:solidFill>
                <a:latin typeface="Sakkal Saad TN Trial Light"/>
                <a:cs typeface="Sakkal Saad TN Trial Light"/>
              </a:rPr>
              <a:t>REC · 36</a:t>
            </a:r>
            <a:endParaRPr lang="en-US" sz="1200" dirty="0"/>
          </a:p>
        </p:txBody>
      </p:sp>
      <p:sp>
        <p:nvSpPr>
          <p:cNvPr id="9" name="!!kick"/>
          <p:cNvSpPr txBox="1"/>
          <p:nvPr/>
        </p:nvSpPr>
        <p:spPr>
          <a:xfrm>
            <a:off x="9821712" y="318834"/>
            <a:ext cx="1735288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ar-SA" altLang="en-US" sz="1500" b="1" dirty="0">
                <a:solidFill>
                  <a:srgbClr val="43644B"/>
                </a:solidFill>
                <a:latin typeface="Sakkal Saad TN Trial Light"/>
                <a:cs typeface="Sakkal Saad TN Trial Light"/>
              </a:rPr>
              <a:t>08</a:t>
            </a:r>
            <a:r>
              <a:rPr lang="ar-SA" altLang="en-US" sz="1500" dirty="0">
                <a:solidFill>
                  <a:srgbClr val="E9720C"/>
                </a:solidFill>
                <a:latin typeface="Sakkal Saad TN Trial Light"/>
                <a:cs typeface="Sakkal Saad TN Trial Light"/>
              </a:rPr>
              <a:t> خطة المحتوى التسويقي</a:t>
            </a:r>
            <a:endParaRPr lang="ar-SA" sz="1500" dirty="0"/>
          </a:p>
        </p:txBody>
      </p:sp>
      <p:sp>
        <p:nvSpPr>
          <p:cNvPr id="10" name="s36-text-8"/>
          <p:cNvSpPr txBox="1"/>
          <p:nvPr/>
        </p:nvSpPr>
        <p:spPr>
          <a:xfrm>
            <a:off x="5900114" y="695420"/>
            <a:ext cx="5656886" cy="5822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4185"/>
              </a:lnSpc>
              <a:buNone/>
            </a:pPr>
            <a:r>
              <a:rPr lang="ar-SA" altLang="en-US" sz="3100" b="1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الأسبوع الثالث </a:t>
            </a:r>
            <a:r>
              <a:rPr lang="ar-SA" altLang="en-US" sz="3100" b="1" dirty="0">
                <a:solidFill>
                  <a:srgbClr val="E9720C"/>
                </a:solidFill>
                <a:latin typeface="Sakkal Saad TN Trial Light"/>
                <a:cs typeface="Sakkal Saad TN Trial Light"/>
              </a:rPr>
              <a:t>:</a:t>
            </a:r>
            <a:r>
              <a:rPr lang="ar-SA" altLang="en-US" sz="3100" b="1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 </a:t>
            </a:r>
            <a:r>
              <a:rPr lang="ar-SA" altLang="en-US" sz="3100" b="1" dirty="0">
                <a:solidFill>
                  <a:srgbClr val="E9720C"/>
                </a:solidFill>
                <a:latin typeface="Sakkal Saad TN Trial Light"/>
                <a:cs typeface="Sakkal Saad TN Trial Light"/>
              </a:rPr>
              <a:t>بناء الثقة والشركات والمشاريع</a:t>
            </a:r>
            <a:endParaRPr lang="ar-SA" sz="3100" dirty="0"/>
          </a:p>
        </p:txBody>
      </p:sp>
      <p:sp>
        <p:nvSpPr>
          <p:cNvPr id="11" name="s36-shape-9"/>
          <p:cNvSpPr/>
          <p:nvPr/>
        </p:nvSpPr>
        <p:spPr>
          <a:xfrm>
            <a:off x="6127750" y="1663700"/>
            <a:ext cx="5365750" cy="1879600"/>
          </a:xfrm>
          <a:prstGeom prst="roundRect">
            <a:avLst>
              <a:gd name="adj" fmla="val 13514"/>
            </a:avLst>
          </a:prstGeom>
          <a:solidFill>
            <a:srgbClr val="EEF2EF"/>
          </a:solidFill>
          <a:ln/>
        </p:spPr>
      </p:sp>
      <p:sp>
        <p:nvSpPr>
          <p:cNvPr id="12" name="s36-shape-10"/>
          <p:cNvSpPr/>
          <p:nvPr/>
        </p:nvSpPr>
        <p:spPr>
          <a:xfrm>
            <a:off x="10636250" y="1841500"/>
            <a:ext cx="641350" cy="299045"/>
          </a:xfrm>
          <a:prstGeom prst="roundRect">
            <a:avLst>
              <a:gd name="adj" fmla="val 50000"/>
            </a:avLst>
          </a:prstGeom>
          <a:solidFill>
            <a:srgbClr val="FF8D26"/>
          </a:solidFill>
          <a:ln/>
        </p:spPr>
      </p:sp>
      <p:sp>
        <p:nvSpPr>
          <p:cNvPr id="13" name="s36-text-11"/>
          <p:cNvSpPr txBox="1"/>
          <p:nvPr/>
        </p:nvSpPr>
        <p:spPr>
          <a:xfrm>
            <a:off x="10674350" y="1828787"/>
            <a:ext cx="463550" cy="2736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755"/>
              </a:lnSpc>
              <a:buNone/>
            </a:pPr>
            <a:r>
              <a:rPr lang="ar-SA" altLang="en-US" sz="1350" b="1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السبت</a:t>
            </a:r>
            <a:endParaRPr lang="ar-SA" sz="1350" dirty="0"/>
          </a:p>
        </p:txBody>
      </p:sp>
      <p:pic>
        <p:nvPicPr>
          <p:cNvPr id="14" name="s36-snap-12" descr="s36-snap-12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78305" y="1811635"/>
            <a:ext cx="807145" cy="358775"/>
          </a:xfrm>
          <a:prstGeom prst="rect">
            <a:avLst/>
          </a:prstGeom>
        </p:spPr>
      </p:pic>
      <p:sp>
        <p:nvSpPr>
          <p:cNvPr id="15" name="s36-text-13"/>
          <p:cNvSpPr txBox="1"/>
          <p:nvPr/>
        </p:nvSpPr>
        <p:spPr>
          <a:xfrm>
            <a:off x="10197405" y="1842433"/>
            <a:ext cx="32454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altLang="en-US" sz="1250" dirty="0">
                <a:solidFill>
                  <a:srgbClr val="FFFFFF"/>
                </a:solidFill>
                <a:latin typeface="Sakkal Saad TN Trial Light"/>
                <a:cs typeface="Sakkal Saad TN Trial Light"/>
              </a:rPr>
              <a:t>Reel</a:t>
            </a:r>
            <a:endParaRPr lang="en-US" sz="1250" dirty="0"/>
          </a:p>
        </p:txBody>
      </p:sp>
      <p:sp>
        <p:nvSpPr>
          <p:cNvPr id="16" name="s36-text-14"/>
          <p:cNvSpPr txBox="1"/>
          <p:nvPr/>
        </p:nvSpPr>
        <p:spPr>
          <a:xfrm>
            <a:off x="5948934" y="2148070"/>
            <a:ext cx="5328666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450"/>
              </a:lnSpc>
              <a:buNone/>
            </a:pPr>
            <a:r>
              <a:rPr lang="ar-SA" altLang="en-US" sz="1750" b="1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5 معلومات نحتاجها منك لتجهيز عرض سعر مناسب.</a:t>
            </a:r>
            <a:endParaRPr lang="ar-SA" sz="1750" dirty="0"/>
          </a:p>
        </p:txBody>
      </p:sp>
      <p:sp>
        <p:nvSpPr>
          <p:cNvPr id="17" name="s36-text-15"/>
          <p:cNvSpPr txBox="1"/>
          <p:nvPr/>
        </p:nvSpPr>
        <p:spPr>
          <a:xfrm>
            <a:off x="10693400" y="2558217"/>
            <a:ext cx="58420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750"/>
              </a:lnSpc>
              <a:buNone/>
            </a:pPr>
            <a:r>
              <a:rPr lang="ar-SA" altLang="en-US" sz="1250" b="1" dirty="0">
                <a:solidFill>
                  <a:srgbClr val="43644B"/>
                </a:solidFill>
                <a:latin typeface="Sakkal Saad TN Trial Light"/>
                <a:cs typeface="Sakkal Saad TN Trial Light"/>
              </a:rPr>
              <a:t>الهدف</a:t>
            </a:r>
            <a:endParaRPr lang="ar-SA" sz="1250" dirty="0"/>
          </a:p>
        </p:txBody>
      </p:sp>
      <p:sp>
        <p:nvSpPr>
          <p:cNvPr id="18" name="s36-text-16"/>
          <p:cNvSpPr txBox="1"/>
          <p:nvPr/>
        </p:nvSpPr>
        <p:spPr>
          <a:xfrm>
            <a:off x="7937290" y="2518596"/>
            <a:ext cx="2768810" cy="317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03"/>
              </a:lnSpc>
              <a:buNone/>
            </a:pPr>
            <a:r>
              <a:rPr lang="ar-SA" altLang="en-US" sz="14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تأهيل العميل وتقليل الاستفسارات غير المكتملة.</a:t>
            </a:r>
            <a:endParaRPr lang="ar-SA" sz="1450" dirty="0"/>
          </a:p>
        </p:txBody>
      </p:sp>
      <p:sp>
        <p:nvSpPr>
          <p:cNvPr id="19" name="s36-text-17"/>
          <p:cNvSpPr txBox="1"/>
          <p:nvPr/>
        </p:nvSpPr>
        <p:spPr>
          <a:xfrm>
            <a:off x="10693400" y="2850614"/>
            <a:ext cx="58420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750"/>
              </a:lnSpc>
              <a:buNone/>
            </a:pPr>
            <a:r>
              <a:rPr lang="en-US" altLang="en-US" sz="1250" b="1" dirty="0">
                <a:solidFill>
                  <a:srgbClr val="E9720C"/>
                </a:solidFill>
                <a:latin typeface="Sakkal Saad TN Trial Light"/>
                <a:cs typeface="Sakkal Saad TN Trial Light"/>
              </a:rPr>
              <a:t>CTA</a:t>
            </a:r>
            <a:endParaRPr lang="en-US" sz="1250" dirty="0"/>
          </a:p>
        </p:txBody>
      </p:sp>
      <p:sp>
        <p:nvSpPr>
          <p:cNvPr id="20" name="s36-text-18"/>
          <p:cNvSpPr txBox="1"/>
          <p:nvPr/>
        </p:nvSpPr>
        <p:spPr>
          <a:xfrm>
            <a:off x="8298299" y="2810993"/>
            <a:ext cx="2407801" cy="317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03"/>
              </a:lnSpc>
              <a:buNone/>
            </a:pPr>
            <a:r>
              <a:rPr lang="ar-SA" altLang="en-US" sz="14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أرسل بيانات موقعك واطلب عرض سعر.</a:t>
            </a:r>
            <a:endParaRPr lang="ar-SA" sz="1450" dirty="0"/>
          </a:p>
        </p:txBody>
      </p:sp>
      <p:sp>
        <p:nvSpPr>
          <p:cNvPr id="21" name="s36-shape-19"/>
          <p:cNvSpPr/>
          <p:nvPr/>
        </p:nvSpPr>
        <p:spPr>
          <a:xfrm>
            <a:off x="635000" y="1663700"/>
            <a:ext cx="5365750" cy="1879600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0" dist="76200" dir="5400000">
              <a:srgbClr val="1E2A36">
                <a:alpha val="10000"/>
              </a:srgbClr>
            </a:outerShdw>
          </a:effectLst>
        </p:spPr>
      </p:sp>
      <p:sp>
        <p:nvSpPr>
          <p:cNvPr id="22" name="s36-shape-20"/>
          <p:cNvSpPr/>
          <p:nvPr/>
        </p:nvSpPr>
        <p:spPr>
          <a:xfrm>
            <a:off x="5159276" y="1841500"/>
            <a:ext cx="625574" cy="299045"/>
          </a:xfrm>
          <a:prstGeom prst="roundRect">
            <a:avLst>
              <a:gd name="adj" fmla="val 50000"/>
            </a:avLst>
          </a:prstGeom>
          <a:solidFill>
            <a:srgbClr val="FF8D26"/>
          </a:solidFill>
          <a:ln/>
        </p:spPr>
      </p:sp>
      <p:sp>
        <p:nvSpPr>
          <p:cNvPr id="23" name="s36-text-21"/>
          <p:cNvSpPr txBox="1"/>
          <p:nvPr/>
        </p:nvSpPr>
        <p:spPr>
          <a:xfrm>
            <a:off x="5197376" y="1828787"/>
            <a:ext cx="447774" cy="2736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755"/>
              </a:lnSpc>
              <a:buNone/>
            </a:pPr>
            <a:r>
              <a:rPr lang="ar-SA" altLang="en-US" sz="1350" b="1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الاثنين</a:t>
            </a:r>
            <a:endParaRPr lang="ar-SA" sz="1350" dirty="0"/>
          </a:p>
        </p:txBody>
      </p:sp>
      <p:pic>
        <p:nvPicPr>
          <p:cNvPr id="24" name="s36-snap-22" descr="s36-snap-22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58642" y="1811635"/>
            <a:ext cx="1049834" cy="358775"/>
          </a:xfrm>
          <a:prstGeom prst="rect">
            <a:avLst/>
          </a:prstGeom>
        </p:spPr>
      </p:pic>
      <p:sp>
        <p:nvSpPr>
          <p:cNvPr id="25" name="s36-text-23"/>
          <p:cNvSpPr txBox="1"/>
          <p:nvPr/>
        </p:nvSpPr>
        <p:spPr>
          <a:xfrm>
            <a:off x="4477742" y="1842433"/>
            <a:ext cx="567234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altLang="en-US" sz="1250" dirty="0">
                <a:solidFill>
                  <a:srgbClr val="FFFFFF"/>
                </a:solidFill>
                <a:latin typeface="Sakkal Saad TN Trial Light"/>
                <a:cs typeface="Sakkal Saad TN Trial Light"/>
              </a:rPr>
              <a:t>Carousel</a:t>
            </a:r>
            <a:endParaRPr lang="en-US" sz="1250" dirty="0"/>
          </a:p>
        </p:txBody>
      </p:sp>
      <p:sp>
        <p:nvSpPr>
          <p:cNvPr id="26" name="s36-text-24"/>
          <p:cNvSpPr txBox="1"/>
          <p:nvPr/>
        </p:nvSpPr>
        <p:spPr>
          <a:xfrm>
            <a:off x="456184" y="2148070"/>
            <a:ext cx="5328666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450"/>
              </a:lnSpc>
              <a:buNone/>
            </a:pPr>
            <a:r>
              <a:rPr lang="ar-SA" altLang="en-US" sz="1750" b="1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ماذا يجب أن يتضمن عرض نظام المراقبة؟</a:t>
            </a:r>
            <a:endParaRPr lang="ar-SA" sz="1750" dirty="0"/>
          </a:p>
        </p:txBody>
      </p:sp>
      <p:sp>
        <p:nvSpPr>
          <p:cNvPr id="27" name="s36-text-25"/>
          <p:cNvSpPr txBox="1"/>
          <p:nvPr/>
        </p:nvSpPr>
        <p:spPr>
          <a:xfrm>
            <a:off x="5200650" y="2558217"/>
            <a:ext cx="58420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750"/>
              </a:lnSpc>
              <a:buNone/>
            </a:pPr>
            <a:r>
              <a:rPr lang="ar-SA" altLang="en-US" sz="1250" b="1" dirty="0">
                <a:solidFill>
                  <a:srgbClr val="43644B"/>
                </a:solidFill>
                <a:latin typeface="Sakkal Saad TN Trial Light"/>
                <a:cs typeface="Sakkal Saad TN Trial Light"/>
              </a:rPr>
              <a:t>الهدف</a:t>
            </a:r>
            <a:endParaRPr lang="ar-SA" sz="1250" dirty="0"/>
          </a:p>
        </p:txBody>
      </p:sp>
      <p:sp>
        <p:nvSpPr>
          <p:cNvPr id="28" name="s36-text-26"/>
          <p:cNvSpPr txBox="1"/>
          <p:nvPr/>
        </p:nvSpPr>
        <p:spPr>
          <a:xfrm>
            <a:off x="3422233" y="2518596"/>
            <a:ext cx="1791117" cy="317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03"/>
              </a:lnSpc>
              <a:buNone/>
            </a:pPr>
            <a:r>
              <a:rPr lang="ar-SA" altLang="en-US" sz="14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تعليم عملاء الشركات والمنشآت.</a:t>
            </a:r>
            <a:endParaRPr lang="ar-SA" sz="1450" dirty="0"/>
          </a:p>
        </p:txBody>
      </p:sp>
      <p:sp>
        <p:nvSpPr>
          <p:cNvPr id="29" name="s36-text-27"/>
          <p:cNvSpPr txBox="1"/>
          <p:nvPr/>
        </p:nvSpPr>
        <p:spPr>
          <a:xfrm>
            <a:off x="5200650" y="2850614"/>
            <a:ext cx="58420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750"/>
              </a:lnSpc>
              <a:buNone/>
            </a:pPr>
            <a:r>
              <a:rPr lang="en-US" altLang="en-US" sz="1250" b="1" dirty="0">
                <a:solidFill>
                  <a:srgbClr val="E9720C"/>
                </a:solidFill>
                <a:latin typeface="Sakkal Saad TN Trial Light"/>
                <a:cs typeface="Sakkal Saad TN Trial Light"/>
              </a:rPr>
              <a:t>CTA</a:t>
            </a:r>
            <a:endParaRPr lang="en-US" sz="1250" dirty="0"/>
          </a:p>
        </p:txBody>
      </p:sp>
      <p:sp>
        <p:nvSpPr>
          <p:cNvPr id="30" name="s36-text-28"/>
          <p:cNvSpPr txBox="1"/>
          <p:nvPr/>
        </p:nvSpPr>
        <p:spPr>
          <a:xfrm>
            <a:off x="2719931" y="2810993"/>
            <a:ext cx="2493419" cy="317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03"/>
              </a:lnSpc>
              <a:buNone/>
            </a:pPr>
            <a:r>
              <a:rPr lang="ar-SA" altLang="en-US" sz="14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اطلب عرض سعر حسب احتياج منشأتك.</a:t>
            </a:r>
            <a:endParaRPr lang="ar-SA" sz="1450" dirty="0"/>
          </a:p>
        </p:txBody>
      </p:sp>
      <p:sp>
        <p:nvSpPr>
          <p:cNvPr id="31" name="s36-shape-29"/>
          <p:cNvSpPr/>
          <p:nvPr/>
        </p:nvSpPr>
        <p:spPr>
          <a:xfrm>
            <a:off x="6127750" y="3644900"/>
            <a:ext cx="5365750" cy="1879600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0" dist="76200" dir="5400000">
              <a:srgbClr val="1E2A36">
                <a:alpha val="10000"/>
              </a:srgbClr>
            </a:outerShdw>
          </a:effectLst>
        </p:spPr>
      </p:sp>
      <p:sp>
        <p:nvSpPr>
          <p:cNvPr id="32" name="s36-shape-30"/>
          <p:cNvSpPr/>
          <p:nvPr/>
        </p:nvSpPr>
        <p:spPr>
          <a:xfrm>
            <a:off x="10640219" y="3822700"/>
            <a:ext cx="637381" cy="299045"/>
          </a:xfrm>
          <a:prstGeom prst="roundRect">
            <a:avLst>
              <a:gd name="adj" fmla="val 50000"/>
            </a:avLst>
          </a:prstGeom>
          <a:solidFill>
            <a:srgbClr val="FF8D26"/>
          </a:solidFill>
          <a:ln/>
        </p:spPr>
      </p:sp>
      <p:sp>
        <p:nvSpPr>
          <p:cNvPr id="33" name="s36-text-31"/>
          <p:cNvSpPr txBox="1"/>
          <p:nvPr/>
        </p:nvSpPr>
        <p:spPr>
          <a:xfrm>
            <a:off x="10678319" y="3809987"/>
            <a:ext cx="459581" cy="2736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755"/>
              </a:lnSpc>
              <a:buNone/>
            </a:pPr>
            <a:r>
              <a:rPr lang="ar-SA" altLang="en-US" sz="1350" b="1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الأربعاء</a:t>
            </a:r>
            <a:endParaRPr lang="ar-SA" sz="1350" dirty="0"/>
          </a:p>
        </p:txBody>
      </p:sp>
      <p:pic>
        <p:nvPicPr>
          <p:cNvPr id="34" name="s36-snap-32" descr="s36-snap-32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12337" y="3792835"/>
            <a:ext cx="1577082" cy="358775"/>
          </a:xfrm>
          <a:prstGeom prst="rect">
            <a:avLst/>
          </a:prstGeom>
        </p:spPr>
      </p:pic>
      <p:sp>
        <p:nvSpPr>
          <p:cNvPr id="35" name="s36-text-33"/>
          <p:cNvSpPr txBox="1"/>
          <p:nvPr/>
        </p:nvSpPr>
        <p:spPr>
          <a:xfrm>
            <a:off x="9431437" y="3823633"/>
            <a:ext cx="1094482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altLang="en-US" sz="1250" dirty="0">
                <a:solidFill>
                  <a:srgbClr val="FFFFFF"/>
                </a:solidFill>
                <a:latin typeface="Sakkal Saad TN Trial Light"/>
                <a:cs typeface="Sakkal Saad TN Trial Light"/>
              </a:rPr>
              <a:t>Reel / مشروع حقيقي</a:t>
            </a:r>
            <a:endParaRPr lang="en-US" sz="1250" dirty="0"/>
          </a:p>
        </p:txBody>
      </p:sp>
      <p:sp>
        <p:nvSpPr>
          <p:cNvPr id="36" name="s36-text-34"/>
          <p:cNvSpPr txBox="1"/>
          <p:nvPr/>
        </p:nvSpPr>
        <p:spPr>
          <a:xfrm>
            <a:off x="5948934" y="4129270"/>
            <a:ext cx="5328666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450"/>
              </a:lnSpc>
              <a:buNone/>
            </a:pPr>
            <a:r>
              <a:rPr lang="ar-SA" altLang="en-US" sz="1750" b="1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من الاستفسار إلى التركيب والبرمجة: كيف يتم تنفيذ المشروع؟</a:t>
            </a:r>
            <a:endParaRPr lang="ar-SA" sz="1750" dirty="0"/>
          </a:p>
        </p:txBody>
      </p:sp>
      <p:sp>
        <p:nvSpPr>
          <p:cNvPr id="37" name="s36-text-35"/>
          <p:cNvSpPr txBox="1"/>
          <p:nvPr/>
        </p:nvSpPr>
        <p:spPr>
          <a:xfrm>
            <a:off x="10693400" y="4539417"/>
            <a:ext cx="58420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750"/>
              </a:lnSpc>
              <a:buNone/>
            </a:pPr>
            <a:r>
              <a:rPr lang="ar-SA" altLang="en-US" sz="1250" b="1" dirty="0">
                <a:solidFill>
                  <a:srgbClr val="43644B"/>
                </a:solidFill>
                <a:latin typeface="Sakkal Saad TN Trial Light"/>
                <a:cs typeface="Sakkal Saad TN Trial Light"/>
              </a:rPr>
              <a:t>الهدف</a:t>
            </a:r>
            <a:endParaRPr lang="ar-SA" sz="1250" dirty="0"/>
          </a:p>
        </p:txBody>
      </p:sp>
      <p:sp>
        <p:nvSpPr>
          <p:cNvPr id="38" name="s36-text-36"/>
          <p:cNvSpPr txBox="1"/>
          <p:nvPr/>
        </p:nvSpPr>
        <p:spPr>
          <a:xfrm>
            <a:off x="9329571" y="4499796"/>
            <a:ext cx="1376529" cy="317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03"/>
              </a:lnSpc>
              <a:buNone/>
            </a:pPr>
            <a:r>
              <a:rPr lang="ar-SA" altLang="en-US" sz="14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إثبات الخبرة وبناء الثقة.</a:t>
            </a:r>
            <a:endParaRPr lang="ar-SA" sz="1450" dirty="0"/>
          </a:p>
        </p:txBody>
      </p:sp>
      <p:sp>
        <p:nvSpPr>
          <p:cNvPr id="39" name="s36-text-37"/>
          <p:cNvSpPr txBox="1"/>
          <p:nvPr/>
        </p:nvSpPr>
        <p:spPr>
          <a:xfrm>
            <a:off x="10693400" y="4831814"/>
            <a:ext cx="58420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750"/>
              </a:lnSpc>
              <a:buNone/>
            </a:pPr>
            <a:r>
              <a:rPr lang="en-US" altLang="en-US" sz="1250" b="1" dirty="0">
                <a:solidFill>
                  <a:srgbClr val="E9720C"/>
                </a:solidFill>
                <a:latin typeface="Sakkal Saad TN Trial Light"/>
                <a:cs typeface="Sakkal Saad TN Trial Light"/>
              </a:rPr>
              <a:t>CTA</a:t>
            </a:r>
            <a:endParaRPr lang="en-US" sz="1250" dirty="0"/>
          </a:p>
        </p:txBody>
      </p:sp>
      <p:sp>
        <p:nvSpPr>
          <p:cNvPr id="40" name="s36-text-38"/>
          <p:cNvSpPr txBox="1"/>
          <p:nvPr/>
        </p:nvSpPr>
        <p:spPr>
          <a:xfrm>
            <a:off x="7960650" y="4792193"/>
            <a:ext cx="2745450" cy="317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03"/>
              </a:lnSpc>
              <a:buNone/>
            </a:pPr>
            <a:r>
              <a:rPr lang="ar-SA" altLang="en-US" sz="14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تواصل معنا للحصول على حل مناسب لموقعك.</a:t>
            </a:r>
            <a:endParaRPr lang="ar-SA" sz="1450" dirty="0"/>
          </a:p>
        </p:txBody>
      </p:sp>
      <p:sp>
        <p:nvSpPr>
          <p:cNvPr id="41" name="s36-shape-39"/>
          <p:cNvSpPr/>
          <p:nvPr/>
        </p:nvSpPr>
        <p:spPr>
          <a:xfrm>
            <a:off x="635000" y="3644900"/>
            <a:ext cx="5365750" cy="1879600"/>
          </a:xfrm>
          <a:prstGeom prst="roundRect">
            <a:avLst>
              <a:gd name="adj" fmla="val 13514"/>
            </a:avLst>
          </a:prstGeom>
          <a:solidFill>
            <a:srgbClr val="EEF2EF"/>
          </a:solidFill>
          <a:ln/>
        </p:spPr>
      </p:sp>
      <p:sp>
        <p:nvSpPr>
          <p:cNvPr id="42" name="s36-shape-40"/>
          <p:cNvSpPr/>
          <p:nvPr/>
        </p:nvSpPr>
        <p:spPr>
          <a:xfrm>
            <a:off x="5100042" y="3822700"/>
            <a:ext cx="684808" cy="299045"/>
          </a:xfrm>
          <a:prstGeom prst="roundRect">
            <a:avLst>
              <a:gd name="adj" fmla="val 50000"/>
            </a:avLst>
          </a:prstGeom>
          <a:solidFill>
            <a:srgbClr val="FF8D26"/>
          </a:solidFill>
          <a:ln/>
        </p:spPr>
      </p:sp>
      <p:sp>
        <p:nvSpPr>
          <p:cNvPr id="43" name="s36-text-41"/>
          <p:cNvSpPr txBox="1"/>
          <p:nvPr/>
        </p:nvSpPr>
        <p:spPr>
          <a:xfrm>
            <a:off x="5138142" y="3809987"/>
            <a:ext cx="507008" cy="2736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755"/>
              </a:lnSpc>
              <a:buNone/>
            </a:pPr>
            <a:r>
              <a:rPr lang="ar-SA" altLang="en-US" sz="1350" b="1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الخميس</a:t>
            </a:r>
            <a:endParaRPr lang="ar-SA" sz="1350" dirty="0"/>
          </a:p>
        </p:txBody>
      </p:sp>
      <p:pic>
        <p:nvPicPr>
          <p:cNvPr id="44" name="s36-snap-42" descr="s36-snap-42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13795" y="3792835"/>
            <a:ext cx="1035447" cy="358775"/>
          </a:xfrm>
          <a:prstGeom prst="rect">
            <a:avLst/>
          </a:prstGeom>
        </p:spPr>
      </p:pic>
      <p:sp>
        <p:nvSpPr>
          <p:cNvPr id="45" name="s36-text-43"/>
          <p:cNvSpPr txBox="1"/>
          <p:nvPr/>
        </p:nvSpPr>
        <p:spPr>
          <a:xfrm>
            <a:off x="4432895" y="3823633"/>
            <a:ext cx="552847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altLang="en-US" sz="1250" dirty="0">
                <a:solidFill>
                  <a:srgbClr val="FFFFFF"/>
                </a:solidFill>
                <a:latin typeface="Sakkal Saad TN Trial Light"/>
                <a:cs typeface="Sakkal Saad TN Trial Light"/>
              </a:rPr>
              <a:t>B2B Post</a:t>
            </a:r>
            <a:endParaRPr lang="en-US" sz="1250" dirty="0"/>
          </a:p>
        </p:txBody>
      </p:sp>
      <p:sp>
        <p:nvSpPr>
          <p:cNvPr id="46" name="s36-text-44"/>
          <p:cNvSpPr txBox="1"/>
          <p:nvPr/>
        </p:nvSpPr>
        <p:spPr>
          <a:xfrm>
            <a:off x="456184" y="4129270"/>
            <a:ext cx="5328666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450"/>
              </a:lnSpc>
              <a:buNone/>
            </a:pPr>
            <a:r>
              <a:rPr lang="ar-SA" altLang="en-US" sz="1750" b="1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لا تقارن عدد الكاميرات فقط… قارن الحل كاملًا.</a:t>
            </a:r>
            <a:endParaRPr lang="ar-SA" sz="1750" dirty="0"/>
          </a:p>
        </p:txBody>
      </p:sp>
      <p:sp>
        <p:nvSpPr>
          <p:cNvPr id="47" name="s36-text-45"/>
          <p:cNvSpPr txBox="1"/>
          <p:nvPr/>
        </p:nvSpPr>
        <p:spPr>
          <a:xfrm>
            <a:off x="5200650" y="4539417"/>
            <a:ext cx="58420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750"/>
              </a:lnSpc>
              <a:buNone/>
            </a:pPr>
            <a:r>
              <a:rPr lang="ar-SA" altLang="en-US" sz="1250" b="1" dirty="0">
                <a:solidFill>
                  <a:srgbClr val="43644B"/>
                </a:solidFill>
                <a:latin typeface="Sakkal Saad TN Trial Light"/>
                <a:cs typeface="Sakkal Saad TN Trial Light"/>
              </a:rPr>
              <a:t>الهدف</a:t>
            </a:r>
            <a:endParaRPr lang="ar-SA" sz="1250" dirty="0"/>
          </a:p>
        </p:txBody>
      </p:sp>
      <p:sp>
        <p:nvSpPr>
          <p:cNvPr id="48" name="s36-text-46"/>
          <p:cNvSpPr txBox="1"/>
          <p:nvPr/>
        </p:nvSpPr>
        <p:spPr>
          <a:xfrm>
            <a:off x="2435539" y="4499796"/>
            <a:ext cx="2777811" cy="317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03"/>
              </a:lnSpc>
              <a:buNone/>
            </a:pPr>
            <a:r>
              <a:rPr lang="ar-SA" altLang="en-US" sz="14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نقل المنافسة من السعر إلى القيمة وجودة الحل.</a:t>
            </a:r>
            <a:endParaRPr lang="ar-SA" sz="1450" dirty="0"/>
          </a:p>
        </p:txBody>
      </p:sp>
      <p:sp>
        <p:nvSpPr>
          <p:cNvPr id="49" name="s36-text-47"/>
          <p:cNvSpPr txBox="1"/>
          <p:nvPr/>
        </p:nvSpPr>
        <p:spPr>
          <a:xfrm>
            <a:off x="5200650" y="4831814"/>
            <a:ext cx="58420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750"/>
              </a:lnSpc>
              <a:buNone/>
            </a:pPr>
            <a:r>
              <a:rPr lang="en-US" altLang="en-US" sz="1250" b="1" dirty="0">
                <a:solidFill>
                  <a:srgbClr val="E9720C"/>
                </a:solidFill>
                <a:latin typeface="Sakkal Saad TN Trial Light"/>
                <a:cs typeface="Sakkal Saad TN Trial Light"/>
              </a:rPr>
              <a:t>CTA</a:t>
            </a:r>
            <a:endParaRPr lang="en-US" sz="1250" dirty="0"/>
          </a:p>
        </p:txBody>
      </p:sp>
      <p:sp>
        <p:nvSpPr>
          <p:cNvPr id="50" name="s36-text-48"/>
          <p:cNvSpPr txBox="1"/>
          <p:nvPr/>
        </p:nvSpPr>
        <p:spPr>
          <a:xfrm>
            <a:off x="3621222" y="4792193"/>
            <a:ext cx="1592128" cy="317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03"/>
              </a:lnSpc>
              <a:buNone/>
            </a:pPr>
            <a:r>
              <a:rPr lang="ar-SA" altLang="en-US" sz="14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اطلب حلًا متكاملًا لمنشأتك.</a:t>
            </a:r>
            <a:endParaRPr lang="ar-SA" sz="1450" dirty="0"/>
          </a:p>
        </p:txBody>
      </p:sp>
      <p:sp>
        <p:nvSpPr>
          <p:cNvPr id="51" name="s36-shape-49"/>
          <p:cNvSpPr/>
          <p:nvPr/>
        </p:nvSpPr>
        <p:spPr>
          <a:xfrm>
            <a:off x="698500" y="5664200"/>
            <a:ext cx="10795000" cy="584200"/>
          </a:xfrm>
          <a:prstGeom prst="roundRect">
            <a:avLst>
              <a:gd name="adj" fmla="val 43478"/>
            </a:avLst>
          </a:prstGeom>
          <a:solidFill>
            <a:srgbClr val="F6C342"/>
          </a:solidFill>
          <a:ln/>
        </p:spPr>
      </p:sp>
      <p:pic>
        <p:nvPicPr>
          <p:cNvPr id="52" name="s36-snap-50" descr="s36-snap-50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01598" y="5772745"/>
            <a:ext cx="952202" cy="367010"/>
          </a:xfrm>
          <a:prstGeom prst="rect">
            <a:avLst/>
          </a:prstGeom>
        </p:spPr>
      </p:pic>
      <p:sp>
        <p:nvSpPr>
          <p:cNvPr id="53" name="s36-text-51"/>
          <p:cNvSpPr txBox="1"/>
          <p:nvPr/>
        </p:nvSpPr>
        <p:spPr>
          <a:xfrm>
            <a:off x="10807998" y="5797663"/>
            <a:ext cx="482302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altLang="en-US" sz="1300" b="1" dirty="0">
                <a:solidFill>
                  <a:srgbClr val="FFFFFF"/>
                </a:solidFill>
                <a:latin typeface="Sakkal Saad TN Trial Light"/>
                <a:cs typeface="Sakkal Saad TN Trial Light"/>
              </a:rPr>
              <a:t>Stories</a:t>
            </a:r>
            <a:endParaRPr lang="en-US" sz="1300" dirty="0"/>
          </a:p>
        </p:txBody>
      </p:sp>
      <p:sp>
        <p:nvSpPr>
          <p:cNvPr id="54" name="s36-shape-52"/>
          <p:cNvSpPr/>
          <p:nvPr/>
        </p:nvSpPr>
        <p:spPr>
          <a:xfrm>
            <a:off x="9426972" y="5810845"/>
            <a:ext cx="923826" cy="29081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5" name="s36-text-53"/>
          <p:cNvSpPr txBox="1"/>
          <p:nvPr/>
        </p:nvSpPr>
        <p:spPr>
          <a:xfrm>
            <a:off x="9439672" y="5797663"/>
            <a:ext cx="796826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690"/>
              </a:lnSpc>
              <a:buNone/>
            </a:pPr>
            <a:r>
              <a:rPr lang="ar-SA" altLang="en-US" sz="13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مشروع حقيقي</a:t>
            </a:r>
            <a:endParaRPr lang="ar-SA" sz="1300" dirty="0"/>
          </a:p>
        </p:txBody>
      </p:sp>
      <p:sp>
        <p:nvSpPr>
          <p:cNvPr id="56" name="s36-shape-54"/>
          <p:cNvSpPr/>
          <p:nvPr/>
        </p:nvSpPr>
        <p:spPr>
          <a:xfrm>
            <a:off x="8710712" y="5810845"/>
            <a:ext cx="627360" cy="29081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7" name="s36-text-55"/>
          <p:cNvSpPr txBox="1"/>
          <p:nvPr/>
        </p:nvSpPr>
        <p:spPr>
          <a:xfrm>
            <a:off x="8723412" y="5797663"/>
            <a:ext cx="500360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690"/>
              </a:lnSpc>
              <a:buNone/>
            </a:pPr>
            <a:r>
              <a:rPr lang="ar-SA" altLang="en-US" sz="13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قبل/بعد</a:t>
            </a:r>
            <a:endParaRPr lang="ar-SA" sz="1300" dirty="0"/>
          </a:p>
        </p:txBody>
      </p:sp>
      <p:sp>
        <p:nvSpPr>
          <p:cNvPr id="58" name="s36-shape-56"/>
          <p:cNvSpPr/>
          <p:nvPr/>
        </p:nvSpPr>
        <p:spPr>
          <a:xfrm>
            <a:off x="7641630" y="5810845"/>
            <a:ext cx="980182" cy="29081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9" name="s36-text-57"/>
          <p:cNvSpPr txBox="1"/>
          <p:nvPr/>
        </p:nvSpPr>
        <p:spPr>
          <a:xfrm>
            <a:off x="7654330" y="5797663"/>
            <a:ext cx="853182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690"/>
              </a:lnSpc>
              <a:buNone/>
            </a:pPr>
            <a:r>
              <a:rPr lang="ar-SA" altLang="en-US" sz="13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خطوات التنفيذ</a:t>
            </a:r>
            <a:endParaRPr lang="ar-SA" sz="1300" dirty="0"/>
          </a:p>
        </p:txBody>
      </p:sp>
      <p:sp>
        <p:nvSpPr>
          <p:cNvPr id="60" name="s36-shape-58"/>
          <p:cNvSpPr/>
          <p:nvPr/>
        </p:nvSpPr>
        <p:spPr>
          <a:xfrm>
            <a:off x="6763544" y="5810845"/>
            <a:ext cx="789186" cy="29081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61" name="s36-text-59"/>
          <p:cNvSpPr txBox="1"/>
          <p:nvPr/>
        </p:nvSpPr>
        <p:spPr>
          <a:xfrm>
            <a:off x="6776244" y="5797663"/>
            <a:ext cx="662186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690"/>
              </a:lnSpc>
              <a:buNone/>
            </a:pPr>
            <a:r>
              <a:rPr lang="ar-SA" altLang="en-US" sz="13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تقييم عميل</a:t>
            </a:r>
            <a:endParaRPr lang="ar-SA" sz="1300" dirty="0"/>
          </a:p>
        </p:txBody>
      </p:sp>
      <p:sp>
        <p:nvSpPr>
          <p:cNvPr id="62" name="s36-shape-60"/>
          <p:cNvSpPr/>
          <p:nvPr/>
        </p:nvSpPr>
        <p:spPr>
          <a:xfrm>
            <a:off x="5124946" y="5810845"/>
            <a:ext cx="1549698" cy="29081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63" name="s36-text-61"/>
          <p:cNvSpPr txBox="1"/>
          <p:nvPr/>
        </p:nvSpPr>
        <p:spPr>
          <a:xfrm>
            <a:off x="5133558" y="5797663"/>
            <a:ext cx="1426785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690"/>
              </a:lnSpc>
              <a:buNone/>
            </a:pPr>
            <a:r>
              <a:rPr lang="ar-SA" altLang="en-US" sz="13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محل أم مكتب أم مستودع؟</a:t>
            </a:r>
            <a:endParaRPr lang="ar-SA" sz="1300" dirty="0"/>
          </a:p>
        </p:txBody>
      </p:sp>
      <p:sp>
        <p:nvSpPr>
          <p:cNvPr id="64" name="s36-shape-62"/>
          <p:cNvSpPr/>
          <p:nvPr/>
        </p:nvSpPr>
        <p:spPr>
          <a:xfrm>
            <a:off x="4074319" y="5810845"/>
            <a:ext cx="961727" cy="29081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65" name="s36-text-63"/>
          <p:cNvSpPr txBox="1"/>
          <p:nvPr/>
        </p:nvSpPr>
        <p:spPr>
          <a:xfrm>
            <a:off x="4087019" y="5797663"/>
            <a:ext cx="834727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690"/>
              </a:lnSpc>
              <a:buNone/>
            </a:pPr>
            <a:r>
              <a:rPr lang="ar-SA" altLang="en-US" sz="13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طلب استشارة.</a:t>
            </a:r>
            <a:endParaRPr lang="ar-SA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3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4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0" dur="489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75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75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75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5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75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75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75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75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75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75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75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75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75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75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75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75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75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75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75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75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75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75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75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75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75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750" fill="hold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750" fill="hold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750" fill="hold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750" fill="hold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750" fill="hold" decel="10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750" fill="hold" decel="10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750" fill="hold" decel="100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750" fill="hold" decel="100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750" fill="hold" decel="100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750" fill="hold" decel="100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750" fill="hold" decel="100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750" fill="hold" decel="100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42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750" fill="hold" decel="100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750" fill="hold" decel="100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9" dur="750" fill="hold" decel="100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750" fill="hold" decel="100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42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750" fill="hold" decel="1000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750" fill="hold" decel="1000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42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9" dur="750" fill="hold" decel="100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750" fill="hold" decel="100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42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4" dur="750" fill="hold" decel="1000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750" fill="hold" decel="1000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42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6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9" dur="750" fill="hold" decel="100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750" fill="hold" decel="100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42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6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4" dur="750" fill="hold" decel="100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750" fill="hold" decel="100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6" presetID="42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6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9" dur="750" fill="hold" decel="100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750" fill="hold" decel="100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1" presetID="42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6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4" dur="750" fill="hold" decel="100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750" fill="hold" decel="100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6" presetID="42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6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9" dur="750" fill="hold" decel="100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750" fill="hold" decel="100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1" presetID="42" presetClass="entr" presetSubtype="0" fill="hold" grpId="0" nodeType="withEffect">
                                  <p:stCondLst>
                                    <p:cond delay="59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6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4" dur="750" fill="hold" decel="1000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750" fill="hold" decel="1000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6" presetID="42" presetClass="entr" presetSubtype="0" fill="hold" grpId="0" nodeType="withEffect">
                                  <p:stCondLst>
                                    <p:cond delay="59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6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9" dur="750" fill="hold" decel="1000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750" fill="hold" decel="1000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1" presetID="42" presetClass="entr" presetSubtype="0" fill="hold" grpId="0" nodeType="withEffect">
                                  <p:stCondLst>
                                    <p:cond delay="59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6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4" dur="750" fill="hold" decel="1000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750" fill="hold" decel="1000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6" presetID="42" presetClass="entr" presetSubtype="0" fill="hold" grpId="0" nodeType="withEffect">
                                  <p:stCondLst>
                                    <p:cond delay="59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6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9" dur="750" fill="hold" decel="1000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0" dur="750" fill="hold" decel="1000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1" presetID="42" presetClass="entr" presetSubtype="0" fill="hold" grpId="0" nodeType="withEffect">
                                  <p:stCondLst>
                                    <p:cond delay="59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6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4" dur="750" fill="hold" decel="1000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5" dur="750" fill="hold" decel="1000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6" presetID="42" presetClass="entr" presetSubtype="0" fill="hold" grpId="0" nodeType="withEffect">
                                  <p:stCondLst>
                                    <p:cond delay="59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6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9" dur="750" fill="hold" decel="1000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750" fill="hold" decel="1000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1" presetID="42" presetClass="entr" presetSubtype="0" fill="hold" grpId="0" nodeType="withEffect">
                                  <p:stCondLst>
                                    <p:cond delay="59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6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4" dur="750" fill="hold" decel="1000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5" dur="750" fill="hold" decel="1000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6" presetID="42" presetClass="entr" presetSubtype="0" fill="hold" grpId="0" nodeType="withEffect">
                                  <p:stCondLst>
                                    <p:cond delay="59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6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9" dur="750" fill="hold" decel="1000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0" dur="750" fill="hold" decel="1000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1" presetID="42" presetClass="entr" presetSubtype="0" fill="hold" grpId="0" nodeType="withEffect">
                                  <p:stCondLst>
                                    <p:cond delay="59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3" dur="6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4" dur="750" fill="hold" decel="1000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5" dur="750" fill="hold" decel="1000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6" presetID="42" presetClass="entr" presetSubtype="0" fill="hold" grpId="0" nodeType="withEffect">
                                  <p:stCondLst>
                                    <p:cond delay="59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6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9" dur="750" fill="hold" decel="1000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0" dur="750" fill="hold" decel="1000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1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6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4" dur="750" fill="hold" decel="1000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5" dur="750" fill="hold" decel="1000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6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8" dur="6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9" dur="750" fill="hold" decel="1000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0" dur="750" fill="hold" decel="1000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1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3" dur="6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4" dur="750" fill="hold" decel="10000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5" dur="750" fill="hold" decel="10000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6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8" dur="27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9" dur="6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0" dur="6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1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3" dur="27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4" dur="6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5" dur="6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6" presetID="53" presetClass="entr" presetSubtype="16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8" dur="27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9" dur="6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0" dur="6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1" presetID="53" presetClass="entr" presetSubtype="16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3" dur="27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4" dur="6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5" dur="6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6" presetID="53" presetClass="entr" presetSubtype="16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8" dur="27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9" dur="6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0" dur="6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1" presetID="53" presetClass="entr" presetSubtype="16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3" dur="27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4" dur="6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5" dur="6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6" presetID="53" presetClass="entr" presetSubtype="16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8" dur="27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9" dur="6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0" dur="6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1" presetID="53" presetClass="entr" presetSubtype="16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3" dur="27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4" dur="6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5" dur="6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6" presetID="53" presetClass="entr" presetSubtype="16" fill="hold" grpId="0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8" dur="27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9" dur="6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0" dur="6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1" presetID="53" presetClass="entr" presetSubtype="16" fill="hold" grpId="0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3" dur="27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4" dur="6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5" dur="6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6" presetID="53" presetClass="entr" presetSubtype="16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8" dur="27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9" dur="6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0" dur="6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1" presetID="53" presetClass="entr" presetSubtype="16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3" dur="27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4" dur="6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5" dur="6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/>
      <p:bldP spid="11" grpId="0" animBg="1"/>
      <p:bldP spid="12" grpId="0" animBg="1"/>
      <p:bldP spid="13" grpId="0"/>
      <p:bldP spid="15" grpId="0"/>
      <p:bldP spid="16" grpId="0"/>
      <p:bldP spid="17" grpId="0"/>
      <p:bldP spid="18" grpId="0"/>
      <p:bldP spid="19" grpId="0"/>
      <p:bldP spid="20" grpId="0"/>
      <p:bldP spid="21" grpId="0" animBg="1"/>
      <p:bldP spid="22" grpId="0" animBg="1"/>
      <p:bldP spid="23" grpId="0"/>
      <p:bldP spid="25" grpId="0"/>
      <p:bldP spid="26" grpId="0"/>
      <p:bldP spid="27" grpId="0"/>
      <p:bldP spid="28" grpId="0"/>
      <p:bldP spid="29" grpId="0"/>
      <p:bldP spid="30" grpId="0"/>
      <p:bldP spid="31" grpId="0" animBg="1"/>
      <p:bldP spid="32" grpId="0" animBg="1"/>
      <p:bldP spid="33" grpId="0"/>
      <p:bldP spid="35" grpId="0"/>
      <p:bldP spid="36" grpId="0"/>
      <p:bldP spid="37" grpId="0"/>
      <p:bldP spid="38" grpId="0"/>
      <p:bldP spid="39" grpId="0"/>
      <p:bldP spid="40" grpId="0"/>
      <p:bldP spid="41" grpId="0" animBg="1"/>
      <p:bldP spid="42" grpId="0" animBg="1"/>
      <p:bldP spid="43" grpId="0"/>
      <p:bldP spid="45" grpId="0"/>
      <p:bldP spid="46" grpId="0"/>
      <p:bldP spid="47" grpId="0"/>
      <p:bldP spid="48" grpId="0"/>
      <p:bldP spid="49" grpId="0"/>
      <p:bldP spid="50" grpId="0"/>
      <p:bldP spid="51" grpId="0" animBg="1"/>
      <p:bldP spid="53" grpId="0"/>
      <p:bldP spid="54" grpId="0" animBg="1"/>
      <p:bldP spid="55" grpId="0"/>
      <p:bldP spid="56" grpId="0" animBg="1"/>
      <p:bldP spid="57" grpId="0"/>
      <p:bldP spid="58" grpId="0" animBg="1"/>
      <p:bldP spid="59" grpId="0"/>
      <p:bldP spid="60" grpId="0" animBg="1"/>
      <p:bldP spid="61" grpId="0"/>
      <p:bldP spid="62" grpId="0" animBg="1"/>
      <p:bldP spid="63" grpId="0"/>
      <p:bldP spid="64" grpId="0" animBg="1"/>
      <p:bldP spid="65" grpId="0"/>
    </p:bldLst>
  </p:timing>
</p:sld>
</file>

<file path=ppt/slides/slide37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lens"/>
          <p:cNvSpPr/>
          <p:nvPr/>
        </p:nvSpPr>
        <p:spPr>
          <a:xfrm>
            <a:off x="368300" y="127000"/>
            <a:ext cx="1206500" cy="1206500"/>
          </a:xfrm>
          <a:prstGeom prst="ellipse">
            <a:avLst/>
          </a:prstGeom>
          <a:solidFill>
            <a:srgbClr val="EEF2EF"/>
          </a:solidFill>
          <a:ln/>
        </p:spPr>
      </p:sp>
      <p:pic>
        <p:nvPicPr>
          <p:cNvPr id="3" name="!!mt" descr="شعار نظرة ثماني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-8100000">
            <a:off x="582910" y="562918"/>
            <a:ext cx="546100" cy="533400"/>
          </a:xfrm>
          <a:prstGeom prst="rect">
            <a:avLst/>
          </a:prstGeom>
        </p:spPr>
      </p:pic>
      <p:pic>
        <p:nvPicPr>
          <p:cNvPr id="4" name="!!mb" descr="شعار نظرة ثمانية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8100000">
            <a:off x="813346" y="370483"/>
            <a:ext cx="527050" cy="520700"/>
          </a:xfrm>
          <a:prstGeom prst="rect">
            <a:avLst/>
          </a:prstGeom>
        </p:spPr>
      </p:pic>
      <p:pic>
        <p:nvPicPr>
          <p:cNvPr id="5" name="!!ma" descr="شعار نظرة ثمانية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8100000">
            <a:off x="753368" y="792411"/>
            <a:ext cx="95250" cy="82550"/>
          </a:xfrm>
          <a:prstGeom prst="rect">
            <a:avLst/>
          </a:prstGeom>
        </p:spPr>
      </p:pic>
      <p:pic>
        <p:nvPicPr>
          <p:cNvPr id="6" name="!!hud" descr="!!hu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800" y="177800"/>
            <a:ext cx="11836400" cy="6502400"/>
          </a:xfrm>
          <a:prstGeom prst="rect">
            <a:avLst/>
          </a:prstGeom>
        </p:spPr>
      </p:pic>
      <p:sp>
        <p:nvSpPr>
          <p:cNvPr id="7" name="!!rec"/>
          <p:cNvSpPr/>
          <p:nvPr/>
        </p:nvSpPr>
        <p:spPr>
          <a:xfrm>
            <a:off x="635000" y="6337300"/>
            <a:ext cx="101600" cy="101600"/>
          </a:xfrm>
          <a:prstGeom prst="ellipse">
            <a:avLst/>
          </a:prstGeom>
          <a:solidFill>
            <a:srgbClr val="FF8D26"/>
          </a:solidFill>
          <a:ln/>
        </p:spPr>
      </p:sp>
      <p:sp>
        <p:nvSpPr>
          <p:cNvPr id="8" name="!!num"/>
          <p:cNvSpPr txBox="1"/>
          <p:nvPr/>
        </p:nvSpPr>
        <p:spPr>
          <a:xfrm>
            <a:off x="825500" y="6281750"/>
            <a:ext cx="681335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altLang="en-US" sz="1200" dirty="0">
                <a:solidFill>
                  <a:srgbClr val="5E6D7C"/>
                </a:solidFill>
                <a:latin typeface="Sakkal Saad TN Trial Light"/>
                <a:cs typeface="Sakkal Saad TN Trial Light"/>
              </a:rPr>
              <a:t>REC · 37</a:t>
            </a:r>
            <a:endParaRPr lang="en-US" sz="1200" dirty="0"/>
          </a:p>
        </p:txBody>
      </p:sp>
      <p:sp>
        <p:nvSpPr>
          <p:cNvPr id="9" name="!!kick"/>
          <p:cNvSpPr txBox="1"/>
          <p:nvPr/>
        </p:nvSpPr>
        <p:spPr>
          <a:xfrm>
            <a:off x="9821712" y="318834"/>
            <a:ext cx="1735288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ar-SA" altLang="en-US" sz="1500" b="1" dirty="0">
                <a:solidFill>
                  <a:srgbClr val="43644B"/>
                </a:solidFill>
                <a:latin typeface="Sakkal Saad TN Trial Light"/>
                <a:cs typeface="Sakkal Saad TN Trial Light"/>
              </a:rPr>
              <a:t>08</a:t>
            </a:r>
            <a:r>
              <a:rPr lang="ar-SA" altLang="en-US" sz="1500" dirty="0">
                <a:solidFill>
                  <a:srgbClr val="E9720C"/>
                </a:solidFill>
                <a:latin typeface="Sakkal Saad TN Trial Light"/>
                <a:cs typeface="Sakkal Saad TN Trial Light"/>
              </a:rPr>
              <a:t> خطة المحتوى التسويقي</a:t>
            </a:r>
            <a:endParaRPr lang="ar-SA" sz="1500" dirty="0"/>
          </a:p>
        </p:txBody>
      </p:sp>
      <p:sp>
        <p:nvSpPr>
          <p:cNvPr id="10" name="s37-text-8"/>
          <p:cNvSpPr txBox="1"/>
          <p:nvPr/>
        </p:nvSpPr>
        <p:spPr>
          <a:xfrm>
            <a:off x="5888220" y="695420"/>
            <a:ext cx="5668780" cy="5822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4185"/>
              </a:lnSpc>
              <a:buNone/>
            </a:pPr>
            <a:r>
              <a:rPr lang="ar-SA" altLang="en-US" sz="3100" b="1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الأسبوع الرابع </a:t>
            </a:r>
            <a:r>
              <a:rPr lang="ar-SA" altLang="en-US" sz="3100" b="1" dirty="0">
                <a:solidFill>
                  <a:srgbClr val="E9720C"/>
                </a:solidFill>
                <a:latin typeface="Sakkal Saad TN Trial Light"/>
                <a:cs typeface="Sakkal Saad TN Trial Light"/>
              </a:rPr>
              <a:t>:</a:t>
            </a:r>
            <a:r>
              <a:rPr lang="ar-SA" altLang="en-US" sz="3100" b="1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 </a:t>
            </a:r>
            <a:r>
              <a:rPr lang="ar-SA" altLang="en-US" sz="3100" b="1" dirty="0">
                <a:solidFill>
                  <a:srgbClr val="E9720C"/>
                </a:solidFill>
                <a:latin typeface="Sakkal Saad TN Trial Light"/>
                <a:cs typeface="Sakkal Saad TN Trial Light"/>
              </a:rPr>
              <a:t>إزالة التردد والتحويل إلى شراء</a:t>
            </a:r>
            <a:endParaRPr lang="ar-SA" sz="3100" dirty="0"/>
          </a:p>
        </p:txBody>
      </p:sp>
      <p:sp>
        <p:nvSpPr>
          <p:cNvPr id="11" name="s37-shape-9"/>
          <p:cNvSpPr/>
          <p:nvPr/>
        </p:nvSpPr>
        <p:spPr>
          <a:xfrm>
            <a:off x="6127750" y="1663700"/>
            <a:ext cx="5365750" cy="1879600"/>
          </a:xfrm>
          <a:prstGeom prst="roundRect">
            <a:avLst>
              <a:gd name="adj" fmla="val 13514"/>
            </a:avLst>
          </a:prstGeom>
          <a:solidFill>
            <a:srgbClr val="EEF2EF"/>
          </a:solidFill>
          <a:ln/>
        </p:spPr>
      </p:sp>
      <p:sp>
        <p:nvSpPr>
          <p:cNvPr id="12" name="s37-shape-10"/>
          <p:cNvSpPr/>
          <p:nvPr/>
        </p:nvSpPr>
        <p:spPr>
          <a:xfrm>
            <a:off x="10636250" y="1841500"/>
            <a:ext cx="641350" cy="299045"/>
          </a:xfrm>
          <a:prstGeom prst="roundRect">
            <a:avLst>
              <a:gd name="adj" fmla="val 50000"/>
            </a:avLst>
          </a:prstGeom>
          <a:solidFill>
            <a:srgbClr val="FF8D26"/>
          </a:solidFill>
          <a:ln/>
        </p:spPr>
      </p:sp>
      <p:sp>
        <p:nvSpPr>
          <p:cNvPr id="13" name="s37-text-11"/>
          <p:cNvSpPr txBox="1"/>
          <p:nvPr/>
        </p:nvSpPr>
        <p:spPr>
          <a:xfrm>
            <a:off x="10674350" y="1828787"/>
            <a:ext cx="463550" cy="2736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755"/>
              </a:lnSpc>
              <a:buNone/>
            </a:pPr>
            <a:r>
              <a:rPr lang="ar-SA" altLang="en-US" sz="1350" b="1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السبت</a:t>
            </a:r>
            <a:endParaRPr lang="ar-SA" sz="1350" dirty="0"/>
          </a:p>
        </p:txBody>
      </p:sp>
      <p:pic>
        <p:nvPicPr>
          <p:cNvPr id="14" name="s37-snap-12" descr="s37-snap-12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78305" y="1811635"/>
            <a:ext cx="807145" cy="358775"/>
          </a:xfrm>
          <a:prstGeom prst="rect">
            <a:avLst/>
          </a:prstGeom>
        </p:spPr>
      </p:pic>
      <p:sp>
        <p:nvSpPr>
          <p:cNvPr id="15" name="s37-text-13"/>
          <p:cNvSpPr txBox="1"/>
          <p:nvPr/>
        </p:nvSpPr>
        <p:spPr>
          <a:xfrm>
            <a:off x="10197405" y="1842433"/>
            <a:ext cx="32454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altLang="en-US" sz="1250" dirty="0">
                <a:solidFill>
                  <a:srgbClr val="FFFFFF"/>
                </a:solidFill>
                <a:latin typeface="Sakkal Saad TN Trial Light"/>
                <a:cs typeface="Sakkal Saad TN Trial Light"/>
              </a:rPr>
              <a:t>Reel</a:t>
            </a:r>
            <a:endParaRPr lang="en-US" sz="1250" dirty="0"/>
          </a:p>
        </p:txBody>
      </p:sp>
      <p:sp>
        <p:nvSpPr>
          <p:cNvPr id="16" name="s37-text-14"/>
          <p:cNvSpPr txBox="1"/>
          <p:nvPr/>
        </p:nvSpPr>
        <p:spPr>
          <a:xfrm>
            <a:off x="5948934" y="2148070"/>
            <a:ext cx="5328666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450"/>
              </a:lnSpc>
              <a:buNone/>
            </a:pPr>
            <a:r>
              <a:rPr lang="ar-SA" altLang="en-US" sz="1750" b="1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قبل تضغط شراء… تأكد من 3 أشياء في نظام المراقبة.</a:t>
            </a:r>
            <a:endParaRPr lang="ar-SA" sz="1750" dirty="0"/>
          </a:p>
        </p:txBody>
      </p:sp>
      <p:sp>
        <p:nvSpPr>
          <p:cNvPr id="17" name="s37-text-15"/>
          <p:cNvSpPr txBox="1"/>
          <p:nvPr/>
        </p:nvSpPr>
        <p:spPr>
          <a:xfrm>
            <a:off x="10693400" y="2558217"/>
            <a:ext cx="58420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750"/>
              </a:lnSpc>
              <a:buNone/>
            </a:pPr>
            <a:r>
              <a:rPr lang="ar-SA" altLang="en-US" sz="1250" b="1" dirty="0">
                <a:solidFill>
                  <a:srgbClr val="43644B"/>
                </a:solidFill>
                <a:latin typeface="Sakkal Saad TN Trial Light"/>
                <a:cs typeface="Sakkal Saad TN Trial Light"/>
              </a:rPr>
              <a:t>الهدف</a:t>
            </a:r>
            <a:endParaRPr lang="ar-SA" sz="1250" dirty="0"/>
          </a:p>
        </p:txBody>
      </p:sp>
      <p:sp>
        <p:nvSpPr>
          <p:cNvPr id="18" name="s37-text-16"/>
          <p:cNvSpPr txBox="1"/>
          <p:nvPr/>
        </p:nvSpPr>
        <p:spPr>
          <a:xfrm>
            <a:off x="8429458" y="2518596"/>
            <a:ext cx="2276642" cy="317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03"/>
              </a:lnSpc>
              <a:buNone/>
            </a:pPr>
            <a:r>
              <a:rPr lang="ar-SA" altLang="en-US" sz="14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تقليل تردد العميل ومساعدته في القرار.</a:t>
            </a:r>
            <a:endParaRPr lang="ar-SA" sz="1450" dirty="0"/>
          </a:p>
        </p:txBody>
      </p:sp>
      <p:sp>
        <p:nvSpPr>
          <p:cNvPr id="19" name="s37-text-17"/>
          <p:cNvSpPr txBox="1"/>
          <p:nvPr/>
        </p:nvSpPr>
        <p:spPr>
          <a:xfrm>
            <a:off x="10693400" y="2850614"/>
            <a:ext cx="58420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750"/>
              </a:lnSpc>
              <a:buNone/>
            </a:pPr>
            <a:r>
              <a:rPr lang="en-US" altLang="en-US" sz="1250" b="1" dirty="0">
                <a:solidFill>
                  <a:srgbClr val="E9720C"/>
                </a:solidFill>
                <a:latin typeface="Sakkal Saad TN Trial Light"/>
                <a:cs typeface="Sakkal Saad TN Trial Light"/>
              </a:rPr>
              <a:t>CTA</a:t>
            </a:r>
            <a:endParaRPr lang="en-US" sz="1250" dirty="0"/>
          </a:p>
        </p:txBody>
      </p:sp>
      <p:sp>
        <p:nvSpPr>
          <p:cNvPr id="20" name="s37-text-18"/>
          <p:cNvSpPr txBox="1"/>
          <p:nvPr/>
        </p:nvSpPr>
        <p:spPr>
          <a:xfrm>
            <a:off x="8505003" y="2810993"/>
            <a:ext cx="2201097" cy="317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03"/>
              </a:lnSpc>
              <a:buNone/>
            </a:pPr>
            <a:r>
              <a:rPr lang="ar-SA" altLang="en-US" sz="14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أرسل رابط المنتج أو موديله ونساعدك.</a:t>
            </a:r>
            <a:endParaRPr lang="ar-SA" sz="1450" dirty="0"/>
          </a:p>
        </p:txBody>
      </p:sp>
      <p:sp>
        <p:nvSpPr>
          <p:cNvPr id="21" name="s37-shape-19"/>
          <p:cNvSpPr/>
          <p:nvPr/>
        </p:nvSpPr>
        <p:spPr>
          <a:xfrm>
            <a:off x="635000" y="1663700"/>
            <a:ext cx="5365750" cy="1879600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0" dist="76200" dir="5400000">
              <a:srgbClr val="1E2A36">
                <a:alpha val="10000"/>
              </a:srgbClr>
            </a:outerShdw>
          </a:effectLst>
        </p:spPr>
      </p:sp>
      <p:sp>
        <p:nvSpPr>
          <p:cNvPr id="22" name="s37-shape-20"/>
          <p:cNvSpPr/>
          <p:nvPr/>
        </p:nvSpPr>
        <p:spPr>
          <a:xfrm>
            <a:off x="5159276" y="1841500"/>
            <a:ext cx="625574" cy="299045"/>
          </a:xfrm>
          <a:prstGeom prst="roundRect">
            <a:avLst>
              <a:gd name="adj" fmla="val 50000"/>
            </a:avLst>
          </a:prstGeom>
          <a:solidFill>
            <a:srgbClr val="FF8D26"/>
          </a:solidFill>
          <a:ln/>
        </p:spPr>
      </p:sp>
      <p:sp>
        <p:nvSpPr>
          <p:cNvPr id="23" name="s37-text-21"/>
          <p:cNvSpPr txBox="1"/>
          <p:nvPr/>
        </p:nvSpPr>
        <p:spPr>
          <a:xfrm>
            <a:off x="5197376" y="1828787"/>
            <a:ext cx="447774" cy="2736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755"/>
              </a:lnSpc>
              <a:buNone/>
            </a:pPr>
            <a:r>
              <a:rPr lang="ar-SA" altLang="en-US" sz="1350" b="1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الاثنين</a:t>
            </a:r>
            <a:endParaRPr lang="ar-SA" sz="1350" dirty="0"/>
          </a:p>
        </p:txBody>
      </p:sp>
      <p:pic>
        <p:nvPicPr>
          <p:cNvPr id="24" name="s37-snap-22" descr="s37-snap-22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58642" y="1811635"/>
            <a:ext cx="1049834" cy="358775"/>
          </a:xfrm>
          <a:prstGeom prst="rect">
            <a:avLst/>
          </a:prstGeom>
        </p:spPr>
      </p:pic>
      <p:sp>
        <p:nvSpPr>
          <p:cNvPr id="25" name="s37-text-23"/>
          <p:cNvSpPr txBox="1"/>
          <p:nvPr/>
        </p:nvSpPr>
        <p:spPr>
          <a:xfrm>
            <a:off x="4477742" y="1842433"/>
            <a:ext cx="567234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altLang="en-US" sz="1250" dirty="0">
                <a:solidFill>
                  <a:srgbClr val="FFFFFF"/>
                </a:solidFill>
                <a:latin typeface="Sakkal Saad TN Trial Light"/>
                <a:cs typeface="Sakkal Saad TN Trial Light"/>
              </a:rPr>
              <a:t>Carousel</a:t>
            </a:r>
            <a:endParaRPr lang="en-US" sz="1250" dirty="0"/>
          </a:p>
        </p:txBody>
      </p:sp>
      <p:sp>
        <p:nvSpPr>
          <p:cNvPr id="26" name="s37-text-24"/>
          <p:cNvSpPr txBox="1"/>
          <p:nvPr/>
        </p:nvSpPr>
        <p:spPr>
          <a:xfrm>
            <a:off x="456184" y="2148070"/>
            <a:ext cx="5328666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450"/>
              </a:lnSpc>
              <a:buNone/>
            </a:pPr>
            <a:r>
              <a:rPr lang="ar-SA" altLang="en-US" sz="1750" b="1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Checklist قبل تركيب كاميرات المراقبة.</a:t>
            </a:r>
            <a:endParaRPr lang="ar-SA" sz="1750" dirty="0"/>
          </a:p>
        </p:txBody>
      </p:sp>
      <p:sp>
        <p:nvSpPr>
          <p:cNvPr id="27" name="s37-text-25"/>
          <p:cNvSpPr txBox="1"/>
          <p:nvPr/>
        </p:nvSpPr>
        <p:spPr>
          <a:xfrm>
            <a:off x="5200650" y="2558217"/>
            <a:ext cx="58420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750"/>
              </a:lnSpc>
              <a:buNone/>
            </a:pPr>
            <a:r>
              <a:rPr lang="ar-SA" altLang="en-US" sz="1250" b="1" dirty="0">
                <a:solidFill>
                  <a:srgbClr val="43644B"/>
                </a:solidFill>
                <a:latin typeface="Sakkal Saad TN Trial Light"/>
                <a:cs typeface="Sakkal Saad TN Trial Light"/>
              </a:rPr>
              <a:t>الهدف</a:t>
            </a:r>
            <a:endParaRPr lang="ar-SA" sz="1250" dirty="0"/>
          </a:p>
        </p:txBody>
      </p:sp>
      <p:sp>
        <p:nvSpPr>
          <p:cNvPr id="28" name="s37-text-26"/>
          <p:cNvSpPr txBox="1"/>
          <p:nvPr/>
        </p:nvSpPr>
        <p:spPr>
          <a:xfrm>
            <a:off x="3358797" y="2518596"/>
            <a:ext cx="1854553" cy="317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03"/>
              </a:lnSpc>
              <a:buNone/>
            </a:pPr>
            <a:r>
              <a:rPr lang="ar-SA" altLang="en-US" sz="14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التوعية وزيادة الحفظ والمشاركة.</a:t>
            </a:r>
            <a:endParaRPr lang="ar-SA" sz="1450" dirty="0"/>
          </a:p>
        </p:txBody>
      </p:sp>
      <p:sp>
        <p:nvSpPr>
          <p:cNvPr id="29" name="s37-text-27"/>
          <p:cNvSpPr txBox="1"/>
          <p:nvPr/>
        </p:nvSpPr>
        <p:spPr>
          <a:xfrm>
            <a:off x="5200650" y="2850614"/>
            <a:ext cx="58420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750"/>
              </a:lnSpc>
              <a:buNone/>
            </a:pPr>
            <a:r>
              <a:rPr lang="en-US" altLang="en-US" sz="1250" b="1" dirty="0">
                <a:solidFill>
                  <a:srgbClr val="E9720C"/>
                </a:solidFill>
                <a:latin typeface="Sakkal Saad TN Trial Light"/>
                <a:cs typeface="Sakkal Saad TN Trial Light"/>
              </a:rPr>
              <a:t>CTA</a:t>
            </a:r>
            <a:endParaRPr lang="en-US" sz="1250" dirty="0"/>
          </a:p>
        </p:txBody>
      </p:sp>
      <p:sp>
        <p:nvSpPr>
          <p:cNvPr id="30" name="s37-text-28"/>
          <p:cNvSpPr txBox="1"/>
          <p:nvPr/>
        </p:nvSpPr>
        <p:spPr>
          <a:xfrm>
            <a:off x="3655084" y="2810993"/>
            <a:ext cx="1558266" cy="317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03"/>
              </a:lnSpc>
              <a:buNone/>
            </a:pPr>
            <a:r>
              <a:rPr lang="ar-SA" altLang="en-US" sz="14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احفظ القائمة قبل التركيب.</a:t>
            </a:r>
            <a:endParaRPr lang="ar-SA" sz="1450" dirty="0"/>
          </a:p>
        </p:txBody>
      </p:sp>
      <p:sp>
        <p:nvSpPr>
          <p:cNvPr id="31" name="s37-shape-29"/>
          <p:cNvSpPr/>
          <p:nvPr/>
        </p:nvSpPr>
        <p:spPr>
          <a:xfrm>
            <a:off x="6127750" y="3644900"/>
            <a:ext cx="5365750" cy="1879600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0" dist="76200" dir="5400000">
              <a:srgbClr val="1E2A36">
                <a:alpha val="10000"/>
              </a:srgbClr>
            </a:outerShdw>
          </a:effectLst>
        </p:spPr>
      </p:sp>
      <p:sp>
        <p:nvSpPr>
          <p:cNvPr id="32" name="s37-shape-30"/>
          <p:cNvSpPr/>
          <p:nvPr/>
        </p:nvSpPr>
        <p:spPr>
          <a:xfrm>
            <a:off x="10640219" y="3822700"/>
            <a:ext cx="637381" cy="299045"/>
          </a:xfrm>
          <a:prstGeom prst="roundRect">
            <a:avLst>
              <a:gd name="adj" fmla="val 50000"/>
            </a:avLst>
          </a:prstGeom>
          <a:solidFill>
            <a:srgbClr val="FF8D26"/>
          </a:solidFill>
          <a:ln/>
        </p:spPr>
      </p:sp>
      <p:sp>
        <p:nvSpPr>
          <p:cNvPr id="33" name="s37-text-31"/>
          <p:cNvSpPr txBox="1"/>
          <p:nvPr/>
        </p:nvSpPr>
        <p:spPr>
          <a:xfrm>
            <a:off x="10678319" y="3809987"/>
            <a:ext cx="459581" cy="2736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755"/>
              </a:lnSpc>
              <a:buNone/>
            </a:pPr>
            <a:r>
              <a:rPr lang="ar-SA" altLang="en-US" sz="1350" b="1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الأربعاء</a:t>
            </a:r>
            <a:endParaRPr lang="ar-SA" sz="1350" dirty="0"/>
          </a:p>
        </p:txBody>
      </p:sp>
      <p:pic>
        <p:nvPicPr>
          <p:cNvPr id="34" name="s37-snap-32" descr="s37-snap-32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82274" y="3792835"/>
            <a:ext cx="807145" cy="358775"/>
          </a:xfrm>
          <a:prstGeom prst="rect">
            <a:avLst/>
          </a:prstGeom>
        </p:spPr>
      </p:pic>
      <p:sp>
        <p:nvSpPr>
          <p:cNvPr id="35" name="s37-text-33"/>
          <p:cNvSpPr txBox="1"/>
          <p:nvPr/>
        </p:nvSpPr>
        <p:spPr>
          <a:xfrm>
            <a:off x="10201374" y="3823633"/>
            <a:ext cx="32454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altLang="en-US" sz="1250" dirty="0">
                <a:solidFill>
                  <a:srgbClr val="FFFFFF"/>
                </a:solidFill>
                <a:latin typeface="Sakkal Saad TN Trial Light"/>
                <a:cs typeface="Sakkal Saad TN Trial Light"/>
              </a:rPr>
              <a:t>Reel</a:t>
            </a:r>
            <a:endParaRPr lang="en-US" sz="1250" dirty="0"/>
          </a:p>
        </p:txBody>
      </p:sp>
      <p:sp>
        <p:nvSpPr>
          <p:cNvPr id="36" name="s37-text-34"/>
          <p:cNvSpPr txBox="1"/>
          <p:nvPr/>
        </p:nvSpPr>
        <p:spPr>
          <a:xfrm>
            <a:off x="5948934" y="4129270"/>
            <a:ext cx="5328666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450"/>
              </a:lnSpc>
              <a:buNone/>
            </a:pPr>
            <a:r>
              <a:rPr lang="ar-SA" altLang="en-US" sz="1750" b="1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هل تحتاج DVR/NVR؟ وكم سعة التخزين المناسبة لك؟</a:t>
            </a:r>
            <a:endParaRPr lang="ar-SA" sz="1750" dirty="0"/>
          </a:p>
        </p:txBody>
      </p:sp>
      <p:sp>
        <p:nvSpPr>
          <p:cNvPr id="37" name="s37-text-35"/>
          <p:cNvSpPr txBox="1"/>
          <p:nvPr/>
        </p:nvSpPr>
        <p:spPr>
          <a:xfrm>
            <a:off x="10693400" y="4539417"/>
            <a:ext cx="58420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750"/>
              </a:lnSpc>
              <a:buNone/>
            </a:pPr>
            <a:r>
              <a:rPr lang="ar-SA" altLang="en-US" sz="1250" b="1" dirty="0">
                <a:solidFill>
                  <a:srgbClr val="43644B"/>
                </a:solidFill>
                <a:latin typeface="Sakkal Saad TN Trial Light"/>
                <a:cs typeface="Sakkal Saad TN Trial Light"/>
              </a:rPr>
              <a:t>الهدف</a:t>
            </a:r>
            <a:endParaRPr lang="ar-SA" sz="1250" dirty="0"/>
          </a:p>
        </p:txBody>
      </p:sp>
      <p:sp>
        <p:nvSpPr>
          <p:cNvPr id="38" name="s37-text-36"/>
          <p:cNvSpPr txBox="1"/>
          <p:nvPr/>
        </p:nvSpPr>
        <p:spPr>
          <a:xfrm>
            <a:off x="9363968" y="4499796"/>
            <a:ext cx="1342132" cy="317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03"/>
              </a:lnSpc>
              <a:buNone/>
            </a:pPr>
            <a:r>
              <a:rPr lang="ar-SA" altLang="en-US" sz="14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التعليم + البيع المتقاطع.</a:t>
            </a:r>
            <a:endParaRPr lang="ar-SA" sz="1450" dirty="0"/>
          </a:p>
        </p:txBody>
      </p:sp>
      <p:sp>
        <p:nvSpPr>
          <p:cNvPr id="39" name="s37-text-37"/>
          <p:cNvSpPr txBox="1"/>
          <p:nvPr/>
        </p:nvSpPr>
        <p:spPr>
          <a:xfrm>
            <a:off x="10693400" y="4831814"/>
            <a:ext cx="58420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750"/>
              </a:lnSpc>
              <a:buNone/>
            </a:pPr>
            <a:r>
              <a:rPr lang="en-US" altLang="en-US" sz="1250" b="1" dirty="0">
                <a:solidFill>
                  <a:srgbClr val="E9720C"/>
                </a:solidFill>
                <a:latin typeface="Sakkal Saad TN Trial Light"/>
                <a:cs typeface="Sakkal Saad TN Trial Light"/>
              </a:rPr>
              <a:t>CTA</a:t>
            </a:r>
            <a:endParaRPr lang="en-US" sz="1250" dirty="0"/>
          </a:p>
        </p:txBody>
      </p:sp>
      <p:sp>
        <p:nvSpPr>
          <p:cNvPr id="40" name="s37-text-38"/>
          <p:cNvSpPr txBox="1"/>
          <p:nvPr/>
        </p:nvSpPr>
        <p:spPr>
          <a:xfrm>
            <a:off x="8065877" y="4792193"/>
            <a:ext cx="2640223" cy="317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03"/>
              </a:lnSpc>
              <a:buNone/>
            </a:pPr>
            <a:r>
              <a:rPr lang="ar-SA" altLang="en-US" sz="14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أرسل عدد الكاميرات والمدة المطلوبة للتسجيل.</a:t>
            </a:r>
            <a:endParaRPr lang="ar-SA" sz="1450" dirty="0"/>
          </a:p>
        </p:txBody>
      </p:sp>
      <p:sp>
        <p:nvSpPr>
          <p:cNvPr id="41" name="s37-shape-39"/>
          <p:cNvSpPr/>
          <p:nvPr/>
        </p:nvSpPr>
        <p:spPr>
          <a:xfrm>
            <a:off x="635000" y="3644900"/>
            <a:ext cx="5365750" cy="1879600"/>
          </a:xfrm>
          <a:prstGeom prst="roundRect">
            <a:avLst>
              <a:gd name="adj" fmla="val 13514"/>
            </a:avLst>
          </a:prstGeom>
          <a:solidFill>
            <a:srgbClr val="EEF2EF"/>
          </a:solidFill>
          <a:ln/>
        </p:spPr>
      </p:sp>
      <p:sp>
        <p:nvSpPr>
          <p:cNvPr id="42" name="s37-shape-40"/>
          <p:cNvSpPr/>
          <p:nvPr/>
        </p:nvSpPr>
        <p:spPr>
          <a:xfrm>
            <a:off x="5100042" y="3822700"/>
            <a:ext cx="684808" cy="299045"/>
          </a:xfrm>
          <a:prstGeom prst="roundRect">
            <a:avLst>
              <a:gd name="adj" fmla="val 50000"/>
            </a:avLst>
          </a:prstGeom>
          <a:solidFill>
            <a:srgbClr val="FF8D26"/>
          </a:solidFill>
          <a:ln/>
        </p:spPr>
      </p:sp>
      <p:sp>
        <p:nvSpPr>
          <p:cNvPr id="43" name="s37-text-41"/>
          <p:cNvSpPr txBox="1"/>
          <p:nvPr/>
        </p:nvSpPr>
        <p:spPr>
          <a:xfrm>
            <a:off x="5138142" y="3809987"/>
            <a:ext cx="507008" cy="2736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755"/>
              </a:lnSpc>
              <a:buNone/>
            </a:pPr>
            <a:r>
              <a:rPr lang="ar-SA" altLang="en-US" sz="1350" b="1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الخميس</a:t>
            </a:r>
            <a:endParaRPr lang="ar-SA" sz="1350" dirty="0"/>
          </a:p>
        </p:txBody>
      </p:sp>
      <p:pic>
        <p:nvPicPr>
          <p:cNvPr id="44" name="s37-snap-42" descr="s37-snap-42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03129" y="3792835"/>
            <a:ext cx="1446113" cy="358775"/>
          </a:xfrm>
          <a:prstGeom prst="rect">
            <a:avLst/>
          </a:prstGeom>
        </p:spPr>
      </p:pic>
      <p:sp>
        <p:nvSpPr>
          <p:cNvPr id="45" name="s37-text-43"/>
          <p:cNvSpPr txBox="1"/>
          <p:nvPr/>
        </p:nvSpPr>
        <p:spPr>
          <a:xfrm>
            <a:off x="4022229" y="3823633"/>
            <a:ext cx="96351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altLang="en-US" sz="1250" dirty="0">
                <a:solidFill>
                  <a:srgbClr val="FFFFFF"/>
                </a:solidFill>
                <a:latin typeface="Sakkal Saad TN Trial Light"/>
                <a:cs typeface="Sakkal Saad TN Trial Light"/>
              </a:rPr>
              <a:t>Conversion Post</a:t>
            </a:r>
            <a:endParaRPr lang="en-US" sz="1250" dirty="0"/>
          </a:p>
        </p:txBody>
      </p:sp>
      <p:sp>
        <p:nvSpPr>
          <p:cNvPr id="46" name="s37-text-44"/>
          <p:cNvSpPr txBox="1"/>
          <p:nvPr/>
        </p:nvSpPr>
        <p:spPr>
          <a:xfrm>
            <a:off x="456184" y="4129270"/>
            <a:ext cx="5328666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450"/>
              </a:lnSpc>
              <a:buNone/>
            </a:pPr>
            <a:r>
              <a:rPr lang="ar-SA" altLang="en-US" sz="1750" b="1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لا تبدأ بشراء الأجهزة… ابدأ بالحل المناسب لمكانك.</a:t>
            </a:r>
            <a:endParaRPr lang="ar-SA" sz="1750" dirty="0"/>
          </a:p>
        </p:txBody>
      </p:sp>
      <p:sp>
        <p:nvSpPr>
          <p:cNvPr id="47" name="s37-text-45"/>
          <p:cNvSpPr txBox="1"/>
          <p:nvPr/>
        </p:nvSpPr>
        <p:spPr>
          <a:xfrm>
            <a:off x="5200650" y="4539417"/>
            <a:ext cx="58420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750"/>
              </a:lnSpc>
              <a:buNone/>
            </a:pPr>
            <a:r>
              <a:rPr lang="ar-SA" altLang="en-US" sz="1250" b="1" dirty="0">
                <a:solidFill>
                  <a:srgbClr val="43644B"/>
                </a:solidFill>
                <a:latin typeface="Sakkal Saad TN Trial Light"/>
                <a:cs typeface="Sakkal Saad TN Trial Light"/>
              </a:rPr>
              <a:t>الهدف</a:t>
            </a:r>
            <a:endParaRPr lang="ar-SA" sz="1250" dirty="0"/>
          </a:p>
        </p:txBody>
      </p:sp>
      <p:sp>
        <p:nvSpPr>
          <p:cNvPr id="48" name="s37-text-46"/>
          <p:cNvSpPr txBox="1"/>
          <p:nvPr/>
        </p:nvSpPr>
        <p:spPr>
          <a:xfrm>
            <a:off x="3854549" y="4499796"/>
            <a:ext cx="1358801" cy="317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03"/>
              </a:lnSpc>
              <a:buNone/>
            </a:pPr>
            <a:r>
              <a:rPr lang="ar-SA" altLang="en-US" sz="14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تحويل المتابع إلى عميل.</a:t>
            </a:r>
            <a:endParaRPr lang="ar-SA" sz="1450" dirty="0"/>
          </a:p>
        </p:txBody>
      </p:sp>
      <p:sp>
        <p:nvSpPr>
          <p:cNvPr id="49" name="s37-text-47"/>
          <p:cNvSpPr txBox="1"/>
          <p:nvPr/>
        </p:nvSpPr>
        <p:spPr>
          <a:xfrm>
            <a:off x="5200650" y="4831814"/>
            <a:ext cx="58420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750"/>
              </a:lnSpc>
              <a:buNone/>
            </a:pPr>
            <a:r>
              <a:rPr lang="en-US" altLang="en-US" sz="1250" b="1" dirty="0">
                <a:solidFill>
                  <a:srgbClr val="E9720C"/>
                </a:solidFill>
                <a:latin typeface="Sakkal Saad TN Trial Light"/>
                <a:cs typeface="Sakkal Saad TN Trial Light"/>
              </a:rPr>
              <a:t>CTA</a:t>
            </a:r>
            <a:endParaRPr lang="en-US" sz="1250" dirty="0"/>
          </a:p>
        </p:txBody>
      </p:sp>
      <p:sp>
        <p:nvSpPr>
          <p:cNvPr id="50" name="s37-text-48"/>
          <p:cNvSpPr txBox="1"/>
          <p:nvPr/>
        </p:nvSpPr>
        <p:spPr>
          <a:xfrm>
            <a:off x="2504119" y="4792193"/>
            <a:ext cx="2709231" cy="317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03"/>
              </a:lnSpc>
              <a:buNone/>
            </a:pPr>
            <a:r>
              <a:rPr lang="ar-SA" altLang="en-US" sz="14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تسوق الآن أو اطلب استشارة عبر WhatsApp.</a:t>
            </a:r>
            <a:endParaRPr lang="ar-SA" sz="1450" dirty="0"/>
          </a:p>
        </p:txBody>
      </p:sp>
      <p:sp>
        <p:nvSpPr>
          <p:cNvPr id="51" name="s37-shape-49"/>
          <p:cNvSpPr/>
          <p:nvPr/>
        </p:nvSpPr>
        <p:spPr>
          <a:xfrm>
            <a:off x="698500" y="5664200"/>
            <a:ext cx="10795000" cy="584200"/>
          </a:xfrm>
          <a:prstGeom prst="roundRect">
            <a:avLst>
              <a:gd name="adj" fmla="val 43478"/>
            </a:avLst>
          </a:prstGeom>
          <a:solidFill>
            <a:srgbClr val="F6C342"/>
          </a:solidFill>
          <a:ln/>
        </p:spPr>
      </p:sp>
      <p:pic>
        <p:nvPicPr>
          <p:cNvPr id="52" name="s37-snap-50" descr="s37-snap-50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01598" y="5772745"/>
            <a:ext cx="952202" cy="367010"/>
          </a:xfrm>
          <a:prstGeom prst="rect">
            <a:avLst/>
          </a:prstGeom>
        </p:spPr>
      </p:pic>
      <p:sp>
        <p:nvSpPr>
          <p:cNvPr id="53" name="s37-text-51"/>
          <p:cNvSpPr txBox="1"/>
          <p:nvPr/>
        </p:nvSpPr>
        <p:spPr>
          <a:xfrm>
            <a:off x="10807998" y="5797663"/>
            <a:ext cx="482302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altLang="en-US" sz="1300" b="1" dirty="0">
                <a:solidFill>
                  <a:srgbClr val="FFFFFF"/>
                </a:solidFill>
                <a:latin typeface="Sakkal Saad TN Trial Light"/>
                <a:cs typeface="Sakkal Saad TN Trial Light"/>
              </a:rPr>
              <a:t>Stories</a:t>
            </a:r>
            <a:endParaRPr lang="en-US" sz="1300" dirty="0"/>
          </a:p>
        </p:txBody>
      </p:sp>
      <p:sp>
        <p:nvSpPr>
          <p:cNvPr id="54" name="s37-shape-52"/>
          <p:cNvSpPr/>
          <p:nvPr/>
        </p:nvSpPr>
        <p:spPr>
          <a:xfrm>
            <a:off x="9555361" y="5815013"/>
            <a:ext cx="795437" cy="2825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5" name="s37-text-53"/>
          <p:cNvSpPr txBox="1"/>
          <p:nvPr/>
        </p:nvSpPr>
        <p:spPr>
          <a:xfrm>
            <a:off x="9568061" y="5807710"/>
            <a:ext cx="668437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625"/>
              </a:lnSpc>
              <a:buNone/>
            </a:pPr>
            <a:r>
              <a:rPr lang="ar-SA" altLang="en-US" sz="12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تجربة عميل</a:t>
            </a:r>
            <a:endParaRPr lang="ar-SA" sz="1250" dirty="0"/>
          </a:p>
        </p:txBody>
      </p:sp>
      <p:sp>
        <p:nvSpPr>
          <p:cNvPr id="56" name="s37-shape-54"/>
          <p:cNvSpPr/>
          <p:nvPr/>
        </p:nvSpPr>
        <p:spPr>
          <a:xfrm>
            <a:off x="8606135" y="5815013"/>
            <a:ext cx="860326" cy="2825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7" name="s37-text-55"/>
          <p:cNvSpPr txBox="1"/>
          <p:nvPr/>
        </p:nvSpPr>
        <p:spPr>
          <a:xfrm>
            <a:off x="8618835" y="5807710"/>
            <a:ext cx="73332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625"/>
              </a:lnSpc>
              <a:buNone/>
            </a:pPr>
            <a:r>
              <a:rPr lang="ar-SA" altLang="en-US" sz="12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مشروع تركيب</a:t>
            </a:r>
            <a:endParaRPr lang="ar-SA" sz="1250" dirty="0"/>
          </a:p>
        </p:txBody>
      </p:sp>
      <p:sp>
        <p:nvSpPr>
          <p:cNvPr id="58" name="s37-shape-56"/>
          <p:cNvSpPr/>
          <p:nvPr/>
        </p:nvSpPr>
        <p:spPr>
          <a:xfrm>
            <a:off x="7761188" y="5815013"/>
            <a:ext cx="756047" cy="2825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9" name="s37-text-57"/>
          <p:cNvSpPr txBox="1"/>
          <p:nvPr/>
        </p:nvSpPr>
        <p:spPr>
          <a:xfrm>
            <a:off x="7773888" y="5807710"/>
            <a:ext cx="629047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625"/>
              </a:lnSpc>
              <a:buNone/>
            </a:pPr>
            <a:r>
              <a:rPr lang="ar-SA" altLang="en-US" sz="12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عرض منتج</a:t>
            </a:r>
            <a:endParaRPr lang="ar-SA" sz="1250" dirty="0"/>
          </a:p>
        </p:txBody>
      </p:sp>
      <p:sp>
        <p:nvSpPr>
          <p:cNvPr id="60" name="s37-shape-58"/>
          <p:cNvSpPr/>
          <p:nvPr/>
        </p:nvSpPr>
        <p:spPr>
          <a:xfrm>
            <a:off x="6942931" y="5815013"/>
            <a:ext cx="729357" cy="2825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61" name="s37-text-59"/>
          <p:cNvSpPr txBox="1"/>
          <p:nvPr/>
        </p:nvSpPr>
        <p:spPr>
          <a:xfrm>
            <a:off x="6955631" y="5807710"/>
            <a:ext cx="602357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625"/>
              </a:lnSpc>
              <a:buNone/>
            </a:pPr>
            <a:r>
              <a:rPr lang="ar-SA" altLang="en-US" sz="12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عرض باقة</a:t>
            </a:r>
            <a:endParaRPr lang="ar-SA" sz="1250" dirty="0"/>
          </a:p>
        </p:txBody>
      </p:sp>
      <p:sp>
        <p:nvSpPr>
          <p:cNvPr id="62" name="s37-shape-60"/>
          <p:cNvSpPr/>
          <p:nvPr/>
        </p:nvSpPr>
        <p:spPr>
          <a:xfrm>
            <a:off x="6093718" y="5815013"/>
            <a:ext cx="760313" cy="2825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63" name="s37-text-61"/>
          <p:cNvSpPr txBox="1"/>
          <p:nvPr/>
        </p:nvSpPr>
        <p:spPr>
          <a:xfrm>
            <a:off x="6106418" y="5807710"/>
            <a:ext cx="63331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625"/>
              </a:lnSpc>
              <a:buNone/>
            </a:pPr>
            <a:r>
              <a:rPr lang="ar-SA" altLang="en-US" sz="12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سؤال اليوم</a:t>
            </a:r>
            <a:endParaRPr lang="ar-SA" sz="1250" dirty="0"/>
          </a:p>
        </p:txBody>
      </p:sp>
      <p:sp>
        <p:nvSpPr>
          <p:cNvPr id="64" name="s37-shape-62"/>
          <p:cNvSpPr/>
          <p:nvPr/>
        </p:nvSpPr>
        <p:spPr>
          <a:xfrm>
            <a:off x="5249962" y="5815013"/>
            <a:ext cx="754856" cy="2825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65" name="s37-text-63"/>
          <p:cNvSpPr txBox="1"/>
          <p:nvPr/>
        </p:nvSpPr>
        <p:spPr>
          <a:xfrm>
            <a:off x="5262662" y="5807710"/>
            <a:ext cx="62785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625"/>
              </a:lnSpc>
              <a:buNone/>
            </a:pPr>
            <a:r>
              <a:rPr lang="ar-SA" altLang="en-US" sz="12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رابط مباشر</a:t>
            </a:r>
            <a:endParaRPr lang="ar-SA" sz="1250" dirty="0"/>
          </a:p>
        </p:txBody>
      </p:sp>
      <p:sp>
        <p:nvSpPr>
          <p:cNvPr id="66" name="s37-shape-64"/>
          <p:cNvSpPr/>
          <p:nvPr/>
        </p:nvSpPr>
        <p:spPr>
          <a:xfrm>
            <a:off x="3878957" y="5815013"/>
            <a:ext cx="1282105" cy="2825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67" name="s37-text-65"/>
          <p:cNvSpPr txBox="1"/>
          <p:nvPr/>
        </p:nvSpPr>
        <p:spPr>
          <a:xfrm>
            <a:off x="3891657" y="5807710"/>
            <a:ext cx="115510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625"/>
              </a:lnSpc>
              <a:buNone/>
            </a:pPr>
            <a:r>
              <a:rPr lang="ar-SA" altLang="en-US" sz="12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CTA إلى WhatsApp .</a:t>
            </a:r>
            <a:endParaRPr lang="ar-SA" sz="12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3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4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0" dur="489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75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75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75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5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75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75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75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75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75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75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75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75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75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75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75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75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75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75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75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75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75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75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75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75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75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750" fill="hold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750" fill="hold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750" fill="hold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750" fill="hold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750" fill="hold" decel="10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750" fill="hold" decel="10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750" fill="hold" decel="100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750" fill="hold" decel="100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750" fill="hold" decel="100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750" fill="hold" decel="100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750" fill="hold" decel="100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750" fill="hold" decel="100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42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750" fill="hold" decel="100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750" fill="hold" decel="100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9" dur="750" fill="hold" decel="100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750" fill="hold" decel="100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42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750" fill="hold" decel="1000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750" fill="hold" decel="1000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42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9" dur="750" fill="hold" decel="100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750" fill="hold" decel="100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42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4" dur="750" fill="hold" decel="1000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750" fill="hold" decel="1000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42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6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9" dur="750" fill="hold" decel="100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750" fill="hold" decel="100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42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6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4" dur="750" fill="hold" decel="100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750" fill="hold" decel="100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6" presetID="42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6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9" dur="750" fill="hold" decel="100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750" fill="hold" decel="100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1" presetID="42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6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4" dur="750" fill="hold" decel="100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750" fill="hold" decel="100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6" presetID="42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6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9" dur="750" fill="hold" decel="100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750" fill="hold" decel="100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1" presetID="42" presetClass="entr" presetSubtype="0" fill="hold" grpId="0" nodeType="withEffect">
                                  <p:stCondLst>
                                    <p:cond delay="59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6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4" dur="750" fill="hold" decel="1000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750" fill="hold" decel="1000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6" presetID="42" presetClass="entr" presetSubtype="0" fill="hold" grpId="0" nodeType="withEffect">
                                  <p:stCondLst>
                                    <p:cond delay="59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6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9" dur="750" fill="hold" decel="1000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750" fill="hold" decel="1000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1" presetID="42" presetClass="entr" presetSubtype="0" fill="hold" grpId="0" nodeType="withEffect">
                                  <p:stCondLst>
                                    <p:cond delay="59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6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4" dur="750" fill="hold" decel="1000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750" fill="hold" decel="1000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6" presetID="42" presetClass="entr" presetSubtype="0" fill="hold" grpId="0" nodeType="withEffect">
                                  <p:stCondLst>
                                    <p:cond delay="59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6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9" dur="750" fill="hold" decel="1000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0" dur="750" fill="hold" decel="1000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1" presetID="42" presetClass="entr" presetSubtype="0" fill="hold" grpId="0" nodeType="withEffect">
                                  <p:stCondLst>
                                    <p:cond delay="59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6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4" dur="750" fill="hold" decel="1000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5" dur="750" fill="hold" decel="1000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6" presetID="42" presetClass="entr" presetSubtype="0" fill="hold" grpId="0" nodeType="withEffect">
                                  <p:stCondLst>
                                    <p:cond delay="59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6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9" dur="750" fill="hold" decel="1000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750" fill="hold" decel="1000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1" presetID="42" presetClass="entr" presetSubtype="0" fill="hold" grpId="0" nodeType="withEffect">
                                  <p:stCondLst>
                                    <p:cond delay="59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6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4" dur="750" fill="hold" decel="1000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5" dur="750" fill="hold" decel="1000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6" presetID="42" presetClass="entr" presetSubtype="0" fill="hold" grpId="0" nodeType="withEffect">
                                  <p:stCondLst>
                                    <p:cond delay="59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6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9" dur="750" fill="hold" decel="1000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0" dur="750" fill="hold" decel="1000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1" presetID="42" presetClass="entr" presetSubtype="0" fill="hold" grpId="0" nodeType="withEffect">
                                  <p:stCondLst>
                                    <p:cond delay="59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3" dur="6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4" dur="750" fill="hold" decel="1000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5" dur="750" fill="hold" decel="1000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6" presetID="42" presetClass="entr" presetSubtype="0" fill="hold" grpId="0" nodeType="withEffect">
                                  <p:stCondLst>
                                    <p:cond delay="59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6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9" dur="750" fill="hold" decel="1000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0" dur="750" fill="hold" decel="1000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1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6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4" dur="750" fill="hold" decel="1000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5" dur="750" fill="hold" decel="1000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6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8" dur="6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9" dur="750" fill="hold" decel="1000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0" dur="750" fill="hold" decel="1000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1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3" dur="6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4" dur="750" fill="hold" decel="10000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5" dur="750" fill="hold" decel="10000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6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8" dur="27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9" dur="6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0" dur="6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1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3" dur="27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4" dur="6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5" dur="6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6" presetID="53" presetClass="entr" presetSubtype="16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8" dur="27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9" dur="6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0" dur="6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1" presetID="53" presetClass="entr" presetSubtype="16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3" dur="27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4" dur="6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5" dur="6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6" presetID="53" presetClass="entr" presetSubtype="16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8" dur="27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9" dur="6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0" dur="6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1" presetID="53" presetClass="entr" presetSubtype="16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3" dur="27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4" dur="6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5" dur="6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6" presetID="53" presetClass="entr" presetSubtype="16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8" dur="27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9" dur="6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0" dur="6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1" presetID="53" presetClass="entr" presetSubtype="16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3" dur="27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4" dur="6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5" dur="6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6" presetID="53" presetClass="entr" presetSubtype="16" fill="hold" grpId="0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8" dur="27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9" dur="6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0" dur="6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1" presetID="53" presetClass="entr" presetSubtype="16" fill="hold" grpId="0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3" dur="27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4" dur="6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5" dur="6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6" presetID="53" presetClass="entr" presetSubtype="16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8" dur="27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9" dur="6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0" dur="6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1" presetID="53" presetClass="entr" presetSubtype="16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3" dur="27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4" dur="6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5" dur="6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6" presetID="53" presetClass="entr" presetSubtype="16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8" dur="27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9" dur="6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0" dur="6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1" presetID="53" presetClass="entr" presetSubtype="16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3" dur="27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4" dur="6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5" dur="6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/>
      <p:bldP spid="11" grpId="0" animBg="1"/>
      <p:bldP spid="12" grpId="0" animBg="1"/>
      <p:bldP spid="13" grpId="0"/>
      <p:bldP spid="15" grpId="0"/>
      <p:bldP spid="16" grpId="0"/>
      <p:bldP spid="17" grpId="0"/>
      <p:bldP spid="18" grpId="0"/>
      <p:bldP spid="19" grpId="0"/>
      <p:bldP spid="20" grpId="0"/>
      <p:bldP spid="21" grpId="0" animBg="1"/>
      <p:bldP spid="22" grpId="0" animBg="1"/>
      <p:bldP spid="23" grpId="0"/>
      <p:bldP spid="25" grpId="0"/>
      <p:bldP spid="26" grpId="0"/>
      <p:bldP spid="27" grpId="0"/>
      <p:bldP spid="28" grpId="0"/>
      <p:bldP spid="29" grpId="0"/>
      <p:bldP spid="30" grpId="0"/>
      <p:bldP spid="31" grpId="0" animBg="1"/>
      <p:bldP spid="32" grpId="0" animBg="1"/>
      <p:bldP spid="33" grpId="0"/>
      <p:bldP spid="35" grpId="0"/>
      <p:bldP spid="36" grpId="0"/>
      <p:bldP spid="37" grpId="0"/>
      <p:bldP spid="38" grpId="0"/>
      <p:bldP spid="39" grpId="0"/>
      <p:bldP spid="40" grpId="0"/>
      <p:bldP spid="41" grpId="0" animBg="1"/>
      <p:bldP spid="42" grpId="0" animBg="1"/>
      <p:bldP spid="43" grpId="0"/>
      <p:bldP spid="45" grpId="0"/>
      <p:bldP spid="46" grpId="0"/>
      <p:bldP spid="47" grpId="0"/>
      <p:bldP spid="48" grpId="0"/>
      <p:bldP spid="49" grpId="0"/>
      <p:bldP spid="50" grpId="0"/>
      <p:bldP spid="51" grpId="0" animBg="1"/>
      <p:bldP spid="53" grpId="0"/>
      <p:bldP spid="54" grpId="0" animBg="1"/>
      <p:bldP spid="55" grpId="0"/>
      <p:bldP spid="56" grpId="0" animBg="1"/>
      <p:bldP spid="57" grpId="0"/>
      <p:bldP spid="58" grpId="0" animBg="1"/>
      <p:bldP spid="59" grpId="0"/>
      <p:bldP spid="60" grpId="0" animBg="1"/>
      <p:bldP spid="61" grpId="0"/>
      <p:bldP spid="62" grpId="0" animBg="1"/>
      <p:bldP spid="63" grpId="0"/>
      <p:bldP spid="64" grpId="0" animBg="1"/>
      <p:bldP spid="65" grpId="0"/>
      <p:bldP spid="66" grpId="0" animBg="1"/>
      <p:bldP spid="67" grpId="0"/>
    </p:bldLst>
  </p:timing>
</p:sld>
</file>

<file path=ppt/slides/slide38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lens"/>
          <p:cNvSpPr/>
          <p:nvPr/>
        </p:nvSpPr>
        <p:spPr>
          <a:xfrm>
            <a:off x="368300" y="127000"/>
            <a:ext cx="1206500" cy="1206500"/>
          </a:xfrm>
          <a:prstGeom prst="ellipse">
            <a:avLst/>
          </a:prstGeom>
          <a:solidFill>
            <a:srgbClr val="EEF2EF"/>
          </a:solidFill>
          <a:ln/>
        </p:spPr>
      </p:sp>
      <p:pic>
        <p:nvPicPr>
          <p:cNvPr id="3" name="!!mt" descr="شعار نظرة ثماني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-5400000">
            <a:off x="543520" y="459333"/>
            <a:ext cx="546100" cy="533400"/>
          </a:xfrm>
          <a:prstGeom prst="rect">
            <a:avLst/>
          </a:prstGeom>
        </p:spPr>
      </p:pic>
      <p:pic>
        <p:nvPicPr>
          <p:cNvPr id="4" name="!!mb" descr="شعار نظرة ثمانية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5400000">
            <a:off x="850156" y="480913"/>
            <a:ext cx="527050" cy="520700"/>
          </a:xfrm>
          <a:prstGeom prst="rect">
            <a:avLst/>
          </a:prstGeom>
        </p:spPr>
      </p:pic>
      <p:pic>
        <p:nvPicPr>
          <p:cNvPr id="5" name="!!ma" descr="شعار نظرة ثمانية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5400000">
            <a:off x="727373" y="648940"/>
            <a:ext cx="95250" cy="82550"/>
          </a:xfrm>
          <a:prstGeom prst="rect">
            <a:avLst/>
          </a:prstGeom>
        </p:spPr>
      </p:pic>
      <p:pic>
        <p:nvPicPr>
          <p:cNvPr id="6" name="!!hud" descr="!!hu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800" y="177800"/>
            <a:ext cx="11836400" cy="6502400"/>
          </a:xfrm>
          <a:prstGeom prst="rect">
            <a:avLst/>
          </a:prstGeom>
        </p:spPr>
      </p:pic>
      <p:sp>
        <p:nvSpPr>
          <p:cNvPr id="7" name="!!rec"/>
          <p:cNvSpPr/>
          <p:nvPr/>
        </p:nvSpPr>
        <p:spPr>
          <a:xfrm>
            <a:off x="635000" y="6337300"/>
            <a:ext cx="101600" cy="101600"/>
          </a:xfrm>
          <a:prstGeom prst="ellipse">
            <a:avLst/>
          </a:prstGeom>
          <a:solidFill>
            <a:srgbClr val="FF8D26"/>
          </a:solidFill>
          <a:ln/>
        </p:spPr>
      </p:sp>
      <p:sp>
        <p:nvSpPr>
          <p:cNvPr id="8" name="!!num"/>
          <p:cNvSpPr txBox="1"/>
          <p:nvPr/>
        </p:nvSpPr>
        <p:spPr>
          <a:xfrm>
            <a:off x="825500" y="6281750"/>
            <a:ext cx="687487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altLang="en-US" sz="1200" dirty="0">
                <a:solidFill>
                  <a:srgbClr val="5E6D7C"/>
                </a:solidFill>
                <a:latin typeface="Sakkal Saad TN Trial Light"/>
                <a:cs typeface="Sakkal Saad TN Trial Light"/>
              </a:rPr>
              <a:t>REC · 38</a:t>
            </a:r>
            <a:endParaRPr lang="en-US" sz="1200" dirty="0"/>
          </a:p>
        </p:txBody>
      </p:sp>
      <p:sp>
        <p:nvSpPr>
          <p:cNvPr id="9" name="!!kick"/>
          <p:cNvSpPr txBox="1"/>
          <p:nvPr/>
        </p:nvSpPr>
        <p:spPr>
          <a:xfrm>
            <a:off x="9821712" y="318834"/>
            <a:ext cx="1735288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ar-SA" altLang="en-US" sz="1500" b="1" dirty="0">
                <a:solidFill>
                  <a:srgbClr val="43644B"/>
                </a:solidFill>
                <a:latin typeface="Sakkal Saad TN Trial Light"/>
                <a:cs typeface="Sakkal Saad TN Trial Light"/>
              </a:rPr>
              <a:t>08</a:t>
            </a:r>
            <a:r>
              <a:rPr lang="ar-SA" altLang="en-US" sz="1500" dirty="0">
                <a:solidFill>
                  <a:srgbClr val="E9720C"/>
                </a:solidFill>
                <a:latin typeface="Sakkal Saad TN Trial Light"/>
                <a:cs typeface="Sakkal Saad TN Trial Light"/>
              </a:rPr>
              <a:t> خطة المحتوى التسويقي</a:t>
            </a:r>
            <a:endParaRPr lang="ar-SA" sz="1500" dirty="0"/>
          </a:p>
        </p:txBody>
      </p:sp>
      <p:sp>
        <p:nvSpPr>
          <p:cNvPr id="10" name="s38-text-8"/>
          <p:cNvSpPr txBox="1"/>
          <p:nvPr/>
        </p:nvSpPr>
        <p:spPr>
          <a:xfrm>
            <a:off x="7400516" y="695134"/>
            <a:ext cx="4156484" cy="702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5130"/>
              </a:lnSpc>
              <a:buNone/>
            </a:pPr>
            <a:r>
              <a:rPr lang="ar-SA" altLang="en-US" sz="3800" b="1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توزيع المحتوى خلال الشهر</a:t>
            </a:r>
            <a:endParaRPr lang="ar-SA" sz="3800" dirty="0"/>
          </a:p>
        </p:txBody>
      </p:sp>
      <p:graphicFrame>
        <p:nvGraphicFramePr>
          <p:cNvPr id="11" name="s38-chart-9" descr=""/>
          <p:cNvGraphicFramePr/>
          <p:nvPr/>
        </p:nvGraphicFramePr>
        <p:xfrm>
          <a:off x="952500" y="1905000"/>
          <a:ext cx="4064000" cy="4064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pic>
        <p:nvPicPr>
          <p:cNvPr id="12" name="s38-asset-10" descr="شعار نظرة ثمانية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67050" y="3460750"/>
            <a:ext cx="635000" cy="952500"/>
          </a:xfrm>
          <a:prstGeom prst="rect">
            <a:avLst/>
          </a:prstGeom>
        </p:spPr>
      </p:pic>
      <p:sp>
        <p:nvSpPr>
          <p:cNvPr id="13" name="s38-text-11"/>
          <p:cNvSpPr txBox="1"/>
          <p:nvPr/>
        </p:nvSpPr>
        <p:spPr>
          <a:xfrm>
            <a:off x="10312400" y="1963776"/>
            <a:ext cx="11811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3600"/>
              </a:lnSpc>
              <a:buNone/>
            </a:pPr>
            <a:r>
              <a:rPr lang="ar-SA" altLang="en-US" sz="3600" b="1" dirty="0">
                <a:solidFill>
                  <a:srgbClr val="43644B"/>
                </a:solidFill>
                <a:latin typeface="Sakkal Saad TN Trial Light"/>
                <a:cs typeface="Sakkal Saad TN Trial Light"/>
              </a:rPr>
              <a:t>30%</a:t>
            </a:r>
            <a:endParaRPr lang="ar-SA" sz="3600" dirty="0"/>
          </a:p>
        </p:txBody>
      </p:sp>
      <p:sp>
        <p:nvSpPr>
          <p:cNvPr id="14" name="s38-text-12"/>
          <p:cNvSpPr txBox="1"/>
          <p:nvPr/>
        </p:nvSpPr>
        <p:spPr>
          <a:xfrm>
            <a:off x="5217160" y="1956491"/>
            <a:ext cx="5006340" cy="364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470"/>
              </a:lnSpc>
              <a:buNone/>
            </a:pPr>
            <a:r>
              <a:rPr lang="ar-SA" altLang="en-US" sz="19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تعليمي وتوعوي</a:t>
            </a:r>
            <a:endParaRPr lang="ar-SA" sz="1900" dirty="0"/>
          </a:p>
        </p:txBody>
      </p:sp>
      <p:sp>
        <p:nvSpPr>
          <p:cNvPr id="15" name="s38-shape-13"/>
          <p:cNvSpPr/>
          <p:nvPr/>
        </p:nvSpPr>
        <p:spPr>
          <a:xfrm>
            <a:off x="5588000" y="2417366"/>
            <a:ext cx="4635500" cy="101600"/>
          </a:xfrm>
          <a:prstGeom prst="roundRect">
            <a:avLst>
              <a:gd name="adj" fmla="val 50000"/>
            </a:avLst>
          </a:prstGeom>
          <a:solidFill>
            <a:srgbClr val="EEF2EF"/>
          </a:solidFill>
          <a:ln/>
        </p:spPr>
      </p:sp>
      <p:sp>
        <p:nvSpPr>
          <p:cNvPr id="16" name="s38-shape-14"/>
          <p:cNvSpPr/>
          <p:nvPr/>
        </p:nvSpPr>
        <p:spPr>
          <a:xfrm>
            <a:off x="5588000" y="2417366"/>
            <a:ext cx="4635500" cy="101600"/>
          </a:xfrm>
          <a:prstGeom prst="roundRect">
            <a:avLst>
              <a:gd name="adj" fmla="val 50000"/>
            </a:avLst>
          </a:prstGeom>
          <a:solidFill>
            <a:srgbClr val="43644B"/>
          </a:solidFill>
          <a:ln/>
        </p:spPr>
      </p:sp>
      <p:sp>
        <p:nvSpPr>
          <p:cNvPr id="17" name="s38-text-15"/>
          <p:cNvSpPr txBox="1"/>
          <p:nvPr/>
        </p:nvSpPr>
        <p:spPr>
          <a:xfrm>
            <a:off x="10312400" y="2801976"/>
            <a:ext cx="11811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3600"/>
              </a:lnSpc>
              <a:buNone/>
            </a:pPr>
            <a:r>
              <a:rPr lang="ar-SA" altLang="en-US" sz="3600" b="1" dirty="0">
                <a:solidFill>
                  <a:srgbClr val="FF8D26"/>
                </a:solidFill>
                <a:latin typeface="Sakkal Saad TN Trial Light"/>
                <a:cs typeface="Sakkal Saad TN Trial Light"/>
              </a:rPr>
              <a:t>25%</a:t>
            </a:r>
            <a:endParaRPr lang="ar-SA" sz="3600" dirty="0"/>
          </a:p>
        </p:txBody>
      </p:sp>
      <p:sp>
        <p:nvSpPr>
          <p:cNvPr id="18" name="s38-text-16"/>
          <p:cNvSpPr txBox="1"/>
          <p:nvPr/>
        </p:nvSpPr>
        <p:spPr>
          <a:xfrm>
            <a:off x="5217160" y="2794691"/>
            <a:ext cx="5006340" cy="364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470"/>
              </a:lnSpc>
              <a:buNone/>
            </a:pPr>
            <a:r>
              <a:rPr lang="ar-SA" altLang="en-US" sz="19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حلول ومشكلات العملاء</a:t>
            </a:r>
            <a:endParaRPr lang="ar-SA" sz="1900" dirty="0"/>
          </a:p>
        </p:txBody>
      </p:sp>
      <p:sp>
        <p:nvSpPr>
          <p:cNvPr id="19" name="s38-shape-17"/>
          <p:cNvSpPr/>
          <p:nvPr/>
        </p:nvSpPr>
        <p:spPr>
          <a:xfrm>
            <a:off x="5588000" y="3255566"/>
            <a:ext cx="4635500" cy="101600"/>
          </a:xfrm>
          <a:prstGeom prst="roundRect">
            <a:avLst>
              <a:gd name="adj" fmla="val 50000"/>
            </a:avLst>
          </a:prstGeom>
          <a:solidFill>
            <a:srgbClr val="EEF2EF"/>
          </a:solidFill>
          <a:ln/>
        </p:spPr>
      </p:sp>
      <p:sp>
        <p:nvSpPr>
          <p:cNvPr id="20" name="s38-shape-18"/>
          <p:cNvSpPr/>
          <p:nvPr/>
        </p:nvSpPr>
        <p:spPr>
          <a:xfrm>
            <a:off x="6376095" y="3255566"/>
            <a:ext cx="3847405" cy="101600"/>
          </a:xfrm>
          <a:prstGeom prst="roundRect">
            <a:avLst>
              <a:gd name="adj" fmla="val 50000"/>
            </a:avLst>
          </a:prstGeom>
          <a:solidFill>
            <a:srgbClr val="FF8D26"/>
          </a:solidFill>
          <a:ln/>
        </p:spPr>
      </p:sp>
      <p:sp>
        <p:nvSpPr>
          <p:cNvPr id="21" name="s38-text-19"/>
          <p:cNvSpPr txBox="1"/>
          <p:nvPr/>
        </p:nvSpPr>
        <p:spPr>
          <a:xfrm>
            <a:off x="10312400" y="3640176"/>
            <a:ext cx="11811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3600"/>
              </a:lnSpc>
              <a:buNone/>
            </a:pPr>
            <a:r>
              <a:rPr lang="ar-SA" altLang="en-US" sz="3600" b="1" dirty="0">
                <a:solidFill>
                  <a:srgbClr val="E9720C"/>
                </a:solidFill>
                <a:latin typeface="Sakkal Saad TN Trial Light"/>
                <a:cs typeface="Sakkal Saad TN Trial Light"/>
              </a:rPr>
              <a:t>20%</a:t>
            </a:r>
            <a:endParaRPr lang="ar-SA" sz="3600" dirty="0"/>
          </a:p>
        </p:txBody>
      </p:sp>
      <p:sp>
        <p:nvSpPr>
          <p:cNvPr id="22" name="s38-text-20"/>
          <p:cNvSpPr txBox="1"/>
          <p:nvPr/>
        </p:nvSpPr>
        <p:spPr>
          <a:xfrm>
            <a:off x="5217160" y="3632891"/>
            <a:ext cx="5006340" cy="364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470"/>
              </a:lnSpc>
              <a:buNone/>
            </a:pPr>
            <a:r>
              <a:rPr lang="ar-SA" altLang="en-US" sz="19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بناء ثقة ومشاريع وتجارب</a:t>
            </a:r>
            <a:endParaRPr lang="ar-SA" sz="1900" dirty="0"/>
          </a:p>
        </p:txBody>
      </p:sp>
      <p:sp>
        <p:nvSpPr>
          <p:cNvPr id="23" name="s38-shape-21"/>
          <p:cNvSpPr/>
          <p:nvPr/>
        </p:nvSpPr>
        <p:spPr>
          <a:xfrm>
            <a:off x="5588000" y="4093766"/>
            <a:ext cx="4635500" cy="101600"/>
          </a:xfrm>
          <a:prstGeom prst="roundRect">
            <a:avLst>
              <a:gd name="adj" fmla="val 50000"/>
            </a:avLst>
          </a:prstGeom>
          <a:solidFill>
            <a:srgbClr val="EEF2EF"/>
          </a:solidFill>
          <a:ln/>
        </p:spPr>
      </p:sp>
      <p:sp>
        <p:nvSpPr>
          <p:cNvPr id="24" name="s38-shape-22"/>
          <p:cNvSpPr/>
          <p:nvPr/>
        </p:nvSpPr>
        <p:spPr>
          <a:xfrm>
            <a:off x="7117755" y="4093766"/>
            <a:ext cx="3105745" cy="101600"/>
          </a:xfrm>
          <a:prstGeom prst="roundRect">
            <a:avLst>
              <a:gd name="adj" fmla="val 50000"/>
            </a:avLst>
          </a:prstGeom>
          <a:solidFill>
            <a:srgbClr val="F6C342"/>
          </a:solidFill>
          <a:ln/>
        </p:spPr>
      </p:sp>
      <p:sp>
        <p:nvSpPr>
          <p:cNvPr id="25" name="s38-text-23"/>
          <p:cNvSpPr txBox="1"/>
          <p:nvPr/>
        </p:nvSpPr>
        <p:spPr>
          <a:xfrm>
            <a:off x="10312400" y="4478376"/>
            <a:ext cx="11811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3600"/>
              </a:lnSpc>
              <a:buNone/>
            </a:pPr>
            <a:r>
              <a:rPr lang="ar-SA" altLang="en-US" sz="3600" b="1" dirty="0">
                <a:solidFill>
                  <a:srgbClr val="A1B2A5"/>
                </a:solidFill>
                <a:latin typeface="Sakkal Saad TN Trial Light"/>
                <a:cs typeface="Sakkal Saad TN Trial Light"/>
              </a:rPr>
              <a:t>20%</a:t>
            </a:r>
            <a:endParaRPr lang="ar-SA" sz="3600" dirty="0"/>
          </a:p>
        </p:txBody>
      </p:sp>
      <p:sp>
        <p:nvSpPr>
          <p:cNvPr id="26" name="s38-text-24"/>
          <p:cNvSpPr txBox="1"/>
          <p:nvPr/>
        </p:nvSpPr>
        <p:spPr>
          <a:xfrm>
            <a:off x="5217160" y="4471091"/>
            <a:ext cx="5006340" cy="364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470"/>
              </a:lnSpc>
              <a:buNone/>
            </a:pPr>
            <a:r>
              <a:rPr lang="ar-SA" altLang="en-US" sz="19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منتجات وباقات ومبيعات</a:t>
            </a:r>
            <a:endParaRPr lang="ar-SA" sz="1900" dirty="0"/>
          </a:p>
        </p:txBody>
      </p:sp>
      <p:sp>
        <p:nvSpPr>
          <p:cNvPr id="27" name="s38-shape-25"/>
          <p:cNvSpPr/>
          <p:nvPr/>
        </p:nvSpPr>
        <p:spPr>
          <a:xfrm>
            <a:off x="5588000" y="4931966"/>
            <a:ext cx="4635500" cy="101600"/>
          </a:xfrm>
          <a:prstGeom prst="roundRect">
            <a:avLst>
              <a:gd name="adj" fmla="val 50000"/>
            </a:avLst>
          </a:prstGeom>
          <a:solidFill>
            <a:srgbClr val="EEF2EF"/>
          </a:solidFill>
          <a:ln/>
        </p:spPr>
      </p:sp>
      <p:sp>
        <p:nvSpPr>
          <p:cNvPr id="28" name="s38-shape-26"/>
          <p:cNvSpPr/>
          <p:nvPr/>
        </p:nvSpPr>
        <p:spPr>
          <a:xfrm>
            <a:off x="7117755" y="4931966"/>
            <a:ext cx="3105745" cy="101600"/>
          </a:xfrm>
          <a:prstGeom prst="roundRect">
            <a:avLst>
              <a:gd name="adj" fmla="val 50000"/>
            </a:avLst>
          </a:prstGeom>
          <a:solidFill>
            <a:srgbClr val="A1B2A5"/>
          </a:solidFill>
          <a:ln/>
        </p:spPr>
      </p:sp>
      <p:sp>
        <p:nvSpPr>
          <p:cNvPr id="29" name="s38-text-27"/>
          <p:cNvSpPr txBox="1"/>
          <p:nvPr/>
        </p:nvSpPr>
        <p:spPr>
          <a:xfrm>
            <a:off x="10312400" y="5316576"/>
            <a:ext cx="11811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3600"/>
              </a:lnSpc>
              <a:buNone/>
            </a:pPr>
            <a:r>
              <a:rPr lang="ar-SA" altLang="en-US" sz="3600" b="1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5%</a:t>
            </a:r>
            <a:endParaRPr lang="ar-SA" sz="3600" dirty="0"/>
          </a:p>
        </p:txBody>
      </p:sp>
      <p:sp>
        <p:nvSpPr>
          <p:cNvPr id="30" name="s38-text-28"/>
          <p:cNvSpPr txBox="1"/>
          <p:nvPr/>
        </p:nvSpPr>
        <p:spPr>
          <a:xfrm>
            <a:off x="5217160" y="5309291"/>
            <a:ext cx="5006340" cy="364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470"/>
              </a:lnSpc>
              <a:buNone/>
            </a:pPr>
            <a:r>
              <a:rPr lang="ar-SA" altLang="en-US" sz="19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محتوى تفاعلي</a:t>
            </a:r>
            <a:endParaRPr lang="ar-SA" sz="1900" dirty="0"/>
          </a:p>
        </p:txBody>
      </p:sp>
      <p:sp>
        <p:nvSpPr>
          <p:cNvPr id="31" name="s38-shape-29"/>
          <p:cNvSpPr/>
          <p:nvPr/>
        </p:nvSpPr>
        <p:spPr>
          <a:xfrm>
            <a:off x="5588000" y="5770166"/>
            <a:ext cx="4635500" cy="101600"/>
          </a:xfrm>
          <a:prstGeom prst="roundRect">
            <a:avLst>
              <a:gd name="adj" fmla="val 50000"/>
            </a:avLst>
          </a:prstGeom>
          <a:solidFill>
            <a:srgbClr val="EEF2EF"/>
          </a:solidFill>
          <a:ln/>
        </p:spPr>
      </p:sp>
      <p:sp>
        <p:nvSpPr>
          <p:cNvPr id="32" name="s38-shape-30"/>
          <p:cNvSpPr/>
          <p:nvPr/>
        </p:nvSpPr>
        <p:spPr>
          <a:xfrm>
            <a:off x="9435505" y="5770166"/>
            <a:ext cx="787995" cy="101600"/>
          </a:xfrm>
          <a:prstGeom prst="roundRect">
            <a:avLst>
              <a:gd name="adj" fmla="val 50000"/>
            </a:avLst>
          </a:prstGeom>
          <a:solidFill>
            <a:srgbClr val="1E2A36"/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3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4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0" dur="489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1" presetClass="entr" presetSubtype="1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1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75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5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75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75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75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75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5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75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75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75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75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2" presetClass="entr" presetSubtype="2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47" dur="489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75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75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75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75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75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75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2" presetClass="entr" presetSubtype="2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5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66" dur="489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750" fill="hold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750" fill="hold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750" fill="hold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750" fill="hold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750" fill="hold" decel="10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750" fill="hold" decel="10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22" presetClass="entr" presetSubtype="2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4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85" dur="489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750" fill="hold" decel="100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750" fill="hold" decel="100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750" fill="hold" decel="100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750" fill="hold" decel="100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750" fill="hold" decel="100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750" fill="hold" decel="100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2" presetClass="entr" presetSubtype="2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3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04" dur="489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2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7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08" dur="489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53" presetClass="entr" presetSubtype="16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27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/>
      <p:bldGraphic spid="11" grpId="0">
        <p:bldAsOne/>
      </p:bldGraphic>
      <p:bldP spid="13" grpId="0"/>
      <p:bldP spid="14" grpId="0"/>
      <p:bldP spid="15" grpId="0" animBg="1"/>
      <p:bldP spid="17" grpId="0"/>
      <p:bldP spid="18" grpId="0"/>
      <p:bldP spid="19" grpId="0" animBg="1"/>
      <p:bldP spid="16" grpId="0" animBg="1"/>
      <p:bldP spid="21" grpId="0"/>
      <p:bldP spid="22" grpId="0"/>
      <p:bldP spid="23" grpId="0" animBg="1"/>
      <p:bldP spid="20" grpId="0" animBg="1"/>
      <p:bldP spid="25" grpId="0"/>
      <p:bldP spid="26" grpId="0"/>
      <p:bldP spid="27" grpId="0" animBg="1"/>
      <p:bldP spid="24" grpId="0" animBg="1"/>
      <p:bldP spid="29" grpId="0"/>
      <p:bldP spid="30" grpId="0"/>
      <p:bldP spid="31" grpId="0" animBg="1"/>
      <p:bldP spid="28" grpId="0" animBg="1"/>
      <p:bldP spid="32" grpId="0" animBg="1"/>
    </p:bldLst>
  </p:timing>
</p:sld>
</file>

<file path=ppt/slides/slide39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lens"/>
          <p:cNvSpPr/>
          <p:nvPr/>
        </p:nvSpPr>
        <p:spPr>
          <a:xfrm>
            <a:off x="368300" y="127000"/>
            <a:ext cx="1206500" cy="1206500"/>
          </a:xfrm>
          <a:prstGeom prst="ellipse">
            <a:avLst/>
          </a:prstGeom>
          <a:solidFill>
            <a:srgbClr val="EEF2EF"/>
          </a:solidFill>
          <a:ln/>
        </p:spPr>
      </p:sp>
      <p:pic>
        <p:nvPicPr>
          <p:cNvPr id="3" name="!!mt" descr="شعار نظرة ثماني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-2700000">
            <a:off x="589260" y="357733"/>
            <a:ext cx="546100" cy="533400"/>
          </a:xfrm>
          <a:prstGeom prst="rect">
            <a:avLst/>
          </a:prstGeom>
        </p:spPr>
      </p:pic>
      <p:pic>
        <p:nvPicPr>
          <p:cNvPr id="4" name="!!mb" descr="شعار نظرة ثمانية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2700000">
            <a:off x="798165" y="585093"/>
            <a:ext cx="527050" cy="520700"/>
          </a:xfrm>
          <a:prstGeom prst="rect">
            <a:avLst/>
          </a:prstGeom>
        </p:spPr>
      </p:pic>
      <p:pic>
        <p:nvPicPr>
          <p:cNvPr id="5" name="!!ma" descr="شعار نظرة ثمانية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2700000">
            <a:off x="810518" y="528290"/>
            <a:ext cx="95250" cy="82550"/>
          </a:xfrm>
          <a:prstGeom prst="rect">
            <a:avLst/>
          </a:prstGeom>
        </p:spPr>
      </p:pic>
      <p:pic>
        <p:nvPicPr>
          <p:cNvPr id="6" name="!!hud" descr="!!hu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800" y="177800"/>
            <a:ext cx="11836400" cy="6502400"/>
          </a:xfrm>
          <a:prstGeom prst="rect">
            <a:avLst/>
          </a:prstGeom>
        </p:spPr>
      </p:pic>
      <p:sp>
        <p:nvSpPr>
          <p:cNvPr id="7" name="!!rec"/>
          <p:cNvSpPr/>
          <p:nvPr/>
        </p:nvSpPr>
        <p:spPr>
          <a:xfrm>
            <a:off x="635000" y="6337300"/>
            <a:ext cx="101600" cy="101600"/>
          </a:xfrm>
          <a:prstGeom prst="ellipse">
            <a:avLst/>
          </a:prstGeom>
          <a:solidFill>
            <a:srgbClr val="FF8D26"/>
          </a:solidFill>
          <a:ln/>
        </p:spPr>
      </p:sp>
      <p:sp>
        <p:nvSpPr>
          <p:cNvPr id="8" name="!!num"/>
          <p:cNvSpPr txBox="1"/>
          <p:nvPr/>
        </p:nvSpPr>
        <p:spPr>
          <a:xfrm>
            <a:off x="825500" y="6281750"/>
            <a:ext cx="690166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altLang="en-US" sz="1200" dirty="0">
                <a:solidFill>
                  <a:srgbClr val="5E6D7C"/>
                </a:solidFill>
                <a:latin typeface="Sakkal Saad TN Trial Light"/>
                <a:cs typeface="Sakkal Saad TN Trial Light"/>
              </a:rPr>
              <a:t>REC · 39</a:t>
            </a:r>
            <a:endParaRPr lang="en-US" sz="1200" dirty="0"/>
          </a:p>
        </p:txBody>
      </p:sp>
      <p:sp>
        <p:nvSpPr>
          <p:cNvPr id="9" name="!!kick"/>
          <p:cNvSpPr txBox="1"/>
          <p:nvPr/>
        </p:nvSpPr>
        <p:spPr>
          <a:xfrm>
            <a:off x="9821712" y="318834"/>
            <a:ext cx="1735288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ar-SA" altLang="en-US" sz="1500" b="1" dirty="0">
                <a:solidFill>
                  <a:srgbClr val="43644B"/>
                </a:solidFill>
                <a:latin typeface="Sakkal Saad TN Trial Light"/>
                <a:cs typeface="Sakkal Saad TN Trial Light"/>
              </a:rPr>
              <a:t>08</a:t>
            </a:r>
            <a:r>
              <a:rPr lang="ar-SA" altLang="en-US" sz="1500" dirty="0">
                <a:solidFill>
                  <a:srgbClr val="E9720C"/>
                </a:solidFill>
                <a:latin typeface="Sakkal Saad TN Trial Light"/>
                <a:cs typeface="Sakkal Saad TN Trial Light"/>
              </a:rPr>
              <a:t> خطة المحتوى التسويقي</a:t>
            </a:r>
            <a:endParaRPr lang="ar-SA" sz="1500" dirty="0"/>
          </a:p>
        </p:txBody>
      </p:sp>
      <p:sp>
        <p:nvSpPr>
          <p:cNvPr id="10" name="s39-text-8"/>
          <p:cNvSpPr txBox="1"/>
          <p:nvPr/>
        </p:nvSpPr>
        <p:spPr>
          <a:xfrm>
            <a:off x="7322614" y="695134"/>
            <a:ext cx="4234386" cy="702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5130"/>
              </a:lnSpc>
              <a:buNone/>
            </a:pPr>
            <a:r>
              <a:rPr lang="ar-SA" altLang="en-US" sz="3800" b="1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مسار المحتوى نحو المبيعات</a:t>
            </a:r>
            <a:endParaRPr lang="ar-SA" sz="3800" dirty="0"/>
          </a:p>
        </p:txBody>
      </p:sp>
      <p:sp>
        <p:nvSpPr>
          <p:cNvPr id="11" name="s39-shape-9"/>
          <p:cNvSpPr/>
          <p:nvPr/>
        </p:nvSpPr>
        <p:spPr>
          <a:xfrm>
            <a:off x="9486900" y="1905000"/>
            <a:ext cx="2006600" cy="1905000"/>
          </a:xfrm>
          <a:prstGeom prst="roundRect">
            <a:avLst>
              <a:gd name="adj" fmla="val 13333"/>
            </a:avLst>
          </a:prstGeom>
          <a:solidFill>
            <a:srgbClr val="43644B"/>
          </a:solidFill>
          <a:ln/>
        </p:spPr>
      </p:sp>
      <p:pic>
        <p:nvPicPr>
          <p:cNvPr id="12" name="s39-snap-10" descr="s39-snap-10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44200" y="2057400"/>
            <a:ext cx="609600" cy="609600"/>
          </a:xfrm>
          <a:prstGeom prst="rect">
            <a:avLst/>
          </a:prstGeom>
        </p:spPr>
      </p:pic>
      <p:sp>
        <p:nvSpPr>
          <p:cNvPr id="13" name="s39-text-11"/>
          <p:cNvSpPr txBox="1"/>
          <p:nvPr/>
        </p:nvSpPr>
        <p:spPr>
          <a:xfrm>
            <a:off x="9563100" y="2161273"/>
            <a:ext cx="37832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300"/>
              </a:lnSpc>
              <a:buNone/>
            </a:pPr>
            <a:r>
              <a:rPr lang="ar-SA" altLang="en-US" sz="2300" b="1" dirty="0">
                <a:solidFill>
                  <a:srgbClr val="98AA9C"/>
                </a:solidFill>
                <a:latin typeface="Sakkal Saad TN Trial Light"/>
                <a:cs typeface="Sakkal Saad TN Trial Light"/>
              </a:rPr>
              <a:t>01</a:t>
            </a:r>
            <a:endParaRPr lang="ar-SA" sz="2300" dirty="0"/>
          </a:p>
        </p:txBody>
      </p:sp>
      <p:sp>
        <p:nvSpPr>
          <p:cNvPr id="14" name="s39-text-12"/>
          <p:cNvSpPr txBox="1"/>
          <p:nvPr/>
        </p:nvSpPr>
        <p:spPr>
          <a:xfrm>
            <a:off x="9532620" y="3224437"/>
            <a:ext cx="1783080" cy="370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520"/>
              </a:lnSpc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Sakkal Saad TN Trial Light"/>
                <a:cs typeface="Sakkal Saad TN Trial Light"/>
              </a:rPr>
              <a:t>مشكلة العميل</a:t>
            </a:r>
            <a:endParaRPr lang="ar-SA" sz="1800" dirty="0"/>
          </a:p>
        </p:txBody>
      </p:sp>
      <p:sp>
        <p:nvSpPr>
          <p:cNvPr id="15" name="s39-shape-13"/>
          <p:cNvSpPr/>
          <p:nvPr/>
        </p:nvSpPr>
        <p:spPr>
          <a:xfrm>
            <a:off x="7302500" y="1905000"/>
            <a:ext cx="2006600" cy="1905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0" dist="76200" dir="5400000">
              <a:srgbClr val="1E2A36">
                <a:alpha val="10000"/>
              </a:srgbClr>
            </a:outerShdw>
          </a:effectLst>
        </p:spPr>
      </p:sp>
      <p:pic>
        <p:nvPicPr>
          <p:cNvPr id="16" name="s39-snap-14" descr="s39-snap-14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59800" y="2057400"/>
            <a:ext cx="609600" cy="609600"/>
          </a:xfrm>
          <a:prstGeom prst="rect">
            <a:avLst/>
          </a:prstGeom>
        </p:spPr>
      </p:pic>
      <p:sp>
        <p:nvSpPr>
          <p:cNvPr id="17" name="s39-text-15"/>
          <p:cNvSpPr txBox="1"/>
          <p:nvPr/>
        </p:nvSpPr>
        <p:spPr>
          <a:xfrm>
            <a:off x="7378700" y="2161273"/>
            <a:ext cx="37832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300"/>
              </a:lnSpc>
              <a:buNone/>
            </a:pPr>
            <a:r>
              <a:rPr lang="ar-SA" altLang="en-US" sz="2300" b="1" dirty="0">
                <a:solidFill>
                  <a:srgbClr val="D9E0DB"/>
                </a:solidFill>
                <a:latin typeface="Sakkal Saad TN Trial Light"/>
                <a:cs typeface="Sakkal Saad TN Trial Light"/>
              </a:rPr>
              <a:t>02</a:t>
            </a:r>
            <a:endParaRPr lang="ar-SA" sz="2300" dirty="0"/>
          </a:p>
        </p:txBody>
      </p:sp>
      <p:sp>
        <p:nvSpPr>
          <p:cNvPr id="18" name="s39-text-16"/>
          <p:cNvSpPr txBox="1"/>
          <p:nvPr/>
        </p:nvSpPr>
        <p:spPr>
          <a:xfrm>
            <a:off x="7348220" y="3224437"/>
            <a:ext cx="1783080" cy="370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520"/>
              </a:lnSpc>
              <a:buNone/>
            </a:pPr>
            <a:r>
              <a:rPr lang="ar-SA" altLang="en-US" sz="1800" b="1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توعية</a:t>
            </a:r>
            <a:endParaRPr lang="ar-SA" sz="1800" dirty="0"/>
          </a:p>
        </p:txBody>
      </p:sp>
      <p:sp>
        <p:nvSpPr>
          <p:cNvPr id="19" name="s39-shape-17"/>
          <p:cNvSpPr/>
          <p:nvPr/>
        </p:nvSpPr>
        <p:spPr>
          <a:xfrm>
            <a:off x="5118100" y="1905000"/>
            <a:ext cx="2006600" cy="1905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0" dist="76200" dir="5400000">
              <a:srgbClr val="1E2A36">
                <a:alpha val="10000"/>
              </a:srgbClr>
            </a:outerShdw>
          </a:effectLst>
        </p:spPr>
      </p:sp>
      <p:pic>
        <p:nvPicPr>
          <p:cNvPr id="20" name="s39-snap-18" descr="s39-snap-18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75400" y="2057400"/>
            <a:ext cx="609600" cy="609600"/>
          </a:xfrm>
          <a:prstGeom prst="rect">
            <a:avLst/>
          </a:prstGeom>
        </p:spPr>
      </p:pic>
      <p:sp>
        <p:nvSpPr>
          <p:cNvPr id="21" name="s39-text-19"/>
          <p:cNvSpPr txBox="1"/>
          <p:nvPr/>
        </p:nvSpPr>
        <p:spPr>
          <a:xfrm>
            <a:off x="5194300" y="2161273"/>
            <a:ext cx="37832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300"/>
              </a:lnSpc>
              <a:buNone/>
            </a:pPr>
            <a:r>
              <a:rPr lang="ar-SA" altLang="en-US" sz="2300" b="1" dirty="0">
                <a:solidFill>
                  <a:srgbClr val="D9E0DB"/>
                </a:solidFill>
                <a:latin typeface="Sakkal Saad TN Trial Light"/>
                <a:cs typeface="Sakkal Saad TN Trial Light"/>
              </a:rPr>
              <a:t>03</a:t>
            </a:r>
            <a:endParaRPr lang="ar-SA" sz="2300" dirty="0"/>
          </a:p>
        </p:txBody>
      </p:sp>
      <p:sp>
        <p:nvSpPr>
          <p:cNvPr id="22" name="s39-text-20"/>
          <p:cNvSpPr txBox="1"/>
          <p:nvPr/>
        </p:nvSpPr>
        <p:spPr>
          <a:xfrm>
            <a:off x="5163820" y="3224437"/>
            <a:ext cx="1783080" cy="370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520"/>
              </a:lnSpc>
              <a:buNone/>
            </a:pPr>
            <a:r>
              <a:rPr lang="ar-SA" altLang="en-US" sz="1800" b="1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تحديد الاحتياج</a:t>
            </a:r>
            <a:endParaRPr lang="ar-SA" sz="1800" dirty="0"/>
          </a:p>
        </p:txBody>
      </p:sp>
      <p:sp>
        <p:nvSpPr>
          <p:cNvPr id="23" name="s39-shape-21"/>
          <p:cNvSpPr/>
          <p:nvPr/>
        </p:nvSpPr>
        <p:spPr>
          <a:xfrm>
            <a:off x="2933700" y="1905000"/>
            <a:ext cx="2006600" cy="1905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0" dist="76200" dir="5400000">
              <a:srgbClr val="1E2A36">
                <a:alpha val="10000"/>
              </a:srgbClr>
            </a:outerShdw>
          </a:effectLst>
        </p:spPr>
      </p:sp>
      <p:pic>
        <p:nvPicPr>
          <p:cNvPr id="24" name="s39-snap-22" descr="s39-snap-22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91000" y="2057400"/>
            <a:ext cx="609600" cy="609600"/>
          </a:xfrm>
          <a:prstGeom prst="rect">
            <a:avLst/>
          </a:prstGeom>
        </p:spPr>
      </p:pic>
      <p:sp>
        <p:nvSpPr>
          <p:cNvPr id="25" name="s39-text-23"/>
          <p:cNvSpPr txBox="1"/>
          <p:nvPr/>
        </p:nvSpPr>
        <p:spPr>
          <a:xfrm>
            <a:off x="3009900" y="2161273"/>
            <a:ext cx="37832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300"/>
              </a:lnSpc>
              <a:buNone/>
            </a:pPr>
            <a:r>
              <a:rPr lang="ar-SA" altLang="en-US" sz="2300" b="1" dirty="0">
                <a:solidFill>
                  <a:srgbClr val="D9E0DB"/>
                </a:solidFill>
                <a:latin typeface="Sakkal Saad TN Trial Light"/>
                <a:cs typeface="Sakkal Saad TN Trial Light"/>
              </a:rPr>
              <a:t>04</a:t>
            </a:r>
            <a:endParaRPr lang="ar-SA" sz="2300" dirty="0"/>
          </a:p>
        </p:txBody>
      </p:sp>
      <p:sp>
        <p:nvSpPr>
          <p:cNvPr id="26" name="s39-text-24"/>
          <p:cNvSpPr txBox="1"/>
          <p:nvPr/>
        </p:nvSpPr>
        <p:spPr>
          <a:xfrm>
            <a:off x="2979420" y="3224437"/>
            <a:ext cx="1783080" cy="370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520"/>
              </a:lnSpc>
              <a:buNone/>
            </a:pPr>
            <a:r>
              <a:rPr lang="ar-SA" altLang="en-US" sz="1800" b="1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تقديم الحل</a:t>
            </a:r>
            <a:endParaRPr lang="ar-SA" sz="1800" dirty="0"/>
          </a:p>
        </p:txBody>
      </p:sp>
      <p:sp>
        <p:nvSpPr>
          <p:cNvPr id="27" name="s39-shape-25"/>
          <p:cNvSpPr/>
          <p:nvPr/>
        </p:nvSpPr>
        <p:spPr>
          <a:xfrm>
            <a:off x="749300" y="1905000"/>
            <a:ext cx="2006600" cy="1905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0" dist="76200" dir="5400000">
              <a:srgbClr val="1E2A36">
                <a:alpha val="10000"/>
              </a:srgbClr>
            </a:outerShdw>
          </a:effectLst>
        </p:spPr>
      </p:sp>
      <p:pic>
        <p:nvPicPr>
          <p:cNvPr id="28" name="s39-snap-26" descr="s39-snap-26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06600" y="2057400"/>
            <a:ext cx="609600" cy="609600"/>
          </a:xfrm>
          <a:prstGeom prst="rect">
            <a:avLst/>
          </a:prstGeom>
        </p:spPr>
      </p:pic>
      <p:sp>
        <p:nvSpPr>
          <p:cNvPr id="29" name="s39-text-27"/>
          <p:cNvSpPr txBox="1"/>
          <p:nvPr/>
        </p:nvSpPr>
        <p:spPr>
          <a:xfrm>
            <a:off x="825500" y="2161273"/>
            <a:ext cx="37832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300"/>
              </a:lnSpc>
              <a:buNone/>
            </a:pPr>
            <a:r>
              <a:rPr lang="ar-SA" altLang="en-US" sz="2300" b="1" dirty="0">
                <a:solidFill>
                  <a:srgbClr val="D9E0DB"/>
                </a:solidFill>
                <a:latin typeface="Sakkal Saad TN Trial Light"/>
                <a:cs typeface="Sakkal Saad TN Trial Light"/>
              </a:rPr>
              <a:t>05</a:t>
            </a:r>
            <a:endParaRPr lang="ar-SA" sz="2300" dirty="0"/>
          </a:p>
        </p:txBody>
      </p:sp>
      <p:sp>
        <p:nvSpPr>
          <p:cNvPr id="30" name="s39-text-28"/>
          <p:cNvSpPr txBox="1"/>
          <p:nvPr/>
        </p:nvSpPr>
        <p:spPr>
          <a:xfrm>
            <a:off x="795020" y="3224437"/>
            <a:ext cx="1783080" cy="370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520"/>
              </a:lnSpc>
              <a:buNone/>
            </a:pPr>
            <a:r>
              <a:rPr lang="ar-SA" altLang="en-US" sz="1800" b="1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إثبات الثقة</a:t>
            </a:r>
            <a:endParaRPr lang="ar-SA" sz="1800" dirty="0"/>
          </a:p>
        </p:txBody>
      </p:sp>
      <p:sp>
        <p:nvSpPr>
          <p:cNvPr id="31" name="s39-shape-29"/>
          <p:cNvSpPr/>
          <p:nvPr/>
        </p:nvSpPr>
        <p:spPr>
          <a:xfrm>
            <a:off x="8394700" y="4064000"/>
            <a:ext cx="2006600" cy="1905000"/>
          </a:xfrm>
          <a:prstGeom prst="roundRect">
            <a:avLst>
              <a:gd name="adj" fmla="val 13333"/>
            </a:avLst>
          </a:prstGeom>
          <a:solidFill>
            <a:srgbClr val="43644B"/>
          </a:solidFill>
          <a:ln/>
        </p:spPr>
      </p:sp>
      <p:pic>
        <p:nvPicPr>
          <p:cNvPr id="32" name="s39-snap-30" descr="s39-snap-30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52000" y="4216400"/>
            <a:ext cx="609600" cy="609600"/>
          </a:xfrm>
          <a:prstGeom prst="rect">
            <a:avLst/>
          </a:prstGeom>
        </p:spPr>
      </p:pic>
      <p:sp>
        <p:nvSpPr>
          <p:cNvPr id="33" name="s39-text-31"/>
          <p:cNvSpPr txBox="1"/>
          <p:nvPr/>
        </p:nvSpPr>
        <p:spPr>
          <a:xfrm>
            <a:off x="8470900" y="4320273"/>
            <a:ext cx="37832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300"/>
              </a:lnSpc>
              <a:buNone/>
            </a:pPr>
            <a:r>
              <a:rPr lang="ar-SA" altLang="en-US" sz="2300" b="1" dirty="0">
                <a:solidFill>
                  <a:srgbClr val="98AA9C"/>
                </a:solidFill>
                <a:latin typeface="Sakkal Saad TN Trial Light"/>
                <a:cs typeface="Sakkal Saad TN Trial Light"/>
              </a:rPr>
              <a:t>06</a:t>
            </a:r>
            <a:endParaRPr lang="ar-SA" sz="2300" dirty="0"/>
          </a:p>
        </p:txBody>
      </p:sp>
      <p:sp>
        <p:nvSpPr>
          <p:cNvPr id="34" name="s39-text-32"/>
          <p:cNvSpPr txBox="1"/>
          <p:nvPr/>
        </p:nvSpPr>
        <p:spPr>
          <a:xfrm>
            <a:off x="8440420" y="5428711"/>
            <a:ext cx="178308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240"/>
              </a:lnSpc>
              <a:buNone/>
            </a:pPr>
            <a:r>
              <a:rPr lang="ar-SA" altLang="en-US" sz="1600" b="1" dirty="0">
                <a:solidFill>
                  <a:srgbClr val="FFFFFF"/>
                </a:solidFill>
                <a:latin typeface="Sakkal Saad TN Trial Light"/>
                <a:cs typeface="Sakkal Saad TN Trial Light"/>
              </a:rPr>
              <a:t>المنتج أو الباقة</a:t>
            </a:r>
            <a:endParaRPr lang="ar-SA" sz="1600" dirty="0"/>
          </a:p>
        </p:txBody>
      </p:sp>
      <p:sp>
        <p:nvSpPr>
          <p:cNvPr id="35" name="s39-shape-33"/>
          <p:cNvSpPr/>
          <p:nvPr/>
        </p:nvSpPr>
        <p:spPr>
          <a:xfrm>
            <a:off x="6210300" y="4064000"/>
            <a:ext cx="2006600" cy="1905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0" dist="76200" dir="5400000">
              <a:srgbClr val="1E2A36">
                <a:alpha val="10000"/>
              </a:srgbClr>
            </a:outerShdw>
          </a:effectLst>
        </p:spPr>
      </p:sp>
      <p:pic>
        <p:nvPicPr>
          <p:cNvPr id="36" name="s39-snap-34" descr="s39-snap-34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67600" y="4216400"/>
            <a:ext cx="609600" cy="609600"/>
          </a:xfrm>
          <a:prstGeom prst="rect">
            <a:avLst/>
          </a:prstGeom>
        </p:spPr>
      </p:pic>
      <p:sp>
        <p:nvSpPr>
          <p:cNvPr id="37" name="s39-text-35"/>
          <p:cNvSpPr txBox="1"/>
          <p:nvPr/>
        </p:nvSpPr>
        <p:spPr>
          <a:xfrm>
            <a:off x="6286500" y="4320273"/>
            <a:ext cx="37832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300"/>
              </a:lnSpc>
              <a:buNone/>
            </a:pPr>
            <a:r>
              <a:rPr lang="ar-SA" altLang="en-US" sz="2300" b="1" dirty="0">
                <a:solidFill>
                  <a:srgbClr val="D9E0DB"/>
                </a:solidFill>
                <a:latin typeface="Sakkal Saad TN Trial Light"/>
                <a:cs typeface="Sakkal Saad TN Trial Light"/>
              </a:rPr>
              <a:t>07</a:t>
            </a:r>
            <a:endParaRPr lang="ar-SA" sz="2300" dirty="0"/>
          </a:p>
        </p:txBody>
      </p:sp>
      <p:sp>
        <p:nvSpPr>
          <p:cNvPr id="38" name="s39-text-36"/>
          <p:cNvSpPr txBox="1"/>
          <p:nvPr/>
        </p:nvSpPr>
        <p:spPr>
          <a:xfrm>
            <a:off x="6256020" y="5383437"/>
            <a:ext cx="1783080" cy="370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520"/>
              </a:lnSpc>
              <a:buNone/>
            </a:pPr>
            <a:r>
              <a:rPr lang="ar-SA" altLang="en-US" sz="1800" b="1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CTA</a:t>
            </a:r>
            <a:endParaRPr lang="ar-SA" sz="1800" dirty="0"/>
          </a:p>
        </p:txBody>
      </p:sp>
      <p:sp>
        <p:nvSpPr>
          <p:cNvPr id="39" name="s39-shape-37"/>
          <p:cNvSpPr/>
          <p:nvPr/>
        </p:nvSpPr>
        <p:spPr>
          <a:xfrm>
            <a:off x="4025900" y="4064000"/>
            <a:ext cx="2006600" cy="1905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0" dist="76200" dir="5400000">
              <a:srgbClr val="1E2A36">
                <a:alpha val="10000"/>
              </a:srgbClr>
            </a:outerShdw>
          </a:effectLst>
        </p:spPr>
      </p:sp>
      <p:pic>
        <p:nvPicPr>
          <p:cNvPr id="40" name="s39-snap-38" descr="s39-snap-38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283200" y="4216400"/>
            <a:ext cx="609600" cy="609600"/>
          </a:xfrm>
          <a:prstGeom prst="rect">
            <a:avLst/>
          </a:prstGeom>
        </p:spPr>
      </p:pic>
      <p:sp>
        <p:nvSpPr>
          <p:cNvPr id="41" name="s39-text-39"/>
          <p:cNvSpPr txBox="1"/>
          <p:nvPr/>
        </p:nvSpPr>
        <p:spPr>
          <a:xfrm>
            <a:off x="4102100" y="4320273"/>
            <a:ext cx="37832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300"/>
              </a:lnSpc>
              <a:buNone/>
            </a:pPr>
            <a:r>
              <a:rPr lang="ar-SA" altLang="en-US" sz="2300" b="1" dirty="0">
                <a:solidFill>
                  <a:srgbClr val="D9E0DB"/>
                </a:solidFill>
                <a:latin typeface="Sakkal Saad TN Trial Light"/>
                <a:cs typeface="Sakkal Saad TN Trial Light"/>
              </a:rPr>
              <a:t>08</a:t>
            </a:r>
            <a:endParaRPr lang="ar-SA" sz="2300" dirty="0"/>
          </a:p>
        </p:txBody>
      </p:sp>
      <p:sp>
        <p:nvSpPr>
          <p:cNvPr id="42" name="s39-text-40"/>
          <p:cNvSpPr txBox="1"/>
          <p:nvPr/>
        </p:nvSpPr>
        <p:spPr>
          <a:xfrm>
            <a:off x="4071620" y="5383437"/>
            <a:ext cx="1783080" cy="370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520"/>
              </a:lnSpc>
              <a:buNone/>
            </a:pPr>
            <a:r>
              <a:rPr lang="ar-SA" altLang="en-US" sz="1800" b="1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استفسار</a:t>
            </a:r>
            <a:endParaRPr lang="ar-SA" sz="1800" dirty="0"/>
          </a:p>
        </p:txBody>
      </p:sp>
      <p:sp>
        <p:nvSpPr>
          <p:cNvPr id="43" name="s39-shape-41"/>
          <p:cNvSpPr/>
          <p:nvPr/>
        </p:nvSpPr>
        <p:spPr>
          <a:xfrm>
            <a:off x="1841500" y="4064000"/>
            <a:ext cx="2006600" cy="1905000"/>
          </a:xfrm>
          <a:prstGeom prst="roundRect">
            <a:avLst>
              <a:gd name="adj" fmla="val 13333"/>
            </a:avLst>
          </a:prstGeom>
          <a:solidFill>
            <a:srgbClr val="FF8D26"/>
          </a:solidFill>
          <a:ln/>
        </p:spPr>
      </p:sp>
      <p:pic>
        <p:nvPicPr>
          <p:cNvPr id="44" name="s39-snap-42" descr="s39-snap-42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098800" y="4216400"/>
            <a:ext cx="609600" cy="609600"/>
          </a:xfrm>
          <a:prstGeom prst="rect">
            <a:avLst/>
          </a:prstGeom>
        </p:spPr>
      </p:pic>
      <p:sp>
        <p:nvSpPr>
          <p:cNvPr id="45" name="s39-text-43"/>
          <p:cNvSpPr txBox="1"/>
          <p:nvPr/>
        </p:nvSpPr>
        <p:spPr>
          <a:xfrm>
            <a:off x="1917700" y="4320273"/>
            <a:ext cx="37832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300"/>
              </a:lnSpc>
              <a:buNone/>
            </a:pPr>
            <a:r>
              <a:rPr lang="ar-SA" altLang="en-US" sz="2300" b="1" dirty="0">
                <a:solidFill>
                  <a:srgbClr val="FFDDBE"/>
                </a:solidFill>
                <a:latin typeface="Sakkal Saad TN Trial Light"/>
                <a:cs typeface="Sakkal Saad TN Trial Light"/>
              </a:rPr>
              <a:t>09</a:t>
            </a:r>
            <a:endParaRPr lang="ar-SA" sz="2300" dirty="0"/>
          </a:p>
        </p:txBody>
      </p:sp>
      <p:sp>
        <p:nvSpPr>
          <p:cNvPr id="46" name="s39-text-44"/>
          <p:cNvSpPr txBox="1"/>
          <p:nvPr/>
        </p:nvSpPr>
        <p:spPr>
          <a:xfrm>
            <a:off x="1887220" y="5383437"/>
            <a:ext cx="1783080" cy="370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520"/>
              </a:lnSpc>
              <a:buNone/>
            </a:pPr>
            <a:r>
              <a:rPr lang="ar-SA" altLang="en-US" sz="1800" b="1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شراء أو عرض سعر</a:t>
            </a:r>
            <a:endParaRPr lang="ar-SA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3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4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0" dur="489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75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75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75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5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75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75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75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75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75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7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75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75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75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75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75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75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53" presetClass="entr" presetSubtype="16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7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75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75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750" fill="hold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750" fill="hold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750" fill="hold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750" fill="hold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53" presetClass="entr" presetSubtype="16" fill="hold" grpId="0" nodeType="withEffect">
                                  <p:stCondLst>
                                    <p:cond delay="59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27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750" fill="hold" decel="10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750" fill="hold" decel="10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750" fill="hold" decel="100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750" fill="hold" decel="100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750" fill="hold" decel="100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750" fill="hold" decel="100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53" presetClass="entr" presetSubtype="16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27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6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6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750" fill="hold" decel="100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750" fill="hold" decel="100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750" fill="hold" decel="1000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750" fill="hold" decel="1000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9" dur="750" fill="hold" decel="100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750" fill="hold" decel="100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53" presetClass="entr" presetSubtype="16" fill="hold" grpId="0" nodeType="withEffect">
                                  <p:stCondLst>
                                    <p:cond delay="83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27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6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6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42" presetClass="entr" presetSubtype="0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9" dur="750" fill="hold" decel="1000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750" fill="hold" decel="1000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42" presetClass="entr" presetSubtype="0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6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4" dur="750" fill="hold" decel="100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750" fill="hold" decel="100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42" presetClass="entr" presetSubtype="0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6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9" dur="750" fill="hold" decel="100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750" fill="hold" decel="100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53" presetClass="entr" presetSubtype="16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27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4" dur="6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6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6" presetID="42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6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9" dur="750" fill="hold" decel="100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750" fill="hold" decel="100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1" presetID="42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6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4" dur="750" fill="hold" decel="1000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750" fill="hold" decel="1000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6" presetID="42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6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9" dur="750" fill="hold" decel="1000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750" fill="hold" decel="1000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1" presetID="53" presetClass="entr" presetSubtype="16" fill="hold" grpId="0" nodeType="withEffect">
                                  <p:stCondLst>
                                    <p:cond delay="107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27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4" dur="6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6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6" presetID="42" presetClass="entr" presetSubtype="0" fill="hold" grpId="0" nodeType="withEffect">
                                  <p:stCondLst>
                                    <p:cond delay="116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6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9" dur="750" fill="hold" decel="1000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750" fill="hold" decel="1000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1" presetID="42" presetClass="entr" presetSubtype="0" fill="hold" grpId="0" nodeType="withEffect">
                                  <p:stCondLst>
                                    <p:cond delay="116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6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4" dur="750" fill="hold" decel="1000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750" fill="hold" decel="1000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6" presetID="42" presetClass="entr" presetSubtype="0" fill="hold" grpId="0" nodeType="withEffect">
                                  <p:stCondLst>
                                    <p:cond delay="116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6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9" dur="750" fill="hold" decel="1000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0" dur="750" fill="hold" decel="1000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1" presetID="53" presetClass="entr" presetSubtype="16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27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4" dur="6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5" dur="6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6" presetID="53" presetClass="entr" presetSubtype="16" fill="hold" grpId="0" nodeType="withEffect">
                                  <p:stCondLst>
                                    <p:cond delay="131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27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9" dur="6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6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/>
      <p:bldP spid="11" grpId="0" animBg="1"/>
      <p:bldP spid="13" grpId="0"/>
      <p:bldP spid="14" grpId="0"/>
      <p:bldP spid="15" grpId="0" animBg="1"/>
      <p:bldP spid="17" grpId="0"/>
      <p:bldP spid="18" grpId="0"/>
      <p:bldP spid="19" grpId="0" animBg="1"/>
      <p:bldP spid="21" grpId="0"/>
      <p:bldP spid="22" grpId="0"/>
      <p:bldP spid="23" grpId="0" animBg="1"/>
      <p:bldP spid="25" grpId="0"/>
      <p:bldP spid="26" grpId="0"/>
      <p:bldP spid="27" grpId="0" animBg="1"/>
      <p:bldP spid="29" grpId="0"/>
      <p:bldP spid="30" grpId="0"/>
      <p:bldP spid="31" grpId="0" animBg="1"/>
      <p:bldP spid="33" grpId="0"/>
      <p:bldP spid="34" grpId="0"/>
      <p:bldP spid="35" grpId="0" animBg="1"/>
      <p:bldP spid="37" grpId="0"/>
      <p:bldP spid="38" grpId="0"/>
      <p:bldP spid="39" grpId="0" animBg="1"/>
      <p:bldP spid="41" grpId="0"/>
      <p:bldP spid="42" grpId="0"/>
      <p:bldP spid="43" grpId="0" animBg="1"/>
      <p:bldP spid="45" grpId="0"/>
      <p:bldP spid="46" grpId="0"/>
    </p:bldLst>
  </p:timing>
</p:sld>
</file>

<file path=ppt/slides/slide40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lens"/>
          <p:cNvSpPr/>
          <p:nvPr/>
        </p:nvSpPr>
        <p:spPr>
          <a:xfrm>
            <a:off x="-635000" y="-127000"/>
            <a:ext cx="7112000" cy="7112000"/>
          </a:xfrm>
          <a:prstGeom prst="ellipse">
            <a:avLst/>
          </a:prstGeom>
          <a:solidFill>
            <a:srgbClr val="FFFFFF">
              <a:alpha val="7000"/>
            </a:srgbClr>
          </a:solidFill>
          <a:ln/>
        </p:spPr>
      </p:sp>
      <p:pic>
        <p:nvPicPr>
          <p:cNvPr id="3" name="!!mt" descr="شعار نظرة ثمانية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2306538" y="2151658"/>
            <a:ext cx="2635250" cy="2597150"/>
          </a:xfrm>
          <a:prstGeom prst="rect">
            <a:avLst/>
          </a:prstGeom>
        </p:spPr>
      </p:pic>
      <p:pic>
        <p:nvPicPr>
          <p:cNvPr id="4" name="!!mb" descr="شعار نظرة ثمانية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900658" y="2110978"/>
            <a:ext cx="2565400" cy="2527300"/>
          </a:xfrm>
          <a:prstGeom prst="rect">
            <a:avLst/>
          </a:prstGeom>
        </p:spPr>
      </p:pic>
      <p:pic>
        <p:nvPicPr>
          <p:cNvPr id="5" name="!!ma" descr="شعار نظرة ثمانية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3595291" y="3417143"/>
            <a:ext cx="463550" cy="412750"/>
          </a:xfrm>
          <a:prstGeom prst="rect">
            <a:avLst/>
          </a:prstGeom>
        </p:spPr>
      </p:pic>
      <p:pic>
        <p:nvPicPr>
          <p:cNvPr id="6" name="!!hud" descr="!!hud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7800" y="177800"/>
            <a:ext cx="11836400" cy="6502400"/>
          </a:xfrm>
          <a:prstGeom prst="rect">
            <a:avLst/>
          </a:prstGeom>
        </p:spPr>
      </p:pic>
      <p:sp>
        <p:nvSpPr>
          <p:cNvPr id="7" name="!!rec"/>
          <p:cNvSpPr/>
          <p:nvPr/>
        </p:nvSpPr>
        <p:spPr>
          <a:xfrm>
            <a:off x="635000" y="6337300"/>
            <a:ext cx="101600" cy="101600"/>
          </a:xfrm>
          <a:prstGeom prst="ellipse">
            <a:avLst/>
          </a:prstGeom>
          <a:solidFill>
            <a:srgbClr val="FF8D26"/>
          </a:solidFill>
          <a:ln/>
        </p:spPr>
      </p:sp>
      <p:sp>
        <p:nvSpPr>
          <p:cNvPr id="8" name="!!num"/>
          <p:cNvSpPr txBox="1"/>
          <p:nvPr/>
        </p:nvSpPr>
        <p:spPr>
          <a:xfrm>
            <a:off x="825500" y="6281750"/>
            <a:ext cx="710208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altLang="en-US" sz="1200" dirty="0">
                <a:solidFill>
                  <a:srgbClr val="D9E0DB"/>
                </a:solidFill>
                <a:latin typeface="Sakkal Saad TN Trial Light"/>
                <a:cs typeface="Sakkal Saad TN Trial Light"/>
              </a:rPr>
              <a:t>REC · 40</a:t>
            </a:r>
            <a:endParaRPr lang="en-US" sz="1200" dirty="0"/>
          </a:p>
        </p:txBody>
      </p:sp>
      <p:pic>
        <p:nvPicPr>
          <p:cNvPr id="9" name="s40-snap-8" descr="s40-snap-8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3809" y="1041400"/>
            <a:ext cx="1880791" cy="1981200"/>
          </a:xfrm>
          <a:prstGeom prst="rect">
            <a:avLst/>
          </a:prstGeom>
        </p:spPr>
      </p:pic>
      <p:pic>
        <p:nvPicPr>
          <p:cNvPr id="10" name="s40-snap-9" descr="s40-snap-9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78400" y="3263900"/>
            <a:ext cx="6426200" cy="235188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3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4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53" presetClass="entr" presetSubtype="3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9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1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9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1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9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5" dur="63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1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lens"/>
          <p:cNvSpPr/>
          <p:nvPr/>
        </p:nvSpPr>
        <p:spPr>
          <a:xfrm>
            <a:off x="368300" y="127000"/>
            <a:ext cx="1206500" cy="1206500"/>
          </a:xfrm>
          <a:prstGeom prst="ellipse">
            <a:avLst/>
          </a:prstGeom>
          <a:solidFill>
            <a:srgbClr val="EEF2EF"/>
          </a:solidFill>
          <a:ln/>
        </p:spPr>
      </p:sp>
      <p:pic>
        <p:nvPicPr>
          <p:cNvPr id="3" name="!!mt" descr="شعار نظرة ثماني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700000">
            <a:off x="794345" y="364083"/>
            <a:ext cx="546100" cy="533400"/>
          </a:xfrm>
          <a:prstGeom prst="rect">
            <a:avLst/>
          </a:prstGeom>
        </p:spPr>
      </p:pic>
      <p:pic>
        <p:nvPicPr>
          <p:cNvPr id="4" name="!!mb" descr="شعار نظرة ثمانية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700000">
            <a:off x="582861" y="569813"/>
            <a:ext cx="527050" cy="520700"/>
          </a:xfrm>
          <a:prstGeom prst="rect">
            <a:avLst/>
          </a:prstGeom>
        </p:spPr>
      </p:pic>
      <p:pic>
        <p:nvPicPr>
          <p:cNvPr id="5" name="!!ma" descr="شعار نظرة ثمانية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700000">
            <a:off x="1074638" y="585440"/>
            <a:ext cx="95250" cy="82550"/>
          </a:xfrm>
          <a:prstGeom prst="rect">
            <a:avLst/>
          </a:prstGeom>
        </p:spPr>
      </p:pic>
      <p:pic>
        <p:nvPicPr>
          <p:cNvPr id="6" name="!!hud" descr="!!hu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800" y="177800"/>
            <a:ext cx="11836400" cy="6502400"/>
          </a:xfrm>
          <a:prstGeom prst="rect">
            <a:avLst/>
          </a:prstGeom>
        </p:spPr>
      </p:pic>
      <p:sp>
        <p:nvSpPr>
          <p:cNvPr id="7" name="!!rec"/>
          <p:cNvSpPr/>
          <p:nvPr/>
        </p:nvSpPr>
        <p:spPr>
          <a:xfrm>
            <a:off x="635000" y="6337300"/>
            <a:ext cx="101600" cy="101600"/>
          </a:xfrm>
          <a:prstGeom prst="ellipse">
            <a:avLst/>
          </a:prstGeom>
          <a:solidFill>
            <a:srgbClr val="FF8D26"/>
          </a:solidFill>
          <a:ln/>
        </p:spPr>
      </p:sp>
      <p:sp>
        <p:nvSpPr>
          <p:cNvPr id="8" name="!!num"/>
          <p:cNvSpPr txBox="1"/>
          <p:nvPr/>
        </p:nvSpPr>
        <p:spPr>
          <a:xfrm>
            <a:off x="825500" y="6281750"/>
            <a:ext cx="681434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altLang="en-US" sz="1200" dirty="0">
                <a:solidFill>
                  <a:srgbClr val="5E6D7C"/>
                </a:solidFill>
                <a:latin typeface="Sakkal Saad TN Trial Light"/>
                <a:cs typeface="Sakkal Saad TN Trial Light"/>
              </a:rPr>
              <a:t>REC · 41</a:t>
            </a:r>
            <a:endParaRPr lang="en-US" sz="1200" dirty="0"/>
          </a:p>
        </p:txBody>
      </p:sp>
      <p:sp>
        <p:nvSpPr>
          <p:cNvPr id="9" name="!!kick"/>
          <p:cNvSpPr txBox="1"/>
          <p:nvPr/>
        </p:nvSpPr>
        <p:spPr>
          <a:xfrm>
            <a:off x="9830177" y="318834"/>
            <a:ext cx="1726823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ar-SA" altLang="en-US" sz="1500" b="1" dirty="0">
                <a:solidFill>
                  <a:srgbClr val="43644B"/>
                </a:solidFill>
                <a:latin typeface="Sakkal Saad TN Trial Light"/>
                <a:cs typeface="Sakkal Saad TN Trial Light"/>
              </a:rPr>
              <a:t>09</a:t>
            </a:r>
            <a:r>
              <a:rPr lang="ar-SA" altLang="en-US" sz="1500" dirty="0">
                <a:solidFill>
                  <a:srgbClr val="E9720C"/>
                </a:solidFill>
                <a:latin typeface="Sakkal Saad TN Trial Light"/>
                <a:cs typeface="Sakkal Saad TN Trial Light"/>
              </a:rPr>
              <a:t> كتابة المحتوى التسويقي</a:t>
            </a:r>
            <a:endParaRPr lang="ar-SA" sz="1500" dirty="0"/>
          </a:p>
        </p:txBody>
      </p:sp>
      <p:sp>
        <p:nvSpPr>
          <p:cNvPr id="10" name="s41-text-8"/>
          <p:cNvSpPr txBox="1"/>
          <p:nvPr/>
        </p:nvSpPr>
        <p:spPr>
          <a:xfrm>
            <a:off x="8595308" y="695134"/>
            <a:ext cx="2961692" cy="702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5130"/>
              </a:lnSpc>
              <a:buNone/>
            </a:pPr>
            <a:r>
              <a:rPr lang="ar-SA" altLang="en-US" sz="3800" b="1" dirty="0">
                <a:solidFill>
                  <a:srgbClr val="FF8D26"/>
                </a:solidFill>
                <a:latin typeface="Sakkal Saad TN Trial Light"/>
                <a:cs typeface="Sakkal Saad TN Trial Light"/>
              </a:rPr>
              <a:t>01</a:t>
            </a:r>
            <a:r>
              <a:rPr lang="ar-SA" altLang="en-US" sz="3800" b="1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 محتوى تعليمي</a:t>
            </a:r>
            <a:endParaRPr lang="ar-SA" sz="3800" dirty="0"/>
          </a:p>
        </p:txBody>
      </p:sp>
      <p:pic>
        <p:nvPicPr>
          <p:cNvPr id="11" name="s41-snap-9" descr="s41-snap-9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4000" y="1111250"/>
            <a:ext cx="4445000" cy="5588000"/>
          </a:xfrm>
          <a:prstGeom prst="rect">
            <a:avLst/>
          </a:prstGeom>
        </p:spPr>
      </p:pic>
      <p:sp>
        <p:nvSpPr>
          <p:cNvPr id="12" name="s41-shape-10"/>
          <p:cNvSpPr/>
          <p:nvPr/>
        </p:nvSpPr>
        <p:spPr>
          <a:xfrm>
            <a:off x="3189585" y="2992834"/>
            <a:ext cx="620415" cy="290810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/>
        </p:spPr>
      </p:sp>
      <p:sp>
        <p:nvSpPr>
          <p:cNvPr id="13" name="s41-text-11"/>
          <p:cNvSpPr txBox="1"/>
          <p:nvPr/>
        </p:nvSpPr>
        <p:spPr>
          <a:xfrm>
            <a:off x="3214985" y="2979652"/>
            <a:ext cx="468015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690"/>
              </a:lnSpc>
              <a:buNone/>
            </a:pPr>
            <a:r>
              <a:rPr lang="ar-SA" altLang="en-US" sz="1300" b="1" dirty="0">
                <a:solidFill>
                  <a:srgbClr val="FFFFFF"/>
                </a:solidFill>
                <a:latin typeface="Sakkal Saad TN Trial Light"/>
                <a:cs typeface="Sakkal Saad TN Trial Light"/>
              </a:rPr>
              <a:t>العنوان</a:t>
            </a:r>
            <a:endParaRPr lang="ar-SA" sz="1300" dirty="0"/>
          </a:p>
        </p:txBody>
      </p:sp>
      <p:sp>
        <p:nvSpPr>
          <p:cNvPr id="14" name="s41-text-12"/>
          <p:cNvSpPr txBox="1"/>
          <p:nvPr/>
        </p:nvSpPr>
        <p:spPr>
          <a:xfrm>
            <a:off x="929640" y="3280330"/>
            <a:ext cx="2880360" cy="1597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4060"/>
              </a:lnSpc>
              <a:buNone/>
            </a:pPr>
            <a:r>
              <a:rPr lang="ar-SA" altLang="en-US" sz="2900" b="1" dirty="0">
                <a:solidFill>
                  <a:srgbClr val="FFFFFF"/>
                </a:solidFill>
                <a:latin typeface="Sakkal Saad TN Trial Light"/>
                <a:cs typeface="Sakkal Saad TN Trial Light"/>
              </a:rPr>
              <a:t>كيف تعرف عدد</a:t>
            </a:r>
            <a:endParaRPr lang="ar-SA" sz="2900" dirty="0"/>
          </a:p>
          <a:p>
            <a:pPr rtl="1" algn="r" indent="0" marL="0">
              <a:lnSpc>
                <a:spcPts val="4060"/>
              </a:lnSpc>
              <a:buNone/>
            </a:pPr>
            <a:r>
              <a:rPr lang="ar-SA" altLang="en-US" sz="2900" b="1" dirty="0">
                <a:solidFill>
                  <a:srgbClr val="FFFFFF"/>
                </a:solidFill>
                <a:latin typeface="Sakkal Saad TN Trial Light"/>
                <a:cs typeface="Sakkal Saad TN Trial Light"/>
              </a:rPr>
              <a:t>الكاميرات التي</a:t>
            </a:r>
            <a:endParaRPr lang="ar-SA" sz="2900" dirty="0"/>
          </a:p>
          <a:p>
            <a:pPr rtl="1" algn="r" indent="0" marL="0">
              <a:lnSpc>
                <a:spcPts val="4060"/>
              </a:lnSpc>
              <a:buNone/>
            </a:pPr>
            <a:r>
              <a:rPr lang="ar-SA" altLang="en-US" sz="2900" b="1" dirty="0">
                <a:solidFill>
                  <a:srgbClr val="FFFFFF"/>
                </a:solidFill>
                <a:latin typeface="Sakkal Saad TN Trial Light"/>
                <a:cs typeface="Sakkal Saad TN Trial Light"/>
              </a:rPr>
              <a:t>تحتاجها؟</a:t>
            </a:r>
            <a:endParaRPr lang="ar-SA" sz="2900" dirty="0"/>
          </a:p>
        </p:txBody>
      </p:sp>
      <p:sp>
        <p:nvSpPr>
          <p:cNvPr id="15" name="s41-text-13"/>
          <p:cNvSpPr txBox="1"/>
          <p:nvPr/>
        </p:nvSpPr>
        <p:spPr>
          <a:xfrm>
            <a:off x="4086860" y="1627632"/>
            <a:ext cx="740664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3000"/>
              </a:lnSpc>
              <a:buNone/>
            </a:pPr>
            <a:r>
              <a:rPr lang="ar-SA" altLang="en-US" sz="2000" b="1" dirty="0">
                <a:solidFill>
                  <a:srgbClr val="43644B"/>
                </a:solidFill>
                <a:latin typeface="Sakkal Saad TN Trial Light"/>
                <a:cs typeface="Sakkal Saad TN Trial Light"/>
              </a:rPr>
              <a:t>كم كاميرا يحتاج بيتك فعلًا؟ العدد ما يعتمد على مساحة البيت فقط.</a:t>
            </a:r>
            <a:endParaRPr lang="ar-SA" sz="2000" dirty="0"/>
          </a:p>
        </p:txBody>
      </p:sp>
      <p:sp>
        <p:nvSpPr>
          <p:cNvPr id="16" name="s41-text-14"/>
          <p:cNvSpPr txBox="1"/>
          <p:nvPr/>
        </p:nvSpPr>
        <p:spPr>
          <a:xfrm>
            <a:off x="4086860" y="2079377"/>
            <a:ext cx="7406640" cy="385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635"/>
              </a:lnSpc>
              <a:buNone/>
            </a:pPr>
            <a:r>
              <a:rPr lang="ar-SA" altLang="en-US" sz="17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قبل ما تحدد عدد الكاميرات، حدد أولًا المناطق التي تحتاج مراقبتها:</a:t>
            </a:r>
            <a:endParaRPr lang="ar-SA" sz="1700" dirty="0"/>
          </a:p>
        </p:txBody>
      </p:sp>
      <p:pic>
        <p:nvPicPr>
          <p:cNvPr id="17" name="s41-snap-15" descr="s41-snap-15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56093" y="2569766"/>
            <a:ext cx="1675507" cy="459085"/>
          </a:xfrm>
          <a:prstGeom prst="rect">
            <a:avLst/>
          </a:prstGeom>
        </p:spPr>
      </p:pic>
      <p:sp>
        <p:nvSpPr>
          <p:cNvPr id="18" name="s41-text-16"/>
          <p:cNvSpPr txBox="1"/>
          <p:nvPr/>
        </p:nvSpPr>
        <p:spPr>
          <a:xfrm>
            <a:off x="9976941" y="2616083"/>
            <a:ext cx="1065709" cy="306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015"/>
              </a:lnSpc>
              <a:buNone/>
            </a:pPr>
            <a:r>
              <a:rPr lang="ar-SA" altLang="en-US" sz="15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المداخل والمخارج</a:t>
            </a:r>
            <a:endParaRPr lang="ar-SA" sz="1550" dirty="0"/>
          </a:p>
        </p:txBody>
      </p:sp>
      <p:pic>
        <p:nvPicPr>
          <p:cNvPr id="19" name="s41-snap-17" descr="s41-snap-17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97502" y="2569766"/>
            <a:ext cx="2845891" cy="459085"/>
          </a:xfrm>
          <a:prstGeom prst="rect">
            <a:avLst/>
          </a:prstGeom>
        </p:spPr>
      </p:pic>
      <p:sp>
        <p:nvSpPr>
          <p:cNvPr id="20" name="s41-text-18"/>
          <p:cNvSpPr txBox="1"/>
          <p:nvPr/>
        </p:nvSpPr>
        <p:spPr>
          <a:xfrm>
            <a:off x="8318500" y="2616083"/>
            <a:ext cx="1035943" cy="306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015"/>
              </a:lnSpc>
              <a:buNone/>
            </a:pPr>
            <a:r>
              <a:rPr lang="ar-SA" altLang="en-US" sz="15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الممرات الرئيسية</a:t>
            </a:r>
            <a:endParaRPr lang="ar-SA" sz="1550" dirty="0"/>
          </a:p>
        </p:txBody>
      </p:sp>
      <p:pic>
        <p:nvPicPr>
          <p:cNvPr id="21" name="s41-snap-19" descr="s41-snap-19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97400" y="2569766"/>
            <a:ext cx="2387402" cy="459085"/>
          </a:xfrm>
          <a:prstGeom prst="rect">
            <a:avLst/>
          </a:prstGeom>
        </p:spPr>
      </p:pic>
      <p:sp>
        <p:nvSpPr>
          <p:cNvPr id="22" name="s41-text-20"/>
          <p:cNvSpPr txBox="1"/>
          <p:nvPr/>
        </p:nvSpPr>
        <p:spPr>
          <a:xfrm>
            <a:off x="4664980" y="2616083"/>
            <a:ext cx="1830872" cy="306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015"/>
              </a:lnSpc>
              <a:buNone/>
            </a:pPr>
            <a:r>
              <a:rPr lang="ar-SA" altLang="en-US" sz="15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الحوش والمساحات الخارجية</a:t>
            </a:r>
            <a:endParaRPr lang="ar-SA" sz="1550" dirty="0"/>
          </a:p>
        </p:txBody>
      </p:sp>
      <p:pic>
        <p:nvPicPr>
          <p:cNvPr id="23" name="s41-snap-21" descr="s41-snap-21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56093" y="3028851"/>
            <a:ext cx="1675507" cy="714970"/>
          </a:xfrm>
          <a:prstGeom prst="rect">
            <a:avLst/>
          </a:prstGeom>
        </p:spPr>
      </p:pic>
      <p:sp>
        <p:nvSpPr>
          <p:cNvPr id="24" name="s41-text-22"/>
          <p:cNvSpPr txBox="1"/>
          <p:nvPr/>
        </p:nvSpPr>
        <p:spPr>
          <a:xfrm>
            <a:off x="9957693" y="3203061"/>
            <a:ext cx="1084957" cy="306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015"/>
              </a:lnSpc>
              <a:buNone/>
            </a:pPr>
            <a:r>
              <a:rPr lang="ar-SA" altLang="en-US" sz="15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مواقف السيارات</a:t>
            </a:r>
            <a:endParaRPr lang="ar-SA" sz="1550" dirty="0"/>
          </a:p>
        </p:txBody>
      </p:sp>
      <p:pic>
        <p:nvPicPr>
          <p:cNvPr id="25" name="s41-snap-23" descr="s41-snap-23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97502" y="3028851"/>
            <a:ext cx="2845891" cy="714970"/>
          </a:xfrm>
          <a:prstGeom prst="rect">
            <a:avLst/>
          </a:prstGeom>
        </p:spPr>
      </p:pic>
      <p:sp>
        <p:nvSpPr>
          <p:cNvPr id="26" name="s41-text-24"/>
          <p:cNvSpPr txBox="1"/>
          <p:nvPr/>
        </p:nvSpPr>
        <p:spPr>
          <a:xfrm>
            <a:off x="7027632" y="3075168"/>
            <a:ext cx="2336435" cy="562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015"/>
              </a:lnSpc>
              <a:buNone/>
            </a:pPr>
            <a:r>
              <a:rPr lang="ar-SA" altLang="en-US" sz="15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المناطق التي تحتوي على ممتلكات</a:t>
            </a:r>
            <a:endParaRPr lang="ar-SA" sz="1550" dirty="0"/>
          </a:p>
          <a:p>
            <a:pPr rtl="1" algn="r" indent="0" marL="0">
              <a:lnSpc>
                <a:spcPts val="2015"/>
              </a:lnSpc>
              <a:buNone/>
            </a:pPr>
            <a:r>
              <a:rPr lang="ar-SA" altLang="en-US" sz="15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مهمة</a:t>
            </a:r>
            <a:endParaRPr lang="ar-SA" sz="1550" dirty="0"/>
          </a:p>
        </p:txBody>
      </p:sp>
      <p:sp>
        <p:nvSpPr>
          <p:cNvPr id="27" name="s41-text-25"/>
          <p:cNvSpPr txBox="1"/>
          <p:nvPr/>
        </p:nvSpPr>
        <p:spPr>
          <a:xfrm>
            <a:off x="4086860" y="3766646"/>
            <a:ext cx="7406640" cy="700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558"/>
              </a:lnSpc>
              <a:buNone/>
            </a:pPr>
            <a:r>
              <a:rPr lang="ar-SA" altLang="en-US" sz="16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بعدها يتم تحديد زاوية كل كاميرا ونطاق التغطية، لأن توزيع الكاميرات بشكل صحيح أهم من زيادة العدد بدون</a:t>
            </a:r>
            <a:endParaRPr lang="ar-SA" sz="1650" dirty="0"/>
          </a:p>
          <a:p>
            <a:pPr rtl="1" algn="r" indent="0" marL="0">
              <a:lnSpc>
                <a:spcPts val="2558"/>
              </a:lnSpc>
              <a:buNone/>
            </a:pPr>
            <a:r>
              <a:rPr lang="ar-SA" altLang="en-US" sz="16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تخطيط.</a:t>
            </a:r>
            <a:endParaRPr lang="ar-SA" sz="1650" dirty="0"/>
          </a:p>
        </p:txBody>
      </p:sp>
      <p:sp>
        <p:nvSpPr>
          <p:cNvPr id="28" name="s41-shape-26"/>
          <p:cNvSpPr/>
          <p:nvPr/>
        </p:nvSpPr>
        <p:spPr>
          <a:xfrm>
            <a:off x="4635500" y="4596507"/>
            <a:ext cx="6858000" cy="857250"/>
          </a:xfrm>
          <a:prstGeom prst="roundRect">
            <a:avLst>
              <a:gd name="adj" fmla="val 19259"/>
            </a:avLst>
          </a:prstGeom>
          <a:solidFill>
            <a:srgbClr val="FFF7DE"/>
          </a:solidFill>
          <a:ln/>
        </p:spPr>
      </p:sp>
      <p:sp>
        <p:nvSpPr>
          <p:cNvPr id="29" name="s41-text-27"/>
          <p:cNvSpPr txBox="1"/>
          <p:nvPr/>
        </p:nvSpPr>
        <p:spPr>
          <a:xfrm>
            <a:off x="4278376" y="4634378"/>
            <a:ext cx="7050024" cy="365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475"/>
              </a:lnSpc>
              <a:buNone/>
            </a:pPr>
            <a:r>
              <a:rPr lang="ar-SA" altLang="en-US" sz="16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لذلك لا تبدأ بسؤال: كم كاميرا أشتري؟</a:t>
            </a:r>
            <a:endParaRPr lang="ar-SA" sz="1650" dirty="0"/>
          </a:p>
        </p:txBody>
      </p:sp>
      <p:sp>
        <p:nvSpPr>
          <p:cNvPr id="30" name="s41-text-28"/>
          <p:cNvSpPr txBox="1"/>
          <p:nvPr/>
        </p:nvSpPr>
        <p:spPr>
          <a:xfrm>
            <a:off x="4278376" y="4948703"/>
            <a:ext cx="7050024" cy="365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475"/>
              </a:lnSpc>
              <a:buNone/>
            </a:pPr>
            <a:r>
              <a:rPr lang="ar-SA" altLang="en-US" sz="1650" b="1" dirty="0">
                <a:solidFill>
                  <a:srgbClr val="E9720C"/>
                </a:solidFill>
                <a:latin typeface="Sakkal Saad TN Trial Light"/>
                <a:cs typeface="Sakkal Saad TN Trial Light"/>
              </a:rPr>
              <a:t>ابدأ بسؤال: إيش المناطق اللي أحتاج أراقبها؟</a:t>
            </a:r>
            <a:endParaRPr lang="ar-SA" sz="1650" dirty="0"/>
          </a:p>
        </p:txBody>
      </p:sp>
      <p:sp>
        <p:nvSpPr>
          <p:cNvPr id="31" name="s41-shape-29"/>
          <p:cNvSpPr/>
          <p:nvPr/>
        </p:nvSpPr>
        <p:spPr>
          <a:xfrm>
            <a:off x="4635500" y="5588000"/>
            <a:ext cx="6858000" cy="787400"/>
          </a:xfrm>
          <a:prstGeom prst="roundRect">
            <a:avLst>
              <a:gd name="adj" fmla="val 32258"/>
            </a:avLst>
          </a:prstGeom>
          <a:solidFill>
            <a:srgbClr val="FF8D26"/>
          </a:solidFill>
          <a:ln/>
        </p:spPr>
      </p:sp>
      <p:pic>
        <p:nvPicPr>
          <p:cNvPr id="32" name="s41-snap-30" descr="s41-snap-30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769600" y="5702300"/>
            <a:ext cx="558800" cy="558800"/>
          </a:xfrm>
          <a:prstGeom prst="rect">
            <a:avLst/>
          </a:prstGeom>
        </p:spPr>
      </p:pic>
      <p:sp>
        <p:nvSpPr>
          <p:cNvPr id="33" name="s41-text-31"/>
          <p:cNvSpPr txBox="1"/>
          <p:nvPr/>
        </p:nvSpPr>
        <p:spPr>
          <a:xfrm>
            <a:off x="5889526" y="5788052"/>
            <a:ext cx="4765774" cy="317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03"/>
              </a:lnSpc>
              <a:buNone/>
            </a:pPr>
            <a:r>
              <a:rPr lang="ar-SA" altLang="en-US" sz="14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أرسل لنا نوع المكان والمناطق التي تريد مراقبتها، ونساعدك في تحديد الحل المناسب.</a:t>
            </a:r>
            <a:endParaRPr lang="ar-SA" sz="14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3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4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0" dur="489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90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90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75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75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7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7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75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75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75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75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7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27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53" presetClass="entr" presetSubtype="16" fill="hold" grpId="0" nodeType="withEffect">
                                  <p:stCondLst>
                                    <p:cond delay="57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7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53" presetClass="entr" presetSubtype="16" fill="hold" grpId="0" nodeType="withEffect">
                                  <p:stCondLst>
                                    <p:cond delay="57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27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53" presetClass="entr" presetSubtype="16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7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6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6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53" presetClass="entr" presetSubtype="16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27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6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6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53" presetClass="entr" presetSubtype="16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27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6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6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53" presetClass="entr" presetSubtype="16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27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6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6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53" presetClass="entr" presetSubtype="16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27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6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6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53" presetClass="entr" presetSubtype="16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27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6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6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750" fill="hold" decel="10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750" fill="hold" decel="10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750" fill="hold" decel="100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750" fill="hold" decel="100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750" fill="hold" decel="100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750" fill="hold" decel="100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750" fill="hold" decel="100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750" fill="hold" decel="100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42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750" fill="hold" decel="100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750" fill="hold" decel="100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9" dur="750" fill="hold" decel="1000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750" fill="hold" decel="1000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53" presetClass="entr" presetSubtype="16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27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6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6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/>
      <p:bldP spid="15" grpId="0"/>
      <p:bldP spid="12" grpId="0" animBg="1"/>
      <p:bldP spid="13" grpId="0"/>
      <p:bldP spid="16" grpId="0"/>
      <p:bldP spid="14" grpId="0"/>
      <p:bldP spid="18" grpId="0"/>
      <p:bldP spid="20" grpId="0"/>
      <p:bldP spid="22" grpId="0"/>
      <p:bldP spid="24" grpId="0"/>
      <p:bldP spid="26" grpId="0"/>
      <p:bldP spid="27" grpId="0"/>
      <p:bldP spid="28" grpId="0" animBg="1"/>
      <p:bldP spid="29" grpId="0"/>
      <p:bldP spid="30" grpId="0"/>
      <p:bldP spid="31" grpId="0" animBg="1"/>
      <p:bldP spid="33" grpId="0"/>
    </p:bldLst>
  </p:timing>
</p:sld>
</file>

<file path=ppt/slides/slide42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lens"/>
          <p:cNvSpPr/>
          <p:nvPr/>
        </p:nvSpPr>
        <p:spPr>
          <a:xfrm>
            <a:off x="368300" y="127000"/>
            <a:ext cx="1206500" cy="1206500"/>
          </a:xfrm>
          <a:prstGeom prst="ellipse">
            <a:avLst/>
          </a:prstGeom>
          <a:solidFill>
            <a:srgbClr val="EEF2EF"/>
          </a:solidFill>
          <a:ln/>
        </p:spPr>
      </p:sp>
      <p:pic>
        <p:nvPicPr>
          <p:cNvPr id="3" name="!!mt" descr="شعار نظرة ثماني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5400000">
            <a:off x="833735" y="467668"/>
            <a:ext cx="546100" cy="533400"/>
          </a:xfrm>
          <a:prstGeom prst="rect">
            <a:avLst/>
          </a:prstGeom>
        </p:spPr>
      </p:pic>
      <p:pic>
        <p:nvPicPr>
          <p:cNvPr id="4" name="!!mb" descr="شعار نظرة ثمانية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546050" y="458688"/>
            <a:ext cx="527050" cy="520700"/>
          </a:xfrm>
          <a:prstGeom prst="rect">
            <a:avLst/>
          </a:prstGeom>
        </p:spPr>
      </p:pic>
      <p:pic>
        <p:nvPicPr>
          <p:cNvPr id="5" name="!!ma" descr="شعار نظرة ثمانية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101328" y="728911"/>
            <a:ext cx="95250" cy="82550"/>
          </a:xfrm>
          <a:prstGeom prst="rect">
            <a:avLst/>
          </a:prstGeom>
        </p:spPr>
      </p:pic>
      <p:pic>
        <p:nvPicPr>
          <p:cNvPr id="6" name="!!hud" descr="!!hu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800" y="177800"/>
            <a:ext cx="11836400" cy="6502400"/>
          </a:xfrm>
          <a:prstGeom prst="rect">
            <a:avLst/>
          </a:prstGeom>
        </p:spPr>
      </p:pic>
      <p:sp>
        <p:nvSpPr>
          <p:cNvPr id="7" name="!!rec"/>
          <p:cNvSpPr/>
          <p:nvPr/>
        </p:nvSpPr>
        <p:spPr>
          <a:xfrm>
            <a:off x="635000" y="6337300"/>
            <a:ext cx="101600" cy="101600"/>
          </a:xfrm>
          <a:prstGeom prst="ellipse">
            <a:avLst/>
          </a:prstGeom>
          <a:solidFill>
            <a:srgbClr val="FF8D26"/>
          </a:solidFill>
          <a:ln/>
        </p:spPr>
      </p:sp>
      <p:sp>
        <p:nvSpPr>
          <p:cNvPr id="8" name="!!num"/>
          <p:cNvSpPr txBox="1"/>
          <p:nvPr/>
        </p:nvSpPr>
        <p:spPr>
          <a:xfrm>
            <a:off x="825500" y="6281750"/>
            <a:ext cx="695325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altLang="en-US" sz="1200" dirty="0">
                <a:solidFill>
                  <a:srgbClr val="5E6D7C"/>
                </a:solidFill>
                <a:latin typeface="Sakkal Saad TN Trial Light"/>
                <a:cs typeface="Sakkal Saad TN Trial Light"/>
              </a:rPr>
              <a:t>REC · 42</a:t>
            </a:r>
            <a:endParaRPr lang="en-US" sz="1200" dirty="0"/>
          </a:p>
        </p:txBody>
      </p:sp>
      <p:sp>
        <p:nvSpPr>
          <p:cNvPr id="9" name="!!kick"/>
          <p:cNvSpPr txBox="1"/>
          <p:nvPr/>
        </p:nvSpPr>
        <p:spPr>
          <a:xfrm>
            <a:off x="9830177" y="318834"/>
            <a:ext cx="1726823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ar-SA" altLang="en-US" sz="1500" b="1" dirty="0">
                <a:solidFill>
                  <a:srgbClr val="43644B"/>
                </a:solidFill>
                <a:latin typeface="Sakkal Saad TN Trial Light"/>
                <a:cs typeface="Sakkal Saad TN Trial Light"/>
              </a:rPr>
              <a:t>09</a:t>
            </a:r>
            <a:r>
              <a:rPr lang="ar-SA" altLang="en-US" sz="1500" dirty="0">
                <a:solidFill>
                  <a:srgbClr val="E9720C"/>
                </a:solidFill>
                <a:latin typeface="Sakkal Saad TN Trial Light"/>
                <a:cs typeface="Sakkal Saad TN Trial Light"/>
              </a:rPr>
              <a:t> كتابة المحتوى التسويقي</a:t>
            </a:r>
            <a:endParaRPr lang="ar-SA" sz="1500" dirty="0"/>
          </a:p>
        </p:txBody>
      </p:sp>
      <p:sp>
        <p:nvSpPr>
          <p:cNvPr id="10" name="s42-text-8"/>
          <p:cNvSpPr txBox="1"/>
          <p:nvPr/>
        </p:nvSpPr>
        <p:spPr>
          <a:xfrm>
            <a:off x="8604524" y="695134"/>
            <a:ext cx="2952476" cy="702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5130"/>
              </a:lnSpc>
              <a:buNone/>
            </a:pPr>
            <a:r>
              <a:rPr lang="ar-SA" altLang="en-US" sz="3800" b="1" dirty="0">
                <a:solidFill>
                  <a:srgbClr val="FF8D26"/>
                </a:solidFill>
                <a:latin typeface="Sakkal Saad TN Trial Light"/>
                <a:cs typeface="Sakkal Saad TN Trial Light"/>
              </a:rPr>
              <a:t>02</a:t>
            </a:r>
            <a:r>
              <a:rPr lang="ar-SA" altLang="en-US" sz="3800" b="1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 محتوى توعوي</a:t>
            </a:r>
            <a:endParaRPr lang="ar-SA" sz="3800" dirty="0"/>
          </a:p>
        </p:txBody>
      </p:sp>
      <p:pic>
        <p:nvPicPr>
          <p:cNvPr id="11" name="s42-snap-9" descr="s42-snap-9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4000" y="1111250"/>
            <a:ext cx="4191000" cy="5588000"/>
          </a:xfrm>
          <a:prstGeom prst="rect">
            <a:avLst/>
          </a:prstGeom>
        </p:spPr>
      </p:pic>
      <p:sp>
        <p:nvSpPr>
          <p:cNvPr id="12" name="s42-text-10"/>
          <p:cNvSpPr txBox="1"/>
          <p:nvPr/>
        </p:nvSpPr>
        <p:spPr>
          <a:xfrm>
            <a:off x="949960" y="3290222"/>
            <a:ext cx="2606040" cy="115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4340"/>
              </a:lnSpc>
              <a:buNone/>
            </a:pPr>
            <a:r>
              <a:rPr lang="ar-SA" altLang="en-US" sz="3100" b="1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الأرخص مو دائمًا</a:t>
            </a:r>
            <a:endParaRPr lang="ar-SA" sz="3100" dirty="0"/>
          </a:p>
          <a:p>
            <a:pPr rtl="1" algn="r" indent="0" marL="0">
              <a:lnSpc>
                <a:spcPts val="4340"/>
              </a:lnSpc>
              <a:buNone/>
            </a:pPr>
            <a:r>
              <a:rPr lang="ar-SA" altLang="en-US" sz="3100" b="1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الأقل تكلفة</a:t>
            </a:r>
            <a:endParaRPr lang="ar-SA" sz="3100" dirty="0"/>
          </a:p>
        </p:txBody>
      </p:sp>
      <p:sp>
        <p:nvSpPr>
          <p:cNvPr id="13" name="s42-text-11"/>
          <p:cNvSpPr txBox="1"/>
          <p:nvPr/>
        </p:nvSpPr>
        <p:spPr>
          <a:xfrm>
            <a:off x="3743960" y="1585481"/>
            <a:ext cx="7749540" cy="382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610"/>
              </a:lnSpc>
              <a:buNone/>
            </a:pPr>
            <a:r>
              <a:rPr lang="ar-SA" altLang="en-US" sz="1800" b="1" dirty="0">
                <a:solidFill>
                  <a:srgbClr val="43644B"/>
                </a:solidFill>
                <a:latin typeface="Sakkal Saad TN Trial Light"/>
                <a:cs typeface="Sakkal Saad TN Trial Light"/>
              </a:rPr>
              <a:t>أرخص عرض اليوم… ممكن يكلفك أكثر بعدين.</a:t>
            </a:r>
            <a:endParaRPr lang="ar-SA" sz="1800" dirty="0"/>
          </a:p>
        </p:txBody>
      </p:sp>
      <p:sp>
        <p:nvSpPr>
          <p:cNvPr id="14" name="s42-text-12"/>
          <p:cNvSpPr txBox="1"/>
          <p:nvPr/>
        </p:nvSpPr>
        <p:spPr>
          <a:xfrm>
            <a:off x="3743960" y="1951580"/>
            <a:ext cx="7749540" cy="346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325"/>
              </a:lnSpc>
              <a:buNone/>
            </a:pPr>
            <a:r>
              <a:rPr lang="ar-SA" altLang="en-US" sz="15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قبل تختار نظام المراقبة حسب السعر فقط انتبه.</a:t>
            </a:r>
            <a:endParaRPr lang="ar-SA" sz="1550" dirty="0"/>
          </a:p>
        </p:txBody>
      </p:sp>
      <p:sp>
        <p:nvSpPr>
          <p:cNvPr id="15" name="s42-text-13"/>
          <p:cNvSpPr txBox="1"/>
          <p:nvPr/>
        </p:nvSpPr>
        <p:spPr>
          <a:xfrm>
            <a:off x="3743960" y="2339515"/>
            <a:ext cx="7749540" cy="336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250"/>
              </a:lnSpc>
              <a:buNone/>
            </a:pPr>
            <a:r>
              <a:rPr lang="ar-SA" altLang="en-US" sz="15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العرض الأرخص قد يعني لاحقًا:</a:t>
            </a:r>
            <a:endParaRPr lang="ar-SA" sz="1500" dirty="0"/>
          </a:p>
        </p:txBody>
      </p:sp>
      <p:pic>
        <p:nvPicPr>
          <p:cNvPr id="16" name="s42-snap-14" descr="s42-snap-14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52520" y="2715816"/>
            <a:ext cx="2479080" cy="426045"/>
          </a:xfrm>
          <a:prstGeom prst="rect">
            <a:avLst/>
          </a:prstGeom>
        </p:spPr>
      </p:pic>
      <p:sp>
        <p:nvSpPr>
          <p:cNvPr id="17" name="s42-text-15"/>
          <p:cNvSpPr txBox="1"/>
          <p:nvPr/>
        </p:nvSpPr>
        <p:spPr>
          <a:xfrm>
            <a:off x="10045898" y="2766603"/>
            <a:ext cx="1022152" cy="2736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755"/>
              </a:lnSpc>
              <a:buNone/>
            </a:pPr>
            <a:r>
              <a:rPr lang="ar-SA" altLang="en-US" sz="13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شراء تخزين إضافي</a:t>
            </a:r>
            <a:endParaRPr lang="ar-SA" sz="1350" dirty="0"/>
          </a:p>
        </p:txBody>
      </p:sp>
      <p:pic>
        <p:nvPicPr>
          <p:cNvPr id="18" name="s42-snap-16" descr="s42-snap-16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11963" y="2715816"/>
            <a:ext cx="2227858" cy="426045"/>
          </a:xfrm>
          <a:prstGeom prst="rect">
            <a:avLst/>
          </a:prstGeom>
        </p:spPr>
      </p:pic>
      <p:sp>
        <p:nvSpPr>
          <p:cNvPr id="19" name="s42-text-17"/>
          <p:cNvSpPr txBox="1"/>
          <p:nvPr/>
        </p:nvSpPr>
        <p:spPr>
          <a:xfrm>
            <a:off x="7512943" y="2766603"/>
            <a:ext cx="1063327" cy="2736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755"/>
              </a:lnSpc>
              <a:buNone/>
            </a:pPr>
            <a:r>
              <a:rPr lang="ar-SA" altLang="en-US" sz="13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تغيير بعض الأجهزة</a:t>
            </a:r>
            <a:endParaRPr lang="ar-SA" sz="1350" dirty="0"/>
          </a:p>
        </p:txBody>
      </p:sp>
      <p:pic>
        <p:nvPicPr>
          <p:cNvPr id="20" name="s42-snap-18" descr="s42-snap-18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24673" y="2715816"/>
            <a:ext cx="1474589" cy="426045"/>
          </a:xfrm>
          <a:prstGeom prst="rect">
            <a:avLst/>
          </a:prstGeom>
        </p:spPr>
      </p:pic>
      <p:sp>
        <p:nvSpPr>
          <p:cNvPr id="21" name="s42-text-19"/>
          <p:cNvSpPr txBox="1"/>
          <p:nvPr/>
        </p:nvSpPr>
        <p:spPr>
          <a:xfrm>
            <a:off x="5426273" y="2766603"/>
            <a:ext cx="909439" cy="2736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755"/>
              </a:lnSpc>
              <a:buNone/>
            </a:pPr>
            <a:r>
              <a:rPr lang="ar-SA" altLang="en-US" sz="13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إعادة التمديدات</a:t>
            </a:r>
            <a:endParaRPr lang="ar-SA" sz="1350" dirty="0"/>
          </a:p>
        </p:txBody>
      </p:sp>
      <p:pic>
        <p:nvPicPr>
          <p:cNvPr id="22" name="s42-snap-20" descr="s42-snap-20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52520" y="3141861"/>
            <a:ext cx="2479080" cy="426045"/>
          </a:xfrm>
          <a:prstGeom prst="rect">
            <a:avLst/>
          </a:prstGeom>
        </p:spPr>
      </p:pic>
      <p:sp>
        <p:nvSpPr>
          <p:cNvPr id="23" name="s42-text-21"/>
          <p:cNvSpPr txBox="1"/>
          <p:nvPr/>
        </p:nvSpPr>
        <p:spPr>
          <a:xfrm>
            <a:off x="9110734" y="3192648"/>
            <a:ext cx="1957316" cy="2736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755"/>
              </a:lnSpc>
              <a:buNone/>
            </a:pPr>
            <a:r>
              <a:rPr lang="ar-SA" altLang="en-US" sz="13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إضافة معدات لم تُحسب من البداية</a:t>
            </a:r>
            <a:endParaRPr lang="ar-SA" sz="1350" dirty="0"/>
          </a:p>
        </p:txBody>
      </p:sp>
      <p:pic>
        <p:nvPicPr>
          <p:cNvPr id="24" name="s42-snap-22" descr="s42-snap-22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11963" y="3141861"/>
            <a:ext cx="2227858" cy="426045"/>
          </a:xfrm>
          <a:prstGeom prst="rect">
            <a:avLst/>
          </a:prstGeom>
        </p:spPr>
      </p:pic>
      <p:sp>
        <p:nvSpPr>
          <p:cNvPr id="25" name="s42-text-23"/>
          <p:cNvSpPr txBox="1"/>
          <p:nvPr/>
        </p:nvSpPr>
        <p:spPr>
          <a:xfrm>
            <a:off x="6890274" y="3192648"/>
            <a:ext cx="1685996" cy="2736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755"/>
              </a:lnSpc>
              <a:buNone/>
            </a:pPr>
            <a:r>
              <a:rPr lang="ar-SA" altLang="en-US" sz="13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تكاليف تركيب أو تعديل إضافية</a:t>
            </a:r>
            <a:endParaRPr lang="ar-SA" sz="1350" dirty="0"/>
          </a:p>
        </p:txBody>
      </p:sp>
      <p:sp>
        <p:nvSpPr>
          <p:cNvPr id="26" name="s42-text-24"/>
          <p:cNvSpPr txBox="1"/>
          <p:nvPr/>
        </p:nvSpPr>
        <p:spPr>
          <a:xfrm>
            <a:off x="3743960" y="3566255"/>
            <a:ext cx="7749540" cy="336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250"/>
              </a:lnSpc>
              <a:buNone/>
            </a:pPr>
            <a:r>
              <a:rPr lang="ar-SA" altLang="en-US" sz="15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لذلك عند مقارنة عرضين لا تقارن السعر فقط.</a:t>
            </a:r>
            <a:endParaRPr lang="ar-SA" sz="1500" dirty="0"/>
          </a:p>
        </p:txBody>
      </p:sp>
      <p:sp>
        <p:nvSpPr>
          <p:cNvPr id="27" name="s42-shape-25"/>
          <p:cNvSpPr/>
          <p:nvPr/>
        </p:nvSpPr>
        <p:spPr>
          <a:xfrm>
            <a:off x="4318000" y="3993356"/>
            <a:ext cx="7175500" cy="510480"/>
          </a:xfrm>
          <a:prstGeom prst="roundRect">
            <a:avLst>
              <a:gd name="adj" fmla="val 32342"/>
            </a:avLst>
          </a:prstGeom>
          <a:solidFill>
            <a:srgbClr val="EEF2EF"/>
          </a:solidFill>
          <a:ln/>
        </p:spPr>
      </p:sp>
      <p:sp>
        <p:nvSpPr>
          <p:cNvPr id="28" name="s42-text-26"/>
          <p:cNvSpPr txBox="1"/>
          <p:nvPr/>
        </p:nvSpPr>
        <p:spPr>
          <a:xfrm>
            <a:off x="10944126" y="4056332"/>
            <a:ext cx="409674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00"/>
              </a:lnSpc>
              <a:buNone/>
            </a:pPr>
            <a:r>
              <a:rPr lang="ar-SA" altLang="en-US" sz="1500" b="1" dirty="0">
                <a:solidFill>
                  <a:srgbClr val="43644B"/>
                </a:solidFill>
                <a:latin typeface="Sakkal Saad TN Trial Light"/>
                <a:cs typeface="Sakkal Saad TN Trial Light"/>
              </a:rPr>
              <a:t>قارن:</a:t>
            </a:r>
            <a:endParaRPr lang="ar-SA" sz="1500" dirty="0"/>
          </a:p>
        </p:txBody>
      </p:sp>
      <p:sp>
        <p:nvSpPr>
          <p:cNvPr id="29" name="s42-shape-27"/>
          <p:cNvSpPr/>
          <p:nvPr/>
        </p:nvSpPr>
        <p:spPr>
          <a:xfrm>
            <a:off x="10329664" y="4094956"/>
            <a:ext cx="614462" cy="3072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0" name="s42-text-28"/>
          <p:cNvSpPr txBox="1"/>
          <p:nvPr/>
        </p:nvSpPr>
        <p:spPr>
          <a:xfrm>
            <a:off x="10342364" y="4079538"/>
            <a:ext cx="487462" cy="281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820"/>
              </a:lnSpc>
              <a:buNone/>
            </a:pPr>
            <a:r>
              <a:rPr lang="ar-SA" altLang="en-US" sz="14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الأجهزة</a:t>
            </a:r>
            <a:endParaRPr lang="ar-SA" sz="1400" dirty="0"/>
          </a:p>
        </p:txBody>
      </p:sp>
      <p:sp>
        <p:nvSpPr>
          <p:cNvPr id="31" name="s42-text-29"/>
          <p:cNvSpPr txBox="1"/>
          <p:nvPr/>
        </p:nvSpPr>
        <p:spPr>
          <a:xfrm>
            <a:off x="10074970" y="4102383"/>
            <a:ext cx="20389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700"/>
              </a:lnSpc>
              <a:buNone/>
            </a:pPr>
            <a:r>
              <a:rPr lang="ar-SA" altLang="en-US" sz="1700" b="1" dirty="0">
                <a:solidFill>
                  <a:srgbClr val="FF8D26"/>
                </a:solidFill>
                <a:latin typeface="Sakkal Saad TN Trial Light"/>
                <a:cs typeface="Sakkal Saad TN Trial Light"/>
              </a:rPr>
              <a:t>+</a:t>
            </a:r>
            <a:endParaRPr lang="ar-SA" sz="1700" dirty="0"/>
          </a:p>
        </p:txBody>
      </p:sp>
      <p:sp>
        <p:nvSpPr>
          <p:cNvPr id="32" name="s42-shape-30"/>
          <p:cNvSpPr/>
          <p:nvPr/>
        </p:nvSpPr>
        <p:spPr>
          <a:xfrm>
            <a:off x="9475986" y="4094956"/>
            <a:ext cx="649784" cy="3072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3" name="s42-text-31"/>
          <p:cNvSpPr txBox="1"/>
          <p:nvPr/>
        </p:nvSpPr>
        <p:spPr>
          <a:xfrm>
            <a:off x="9488686" y="4079538"/>
            <a:ext cx="522784" cy="281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820"/>
              </a:lnSpc>
              <a:buNone/>
            </a:pPr>
            <a:r>
              <a:rPr lang="ar-SA" altLang="en-US" sz="14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التخزين</a:t>
            </a:r>
            <a:endParaRPr lang="ar-SA" sz="1400" dirty="0"/>
          </a:p>
        </p:txBody>
      </p:sp>
      <p:sp>
        <p:nvSpPr>
          <p:cNvPr id="34" name="s42-text-32"/>
          <p:cNvSpPr txBox="1"/>
          <p:nvPr/>
        </p:nvSpPr>
        <p:spPr>
          <a:xfrm>
            <a:off x="9221291" y="4102383"/>
            <a:ext cx="20389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700"/>
              </a:lnSpc>
              <a:buNone/>
            </a:pPr>
            <a:r>
              <a:rPr lang="ar-SA" altLang="en-US" sz="1700" b="1" dirty="0">
                <a:solidFill>
                  <a:srgbClr val="FF8D26"/>
                </a:solidFill>
                <a:latin typeface="Sakkal Saad TN Trial Light"/>
                <a:cs typeface="Sakkal Saad TN Trial Light"/>
              </a:rPr>
              <a:t>+</a:t>
            </a:r>
            <a:endParaRPr lang="ar-SA" sz="1700" dirty="0"/>
          </a:p>
        </p:txBody>
      </p:sp>
      <p:sp>
        <p:nvSpPr>
          <p:cNvPr id="35" name="s42-shape-33"/>
          <p:cNvSpPr/>
          <p:nvPr/>
        </p:nvSpPr>
        <p:spPr>
          <a:xfrm>
            <a:off x="8637290" y="4094956"/>
            <a:ext cx="634802" cy="3072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6" name="s42-text-34"/>
          <p:cNvSpPr txBox="1"/>
          <p:nvPr/>
        </p:nvSpPr>
        <p:spPr>
          <a:xfrm>
            <a:off x="8649990" y="4079538"/>
            <a:ext cx="507802" cy="281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820"/>
              </a:lnSpc>
              <a:buNone/>
            </a:pPr>
            <a:r>
              <a:rPr lang="ar-SA" altLang="en-US" sz="14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التركيب</a:t>
            </a:r>
            <a:endParaRPr lang="ar-SA" sz="1400" dirty="0"/>
          </a:p>
        </p:txBody>
      </p:sp>
      <p:sp>
        <p:nvSpPr>
          <p:cNvPr id="37" name="s42-text-35"/>
          <p:cNvSpPr txBox="1"/>
          <p:nvPr/>
        </p:nvSpPr>
        <p:spPr>
          <a:xfrm>
            <a:off x="8382595" y="4102383"/>
            <a:ext cx="20389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700"/>
              </a:lnSpc>
              <a:buNone/>
            </a:pPr>
            <a:r>
              <a:rPr lang="ar-SA" altLang="en-US" sz="1700" b="1" dirty="0">
                <a:solidFill>
                  <a:srgbClr val="FF8D26"/>
                </a:solidFill>
                <a:latin typeface="Sakkal Saad TN Trial Light"/>
                <a:cs typeface="Sakkal Saad TN Trial Light"/>
              </a:rPr>
              <a:t>+</a:t>
            </a:r>
            <a:endParaRPr lang="ar-SA" sz="1700" dirty="0"/>
          </a:p>
        </p:txBody>
      </p:sp>
      <p:sp>
        <p:nvSpPr>
          <p:cNvPr id="38" name="s42-shape-36"/>
          <p:cNvSpPr/>
          <p:nvPr/>
        </p:nvSpPr>
        <p:spPr>
          <a:xfrm>
            <a:off x="7804348" y="4094956"/>
            <a:ext cx="629047" cy="3072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9" name="s42-text-37"/>
          <p:cNvSpPr txBox="1"/>
          <p:nvPr/>
        </p:nvSpPr>
        <p:spPr>
          <a:xfrm>
            <a:off x="7817048" y="4079538"/>
            <a:ext cx="502047" cy="281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820"/>
              </a:lnSpc>
              <a:buNone/>
            </a:pPr>
            <a:r>
              <a:rPr lang="ar-SA" altLang="en-US" sz="14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الضمان</a:t>
            </a:r>
            <a:endParaRPr lang="ar-SA" sz="1400" dirty="0"/>
          </a:p>
        </p:txBody>
      </p:sp>
      <p:sp>
        <p:nvSpPr>
          <p:cNvPr id="40" name="s42-text-38"/>
          <p:cNvSpPr txBox="1"/>
          <p:nvPr/>
        </p:nvSpPr>
        <p:spPr>
          <a:xfrm>
            <a:off x="7549654" y="4102383"/>
            <a:ext cx="20389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700"/>
              </a:lnSpc>
              <a:buNone/>
            </a:pPr>
            <a:r>
              <a:rPr lang="ar-SA" altLang="en-US" sz="1700" b="1" dirty="0">
                <a:solidFill>
                  <a:srgbClr val="FF8D26"/>
                </a:solidFill>
                <a:latin typeface="Sakkal Saad TN Trial Light"/>
                <a:cs typeface="Sakkal Saad TN Trial Light"/>
              </a:rPr>
              <a:t>+</a:t>
            </a:r>
            <a:endParaRPr lang="ar-SA" sz="1700" dirty="0"/>
          </a:p>
        </p:txBody>
      </p:sp>
      <p:sp>
        <p:nvSpPr>
          <p:cNvPr id="41" name="s42-shape-39"/>
          <p:cNvSpPr/>
          <p:nvPr/>
        </p:nvSpPr>
        <p:spPr>
          <a:xfrm>
            <a:off x="7073503" y="4094956"/>
            <a:ext cx="526951" cy="3072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2" name="s42-text-40"/>
          <p:cNvSpPr txBox="1"/>
          <p:nvPr/>
        </p:nvSpPr>
        <p:spPr>
          <a:xfrm>
            <a:off x="7086203" y="4079538"/>
            <a:ext cx="399951" cy="281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820"/>
              </a:lnSpc>
              <a:buNone/>
            </a:pPr>
            <a:r>
              <a:rPr lang="ar-SA" altLang="en-US" sz="14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الدعم</a:t>
            </a:r>
            <a:endParaRPr lang="ar-SA" sz="1400" dirty="0"/>
          </a:p>
        </p:txBody>
      </p:sp>
      <p:sp>
        <p:nvSpPr>
          <p:cNvPr id="43" name="s42-text-41"/>
          <p:cNvSpPr txBox="1"/>
          <p:nvPr/>
        </p:nvSpPr>
        <p:spPr>
          <a:xfrm>
            <a:off x="6818809" y="4102383"/>
            <a:ext cx="20389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700"/>
              </a:lnSpc>
              <a:buNone/>
            </a:pPr>
            <a:r>
              <a:rPr lang="ar-SA" altLang="en-US" sz="1700" b="1" dirty="0">
                <a:solidFill>
                  <a:srgbClr val="FF8D26"/>
                </a:solidFill>
                <a:latin typeface="Sakkal Saad TN Trial Light"/>
                <a:cs typeface="Sakkal Saad TN Trial Light"/>
              </a:rPr>
              <a:t>+</a:t>
            </a:r>
            <a:endParaRPr lang="ar-SA" sz="1700" dirty="0"/>
          </a:p>
        </p:txBody>
      </p:sp>
      <p:sp>
        <p:nvSpPr>
          <p:cNvPr id="44" name="s42-shape-42"/>
          <p:cNvSpPr/>
          <p:nvPr/>
        </p:nvSpPr>
        <p:spPr>
          <a:xfrm>
            <a:off x="5961062" y="4094956"/>
            <a:ext cx="908546" cy="3072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5" name="s42-text-43"/>
          <p:cNvSpPr txBox="1"/>
          <p:nvPr/>
        </p:nvSpPr>
        <p:spPr>
          <a:xfrm>
            <a:off x="5973763" y="4079538"/>
            <a:ext cx="781546" cy="281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820"/>
              </a:lnSpc>
              <a:buNone/>
            </a:pPr>
            <a:r>
              <a:rPr lang="ar-SA" altLang="en-US" sz="14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قابلية التوسع</a:t>
            </a:r>
            <a:endParaRPr lang="ar-SA" sz="1400" dirty="0"/>
          </a:p>
        </p:txBody>
      </p:sp>
      <p:sp>
        <p:nvSpPr>
          <p:cNvPr id="46" name="s42-text-44"/>
          <p:cNvSpPr txBox="1"/>
          <p:nvPr/>
        </p:nvSpPr>
        <p:spPr>
          <a:xfrm>
            <a:off x="3743960" y="4527586"/>
            <a:ext cx="7749540" cy="336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250"/>
              </a:lnSpc>
              <a:buNone/>
            </a:pPr>
            <a:r>
              <a:rPr lang="ar-SA" altLang="en-US" sz="15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لأن الهدف مو شراء كاميرات فقط بل الحصول على نظام يعمل بالشكل المناسب لاحتياجك.</a:t>
            </a:r>
            <a:endParaRPr lang="ar-SA" sz="1500" dirty="0"/>
          </a:p>
        </p:txBody>
      </p:sp>
      <p:sp>
        <p:nvSpPr>
          <p:cNvPr id="47" name="s42-shape-45"/>
          <p:cNvSpPr/>
          <p:nvPr/>
        </p:nvSpPr>
        <p:spPr>
          <a:xfrm>
            <a:off x="4318000" y="5664200"/>
            <a:ext cx="7175500" cy="787400"/>
          </a:xfrm>
          <a:prstGeom prst="roundRect">
            <a:avLst>
              <a:gd name="adj" fmla="val 32258"/>
            </a:avLst>
          </a:prstGeom>
          <a:solidFill>
            <a:srgbClr val="FF8D26"/>
          </a:solidFill>
          <a:ln/>
        </p:spPr>
      </p:sp>
      <p:pic>
        <p:nvPicPr>
          <p:cNvPr id="48" name="s42-snap-46" descr="s42-snap-46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769600" y="5778500"/>
            <a:ext cx="558800" cy="558800"/>
          </a:xfrm>
          <a:prstGeom prst="rect">
            <a:avLst/>
          </a:prstGeom>
        </p:spPr>
      </p:pic>
      <p:sp>
        <p:nvSpPr>
          <p:cNvPr id="49" name="s42-text-47"/>
          <p:cNvSpPr txBox="1"/>
          <p:nvPr/>
        </p:nvSpPr>
        <p:spPr>
          <a:xfrm>
            <a:off x="7606812" y="5864252"/>
            <a:ext cx="3048488" cy="317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03"/>
              </a:lnSpc>
              <a:buNone/>
            </a:pPr>
            <a:r>
              <a:rPr lang="ar-SA" altLang="en-US" sz="14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قبل اتخاذ القرار قارن الحل كاملًا وليس السعر فقط.</a:t>
            </a:r>
            <a:endParaRPr lang="ar-SA" sz="14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3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4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0" dur="489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90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90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75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75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5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75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75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75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7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7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grpId="0" nodeType="withEffect">
                                  <p:stCondLst>
                                    <p:cond delay="57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27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53" presetClass="entr" presetSubtype="16" fill="hold" grpId="0" nodeType="withEffect">
                                  <p:stCondLst>
                                    <p:cond delay="57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7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53" presetClass="entr" presetSubtype="16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27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53" presetClass="entr" presetSubtype="16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7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6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6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53" presetClass="entr" presetSubtype="16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27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6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6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53" presetClass="entr" presetSubtype="16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27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6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6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53" presetClass="entr" presetSubtype="16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27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6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6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53" presetClass="entr" presetSubtype="16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27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6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6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750" fill="hold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750" fill="hold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42" presetClass="entr" presetSubtype="0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750" fill="hold" decel="10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750" fill="hold" decel="10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750" fill="hold" decel="100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750" fill="hold" decel="100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750" fill="hold" decel="100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750" fill="hold" decel="100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42" presetClass="entr" presetSubtype="0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750" fill="hold" decel="100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750" fill="hold" decel="100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42" presetClass="entr" presetSubtype="0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6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750" fill="hold" decel="100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750" fill="hold" decel="100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6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9" dur="750" fill="hold" decel="100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750" fill="hold" decel="100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42" presetClass="entr" presetSubtype="0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6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750" fill="hold" decel="1000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750" fill="hold" decel="1000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27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9" dur="6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6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27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4" dur="6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6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53" presetClass="entr" presetSubtype="16" fill="hold" grpId="0" nodeType="withEffect">
                                  <p:stCondLst>
                                    <p:cond delay="107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27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9" dur="6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6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53" presetClass="entr" presetSubtype="16" fill="hold" grpId="0" nodeType="withEffect">
                                  <p:stCondLst>
                                    <p:cond delay="107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27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4" dur="6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6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6" presetID="53" presetClass="entr" presetSubtype="16" fill="hold" grpId="0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27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9" dur="6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6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1" presetID="53" presetClass="entr" presetSubtype="16" fill="hold" grpId="0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27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4" dur="6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6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6" presetID="53" presetClass="entr" presetSubtype="16" fill="hold" grpId="0" nodeType="withEffect">
                                  <p:stCondLst>
                                    <p:cond delay="121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27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9" dur="6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6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1" presetID="53" presetClass="entr" presetSubtype="16" fill="hold" grpId="0" nodeType="withEffect">
                                  <p:stCondLst>
                                    <p:cond delay="121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27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4" dur="6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6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6" presetID="53" presetClass="entr" presetSubtype="16" fill="hold" grpId="0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27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9" dur="6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6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1" presetID="53" presetClass="entr" presetSubtype="16" fill="hold" grpId="0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27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4" dur="6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6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6" presetID="4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6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9" dur="750" fill="hold" decel="1000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0" dur="750" fill="hold" decel="1000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1" presetID="53" presetClass="entr" presetSubtype="16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27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4" dur="6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5" dur="6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6" presetID="53" presetClass="entr" presetSubtype="16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27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9" dur="6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6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1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6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4" dur="750" fill="hold" decel="1000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5" dur="750" fill="hold" decel="1000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6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6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9" dur="750" fill="hold" decel="1000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0" dur="750" fill="hold" decel="1000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1" presetID="53" presetClass="entr" presetSubtype="16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3" dur="27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4" dur="6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5" dur="6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/>
      <p:bldP spid="13" grpId="0"/>
      <p:bldP spid="14" grpId="0"/>
      <p:bldP spid="15" grpId="0"/>
      <p:bldP spid="12" grpId="0"/>
      <p:bldP spid="17" grpId="0"/>
      <p:bldP spid="19" grpId="0"/>
      <p:bldP spid="21" grpId="0"/>
      <p:bldP spid="23" grpId="0"/>
      <p:bldP spid="25" grpId="0"/>
      <p:bldP spid="26" grpId="0"/>
      <p:bldP spid="27" grpId="0" animBg="1"/>
      <p:bldP spid="28" grpId="0"/>
      <p:bldP spid="31" grpId="0"/>
      <p:bldP spid="34" grpId="0"/>
      <p:bldP spid="37" grpId="0"/>
      <p:bldP spid="40" grpId="0"/>
      <p:bldP spid="43" grpId="0"/>
      <p:bldP spid="29" grpId="0" animBg="1"/>
      <p:bldP spid="30" grpId="0"/>
      <p:bldP spid="32" grpId="0" animBg="1"/>
      <p:bldP spid="33" grpId="0"/>
      <p:bldP spid="35" grpId="0" animBg="1"/>
      <p:bldP spid="36" grpId="0"/>
      <p:bldP spid="38" grpId="0" animBg="1"/>
      <p:bldP spid="39" grpId="0"/>
      <p:bldP spid="41" grpId="0" animBg="1"/>
      <p:bldP spid="42" grpId="0"/>
      <p:bldP spid="46" grpId="0"/>
      <p:bldP spid="44" grpId="0" animBg="1"/>
      <p:bldP spid="45" grpId="0"/>
      <p:bldP spid="47" grpId="0" animBg="1"/>
      <p:bldP spid="49" grpId="0"/>
    </p:bldLst>
  </p:timing>
</p:sld>
</file>

<file path=ppt/slides/slide43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lens"/>
          <p:cNvSpPr/>
          <p:nvPr/>
        </p:nvSpPr>
        <p:spPr>
          <a:xfrm>
            <a:off x="368300" y="127000"/>
            <a:ext cx="1206500" cy="1206500"/>
          </a:xfrm>
          <a:prstGeom prst="ellipse">
            <a:avLst/>
          </a:prstGeom>
          <a:solidFill>
            <a:srgbClr val="EEF2EF"/>
          </a:solidFill>
          <a:ln/>
        </p:spPr>
      </p:sp>
      <p:pic>
        <p:nvPicPr>
          <p:cNvPr id="3" name="!!mt" descr="شعار نظرة ثماني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8100000">
            <a:off x="788591" y="569268"/>
            <a:ext cx="546100" cy="533400"/>
          </a:xfrm>
          <a:prstGeom prst="rect">
            <a:avLst/>
          </a:prstGeom>
        </p:spPr>
      </p:pic>
      <p:pic>
        <p:nvPicPr>
          <p:cNvPr id="4" name="!!mb" descr="شعار نظرة ثمانية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8100000">
            <a:off x="598140" y="354608"/>
            <a:ext cx="527050" cy="520700"/>
          </a:xfrm>
          <a:prstGeom prst="rect">
            <a:avLst/>
          </a:prstGeom>
        </p:spPr>
      </p:pic>
      <p:pic>
        <p:nvPicPr>
          <p:cNvPr id="5" name="!!ma" descr="شعار نظرة ثمانية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8100000">
            <a:off x="1018183" y="849561"/>
            <a:ext cx="95250" cy="82550"/>
          </a:xfrm>
          <a:prstGeom prst="rect">
            <a:avLst/>
          </a:prstGeom>
        </p:spPr>
      </p:pic>
      <p:pic>
        <p:nvPicPr>
          <p:cNvPr id="6" name="!!hud" descr="!!hu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800" y="177800"/>
            <a:ext cx="11836400" cy="6502400"/>
          </a:xfrm>
          <a:prstGeom prst="rect">
            <a:avLst/>
          </a:prstGeom>
        </p:spPr>
      </p:pic>
      <p:sp>
        <p:nvSpPr>
          <p:cNvPr id="7" name="!!rec"/>
          <p:cNvSpPr/>
          <p:nvPr/>
        </p:nvSpPr>
        <p:spPr>
          <a:xfrm>
            <a:off x="635000" y="6337300"/>
            <a:ext cx="101600" cy="101600"/>
          </a:xfrm>
          <a:prstGeom prst="ellipse">
            <a:avLst/>
          </a:prstGeom>
          <a:solidFill>
            <a:srgbClr val="FF8D26"/>
          </a:solidFill>
          <a:ln/>
        </p:spPr>
      </p:sp>
      <p:sp>
        <p:nvSpPr>
          <p:cNvPr id="8" name="!!num"/>
          <p:cNvSpPr txBox="1"/>
          <p:nvPr/>
        </p:nvSpPr>
        <p:spPr>
          <a:xfrm>
            <a:off x="825500" y="6281750"/>
            <a:ext cx="695424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altLang="en-US" sz="1200" dirty="0">
                <a:solidFill>
                  <a:srgbClr val="5E6D7C"/>
                </a:solidFill>
                <a:latin typeface="Sakkal Saad TN Trial Light"/>
                <a:cs typeface="Sakkal Saad TN Trial Light"/>
              </a:rPr>
              <a:t>REC · 43</a:t>
            </a:r>
            <a:endParaRPr lang="en-US" sz="1200" dirty="0"/>
          </a:p>
        </p:txBody>
      </p:sp>
      <p:sp>
        <p:nvSpPr>
          <p:cNvPr id="9" name="!!kick"/>
          <p:cNvSpPr txBox="1"/>
          <p:nvPr/>
        </p:nvSpPr>
        <p:spPr>
          <a:xfrm>
            <a:off x="9830177" y="318834"/>
            <a:ext cx="1726823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ar-SA" altLang="en-US" sz="1500" b="1" dirty="0">
                <a:solidFill>
                  <a:srgbClr val="43644B"/>
                </a:solidFill>
                <a:latin typeface="Sakkal Saad TN Trial Light"/>
                <a:cs typeface="Sakkal Saad TN Trial Light"/>
              </a:rPr>
              <a:t>09</a:t>
            </a:r>
            <a:r>
              <a:rPr lang="ar-SA" altLang="en-US" sz="1500" dirty="0">
                <a:solidFill>
                  <a:srgbClr val="E9720C"/>
                </a:solidFill>
                <a:latin typeface="Sakkal Saad TN Trial Light"/>
                <a:cs typeface="Sakkal Saad TN Trial Light"/>
              </a:rPr>
              <a:t> كتابة المحتوى التسويقي</a:t>
            </a:r>
            <a:endParaRPr lang="ar-SA" sz="1500" dirty="0"/>
          </a:p>
        </p:txBody>
      </p:sp>
      <p:sp>
        <p:nvSpPr>
          <p:cNvPr id="10" name="s43-text-8"/>
          <p:cNvSpPr txBox="1"/>
          <p:nvPr/>
        </p:nvSpPr>
        <p:spPr>
          <a:xfrm>
            <a:off x="8600666" y="695134"/>
            <a:ext cx="2956334" cy="702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5130"/>
              </a:lnSpc>
              <a:buNone/>
            </a:pPr>
            <a:r>
              <a:rPr lang="ar-SA" altLang="en-US" sz="3800" b="1" dirty="0">
                <a:solidFill>
                  <a:srgbClr val="FF8D26"/>
                </a:solidFill>
                <a:latin typeface="Sakkal Saad TN Trial Light"/>
                <a:cs typeface="Sakkal Saad TN Trial Light"/>
              </a:rPr>
              <a:t>03</a:t>
            </a:r>
            <a:r>
              <a:rPr lang="ar-SA" altLang="en-US" sz="3800" b="1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 محتوى ترفيهي</a:t>
            </a:r>
            <a:endParaRPr lang="ar-SA" sz="3800" dirty="0"/>
          </a:p>
        </p:txBody>
      </p:sp>
      <p:sp>
        <p:nvSpPr>
          <p:cNvPr id="11" name="s43-shape-9"/>
          <p:cNvSpPr/>
          <p:nvPr/>
        </p:nvSpPr>
        <p:spPr>
          <a:xfrm>
            <a:off x="6191250" y="1778000"/>
            <a:ext cx="5302250" cy="1587500"/>
          </a:xfrm>
          <a:prstGeom prst="roundRect">
            <a:avLst>
              <a:gd name="adj" fmla="val 16000"/>
            </a:avLst>
          </a:prstGeom>
          <a:solidFill>
            <a:srgbClr val="FFF1E3"/>
          </a:solidFill>
          <a:ln/>
        </p:spPr>
      </p:sp>
      <p:pic>
        <p:nvPicPr>
          <p:cNvPr id="12" name="s43-snap-10" descr="s43-snap-10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93400" y="2019300"/>
            <a:ext cx="533400" cy="533400"/>
          </a:xfrm>
          <a:prstGeom prst="rect">
            <a:avLst/>
          </a:prstGeom>
        </p:spPr>
      </p:pic>
      <p:sp>
        <p:nvSpPr>
          <p:cNvPr id="13" name="s43-text-11"/>
          <p:cNvSpPr txBox="1"/>
          <p:nvPr/>
        </p:nvSpPr>
        <p:spPr>
          <a:xfrm>
            <a:off x="9590980" y="2064982"/>
            <a:ext cx="1038920" cy="353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380"/>
              </a:lnSpc>
              <a:buNone/>
            </a:pPr>
            <a:r>
              <a:rPr lang="ar-SA" altLang="en-US" sz="1700" b="1" dirty="0">
                <a:solidFill>
                  <a:srgbClr val="E9720C"/>
                </a:solidFill>
                <a:latin typeface="Sakkal Saad TN Trial Light"/>
                <a:cs typeface="Sakkal Saad TN Trial Light"/>
              </a:rPr>
              <a:t>قبل الكاميرات:</a:t>
            </a:r>
            <a:endParaRPr lang="ar-SA" sz="1700" dirty="0"/>
          </a:p>
        </p:txBody>
      </p:sp>
      <p:sp>
        <p:nvSpPr>
          <p:cNvPr id="14" name="s43-text-12"/>
          <p:cNvSpPr txBox="1"/>
          <p:nvPr/>
        </p:nvSpPr>
        <p:spPr>
          <a:xfrm>
            <a:off x="6120638" y="2555570"/>
            <a:ext cx="5068062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3300"/>
              </a:lnSpc>
              <a:buNone/>
            </a:pPr>
            <a:r>
              <a:rPr lang="ar-SA" altLang="en-US" sz="2200" b="1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"مين عند الباب؟ روح شوف 👀"</a:t>
            </a:r>
            <a:endParaRPr lang="ar-SA" sz="2200" dirty="0"/>
          </a:p>
        </p:txBody>
      </p:sp>
      <p:sp>
        <p:nvSpPr>
          <p:cNvPr id="15" name="s43-shape-13"/>
          <p:cNvSpPr/>
          <p:nvPr/>
        </p:nvSpPr>
        <p:spPr>
          <a:xfrm>
            <a:off x="698500" y="1778000"/>
            <a:ext cx="5302250" cy="1587500"/>
          </a:xfrm>
          <a:prstGeom prst="roundRect">
            <a:avLst>
              <a:gd name="adj" fmla="val 16000"/>
            </a:avLst>
          </a:prstGeom>
          <a:solidFill>
            <a:srgbClr val="43644B"/>
          </a:solidFill>
          <a:ln/>
        </p:spPr>
      </p:sp>
      <p:pic>
        <p:nvPicPr>
          <p:cNvPr id="16" name="s43-snap-14" descr="s43-snap-14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00650" y="2019300"/>
            <a:ext cx="533400" cy="533400"/>
          </a:xfrm>
          <a:prstGeom prst="rect">
            <a:avLst/>
          </a:prstGeom>
        </p:spPr>
      </p:pic>
      <p:sp>
        <p:nvSpPr>
          <p:cNvPr id="17" name="s43-text-15"/>
          <p:cNvSpPr txBox="1"/>
          <p:nvPr/>
        </p:nvSpPr>
        <p:spPr>
          <a:xfrm>
            <a:off x="4135338" y="2064982"/>
            <a:ext cx="1001812" cy="353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380"/>
              </a:lnSpc>
              <a:buNone/>
            </a:pPr>
            <a:r>
              <a:rPr lang="ar-SA" altLang="en-US" sz="1700" b="1" dirty="0">
                <a:solidFill>
                  <a:srgbClr val="F6C342"/>
                </a:solidFill>
                <a:latin typeface="Sakkal Saad TN Trial Light"/>
                <a:cs typeface="Sakkal Saad TN Trial Light"/>
              </a:rPr>
              <a:t>بعد الكاميرات:</a:t>
            </a:r>
            <a:endParaRPr lang="ar-SA" sz="1700" dirty="0"/>
          </a:p>
        </p:txBody>
      </p:sp>
      <p:sp>
        <p:nvSpPr>
          <p:cNvPr id="18" name="s43-text-16"/>
          <p:cNvSpPr txBox="1"/>
          <p:nvPr/>
        </p:nvSpPr>
        <p:spPr>
          <a:xfrm>
            <a:off x="627888" y="2555570"/>
            <a:ext cx="5068062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3300"/>
              </a:lnSpc>
              <a:buNone/>
            </a:pPr>
            <a:r>
              <a:rPr lang="ar-SA" altLang="en-US" sz="2200" b="1" dirty="0">
                <a:solidFill>
                  <a:srgbClr val="FFFFFF"/>
                </a:solidFill>
                <a:latin typeface="Sakkal Saad TN Trial Light"/>
                <a:cs typeface="Sakkal Saad TN Trial Light"/>
              </a:rPr>
              <a:t>يفتح التطبيق وهو مكانه 😎😂</a:t>
            </a:r>
            <a:endParaRPr lang="ar-SA" sz="2200" dirty="0"/>
          </a:p>
        </p:txBody>
      </p:sp>
      <p:pic>
        <p:nvPicPr>
          <p:cNvPr id="19" name="s43-snap-17" descr="s43-snap-17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97500" y="1841500"/>
            <a:ext cx="1651000" cy="1651000"/>
          </a:xfrm>
          <a:prstGeom prst="rect">
            <a:avLst/>
          </a:prstGeom>
        </p:spPr>
      </p:pic>
      <p:sp>
        <p:nvSpPr>
          <p:cNvPr id="20" name="s43-text-18"/>
          <p:cNvSpPr txBox="1"/>
          <p:nvPr/>
        </p:nvSpPr>
        <p:spPr>
          <a:xfrm>
            <a:off x="-165100" y="3535007"/>
            <a:ext cx="11658600" cy="405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790"/>
              </a:lnSpc>
              <a:buNone/>
            </a:pPr>
            <a:r>
              <a:rPr lang="ar-SA" altLang="en-US" sz="18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المشاهدة من الجوال من أكثر الأشياء اللي تسهل متابعة المنزل أو المحل.</a:t>
            </a:r>
            <a:endParaRPr lang="ar-SA" sz="1800" dirty="0"/>
          </a:p>
        </p:txBody>
      </p:sp>
      <p:sp>
        <p:nvSpPr>
          <p:cNvPr id="21" name="s43-text-19"/>
          <p:cNvSpPr txBox="1"/>
          <p:nvPr/>
        </p:nvSpPr>
        <p:spPr>
          <a:xfrm>
            <a:off x="8527629" y="4051071"/>
            <a:ext cx="2965871" cy="365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475"/>
              </a:lnSpc>
              <a:buNone/>
            </a:pPr>
            <a:r>
              <a:rPr lang="ar-SA" altLang="en-US" sz="16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لكن عشان تعمل بالشكل المطلوب لازم يكون:</a:t>
            </a:r>
            <a:endParaRPr lang="ar-SA" sz="1650" dirty="0"/>
          </a:p>
        </p:txBody>
      </p:sp>
      <p:pic>
        <p:nvPicPr>
          <p:cNvPr id="22" name="s43-snap-20" descr="s43-snap-20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65221" y="4502150"/>
            <a:ext cx="1666379" cy="459085"/>
          </a:xfrm>
          <a:prstGeom prst="rect">
            <a:avLst/>
          </a:prstGeom>
        </p:spPr>
      </p:pic>
      <p:sp>
        <p:nvSpPr>
          <p:cNvPr id="23" name="s43-text-21"/>
          <p:cNvSpPr txBox="1"/>
          <p:nvPr/>
        </p:nvSpPr>
        <p:spPr>
          <a:xfrm>
            <a:off x="9966821" y="4548467"/>
            <a:ext cx="1075829" cy="306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015"/>
              </a:lnSpc>
              <a:buNone/>
            </a:pPr>
            <a:r>
              <a:rPr lang="ar-SA" altLang="en-US" sz="15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النظام يدعم الميزة</a:t>
            </a:r>
            <a:endParaRPr lang="ar-SA" sz="1550" dirty="0"/>
          </a:p>
        </p:txBody>
      </p:sp>
      <p:pic>
        <p:nvPicPr>
          <p:cNvPr id="24" name="s43-snap-22" descr="s43-snap-22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21576" y="4502150"/>
            <a:ext cx="1530945" cy="459085"/>
          </a:xfrm>
          <a:prstGeom prst="rect">
            <a:avLst/>
          </a:prstGeom>
        </p:spPr>
      </p:pic>
      <p:sp>
        <p:nvSpPr>
          <p:cNvPr id="25" name="s43-text-23"/>
          <p:cNvSpPr txBox="1"/>
          <p:nvPr/>
        </p:nvSpPr>
        <p:spPr>
          <a:xfrm>
            <a:off x="8423176" y="4548467"/>
            <a:ext cx="940395" cy="306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015"/>
              </a:lnSpc>
              <a:buNone/>
            </a:pPr>
            <a:r>
              <a:rPr lang="ar-SA" altLang="en-US" sz="15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الإعداد صحيح</a:t>
            </a:r>
            <a:endParaRPr lang="ar-SA" sz="1550" dirty="0"/>
          </a:p>
        </p:txBody>
      </p:sp>
      <p:pic>
        <p:nvPicPr>
          <p:cNvPr id="26" name="s43-snap-24" descr="s43-snap-24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47173" y="4502150"/>
            <a:ext cx="1561703" cy="459085"/>
          </a:xfrm>
          <a:prstGeom prst="rect">
            <a:avLst/>
          </a:prstGeom>
        </p:spPr>
      </p:pic>
      <p:sp>
        <p:nvSpPr>
          <p:cNvPr id="27" name="s43-text-25"/>
          <p:cNvSpPr txBox="1"/>
          <p:nvPr/>
        </p:nvSpPr>
        <p:spPr>
          <a:xfrm>
            <a:off x="6848773" y="4548467"/>
            <a:ext cx="971153" cy="306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015"/>
              </a:lnSpc>
              <a:buNone/>
            </a:pPr>
            <a:r>
              <a:rPr lang="ar-SA" altLang="en-US" sz="15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الشبكة مناسبة</a:t>
            </a:r>
            <a:endParaRPr lang="ar-SA" sz="1550" dirty="0"/>
          </a:p>
        </p:txBody>
      </p:sp>
      <p:pic>
        <p:nvPicPr>
          <p:cNvPr id="28" name="s43-snap-26" descr="s43-snap-26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934420" y="4502150"/>
            <a:ext cx="2800052" cy="459085"/>
          </a:xfrm>
          <a:prstGeom prst="rect">
            <a:avLst/>
          </a:prstGeom>
        </p:spPr>
      </p:pic>
      <p:sp>
        <p:nvSpPr>
          <p:cNvPr id="29" name="s43-text-27"/>
          <p:cNvSpPr txBox="1"/>
          <p:nvPr/>
        </p:nvSpPr>
        <p:spPr>
          <a:xfrm>
            <a:off x="3968988" y="4548467"/>
            <a:ext cx="2276535" cy="306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015"/>
              </a:lnSpc>
              <a:buNone/>
            </a:pPr>
            <a:r>
              <a:rPr lang="ar-SA" altLang="en-US" sz="15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التطبيق مربوط بالنظام بشكل صحيح</a:t>
            </a:r>
            <a:endParaRPr lang="ar-SA" sz="1550" dirty="0"/>
          </a:p>
        </p:txBody>
      </p:sp>
      <p:sp>
        <p:nvSpPr>
          <p:cNvPr id="30" name="s43-shape-28"/>
          <p:cNvSpPr/>
          <p:nvPr/>
        </p:nvSpPr>
        <p:spPr>
          <a:xfrm>
            <a:off x="698500" y="5334000"/>
            <a:ext cx="10795000" cy="889000"/>
          </a:xfrm>
          <a:prstGeom prst="roundRect">
            <a:avLst>
              <a:gd name="adj" fmla="val 28571"/>
            </a:avLst>
          </a:prstGeom>
          <a:solidFill>
            <a:srgbClr val="F6C342"/>
          </a:solidFill>
          <a:ln/>
        </p:spPr>
      </p:sp>
      <p:pic>
        <p:nvPicPr>
          <p:cNvPr id="31" name="s43-snap-29" descr="s43-snap-29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668000" y="5473700"/>
            <a:ext cx="609600" cy="609600"/>
          </a:xfrm>
          <a:prstGeom prst="rect">
            <a:avLst/>
          </a:prstGeom>
        </p:spPr>
      </p:pic>
      <p:sp>
        <p:nvSpPr>
          <p:cNvPr id="32" name="s43-text-30"/>
          <p:cNvSpPr txBox="1"/>
          <p:nvPr/>
        </p:nvSpPr>
        <p:spPr>
          <a:xfrm>
            <a:off x="6267502" y="5538089"/>
            <a:ext cx="4273498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800"/>
              </a:lnSpc>
              <a:buNone/>
            </a:pPr>
            <a:r>
              <a:rPr lang="ar-SA" altLang="en-US" sz="2000" b="1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مين أكثر شخص عندكم بيفتح تطبيق الكاميرات؟ 😂</a:t>
            </a:r>
            <a:endParaRPr lang="ar-SA" sz="2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3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4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0" dur="489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75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75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75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5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75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75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75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75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75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75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75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27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75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75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75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75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75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75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53" presetClass="entr" presetSubtype="16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27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6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6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53" presetClass="entr" presetSubtype="16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27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6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6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53" presetClass="entr" presetSubtype="16" fill="hold" grpId="0" nodeType="withEffect">
                                  <p:stCondLst>
                                    <p:cond delay="127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27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6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6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53" presetClass="entr" presetSubtype="16" fill="hold" grpId="0" nodeType="withEffect">
                                  <p:stCondLst>
                                    <p:cond delay="127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27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6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6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53" presetClass="entr" presetSubtype="16" fill="hold" grpId="0" nodeType="withEffect">
                                  <p:stCondLst>
                                    <p:cond delay="134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27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6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6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53" presetClass="entr" presetSubtype="16" fill="hold" grpId="0" nodeType="withEffect">
                                  <p:stCondLst>
                                    <p:cond delay="134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27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6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6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53" presetClass="entr" presetSubtype="16" fill="hold" grpId="0" nodeType="withEffect">
                                  <p:stCondLst>
                                    <p:cond delay="141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27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6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6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53" presetClass="entr" presetSubtype="16" fill="hold" grpId="0" nodeType="withEffect">
                                  <p:stCondLst>
                                    <p:cond delay="141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27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6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6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42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750" fill="hold" decel="100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750" fill="hold" decel="100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42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750" fill="hold" decel="100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750" fill="hold" decel="100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9" dur="750" fill="hold" decel="100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750" fill="hold" decel="100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/>
      <p:bldP spid="11" grpId="0" animBg="1"/>
      <p:bldP spid="13" grpId="0"/>
      <p:bldP spid="14" grpId="0"/>
      <p:bldP spid="15" grpId="0" animBg="1"/>
      <p:bldP spid="17" grpId="0"/>
      <p:bldP spid="18" grpId="0"/>
      <p:bldP spid="20" grpId="0"/>
      <p:bldP spid="21" grpId="0"/>
      <p:bldP spid="23" grpId="0"/>
      <p:bldP spid="25" grpId="0"/>
      <p:bldP spid="27" grpId="0"/>
      <p:bldP spid="29" grpId="0"/>
      <p:bldP spid="30" grpId="0" animBg="1"/>
      <p:bldP spid="32" grpId="0"/>
    </p:bldLst>
  </p:timing>
</p:sld>
</file>

<file path=ppt/slides/slide44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lens"/>
          <p:cNvSpPr/>
          <p:nvPr/>
        </p:nvSpPr>
        <p:spPr>
          <a:xfrm>
            <a:off x="368300" y="127000"/>
            <a:ext cx="1206500" cy="1206500"/>
          </a:xfrm>
          <a:prstGeom prst="ellipse">
            <a:avLst/>
          </a:prstGeom>
          <a:solidFill>
            <a:srgbClr val="EEF2EF"/>
          </a:solidFill>
          <a:ln/>
        </p:spPr>
      </p:sp>
      <p:pic>
        <p:nvPicPr>
          <p:cNvPr id="3" name="!!mt" descr="شعار نظرة ثماني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10800000">
            <a:off x="684510" y="608558"/>
            <a:ext cx="546100" cy="533400"/>
          </a:xfrm>
          <a:prstGeom prst="rect">
            <a:avLst/>
          </a:prstGeom>
        </p:spPr>
      </p:pic>
      <p:pic>
        <p:nvPicPr>
          <p:cNvPr id="4" name="!!mb" descr="شعار نظرة ثمانية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709265" y="317798"/>
            <a:ext cx="527050" cy="520700"/>
          </a:xfrm>
          <a:prstGeom prst="rect">
            <a:avLst/>
          </a:prstGeom>
        </p:spPr>
      </p:pic>
      <p:pic>
        <p:nvPicPr>
          <p:cNvPr id="5" name="!!ma" descr="شعار نظرة ثمانية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874018" y="875556"/>
            <a:ext cx="95250" cy="82550"/>
          </a:xfrm>
          <a:prstGeom prst="rect">
            <a:avLst/>
          </a:prstGeom>
        </p:spPr>
      </p:pic>
      <p:pic>
        <p:nvPicPr>
          <p:cNvPr id="6" name="!!hud" descr="!!hu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800" y="177800"/>
            <a:ext cx="11836400" cy="6502400"/>
          </a:xfrm>
          <a:prstGeom prst="rect">
            <a:avLst/>
          </a:prstGeom>
        </p:spPr>
      </p:pic>
      <p:sp>
        <p:nvSpPr>
          <p:cNvPr id="7" name="!!rec"/>
          <p:cNvSpPr/>
          <p:nvPr/>
        </p:nvSpPr>
        <p:spPr>
          <a:xfrm>
            <a:off x="635000" y="6337300"/>
            <a:ext cx="101600" cy="101600"/>
          </a:xfrm>
          <a:prstGeom prst="ellipse">
            <a:avLst/>
          </a:prstGeom>
          <a:solidFill>
            <a:srgbClr val="FF8D26"/>
          </a:solidFill>
          <a:ln/>
        </p:spPr>
      </p:sp>
      <p:sp>
        <p:nvSpPr>
          <p:cNvPr id="8" name="!!num"/>
          <p:cNvSpPr txBox="1"/>
          <p:nvPr/>
        </p:nvSpPr>
        <p:spPr>
          <a:xfrm>
            <a:off x="825500" y="6281750"/>
            <a:ext cx="705842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altLang="en-US" sz="1200" dirty="0">
                <a:solidFill>
                  <a:srgbClr val="5E6D7C"/>
                </a:solidFill>
                <a:latin typeface="Sakkal Saad TN Trial Light"/>
                <a:cs typeface="Sakkal Saad TN Trial Light"/>
              </a:rPr>
              <a:t>REC · 44</a:t>
            </a:r>
            <a:endParaRPr lang="en-US" sz="1200" dirty="0"/>
          </a:p>
        </p:txBody>
      </p:sp>
      <p:sp>
        <p:nvSpPr>
          <p:cNvPr id="9" name="!!kick"/>
          <p:cNvSpPr txBox="1"/>
          <p:nvPr/>
        </p:nvSpPr>
        <p:spPr>
          <a:xfrm>
            <a:off x="9830177" y="318834"/>
            <a:ext cx="1726823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ar-SA" altLang="en-US" sz="1500" b="1" dirty="0">
                <a:solidFill>
                  <a:srgbClr val="43644B"/>
                </a:solidFill>
                <a:latin typeface="Sakkal Saad TN Trial Light"/>
                <a:cs typeface="Sakkal Saad TN Trial Light"/>
              </a:rPr>
              <a:t>09</a:t>
            </a:r>
            <a:r>
              <a:rPr lang="ar-SA" altLang="en-US" sz="1500" dirty="0">
                <a:solidFill>
                  <a:srgbClr val="E9720C"/>
                </a:solidFill>
                <a:latin typeface="Sakkal Saad TN Trial Light"/>
                <a:cs typeface="Sakkal Saad TN Trial Light"/>
              </a:rPr>
              <a:t> كتابة المحتوى التسويقي</a:t>
            </a:r>
            <a:endParaRPr lang="ar-SA" sz="1500" dirty="0"/>
          </a:p>
        </p:txBody>
      </p:sp>
      <p:sp>
        <p:nvSpPr>
          <p:cNvPr id="10" name="s44-text-8"/>
          <p:cNvSpPr txBox="1"/>
          <p:nvPr/>
        </p:nvSpPr>
        <p:spPr>
          <a:xfrm>
            <a:off x="8585129" y="695134"/>
            <a:ext cx="2971871" cy="702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5130"/>
              </a:lnSpc>
              <a:buNone/>
            </a:pPr>
            <a:r>
              <a:rPr lang="ar-SA" altLang="en-US" sz="3800" b="1" dirty="0">
                <a:solidFill>
                  <a:srgbClr val="FF8D26"/>
                </a:solidFill>
                <a:latin typeface="Sakkal Saad TN Trial Light"/>
                <a:cs typeface="Sakkal Saad TN Trial Light"/>
              </a:rPr>
              <a:t>04</a:t>
            </a:r>
            <a:r>
              <a:rPr lang="ar-SA" altLang="en-US" sz="3800" b="1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 محتوى تفاعلي</a:t>
            </a:r>
            <a:endParaRPr lang="ar-SA" sz="3800" dirty="0"/>
          </a:p>
        </p:txBody>
      </p:sp>
      <p:sp>
        <p:nvSpPr>
          <p:cNvPr id="11" name="s44-shape-9"/>
          <p:cNvSpPr/>
          <p:nvPr/>
        </p:nvSpPr>
        <p:spPr>
          <a:xfrm>
            <a:off x="6540500" y="1841500"/>
            <a:ext cx="4953000" cy="2413000"/>
          </a:xfrm>
          <a:prstGeom prst="roundRect">
            <a:avLst>
              <a:gd name="adj" fmla="val 10526"/>
            </a:avLst>
          </a:prstGeom>
          <a:solidFill>
            <a:srgbClr val="43644B"/>
          </a:solidFill>
          <a:ln/>
        </p:spPr>
      </p:sp>
      <p:pic>
        <p:nvPicPr>
          <p:cNvPr id="12" name="s44-snap-10" descr="s44-snap-10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41000" y="2082800"/>
            <a:ext cx="685800" cy="685800"/>
          </a:xfrm>
          <a:prstGeom prst="rect">
            <a:avLst/>
          </a:prstGeom>
        </p:spPr>
      </p:pic>
      <p:sp>
        <p:nvSpPr>
          <p:cNvPr id="13" name="s44-text-11"/>
          <p:cNvSpPr txBox="1"/>
          <p:nvPr/>
        </p:nvSpPr>
        <p:spPr>
          <a:xfrm>
            <a:off x="6497828" y="3038170"/>
            <a:ext cx="4690872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3300"/>
              </a:lnSpc>
              <a:buNone/>
            </a:pPr>
            <a:r>
              <a:rPr lang="ar-SA" altLang="en-US" sz="2200" b="1" dirty="0">
                <a:solidFill>
                  <a:srgbClr val="FFFFFF"/>
                </a:solidFill>
                <a:latin typeface="Sakkal Saad TN Trial Light"/>
                <a:cs typeface="Sakkal Saad TN Trial Light"/>
              </a:rPr>
              <a:t>لو بتختار ميزة واحدة فقط في نظام المراقبة… إيش</a:t>
            </a:r>
            <a:endParaRPr lang="ar-SA" sz="2200" dirty="0"/>
          </a:p>
          <a:p>
            <a:pPr rtl="1" algn="r" indent="0" marL="0">
              <a:lnSpc>
                <a:spcPts val="3300"/>
              </a:lnSpc>
              <a:buNone/>
            </a:pPr>
            <a:r>
              <a:rPr lang="ar-SA" altLang="en-US" sz="2200" b="1" dirty="0">
                <a:solidFill>
                  <a:srgbClr val="FFFFFF"/>
                </a:solidFill>
                <a:latin typeface="Sakkal Saad TN Trial Light"/>
                <a:cs typeface="Sakkal Saad TN Trial Light"/>
              </a:rPr>
              <a:t>الأهم بالنسبة لك؟ 👀</a:t>
            </a:r>
            <a:endParaRPr lang="ar-SA" sz="2200" dirty="0"/>
          </a:p>
        </p:txBody>
      </p:sp>
      <p:sp>
        <p:nvSpPr>
          <p:cNvPr id="14" name="s44-text-12"/>
          <p:cNvSpPr txBox="1"/>
          <p:nvPr/>
        </p:nvSpPr>
        <p:spPr>
          <a:xfrm>
            <a:off x="596900" y="1461961"/>
            <a:ext cx="594023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00"/>
              </a:lnSpc>
              <a:buNone/>
            </a:pPr>
            <a:r>
              <a:rPr lang="ar-SA" altLang="en-US" sz="1500" b="1" dirty="0">
                <a:solidFill>
                  <a:srgbClr val="E9720C"/>
                </a:solidFill>
                <a:latin typeface="Sakkal Saad TN Trial Light"/>
                <a:cs typeface="Sakkal Saad TN Trial Light"/>
              </a:rPr>
              <a:t>المحتوى:</a:t>
            </a:r>
            <a:endParaRPr lang="ar-SA" sz="1500" dirty="0"/>
          </a:p>
        </p:txBody>
      </p:sp>
      <p:sp>
        <p:nvSpPr>
          <p:cNvPr id="15" name="s44-shape-13"/>
          <p:cNvSpPr/>
          <p:nvPr/>
        </p:nvSpPr>
        <p:spPr>
          <a:xfrm>
            <a:off x="698500" y="1905000"/>
            <a:ext cx="5461000" cy="609600"/>
          </a:xfrm>
          <a:prstGeom prst="roundRect">
            <a:avLst>
              <a:gd name="adj" fmla="val 31250"/>
            </a:avLst>
          </a:prstGeom>
          <a:solidFill>
            <a:srgbClr val="EEF2EF"/>
          </a:solidFill>
          <a:ln/>
        </p:spPr>
      </p:sp>
      <p:sp>
        <p:nvSpPr>
          <p:cNvPr id="16" name="s44-shape-14"/>
          <p:cNvSpPr/>
          <p:nvPr/>
        </p:nvSpPr>
        <p:spPr>
          <a:xfrm>
            <a:off x="1463080" y="1905000"/>
            <a:ext cx="4696420" cy="609600"/>
          </a:xfrm>
          <a:prstGeom prst="roundRect">
            <a:avLst>
              <a:gd name="adj" fmla="val 31250"/>
            </a:avLst>
          </a:prstGeom>
          <a:solidFill>
            <a:srgbClr val="FF8D26"/>
          </a:solidFill>
          <a:ln/>
        </p:spPr>
      </p:sp>
      <p:sp>
        <p:nvSpPr>
          <p:cNvPr id="17" name="s44-shape-15"/>
          <p:cNvSpPr/>
          <p:nvPr/>
        </p:nvSpPr>
        <p:spPr>
          <a:xfrm>
            <a:off x="5638800" y="2006600"/>
            <a:ext cx="406400" cy="4064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s44-text-16"/>
          <p:cNvSpPr txBox="1"/>
          <p:nvPr/>
        </p:nvSpPr>
        <p:spPr>
          <a:xfrm>
            <a:off x="5785941" y="1988782"/>
            <a:ext cx="213717" cy="353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80"/>
              </a:lnSpc>
              <a:buNone/>
            </a:pPr>
            <a:r>
              <a:rPr lang="en-US" altLang="en-US" sz="1700" b="1" dirty="0">
                <a:solidFill>
                  <a:srgbClr val="43644B"/>
                </a:solidFill>
                <a:latin typeface="Sakkal Saad TN Trial Light"/>
                <a:cs typeface="Sakkal Saad TN Trial Light"/>
              </a:rPr>
              <a:t>A</a:t>
            </a:r>
            <a:endParaRPr lang="en-US" sz="1700" dirty="0"/>
          </a:p>
        </p:txBody>
      </p:sp>
      <p:sp>
        <p:nvSpPr>
          <p:cNvPr id="19" name="s44-text-17"/>
          <p:cNvSpPr txBox="1"/>
          <p:nvPr/>
        </p:nvSpPr>
        <p:spPr>
          <a:xfrm>
            <a:off x="4478834" y="1975968"/>
            <a:ext cx="1020266" cy="370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520"/>
              </a:lnSpc>
              <a:buNone/>
            </a:pPr>
            <a:r>
              <a:rPr lang="ar-SA" altLang="en-US" sz="18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وضوح الصورة</a:t>
            </a:r>
            <a:endParaRPr lang="ar-SA" sz="1800" dirty="0"/>
          </a:p>
        </p:txBody>
      </p:sp>
      <p:sp>
        <p:nvSpPr>
          <p:cNvPr id="20" name="s44-shape-18"/>
          <p:cNvSpPr/>
          <p:nvPr/>
        </p:nvSpPr>
        <p:spPr>
          <a:xfrm>
            <a:off x="698500" y="2641600"/>
            <a:ext cx="5461000" cy="609600"/>
          </a:xfrm>
          <a:prstGeom prst="roundRect">
            <a:avLst>
              <a:gd name="adj" fmla="val 31250"/>
            </a:avLst>
          </a:prstGeom>
          <a:solidFill>
            <a:srgbClr val="EEF2EF"/>
          </a:solidFill>
          <a:ln/>
        </p:spPr>
      </p:sp>
      <p:sp>
        <p:nvSpPr>
          <p:cNvPr id="21" name="s44-shape-19"/>
          <p:cNvSpPr/>
          <p:nvPr/>
        </p:nvSpPr>
        <p:spPr>
          <a:xfrm>
            <a:off x="2227659" y="2641600"/>
            <a:ext cx="3931841" cy="609600"/>
          </a:xfrm>
          <a:prstGeom prst="roundRect">
            <a:avLst>
              <a:gd name="adj" fmla="val 31250"/>
            </a:avLst>
          </a:prstGeom>
          <a:solidFill>
            <a:srgbClr val="D9E0DB"/>
          </a:solidFill>
          <a:ln/>
        </p:spPr>
      </p:sp>
      <p:sp>
        <p:nvSpPr>
          <p:cNvPr id="22" name="s44-shape-20"/>
          <p:cNvSpPr/>
          <p:nvPr/>
        </p:nvSpPr>
        <p:spPr>
          <a:xfrm>
            <a:off x="5638800" y="2743200"/>
            <a:ext cx="406400" cy="4064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3" name="s44-text-21"/>
          <p:cNvSpPr txBox="1"/>
          <p:nvPr/>
        </p:nvSpPr>
        <p:spPr>
          <a:xfrm>
            <a:off x="5795367" y="2725382"/>
            <a:ext cx="194866" cy="353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80"/>
              </a:lnSpc>
              <a:buNone/>
            </a:pPr>
            <a:r>
              <a:rPr lang="en-US" altLang="en-US" sz="1700" b="1" dirty="0">
                <a:solidFill>
                  <a:srgbClr val="43644B"/>
                </a:solidFill>
                <a:latin typeface="Sakkal Saad TN Trial Light"/>
                <a:cs typeface="Sakkal Saad TN Trial Light"/>
              </a:rPr>
              <a:t>B</a:t>
            </a:r>
            <a:endParaRPr lang="en-US" sz="1700" dirty="0"/>
          </a:p>
        </p:txBody>
      </p:sp>
      <p:sp>
        <p:nvSpPr>
          <p:cNvPr id="24" name="s44-text-22"/>
          <p:cNvSpPr txBox="1"/>
          <p:nvPr/>
        </p:nvSpPr>
        <p:spPr>
          <a:xfrm>
            <a:off x="4020772" y="2712568"/>
            <a:ext cx="1478328" cy="370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520"/>
              </a:lnSpc>
              <a:buNone/>
            </a:pPr>
            <a:r>
              <a:rPr lang="ar-SA" altLang="en-US" sz="18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المشاهدة من الجوال</a:t>
            </a:r>
            <a:endParaRPr lang="ar-SA" sz="1800" dirty="0"/>
          </a:p>
        </p:txBody>
      </p:sp>
      <p:sp>
        <p:nvSpPr>
          <p:cNvPr id="25" name="s44-shape-23"/>
          <p:cNvSpPr/>
          <p:nvPr/>
        </p:nvSpPr>
        <p:spPr>
          <a:xfrm>
            <a:off x="698500" y="3378200"/>
            <a:ext cx="5461000" cy="609600"/>
          </a:xfrm>
          <a:prstGeom prst="roundRect">
            <a:avLst>
              <a:gd name="adj" fmla="val 31250"/>
            </a:avLst>
          </a:prstGeom>
          <a:solidFill>
            <a:srgbClr val="EEF2EF"/>
          </a:solidFill>
          <a:ln/>
        </p:spPr>
      </p:sp>
      <p:sp>
        <p:nvSpPr>
          <p:cNvPr id="26" name="s44-shape-24"/>
          <p:cNvSpPr/>
          <p:nvPr/>
        </p:nvSpPr>
        <p:spPr>
          <a:xfrm>
            <a:off x="2882900" y="3378200"/>
            <a:ext cx="3276600" cy="609600"/>
          </a:xfrm>
          <a:prstGeom prst="roundRect">
            <a:avLst>
              <a:gd name="adj" fmla="val 31250"/>
            </a:avLst>
          </a:prstGeom>
          <a:solidFill>
            <a:srgbClr val="D9E0DB"/>
          </a:solidFill>
          <a:ln/>
        </p:spPr>
      </p:sp>
      <p:sp>
        <p:nvSpPr>
          <p:cNvPr id="27" name="s44-shape-25"/>
          <p:cNvSpPr/>
          <p:nvPr/>
        </p:nvSpPr>
        <p:spPr>
          <a:xfrm>
            <a:off x="5638800" y="3479800"/>
            <a:ext cx="406400" cy="4064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8" name="s44-text-26"/>
          <p:cNvSpPr txBox="1"/>
          <p:nvPr/>
        </p:nvSpPr>
        <p:spPr>
          <a:xfrm>
            <a:off x="5784552" y="3461982"/>
            <a:ext cx="216495" cy="353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80"/>
              </a:lnSpc>
              <a:buNone/>
            </a:pPr>
            <a:r>
              <a:rPr lang="en-US" altLang="en-US" sz="1700" b="1" dirty="0">
                <a:solidFill>
                  <a:srgbClr val="43644B"/>
                </a:solidFill>
                <a:latin typeface="Sakkal Saad TN Trial Light"/>
                <a:cs typeface="Sakkal Saad TN Trial Light"/>
              </a:rPr>
              <a:t>C</a:t>
            </a:r>
            <a:endParaRPr lang="en-US" sz="1700" dirty="0"/>
          </a:p>
        </p:txBody>
      </p:sp>
      <p:sp>
        <p:nvSpPr>
          <p:cNvPr id="29" name="s44-text-27"/>
          <p:cNvSpPr txBox="1"/>
          <p:nvPr/>
        </p:nvSpPr>
        <p:spPr>
          <a:xfrm>
            <a:off x="4248745" y="3449168"/>
            <a:ext cx="1250355" cy="370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520"/>
              </a:lnSpc>
              <a:buNone/>
            </a:pPr>
            <a:r>
              <a:rPr lang="ar-SA" altLang="en-US" sz="18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مدة تخزين أطول</a:t>
            </a:r>
            <a:endParaRPr lang="ar-SA" sz="1800" dirty="0"/>
          </a:p>
        </p:txBody>
      </p:sp>
      <p:sp>
        <p:nvSpPr>
          <p:cNvPr id="30" name="s44-shape-28"/>
          <p:cNvSpPr/>
          <p:nvPr/>
        </p:nvSpPr>
        <p:spPr>
          <a:xfrm>
            <a:off x="698500" y="4114800"/>
            <a:ext cx="5461000" cy="609600"/>
          </a:xfrm>
          <a:prstGeom prst="roundRect">
            <a:avLst>
              <a:gd name="adj" fmla="val 31250"/>
            </a:avLst>
          </a:prstGeom>
          <a:solidFill>
            <a:srgbClr val="EEF2EF"/>
          </a:solidFill>
          <a:ln/>
        </p:spPr>
      </p:sp>
      <p:sp>
        <p:nvSpPr>
          <p:cNvPr id="31" name="s44-shape-29"/>
          <p:cNvSpPr/>
          <p:nvPr/>
        </p:nvSpPr>
        <p:spPr>
          <a:xfrm>
            <a:off x="3538240" y="4114800"/>
            <a:ext cx="2621260" cy="609600"/>
          </a:xfrm>
          <a:prstGeom prst="roundRect">
            <a:avLst>
              <a:gd name="adj" fmla="val 31250"/>
            </a:avLst>
          </a:prstGeom>
          <a:solidFill>
            <a:srgbClr val="D9E0DB"/>
          </a:solidFill>
          <a:ln/>
        </p:spPr>
      </p:sp>
      <p:sp>
        <p:nvSpPr>
          <p:cNvPr id="32" name="s44-shape-30"/>
          <p:cNvSpPr/>
          <p:nvPr/>
        </p:nvSpPr>
        <p:spPr>
          <a:xfrm>
            <a:off x="5638800" y="4216400"/>
            <a:ext cx="406400" cy="4064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3" name="s44-text-31"/>
          <p:cNvSpPr txBox="1"/>
          <p:nvPr/>
        </p:nvSpPr>
        <p:spPr>
          <a:xfrm>
            <a:off x="5781774" y="4198582"/>
            <a:ext cx="222052" cy="353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80"/>
              </a:lnSpc>
              <a:buNone/>
            </a:pPr>
            <a:r>
              <a:rPr lang="en-US" altLang="en-US" sz="1700" b="1" dirty="0">
                <a:solidFill>
                  <a:srgbClr val="43644B"/>
                </a:solidFill>
                <a:latin typeface="Sakkal Saad TN Trial Light"/>
                <a:cs typeface="Sakkal Saad TN Trial Light"/>
              </a:rPr>
              <a:t>D</a:t>
            </a:r>
            <a:endParaRPr lang="en-US" sz="1700" dirty="0"/>
          </a:p>
        </p:txBody>
      </p:sp>
      <p:sp>
        <p:nvSpPr>
          <p:cNvPr id="34" name="s44-text-32"/>
          <p:cNvSpPr txBox="1"/>
          <p:nvPr/>
        </p:nvSpPr>
        <p:spPr>
          <a:xfrm>
            <a:off x="4967585" y="4185768"/>
            <a:ext cx="531515" cy="370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520"/>
              </a:lnSpc>
              <a:buNone/>
            </a:pPr>
            <a:r>
              <a:rPr lang="ar-SA" altLang="en-US" sz="18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السعر</a:t>
            </a:r>
            <a:endParaRPr lang="ar-SA" sz="1800" dirty="0"/>
          </a:p>
        </p:txBody>
      </p:sp>
      <p:sp>
        <p:nvSpPr>
          <p:cNvPr id="35" name="s44-shape-33"/>
          <p:cNvSpPr/>
          <p:nvPr/>
        </p:nvSpPr>
        <p:spPr>
          <a:xfrm>
            <a:off x="698500" y="4851400"/>
            <a:ext cx="5461000" cy="609600"/>
          </a:xfrm>
          <a:prstGeom prst="roundRect">
            <a:avLst>
              <a:gd name="adj" fmla="val 31250"/>
            </a:avLst>
          </a:prstGeom>
          <a:solidFill>
            <a:srgbClr val="EEF2EF"/>
          </a:solidFill>
          <a:ln/>
        </p:spPr>
      </p:sp>
      <p:sp>
        <p:nvSpPr>
          <p:cNvPr id="36" name="s44-shape-34"/>
          <p:cNvSpPr/>
          <p:nvPr/>
        </p:nvSpPr>
        <p:spPr>
          <a:xfrm>
            <a:off x="2555280" y="4851400"/>
            <a:ext cx="3604220" cy="609600"/>
          </a:xfrm>
          <a:prstGeom prst="roundRect">
            <a:avLst>
              <a:gd name="adj" fmla="val 31250"/>
            </a:avLst>
          </a:prstGeom>
          <a:solidFill>
            <a:srgbClr val="D9E0DB"/>
          </a:solidFill>
          <a:ln/>
        </p:spPr>
      </p:sp>
      <p:sp>
        <p:nvSpPr>
          <p:cNvPr id="37" name="s44-shape-35"/>
          <p:cNvSpPr/>
          <p:nvPr/>
        </p:nvSpPr>
        <p:spPr>
          <a:xfrm>
            <a:off x="5638800" y="4953000"/>
            <a:ext cx="406400" cy="4064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8" name="s44-text-36"/>
          <p:cNvSpPr txBox="1"/>
          <p:nvPr/>
        </p:nvSpPr>
        <p:spPr>
          <a:xfrm>
            <a:off x="5795962" y="4935182"/>
            <a:ext cx="193576" cy="353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80"/>
              </a:lnSpc>
              <a:buNone/>
            </a:pPr>
            <a:r>
              <a:rPr lang="en-US" altLang="en-US" sz="1700" b="1" dirty="0">
                <a:solidFill>
                  <a:srgbClr val="43644B"/>
                </a:solidFill>
                <a:latin typeface="Sakkal Saad TN Trial Light"/>
                <a:cs typeface="Sakkal Saad TN Trial Light"/>
              </a:rPr>
              <a:t>E</a:t>
            </a:r>
            <a:endParaRPr lang="en-US" sz="1700" dirty="0"/>
          </a:p>
        </p:txBody>
      </p:sp>
      <p:sp>
        <p:nvSpPr>
          <p:cNvPr id="39" name="s44-text-37"/>
          <p:cNvSpPr txBox="1"/>
          <p:nvPr/>
        </p:nvSpPr>
        <p:spPr>
          <a:xfrm>
            <a:off x="4386957" y="4922368"/>
            <a:ext cx="1112143" cy="370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520"/>
              </a:lnSpc>
              <a:buNone/>
            </a:pPr>
            <a:r>
              <a:rPr lang="ar-SA" altLang="en-US" sz="18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الضمان والدعم</a:t>
            </a:r>
            <a:endParaRPr lang="ar-SA" sz="1800" dirty="0"/>
          </a:p>
        </p:txBody>
      </p:sp>
      <p:sp>
        <p:nvSpPr>
          <p:cNvPr id="40" name="s44-shape-38"/>
          <p:cNvSpPr/>
          <p:nvPr/>
        </p:nvSpPr>
        <p:spPr>
          <a:xfrm>
            <a:off x="6540500" y="4445000"/>
            <a:ext cx="4953000" cy="1778000"/>
          </a:xfrm>
          <a:prstGeom prst="roundRect">
            <a:avLst>
              <a:gd name="adj" fmla="val 14286"/>
            </a:avLst>
          </a:prstGeom>
          <a:solidFill>
            <a:srgbClr val="FFF7DE"/>
          </a:solidFill>
          <a:ln/>
        </p:spPr>
      </p:sp>
      <p:sp>
        <p:nvSpPr>
          <p:cNvPr id="41" name="s44-text-39"/>
          <p:cNvSpPr txBox="1"/>
          <p:nvPr/>
        </p:nvSpPr>
        <p:spPr>
          <a:xfrm>
            <a:off x="6497828" y="4645625"/>
            <a:ext cx="4690872" cy="375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558"/>
              </a:lnSpc>
              <a:buNone/>
            </a:pPr>
            <a:r>
              <a:rPr lang="ar-SA" altLang="en-US" sz="16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كل عميل عنده أولوية مختلفة ولهذا نفس النظام ما يناسب الجميع.</a:t>
            </a:r>
            <a:endParaRPr lang="ar-SA" sz="1650" dirty="0"/>
          </a:p>
        </p:txBody>
      </p:sp>
      <p:sp>
        <p:nvSpPr>
          <p:cNvPr id="42" name="s44-text-40"/>
          <p:cNvSpPr txBox="1"/>
          <p:nvPr/>
        </p:nvSpPr>
        <p:spPr>
          <a:xfrm>
            <a:off x="6497828" y="5033868"/>
            <a:ext cx="4690872" cy="700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558"/>
              </a:lnSpc>
              <a:buNone/>
            </a:pPr>
            <a:r>
              <a:rPr lang="ar-SA" altLang="en-US" sz="1650" b="1" dirty="0">
                <a:solidFill>
                  <a:srgbClr val="E9720C"/>
                </a:solidFill>
                <a:latin typeface="Sakkal Saad TN Trial Light"/>
                <a:cs typeface="Sakkal Saad TN Trial Light"/>
              </a:rPr>
              <a:t>اكتب الحرف في التعليقات 👇 ونشوف أي خيار يحصل على أكبر عدد</a:t>
            </a:r>
            <a:endParaRPr lang="ar-SA" sz="1650" dirty="0"/>
          </a:p>
          <a:p>
            <a:pPr rtl="1" algn="r" indent="0" marL="0">
              <a:lnSpc>
                <a:spcPts val="2558"/>
              </a:lnSpc>
              <a:buNone/>
            </a:pPr>
            <a:r>
              <a:rPr lang="ar-SA" altLang="en-US" sz="1650" b="1" dirty="0">
                <a:solidFill>
                  <a:srgbClr val="E9720C"/>
                </a:solidFill>
                <a:latin typeface="Sakkal Saad TN Trial Light"/>
                <a:cs typeface="Sakkal Saad TN Trial Light"/>
              </a:rPr>
              <a:t>من الأصوات.</a:t>
            </a:r>
            <a:endParaRPr lang="ar-SA" sz="16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3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4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0" dur="489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75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75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75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5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75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5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75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75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75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75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75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75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75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75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75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75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75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75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75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75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1" dur="8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72" dur="56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750" fill="hold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750" fill="hold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750" fill="hold" decel="10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750" fill="hold" decel="10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42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750" fill="hold" decel="100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750" fill="hold" decel="100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750" fill="hold" decel="100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750" fill="hold" decel="100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2" presetClass="entr" presetSubtype="2" fill="hold" grpId="0" nodeType="withEffect">
                                  <p:stCondLst>
                                    <p:cond delay="62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5" dur="8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96" dur="56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750" fill="hold" decel="100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750" fill="hold" decel="100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750" fill="hold" decel="100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750" fill="hold" decel="100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750" fill="hold" decel="1000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750" fill="hold" decel="1000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750" fill="hold" decel="100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750" fill="hold" decel="100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22" presetClass="entr" presetSubtype="2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9" dur="8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20" dur="56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750" fill="hold" decel="1000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750" fill="hold" decel="1000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6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9" dur="750" fill="hold" decel="100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750" fill="hold" decel="100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6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4" dur="750" fill="hold" decel="100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750" fill="hold" decel="100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6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9" dur="750" fill="hold" decel="100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750" fill="hold" decel="100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22" presetClass="entr" presetSubtype="2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3" dur="8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44" dur="56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22" presetClass="entr" presetSubtype="2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7" dur="8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48" dur="56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6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2" dur="750" fill="hold" decel="100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750" fill="hold" decel="100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4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6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7" dur="750" fill="hold" decel="1000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750" fill="hold" decel="1000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6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2" dur="750" fill="hold" decel="1000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750" fill="hold" decel="1000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/>
      <p:bldP spid="11" grpId="0" animBg="1"/>
      <p:bldP spid="13" grpId="0"/>
      <p:bldP spid="14" grpId="0"/>
      <p:bldP spid="15" grpId="0" animBg="1"/>
      <p:bldP spid="17" grpId="0" animBg="1"/>
      <p:bldP spid="18" grpId="0"/>
      <p:bldP spid="19" grpId="0"/>
      <p:bldP spid="20" grpId="0" animBg="1"/>
      <p:bldP spid="22" grpId="0" animBg="1"/>
      <p:bldP spid="23" grpId="0"/>
      <p:bldP spid="24" grpId="0"/>
      <p:bldP spid="16" grpId="0" animBg="1"/>
      <p:bldP spid="25" grpId="0" animBg="1"/>
      <p:bldP spid="27" grpId="0" animBg="1"/>
      <p:bldP spid="28" grpId="0"/>
      <p:bldP spid="29" grpId="0"/>
      <p:bldP spid="21" grpId="0" animBg="1"/>
      <p:bldP spid="30" grpId="0" animBg="1"/>
      <p:bldP spid="32" grpId="0" animBg="1"/>
      <p:bldP spid="33" grpId="0"/>
      <p:bldP spid="34" grpId="0"/>
      <p:bldP spid="26" grpId="0" animBg="1"/>
      <p:bldP spid="35" grpId="0" animBg="1"/>
      <p:bldP spid="37" grpId="0" animBg="1"/>
      <p:bldP spid="38" grpId="0"/>
      <p:bldP spid="39" grpId="0"/>
      <p:bldP spid="31" grpId="0" animBg="1"/>
      <p:bldP spid="36" grpId="0" animBg="1"/>
      <p:bldP spid="40" grpId="0" animBg="1"/>
      <p:bldP spid="41" grpId="0"/>
      <p:bldP spid="42" grpId="0"/>
    </p:bldLst>
  </p:timing>
</p:sld>
</file>

<file path=ppt/slides/slide45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lens"/>
          <p:cNvSpPr/>
          <p:nvPr/>
        </p:nvSpPr>
        <p:spPr>
          <a:xfrm>
            <a:off x="368300" y="127000"/>
            <a:ext cx="1206500" cy="1206500"/>
          </a:xfrm>
          <a:prstGeom prst="ellipse">
            <a:avLst/>
          </a:prstGeom>
          <a:solidFill>
            <a:srgbClr val="EEF2EF"/>
          </a:solidFill>
          <a:ln/>
        </p:spPr>
      </p:sp>
      <p:pic>
        <p:nvPicPr>
          <p:cNvPr id="3" name="!!mt" descr="شعار نظرة ثماني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-8100000">
            <a:off x="582910" y="562918"/>
            <a:ext cx="546100" cy="533400"/>
          </a:xfrm>
          <a:prstGeom prst="rect">
            <a:avLst/>
          </a:prstGeom>
        </p:spPr>
      </p:pic>
      <p:pic>
        <p:nvPicPr>
          <p:cNvPr id="4" name="!!mb" descr="شعار نظرة ثمانية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8100000">
            <a:off x="813346" y="370483"/>
            <a:ext cx="527050" cy="520700"/>
          </a:xfrm>
          <a:prstGeom prst="rect">
            <a:avLst/>
          </a:prstGeom>
        </p:spPr>
      </p:pic>
      <p:pic>
        <p:nvPicPr>
          <p:cNvPr id="5" name="!!ma" descr="شعار نظرة ثمانية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8100000">
            <a:off x="753368" y="792411"/>
            <a:ext cx="95250" cy="82550"/>
          </a:xfrm>
          <a:prstGeom prst="rect">
            <a:avLst/>
          </a:prstGeom>
        </p:spPr>
      </p:pic>
      <p:pic>
        <p:nvPicPr>
          <p:cNvPr id="6" name="!!hud" descr="!!hu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800" y="177800"/>
            <a:ext cx="11836400" cy="6502400"/>
          </a:xfrm>
          <a:prstGeom prst="rect">
            <a:avLst/>
          </a:prstGeom>
        </p:spPr>
      </p:pic>
      <p:sp>
        <p:nvSpPr>
          <p:cNvPr id="7" name="!!rec"/>
          <p:cNvSpPr/>
          <p:nvPr/>
        </p:nvSpPr>
        <p:spPr>
          <a:xfrm>
            <a:off x="635000" y="6337300"/>
            <a:ext cx="101600" cy="101600"/>
          </a:xfrm>
          <a:prstGeom prst="ellipse">
            <a:avLst/>
          </a:prstGeom>
          <a:solidFill>
            <a:srgbClr val="FF8D26"/>
          </a:solidFill>
          <a:ln/>
        </p:spPr>
      </p:sp>
      <p:sp>
        <p:nvSpPr>
          <p:cNvPr id="8" name="!!num"/>
          <p:cNvSpPr txBox="1"/>
          <p:nvPr/>
        </p:nvSpPr>
        <p:spPr>
          <a:xfrm>
            <a:off x="825500" y="6281750"/>
            <a:ext cx="697905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altLang="en-US" sz="1200" dirty="0">
                <a:solidFill>
                  <a:srgbClr val="5E6D7C"/>
                </a:solidFill>
                <a:latin typeface="Sakkal Saad TN Trial Light"/>
                <a:cs typeface="Sakkal Saad TN Trial Light"/>
              </a:rPr>
              <a:t>REC · 45</a:t>
            </a:r>
            <a:endParaRPr lang="en-US" sz="1200" dirty="0"/>
          </a:p>
        </p:txBody>
      </p:sp>
      <p:sp>
        <p:nvSpPr>
          <p:cNvPr id="9" name="!!kick"/>
          <p:cNvSpPr txBox="1"/>
          <p:nvPr/>
        </p:nvSpPr>
        <p:spPr>
          <a:xfrm>
            <a:off x="9830177" y="318834"/>
            <a:ext cx="1726823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ar-SA" altLang="en-US" sz="1500" b="1" dirty="0">
                <a:solidFill>
                  <a:srgbClr val="43644B"/>
                </a:solidFill>
                <a:latin typeface="Sakkal Saad TN Trial Light"/>
                <a:cs typeface="Sakkal Saad TN Trial Light"/>
              </a:rPr>
              <a:t>09</a:t>
            </a:r>
            <a:r>
              <a:rPr lang="ar-SA" altLang="en-US" sz="1500" dirty="0">
                <a:solidFill>
                  <a:srgbClr val="E9720C"/>
                </a:solidFill>
                <a:latin typeface="Sakkal Saad TN Trial Light"/>
                <a:cs typeface="Sakkal Saad TN Trial Light"/>
              </a:rPr>
              <a:t> كتابة المحتوى التسويقي</a:t>
            </a:r>
            <a:endParaRPr lang="ar-SA" sz="1500" dirty="0"/>
          </a:p>
        </p:txBody>
      </p:sp>
      <p:sp>
        <p:nvSpPr>
          <p:cNvPr id="10" name="s45-text-8"/>
          <p:cNvSpPr txBox="1"/>
          <p:nvPr/>
        </p:nvSpPr>
        <p:spPr>
          <a:xfrm>
            <a:off x="8934779" y="695134"/>
            <a:ext cx="2622221" cy="702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5130"/>
              </a:lnSpc>
              <a:buNone/>
            </a:pPr>
            <a:r>
              <a:rPr lang="ar-SA" altLang="en-US" sz="3800" b="1" dirty="0">
                <a:solidFill>
                  <a:srgbClr val="FF8D26"/>
                </a:solidFill>
                <a:latin typeface="Sakkal Saad TN Trial Light"/>
                <a:cs typeface="Sakkal Saad TN Trial Light"/>
              </a:rPr>
              <a:t>05</a:t>
            </a:r>
            <a:r>
              <a:rPr lang="ar-SA" altLang="en-US" sz="3800" b="1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 محتوى بيعي</a:t>
            </a:r>
            <a:endParaRPr lang="ar-SA" sz="3800" dirty="0"/>
          </a:p>
        </p:txBody>
      </p:sp>
      <p:pic>
        <p:nvPicPr>
          <p:cNvPr id="11" name="s45-snap-9" descr="s45-snap-9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4000" y="1111250"/>
            <a:ext cx="4191000" cy="5588000"/>
          </a:xfrm>
          <a:prstGeom prst="rect">
            <a:avLst/>
          </a:prstGeom>
        </p:spPr>
      </p:pic>
      <p:sp>
        <p:nvSpPr>
          <p:cNvPr id="12" name="s45-text-10"/>
          <p:cNvSpPr txBox="1"/>
          <p:nvPr/>
        </p:nvSpPr>
        <p:spPr>
          <a:xfrm>
            <a:off x="949960" y="3200718"/>
            <a:ext cx="2606040" cy="138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3500"/>
              </a:lnSpc>
              <a:buNone/>
            </a:pPr>
            <a:r>
              <a:rPr lang="ar-SA" altLang="en-US" sz="2500" b="1" dirty="0">
                <a:solidFill>
                  <a:srgbClr val="FFFFFF"/>
                </a:solidFill>
                <a:latin typeface="Sakkal Saad TN Trial Light"/>
                <a:cs typeface="Sakkal Saad TN Trial Light"/>
              </a:rPr>
              <a:t>بدل ما تجمع نظام المراقبة</a:t>
            </a:r>
            <a:endParaRPr lang="ar-SA" sz="2500" dirty="0"/>
          </a:p>
          <a:p>
            <a:pPr rtl="1" algn="r" indent="0" marL="0">
              <a:lnSpc>
                <a:spcPts val="3500"/>
              </a:lnSpc>
              <a:buNone/>
            </a:pPr>
            <a:r>
              <a:rPr lang="ar-SA" altLang="en-US" sz="2500" b="1" dirty="0">
                <a:solidFill>
                  <a:srgbClr val="FFFFFF"/>
                </a:solidFill>
                <a:latin typeface="Sakkal Saad TN Trial Light"/>
                <a:cs typeface="Sakkal Saad TN Trial Light"/>
              </a:rPr>
              <a:t>قطعة قطعة… خله حل</a:t>
            </a:r>
            <a:endParaRPr lang="ar-SA" sz="2500" dirty="0"/>
          </a:p>
          <a:p>
            <a:pPr rtl="1" algn="r" indent="0" marL="0">
              <a:lnSpc>
                <a:spcPts val="3500"/>
              </a:lnSpc>
              <a:buNone/>
            </a:pPr>
            <a:r>
              <a:rPr lang="ar-SA" altLang="en-US" sz="2500" b="1" dirty="0">
                <a:solidFill>
                  <a:srgbClr val="FFFFFF"/>
                </a:solidFill>
                <a:latin typeface="Sakkal Saad TN Trial Light"/>
                <a:cs typeface="Sakkal Saad TN Trial Light"/>
              </a:rPr>
              <a:t>متكامل من البداية.</a:t>
            </a:r>
            <a:endParaRPr lang="ar-SA" sz="2500" dirty="0"/>
          </a:p>
        </p:txBody>
      </p:sp>
      <p:sp>
        <p:nvSpPr>
          <p:cNvPr id="13" name="s45-text-11"/>
          <p:cNvSpPr txBox="1"/>
          <p:nvPr/>
        </p:nvSpPr>
        <p:spPr>
          <a:xfrm>
            <a:off x="3743960" y="1625136"/>
            <a:ext cx="7749540" cy="424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945"/>
              </a:lnSpc>
              <a:buNone/>
            </a:pPr>
            <a:r>
              <a:rPr lang="ar-SA" altLang="en-US" sz="19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في نظرة ثمانية نساعدك في اختيار حل المراقبة حسب طبيعة المكان واحتياجك.</a:t>
            </a:r>
            <a:endParaRPr lang="ar-SA" sz="1900" dirty="0"/>
          </a:p>
        </p:txBody>
      </p:sp>
      <p:sp>
        <p:nvSpPr>
          <p:cNvPr id="14" name="s45-text-12"/>
          <p:cNvSpPr txBox="1"/>
          <p:nvPr/>
        </p:nvSpPr>
        <p:spPr>
          <a:xfrm>
            <a:off x="3743960" y="2156362"/>
            <a:ext cx="7749540" cy="353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380"/>
              </a:lnSpc>
              <a:buNone/>
            </a:pPr>
            <a:r>
              <a:rPr lang="ar-SA" altLang="en-US" sz="1700" b="1" dirty="0">
                <a:solidFill>
                  <a:srgbClr val="43644B"/>
                </a:solidFill>
                <a:latin typeface="Sakkal Saad TN Trial Light"/>
                <a:cs typeface="Sakkal Saad TN Trial Light"/>
              </a:rPr>
              <a:t>وقد يشمل الحل:</a:t>
            </a:r>
            <a:endParaRPr lang="ar-SA" sz="1700" dirty="0"/>
          </a:p>
        </p:txBody>
      </p:sp>
      <p:sp>
        <p:nvSpPr>
          <p:cNvPr id="15" name="s45-shape-13"/>
          <p:cNvSpPr/>
          <p:nvPr/>
        </p:nvSpPr>
        <p:spPr>
          <a:xfrm>
            <a:off x="10345440" y="2628205"/>
            <a:ext cx="1148060" cy="482600"/>
          </a:xfrm>
          <a:prstGeom prst="roundRect">
            <a:avLst>
              <a:gd name="adj" fmla="val 31579"/>
            </a:avLst>
          </a:prstGeom>
          <a:solidFill>
            <a:srgbClr val="EEF2EF"/>
          </a:solidFill>
          <a:ln/>
        </p:spPr>
      </p:sp>
      <p:pic>
        <p:nvPicPr>
          <p:cNvPr id="16" name="s45-snap-14" descr="s45-snap-14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47400" y="2653605"/>
            <a:ext cx="431800" cy="431800"/>
          </a:xfrm>
          <a:prstGeom prst="rect">
            <a:avLst/>
          </a:prstGeom>
        </p:spPr>
      </p:pic>
      <p:sp>
        <p:nvSpPr>
          <p:cNvPr id="17" name="s45-text-15"/>
          <p:cNvSpPr txBox="1"/>
          <p:nvPr/>
        </p:nvSpPr>
        <p:spPr>
          <a:xfrm>
            <a:off x="10332740" y="2676282"/>
            <a:ext cx="563860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080"/>
              </a:lnSpc>
              <a:buNone/>
            </a:pPr>
            <a:r>
              <a:rPr lang="ar-SA" altLang="en-US" sz="16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كاميرات</a:t>
            </a:r>
            <a:endParaRPr lang="ar-SA" sz="1600" dirty="0"/>
          </a:p>
        </p:txBody>
      </p:sp>
      <p:sp>
        <p:nvSpPr>
          <p:cNvPr id="18" name="s45-shape-16"/>
          <p:cNvSpPr/>
          <p:nvPr/>
        </p:nvSpPr>
        <p:spPr>
          <a:xfrm>
            <a:off x="8772327" y="2628205"/>
            <a:ext cx="1484213" cy="482600"/>
          </a:xfrm>
          <a:prstGeom prst="roundRect">
            <a:avLst>
              <a:gd name="adj" fmla="val 31579"/>
            </a:avLst>
          </a:prstGeom>
          <a:solidFill>
            <a:srgbClr val="EEF2EF"/>
          </a:solidFill>
          <a:ln/>
        </p:spPr>
      </p:sp>
      <p:pic>
        <p:nvPicPr>
          <p:cNvPr id="19" name="s45-snap-17" descr="s45-snap-17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10440" y="2653605"/>
            <a:ext cx="431800" cy="431800"/>
          </a:xfrm>
          <a:prstGeom prst="rect">
            <a:avLst/>
          </a:prstGeom>
        </p:spPr>
      </p:pic>
      <p:sp>
        <p:nvSpPr>
          <p:cNvPr id="20" name="s45-text-18"/>
          <p:cNvSpPr txBox="1"/>
          <p:nvPr/>
        </p:nvSpPr>
        <p:spPr>
          <a:xfrm>
            <a:off x="8759627" y="2676282"/>
            <a:ext cx="900013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080"/>
              </a:lnSpc>
              <a:buNone/>
            </a:pPr>
            <a:r>
              <a:rPr lang="ar-SA" altLang="en-US" sz="16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جهاز تسجيل</a:t>
            </a:r>
            <a:endParaRPr lang="ar-SA" sz="1600" dirty="0"/>
          </a:p>
        </p:txBody>
      </p:sp>
      <p:sp>
        <p:nvSpPr>
          <p:cNvPr id="21" name="s45-shape-19"/>
          <p:cNvSpPr/>
          <p:nvPr/>
        </p:nvSpPr>
        <p:spPr>
          <a:xfrm>
            <a:off x="7604224" y="2628205"/>
            <a:ext cx="1079202" cy="482600"/>
          </a:xfrm>
          <a:prstGeom prst="roundRect">
            <a:avLst>
              <a:gd name="adj" fmla="val 31579"/>
            </a:avLst>
          </a:prstGeom>
          <a:solidFill>
            <a:srgbClr val="EEF2EF"/>
          </a:solidFill>
          <a:ln/>
        </p:spPr>
      </p:sp>
      <p:pic>
        <p:nvPicPr>
          <p:cNvPr id="22" name="s45-snap-20" descr="s45-snap-20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37327" y="2653605"/>
            <a:ext cx="431800" cy="431800"/>
          </a:xfrm>
          <a:prstGeom prst="rect">
            <a:avLst/>
          </a:prstGeom>
        </p:spPr>
      </p:pic>
      <p:sp>
        <p:nvSpPr>
          <p:cNvPr id="23" name="s45-text-21"/>
          <p:cNvSpPr txBox="1"/>
          <p:nvPr/>
        </p:nvSpPr>
        <p:spPr>
          <a:xfrm>
            <a:off x="7591524" y="2676282"/>
            <a:ext cx="495002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080"/>
              </a:lnSpc>
              <a:buNone/>
            </a:pPr>
            <a:r>
              <a:rPr lang="ar-SA" altLang="en-US" sz="16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تخزين</a:t>
            </a:r>
            <a:endParaRPr lang="ar-SA" sz="1600" dirty="0"/>
          </a:p>
        </p:txBody>
      </p:sp>
      <p:sp>
        <p:nvSpPr>
          <p:cNvPr id="24" name="s45-shape-22"/>
          <p:cNvSpPr/>
          <p:nvPr/>
        </p:nvSpPr>
        <p:spPr>
          <a:xfrm>
            <a:off x="5816699" y="2628205"/>
            <a:ext cx="1698625" cy="482600"/>
          </a:xfrm>
          <a:prstGeom prst="roundRect">
            <a:avLst>
              <a:gd name="adj" fmla="val 31579"/>
            </a:avLst>
          </a:prstGeom>
          <a:solidFill>
            <a:srgbClr val="EEF2EF"/>
          </a:solidFill>
          <a:ln/>
        </p:spPr>
      </p:sp>
      <p:pic>
        <p:nvPicPr>
          <p:cNvPr id="25" name="s45-snap-23" descr="s45-snap-23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69224" y="2653605"/>
            <a:ext cx="431800" cy="431800"/>
          </a:xfrm>
          <a:prstGeom prst="rect">
            <a:avLst/>
          </a:prstGeom>
        </p:spPr>
      </p:pic>
      <p:sp>
        <p:nvSpPr>
          <p:cNvPr id="26" name="s45-text-24"/>
          <p:cNvSpPr txBox="1"/>
          <p:nvPr/>
        </p:nvSpPr>
        <p:spPr>
          <a:xfrm>
            <a:off x="5803999" y="2676282"/>
            <a:ext cx="1114425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080"/>
              </a:lnSpc>
              <a:buNone/>
            </a:pPr>
            <a:r>
              <a:rPr lang="ar-SA" altLang="en-US" sz="16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كابلات وملحقات</a:t>
            </a:r>
            <a:endParaRPr lang="ar-SA" sz="1600" dirty="0"/>
          </a:p>
        </p:txBody>
      </p:sp>
      <p:sp>
        <p:nvSpPr>
          <p:cNvPr id="27" name="s45-shape-25"/>
          <p:cNvSpPr/>
          <p:nvPr/>
        </p:nvSpPr>
        <p:spPr>
          <a:xfrm>
            <a:off x="4664273" y="2628205"/>
            <a:ext cx="1063526" cy="482600"/>
          </a:xfrm>
          <a:prstGeom prst="roundRect">
            <a:avLst>
              <a:gd name="adj" fmla="val 31579"/>
            </a:avLst>
          </a:prstGeom>
          <a:solidFill>
            <a:srgbClr val="EEF2EF"/>
          </a:solidFill>
          <a:ln/>
        </p:spPr>
      </p:sp>
      <p:pic>
        <p:nvPicPr>
          <p:cNvPr id="28" name="s45-snap-26" descr="s45-snap-26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81699" y="2653605"/>
            <a:ext cx="431800" cy="431800"/>
          </a:xfrm>
          <a:prstGeom prst="rect">
            <a:avLst/>
          </a:prstGeom>
        </p:spPr>
      </p:pic>
      <p:sp>
        <p:nvSpPr>
          <p:cNvPr id="29" name="s45-text-27"/>
          <p:cNvSpPr txBox="1"/>
          <p:nvPr/>
        </p:nvSpPr>
        <p:spPr>
          <a:xfrm>
            <a:off x="4651573" y="2676282"/>
            <a:ext cx="479326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080"/>
              </a:lnSpc>
              <a:buNone/>
            </a:pPr>
            <a:r>
              <a:rPr lang="ar-SA" altLang="en-US" sz="16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تركيب</a:t>
            </a:r>
            <a:endParaRPr lang="ar-SA" sz="1600" dirty="0"/>
          </a:p>
        </p:txBody>
      </p:sp>
      <p:sp>
        <p:nvSpPr>
          <p:cNvPr id="30" name="s45-shape-28"/>
          <p:cNvSpPr/>
          <p:nvPr/>
        </p:nvSpPr>
        <p:spPr>
          <a:xfrm>
            <a:off x="10045303" y="3199705"/>
            <a:ext cx="1448197" cy="482600"/>
          </a:xfrm>
          <a:prstGeom prst="roundRect">
            <a:avLst>
              <a:gd name="adj" fmla="val 31579"/>
            </a:avLst>
          </a:prstGeom>
          <a:solidFill>
            <a:srgbClr val="EEF2EF"/>
          </a:solidFill>
          <a:ln/>
        </p:spPr>
      </p:sp>
      <p:pic>
        <p:nvPicPr>
          <p:cNvPr id="31" name="s45-snap-29" descr="s45-snap-29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47400" y="3225105"/>
            <a:ext cx="431800" cy="431800"/>
          </a:xfrm>
          <a:prstGeom prst="rect">
            <a:avLst/>
          </a:prstGeom>
        </p:spPr>
      </p:pic>
      <p:sp>
        <p:nvSpPr>
          <p:cNvPr id="32" name="s45-text-30"/>
          <p:cNvSpPr txBox="1"/>
          <p:nvPr/>
        </p:nvSpPr>
        <p:spPr>
          <a:xfrm>
            <a:off x="10032603" y="3247782"/>
            <a:ext cx="863997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080"/>
              </a:lnSpc>
              <a:buNone/>
            </a:pPr>
            <a:r>
              <a:rPr lang="ar-SA" altLang="en-US" sz="16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برمجة وتهيئة</a:t>
            </a:r>
            <a:endParaRPr lang="ar-SA" sz="1600" dirty="0"/>
          </a:p>
        </p:txBody>
      </p:sp>
      <p:sp>
        <p:nvSpPr>
          <p:cNvPr id="33" name="s45-shape-31"/>
          <p:cNvSpPr/>
          <p:nvPr/>
        </p:nvSpPr>
        <p:spPr>
          <a:xfrm>
            <a:off x="8754368" y="3199705"/>
            <a:ext cx="1202035" cy="482600"/>
          </a:xfrm>
          <a:prstGeom prst="roundRect">
            <a:avLst>
              <a:gd name="adj" fmla="val 31579"/>
            </a:avLst>
          </a:prstGeom>
          <a:solidFill>
            <a:srgbClr val="EEF2EF"/>
          </a:solidFill>
          <a:ln/>
        </p:spPr>
      </p:sp>
      <p:pic>
        <p:nvPicPr>
          <p:cNvPr id="34" name="s45-snap-32" descr="s45-snap-32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410303" y="3225105"/>
            <a:ext cx="431800" cy="431800"/>
          </a:xfrm>
          <a:prstGeom prst="rect">
            <a:avLst/>
          </a:prstGeom>
        </p:spPr>
      </p:pic>
      <p:sp>
        <p:nvSpPr>
          <p:cNvPr id="35" name="s45-text-33"/>
          <p:cNvSpPr txBox="1"/>
          <p:nvPr/>
        </p:nvSpPr>
        <p:spPr>
          <a:xfrm>
            <a:off x="8741668" y="3247782"/>
            <a:ext cx="617835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080"/>
              </a:lnSpc>
              <a:buNone/>
            </a:pPr>
            <a:r>
              <a:rPr lang="ar-SA" altLang="en-US" sz="16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دعم فني</a:t>
            </a:r>
            <a:endParaRPr lang="ar-SA" sz="1600" dirty="0"/>
          </a:p>
        </p:txBody>
      </p:sp>
      <p:sp>
        <p:nvSpPr>
          <p:cNvPr id="36" name="s45-shape-34"/>
          <p:cNvSpPr/>
          <p:nvPr/>
        </p:nvSpPr>
        <p:spPr>
          <a:xfrm>
            <a:off x="4318000" y="3834705"/>
            <a:ext cx="7175500" cy="920750"/>
          </a:xfrm>
          <a:prstGeom prst="roundRect">
            <a:avLst>
              <a:gd name="adj" fmla="val 17931"/>
            </a:avLst>
          </a:prstGeom>
          <a:solidFill>
            <a:srgbClr val="FFF7DE"/>
          </a:solidFill>
          <a:ln/>
        </p:spPr>
      </p:sp>
      <p:sp>
        <p:nvSpPr>
          <p:cNvPr id="37" name="s45-text-35"/>
          <p:cNvSpPr txBox="1"/>
          <p:nvPr/>
        </p:nvSpPr>
        <p:spPr>
          <a:xfrm>
            <a:off x="3950208" y="3884693"/>
            <a:ext cx="7365492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550"/>
              </a:lnSpc>
              <a:buNone/>
            </a:pPr>
            <a:r>
              <a:rPr lang="ar-SA" altLang="en-US" sz="17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والأهم من عدد الأجهزة؟</a:t>
            </a:r>
            <a:endParaRPr lang="ar-SA" sz="1700" dirty="0"/>
          </a:p>
        </p:txBody>
      </p:sp>
      <p:sp>
        <p:nvSpPr>
          <p:cNvPr id="38" name="s45-text-36"/>
          <p:cNvSpPr txBox="1"/>
          <p:nvPr/>
        </p:nvSpPr>
        <p:spPr>
          <a:xfrm>
            <a:off x="3950208" y="4204199"/>
            <a:ext cx="7365492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700"/>
              </a:lnSpc>
              <a:buNone/>
            </a:pPr>
            <a:r>
              <a:rPr lang="ar-SA" altLang="en-US" sz="1800" b="1" dirty="0">
                <a:solidFill>
                  <a:srgbClr val="E9720C"/>
                </a:solidFill>
                <a:latin typeface="Sakkal Saad TN Trial Light"/>
                <a:cs typeface="Sakkal Saad TN Trial Light"/>
              </a:rPr>
              <a:t>أن يكون النظام مناسبًا لمكانك واحتياجك فعلًا.</a:t>
            </a:r>
            <a:endParaRPr lang="ar-SA" sz="1800" dirty="0"/>
          </a:p>
        </p:txBody>
      </p:sp>
      <p:sp>
        <p:nvSpPr>
          <p:cNvPr id="39" name="s45-shape-37"/>
          <p:cNvSpPr/>
          <p:nvPr/>
        </p:nvSpPr>
        <p:spPr>
          <a:xfrm>
            <a:off x="4318000" y="5588000"/>
            <a:ext cx="7175500" cy="787400"/>
          </a:xfrm>
          <a:prstGeom prst="roundRect">
            <a:avLst>
              <a:gd name="adj" fmla="val 32258"/>
            </a:avLst>
          </a:prstGeom>
          <a:solidFill>
            <a:srgbClr val="FF8D26"/>
          </a:solidFill>
          <a:ln/>
        </p:spPr>
      </p:sp>
      <p:pic>
        <p:nvPicPr>
          <p:cNvPr id="40" name="s45-snap-38" descr="s45-snap-38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769600" y="5702300"/>
            <a:ext cx="558800" cy="558800"/>
          </a:xfrm>
          <a:prstGeom prst="rect">
            <a:avLst/>
          </a:prstGeom>
        </p:spPr>
      </p:pic>
      <p:sp>
        <p:nvSpPr>
          <p:cNvPr id="41" name="s45-text-39"/>
          <p:cNvSpPr txBox="1"/>
          <p:nvPr/>
        </p:nvSpPr>
        <p:spPr>
          <a:xfrm>
            <a:off x="6232211" y="5779992"/>
            <a:ext cx="4423089" cy="327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75"/>
              </a:lnSpc>
              <a:buNone/>
            </a:pPr>
            <a:r>
              <a:rPr lang="ar-SA" altLang="en-US" sz="15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أرسل لنا نوع المكان وعدد نقاط المراقبة ونساعدك في اختيار الباقة المناسبة.</a:t>
            </a:r>
            <a:endParaRPr lang="ar-SA" sz="15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3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4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0" dur="489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90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90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75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75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5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75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7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7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7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27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53" presetClass="entr" presetSubtype="16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7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53" presetClass="entr" presetSubtype="16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27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53" presetClass="entr" presetSubtype="16" fill="hold" grpId="0" nodeType="withEffect">
                                  <p:stCondLst>
                                    <p:cond delay="76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7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6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6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53" presetClass="entr" presetSubtype="16" fill="hold" grpId="0" nodeType="withEffect">
                                  <p:stCondLst>
                                    <p:cond delay="76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27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6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6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53" presetClass="entr" presetSubtype="16" fill="hold" grpId="0" nodeType="withEffect">
                                  <p:stCondLst>
                                    <p:cond delay="76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27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6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6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53" presetClass="entr" presetSubtype="16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27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6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6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53" presetClass="entr" presetSubtype="16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27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6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6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53" presetClass="entr" presetSubtype="16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27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6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6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27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6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6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27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6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6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27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6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6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27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6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6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27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6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6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27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9" dur="6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6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53" presetClass="entr" presetSubtype="16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27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6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6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53" presetClass="entr" presetSubtype="16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27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9" dur="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53" presetClass="entr" presetSubtype="16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27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4" dur="6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6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42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6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9" dur="750" fill="hold" decel="100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750" fill="hold" decel="100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42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6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4" dur="750" fill="hold" decel="100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750" fill="hold" decel="100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6" presetID="42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6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9" dur="750" fill="hold" decel="100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750" fill="hold" decel="100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1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6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4" dur="750" fill="hold" decel="100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750" fill="hold" decel="100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6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6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9" dur="750" fill="hold" decel="1000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750" fill="hold" decel="1000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1" presetID="53" presetClass="entr" presetSubtype="16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27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4" dur="6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6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/>
      <p:bldP spid="13" grpId="0"/>
      <p:bldP spid="14" grpId="0"/>
      <p:bldP spid="12" grpId="0"/>
      <p:bldP spid="15" grpId="0" animBg="1"/>
      <p:bldP spid="17" grpId="0"/>
      <p:bldP spid="18" grpId="0" animBg="1"/>
      <p:bldP spid="20" grpId="0"/>
      <p:bldP spid="21" grpId="0" animBg="1"/>
      <p:bldP spid="23" grpId="0"/>
      <p:bldP spid="24" grpId="0" animBg="1"/>
      <p:bldP spid="26" grpId="0"/>
      <p:bldP spid="27" grpId="0" animBg="1"/>
      <p:bldP spid="29" grpId="0"/>
      <p:bldP spid="30" grpId="0" animBg="1"/>
      <p:bldP spid="32" grpId="0"/>
      <p:bldP spid="33" grpId="0" animBg="1"/>
      <p:bldP spid="35" grpId="0"/>
      <p:bldP spid="36" grpId="0" animBg="1"/>
      <p:bldP spid="37" grpId="0"/>
      <p:bldP spid="38" grpId="0"/>
      <p:bldP spid="39" grpId="0" animBg="1"/>
      <p:bldP spid="41" grpId="0"/>
    </p:bldLst>
  </p:timing>
</p:sld>
</file>

<file path=ppt/slides/slide46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lens"/>
          <p:cNvSpPr/>
          <p:nvPr/>
        </p:nvSpPr>
        <p:spPr>
          <a:xfrm>
            <a:off x="368300" y="127000"/>
            <a:ext cx="1206500" cy="1206500"/>
          </a:xfrm>
          <a:prstGeom prst="ellipse">
            <a:avLst/>
          </a:prstGeom>
          <a:solidFill>
            <a:srgbClr val="EEF2EF"/>
          </a:solidFill>
          <a:ln/>
        </p:spPr>
      </p:sp>
      <p:pic>
        <p:nvPicPr>
          <p:cNvPr id="3" name="!!mt" descr="شعار نظرة ثماني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-5400000">
            <a:off x="543520" y="459333"/>
            <a:ext cx="546100" cy="533400"/>
          </a:xfrm>
          <a:prstGeom prst="rect">
            <a:avLst/>
          </a:prstGeom>
        </p:spPr>
      </p:pic>
      <p:pic>
        <p:nvPicPr>
          <p:cNvPr id="4" name="!!mb" descr="شعار نظرة ثمانية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5400000">
            <a:off x="850156" y="480913"/>
            <a:ext cx="527050" cy="520700"/>
          </a:xfrm>
          <a:prstGeom prst="rect">
            <a:avLst/>
          </a:prstGeom>
        </p:spPr>
      </p:pic>
      <p:pic>
        <p:nvPicPr>
          <p:cNvPr id="5" name="!!ma" descr="شعار نظرة ثمانية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5400000">
            <a:off x="727373" y="648940"/>
            <a:ext cx="95250" cy="82550"/>
          </a:xfrm>
          <a:prstGeom prst="rect">
            <a:avLst/>
          </a:prstGeom>
        </p:spPr>
      </p:pic>
      <p:pic>
        <p:nvPicPr>
          <p:cNvPr id="6" name="!!hud" descr="!!hu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800" y="177800"/>
            <a:ext cx="11836400" cy="6502400"/>
          </a:xfrm>
          <a:prstGeom prst="rect">
            <a:avLst/>
          </a:prstGeom>
        </p:spPr>
      </p:pic>
      <p:sp>
        <p:nvSpPr>
          <p:cNvPr id="7" name="!!rec"/>
          <p:cNvSpPr/>
          <p:nvPr/>
        </p:nvSpPr>
        <p:spPr>
          <a:xfrm>
            <a:off x="635000" y="6337300"/>
            <a:ext cx="101600" cy="101600"/>
          </a:xfrm>
          <a:prstGeom prst="ellipse">
            <a:avLst/>
          </a:prstGeom>
          <a:solidFill>
            <a:srgbClr val="FF8D26"/>
          </a:solidFill>
          <a:ln/>
        </p:spPr>
      </p:sp>
      <p:sp>
        <p:nvSpPr>
          <p:cNvPr id="8" name="!!num"/>
          <p:cNvSpPr txBox="1"/>
          <p:nvPr/>
        </p:nvSpPr>
        <p:spPr>
          <a:xfrm>
            <a:off x="825500" y="6281750"/>
            <a:ext cx="701477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altLang="en-US" sz="1200" dirty="0">
                <a:solidFill>
                  <a:srgbClr val="5E6D7C"/>
                </a:solidFill>
                <a:latin typeface="Sakkal Saad TN Trial Light"/>
                <a:cs typeface="Sakkal Saad TN Trial Light"/>
              </a:rPr>
              <a:t>REC · 46</a:t>
            </a:r>
            <a:endParaRPr lang="en-US" sz="1200" dirty="0"/>
          </a:p>
        </p:txBody>
      </p:sp>
      <p:sp>
        <p:nvSpPr>
          <p:cNvPr id="9" name="!!kick"/>
          <p:cNvSpPr txBox="1"/>
          <p:nvPr/>
        </p:nvSpPr>
        <p:spPr>
          <a:xfrm>
            <a:off x="9830177" y="318834"/>
            <a:ext cx="1726823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ar-SA" altLang="en-US" sz="1500" b="1" dirty="0">
                <a:solidFill>
                  <a:srgbClr val="43644B"/>
                </a:solidFill>
                <a:latin typeface="Sakkal Saad TN Trial Light"/>
                <a:cs typeface="Sakkal Saad TN Trial Light"/>
              </a:rPr>
              <a:t>09</a:t>
            </a:r>
            <a:r>
              <a:rPr lang="ar-SA" altLang="en-US" sz="1500" dirty="0">
                <a:solidFill>
                  <a:srgbClr val="E9720C"/>
                </a:solidFill>
                <a:latin typeface="Sakkal Saad TN Trial Light"/>
                <a:cs typeface="Sakkal Saad TN Trial Light"/>
              </a:rPr>
              <a:t> كتابة المحتوى التسويقي</a:t>
            </a:r>
            <a:endParaRPr lang="ar-SA" sz="1500" dirty="0"/>
          </a:p>
        </p:txBody>
      </p:sp>
      <p:sp>
        <p:nvSpPr>
          <p:cNvPr id="10" name="s46-text-8"/>
          <p:cNvSpPr txBox="1"/>
          <p:nvPr/>
        </p:nvSpPr>
        <p:spPr>
          <a:xfrm>
            <a:off x="5896150" y="695134"/>
            <a:ext cx="5660850" cy="702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5130"/>
              </a:lnSpc>
              <a:buNone/>
            </a:pPr>
            <a:r>
              <a:rPr lang="ar-SA" altLang="en-US" sz="3800" b="1" dirty="0">
                <a:solidFill>
                  <a:srgbClr val="FF8D26"/>
                </a:solidFill>
                <a:latin typeface="Sakkal Saad TN Trial Light"/>
                <a:cs typeface="Sakkal Saad TN Trial Light"/>
              </a:rPr>
              <a:t>06</a:t>
            </a:r>
            <a:r>
              <a:rPr lang="ar-SA" altLang="en-US" sz="3800" b="1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 محتوى مباشر Direct Response</a:t>
            </a:r>
            <a:endParaRPr lang="ar-SA" sz="3800" dirty="0"/>
          </a:p>
        </p:txBody>
      </p:sp>
      <p:pic>
        <p:nvPicPr>
          <p:cNvPr id="11" name="s46-snap-9" descr="s46-snap-9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4000" y="1111250"/>
            <a:ext cx="4191000" cy="5588000"/>
          </a:xfrm>
          <a:prstGeom prst="rect">
            <a:avLst/>
          </a:prstGeom>
        </p:spPr>
      </p:pic>
      <p:sp>
        <p:nvSpPr>
          <p:cNvPr id="12" name="s46-text-10"/>
          <p:cNvSpPr txBox="1"/>
          <p:nvPr/>
        </p:nvSpPr>
        <p:spPr>
          <a:xfrm>
            <a:off x="949960" y="3170738"/>
            <a:ext cx="2606040" cy="143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3640"/>
              </a:lnSpc>
              <a:buNone/>
            </a:pPr>
            <a:r>
              <a:rPr lang="ar-SA" altLang="en-US" sz="2600" b="1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تحتاج كاميرات لبيتك أو</a:t>
            </a:r>
            <a:endParaRPr lang="ar-SA" sz="2600" dirty="0"/>
          </a:p>
          <a:p>
            <a:pPr rtl="1" algn="r" indent="0" marL="0">
              <a:lnSpc>
                <a:spcPts val="3640"/>
              </a:lnSpc>
              <a:buNone/>
            </a:pPr>
            <a:r>
              <a:rPr lang="ar-SA" altLang="en-US" sz="2600" b="1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محلك ومحتار من وين</a:t>
            </a:r>
            <a:endParaRPr lang="ar-SA" sz="2600" dirty="0"/>
          </a:p>
          <a:p>
            <a:pPr rtl="1" algn="r" indent="0" marL="0">
              <a:lnSpc>
                <a:spcPts val="3640"/>
              </a:lnSpc>
              <a:buNone/>
            </a:pPr>
            <a:r>
              <a:rPr lang="ar-SA" altLang="en-US" sz="2600" b="1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تبدأ؟</a:t>
            </a:r>
            <a:endParaRPr lang="ar-SA" sz="2600" dirty="0"/>
          </a:p>
        </p:txBody>
      </p:sp>
      <p:sp>
        <p:nvSpPr>
          <p:cNvPr id="13" name="s46-shape-11"/>
          <p:cNvSpPr/>
          <p:nvPr/>
        </p:nvSpPr>
        <p:spPr>
          <a:xfrm>
            <a:off x="10836077" y="1704677"/>
            <a:ext cx="657423" cy="299045"/>
          </a:xfrm>
          <a:prstGeom prst="roundRect">
            <a:avLst>
              <a:gd name="adj" fmla="val 50000"/>
            </a:avLst>
          </a:prstGeom>
          <a:solidFill>
            <a:srgbClr val="43644B"/>
          </a:solidFill>
          <a:ln/>
        </p:spPr>
      </p:sp>
      <p:sp>
        <p:nvSpPr>
          <p:cNvPr id="14" name="s46-text-12"/>
          <p:cNvSpPr txBox="1"/>
          <p:nvPr/>
        </p:nvSpPr>
        <p:spPr>
          <a:xfrm>
            <a:off x="10861477" y="1691965"/>
            <a:ext cx="505023" cy="2736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755"/>
              </a:lnSpc>
              <a:buNone/>
            </a:pPr>
            <a:r>
              <a:rPr lang="ar-SA" altLang="en-US" sz="1350" b="1" dirty="0">
                <a:solidFill>
                  <a:srgbClr val="FFFFFF"/>
                </a:solidFill>
                <a:latin typeface="Sakkal Saad TN Trial Light"/>
                <a:cs typeface="Sakkal Saad TN Trial Light"/>
              </a:rPr>
              <a:t>المحتوى</a:t>
            </a:r>
            <a:endParaRPr lang="ar-SA" sz="1350" dirty="0"/>
          </a:p>
        </p:txBody>
      </p:sp>
      <p:sp>
        <p:nvSpPr>
          <p:cNvPr id="15" name="s46-text-13"/>
          <p:cNvSpPr txBox="1"/>
          <p:nvPr/>
        </p:nvSpPr>
        <p:spPr>
          <a:xfrm>
            <a:off x="9631363" y="1620368"/>
            <a:ext cx="1090414" cy="370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520"/>
              </a:lnSpc>
              <a:buNone/>
            </a:pPr>
            <a:r>
              <a:rPr lang="ar-SA" altLang="en-US" sz="1800" b="1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أرسل لنا فقط:</a:t>
            </a:r>
            <a:endParaRPr lang="ar-SA" sz="1800" dirty="0"/>
          </a:p>
        </p:txBody>
      </p:sp>
      <p:pic>
        <p:nvPicPr>
          <p:cNvPr id="16" name="s46-snap-14" descr="s46-snap-14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05750" y="2070100"/>
            <a:ext cx="3625850" cy="673100"/>
          </a:xfrm>
          <a:prstGeom prst="rect">
            <a:avLst/>
          </a:prstGeom>
        </p:spPr>
      </p:pic>
      <p:pic>
        <p:nvPicPr>
          <p:cNvPr id="17" name="s46-snap-15" descr="s46-snap-15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15650" y="2178050"/>
            <a:ext cx="457200" cy="457200"/>
          </a:xfrm>
          <a:prstGeom prst="rect">
            <a:avLst/>
          </a:prstGeom>
        </p:spPr>
      </p:pic>
      <p:sp>
        <p:nvSpPr>
          <p:cNvPr id="18" name="s46-text-16"/>
          <p:cNvSpPr txBox="1"/>
          <p:nvPr/>
        </p:nvSpPr>
        <p:spPr>
          <a:xfrm>
            <a:off x="10145117" y="2195214"/>
            <a:ext cx="681633" cy="344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310"/>
              </a:lnSpc>
              <a:buNone/>
            </a:pPr>
            <a:r>
              <a:rPr lang="ar-SA" altLang="en-US" sz="16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نوع المكان</a:t>
            </a:r>
            <a:endParaRPr lang="ar-SA" sz="1650" dirty="0"/>
          </a:p>
        </p:txBody>
      </p:sp>
      <p:pic>
        <p:nvPicPr>
          <p:cNvPr id="19" name="s46-snap-17" descr="s46-snap-17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79900" y="2070100"/>
            <a:ext cx="3625850" cy="673100"/>
          </a:xfrm>
          <a:prstGeom prst="rect">
            <a:avLst/>
          </a:prstGeom>
        </p:spPr>
      </p:pic>
      <p:pic>
        <p:nvPicPr>
          <p:cNvPr id="20" name="s46-snap-18" descr="s46-snap-18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89800" y="2178050"/>
            <a:ext cx="457200" cy="457200"/>
          </a:xfrm>
          <a:prstGeom prst="rect">
            <a:avLst/>
          </a:prstGeom>
        </p:spPr>
      </p:pic>
      <p:sp>
        <p:nvSpPr>
          <p:cNvPr id="21" name="s46-text-19"/>
          <p:cNvSpPr txBox="1"/>
          <p:nvPr/>
        </p:nvSpPr>
        <p:spPr>
          <a:xfrm>
            <a:off x="6729710" y="2195214"/>
            <a:ext cx="471190" cy="344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310"/>
              </a:lnSpc>
              <a:buNone/>
            </a:pPr>
            <a:r>
              <a:rPr lang="ar-SA" altLang="en-US" sz="16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المدينة</a:t>
            </a:r>
            <a:endParaRPr lang="ar-SA" sz="1650" dirty="0"/>
          </a:p>
        </p:txBody>
      </p:sp>
      <p:pic>
        <p:nvPicPr>
          <p:cNvPr id="22" name="s46-snap-20" descr="s46-snap-20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05750" y="2743200"/>
            <a:ext cx="3625850" cy="850900"/>
          </a:xfrm>
          <a:prstGeom prst="rect">
            <a:avLst/>
          </a:prstGeom>
        </p:spPr>
      </p:pic>
      <p:pic>
        <p:nvPicPr>
          <p:cNvPr id="23" name="s46-snap-21" descr="s46-snap-21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2758" y="2940050"/>
            <a:ext cx="420092" cy="457200"/>
          </a:xfrm>
          <a:prstGeom prst="rect">
            <a:avLst/>
          </a:prstGeom>
        </p:spPr>
      </p:pic>
      <p:sp>
        <p:nvSpPr>
          <p:cNvPr id="24" name="s46-text-22"/>
          <p:cNvSpPr txBox="1"/>
          <p:nvPr/>
        </p:nvSpPr>
        <p:spPr>
          <a:xfrm>
            <a:off x="9133070" y="2817514"/>
            <a:ext cx="1730788" cy="637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310"/>
              </a:lnSpc>
              <a:buNone/>
            </a:pPr>
            <a:r>
              <a:rPr lang="ar-SA" altLang="en-US" sz="16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عدد المناطق المطلوب</a:t>
            </a:r>
            <a:endParaRPr lang="ar-SA" sz="1650" dirty="0"/>
          </a:p>
          <a:p>
            <a:pPr rtl="1" algn="r" indent="0" marL="0">
              <a:lnSpc>
                <a:spcPts val="2310"/>
              </a:lnSpc>
              <a:buNone/>
            </a:pPr>
            <a:r>
              <a:rPr lang="ar-SA" altLang="en-US" sz="16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مراقبتها</a:t>
            </a:r>
            <a:endParaRPr lang="ar-SA" sz="1650" dirty="0"/>
          </a:p>
        </p:txBody>
      </p:sp>
      <p:pic>
        <p:nvPicPr>
          <p:cNvPr id="25" name="s46-snap-23" descr="s46-snap-23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79900" y="2743200"/>
            <a:ext cx="3625850" cy="850900"/>
          </a:xfrm>
          <a:prstGeom prst="rect">
            <a:avLst/>
          </a:prstGeom>
        </p:spPr>
      </p:pic>
      <p:pic>
        <p:nvPicPr>
          <p:cNvPr id="26" name="s46-snap-24" descr="s46-snap-24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289800" y="2940050"/>
            <a:ext cx="457200" cy="457200"/>
          </a:xfrm>
          <a:prstGeom prst="rect">
            <a:avLst/>
          </a:prstGeom>
        </p:spPr>
      </p:pic>
      <p:sp>
        <p:nvSpPr>
          <p:cNvPr id="27" name="s46-text-25"/>
          <p:cNvSpPr txBox="1"/>
          <p:nvPr/>
        </p:nvSpPr>
        <p:spPr>
          <a:xfrm>
            <a:off x="6091238" y="2957214"/>
            <a:ext cx="1109662" cy="344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310"/>
              </a:lnSpc>
              <a:buNone/>
            </a:pPr>
            <a:r>
              <a:rPr lang="ar-SA" altLang="en-US" sz="16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داخلي أو خارجي</a:t>
            </a:r>
            <a:endParaRPr lang="ar-SA" sz="1650" dirty="0"/>
          </a:p>
        </p:txBody>
      </p:sp>
      <p:pic>
        <p:nvPicPr>
          <p:cNvPr id="28" name="s46-snap-26" descr="s46-snap-26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905750" y="3594100"/>
            <a:ext cx="3625850" cy="673100"/>
          </a:xfrm>
          <a:prstGeom prst="rect">
            <a:avLst/>
          </a:prstGeom>
        </p:spPr>
      </p:pic>
      <p:pic>
        <p:nvPicPr>
          <p:cNvPr id="29" name="s46-snap-27" descr="s46-snap-27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915650" y="3702050"/>
            <a:ext cx="457200" cy="457200"/>
          </a:xfrm>
          <a:prstGeom prst="rect">
            <a:avLst/>
          </a:prstGeom>
        </p:spPr>
      </p:pic>
      <p:sp>
        <p:nvSpPr>
          <p:cNvPr id="30" name="s46-text-28"/>
          <p:cNvSpPr txBox="1"/>
          <p:nvPr/>
        </p:nvSpPr>
        <p:spPr>
          <a:xfrm>
            <a:off x="9601002" y="3719214"/>
            <a:ext cx="1225748" cy="344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310"/>
              </a:lnSpc>
              <a:buNone/>
            </a:pPr>
            <a:r>
              <a:rPr lang="ar-SA" altLang="en-US" sz="16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هل تحتاج تركيب؟</a:t>
            </a:r>
            <a:endParaRPr lang="ar-SA" sz="1650" dirty="0"/>
          </a:p>
        </p:txBody>
      </p:sp>
      <p:sp>
        <p:nvSpPr>
          <p:cNvPr id="31" name="s46-text-29"/>
          <p:cNvSpPr txBox="1"/>
          <p:nvPr/>
        </p:nvSpPr>
        <p:spPr>
          <a:xfrm>
            <a:off x="3743960" y="4290873"/>
            <a:ext cx="77495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480"/>
              </a:lnSpc>
              <a:buNone/>
            </a:pPr>
            <a:r>
              <a:rPr lang="ar-SA" altLang="en-US" sz="16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وبناءً على احتياجك نساعدك في تحديد الخيارات المناسبة بدل ما تضيع وقتك بين عشرات المنتجات.</a:t>
            </a:r>
            <a:endParaRPr lang="ar-SA" sz="1600" dirty="0"/>
          </a:p>
        </p:txBody>
      </p:sp>
      <p:sp>
        <p:nvSpPr>
          <p:cNvPr id="32" name="s46-shape-30"/>
          <p:cNvSpPr/>
          <p:nvPr/>
        </p:nvSpPr>
        <p:spPr>
          <a:xfrm>
            <a:off x="4318000" y="5524500"/>
            <a:ext cx="7175500" cy="698500"/>
          </a:xfrm>
          <a:prstGeom prst="roundRect">
            <a:avLst>
              <a:gd name="adj" fmla="val 36364"/>
            </a:avLst>
          </a:prstGeom>
          <a:solidFill>
            <a:srgbClr val="FF8D26"/>
          </a:solidFill>
          <a:ln/>
        </p:spPr>
      </p:sp>
      <p:pic>
        <p:nvPicPr>
          <p:cNvPr id="33" name="s46-snap-31" descr="s46-snap-31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769600" y="5594350"/>
            <a:ext cx="558800" cy="558800"/>
          </a:xfrm>
          <a:prstGeom prst="rect">
            <a:avLst/>
          </a:prstGeom>
        </p:spPr>
      </p:pic>
      <p:sp>
        <p:nvSpPr>
          <p:cNvPr id="34" name="s46-text-32"/>
          <p:cNvSpPr txBox="1"/>
          <p:nvPr/>
        </p:nvSpPr>
        <p:spPr>
          <a:xfrm>
            <a:off x="7094391" y="5642780"/>
            <a:ext cx="3560909" cy="3638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465"/>
              </a:lnSpc>
              <a:buNone/>
            </a:pPr>
            <a:r>
              <a:rPr lang="ar-SA" altLang="en-US" sz="17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تواصل معنا الآن عبر واتساب وأرسل بيانات موقعك.</a:t>
            </a:r>
            <a:endParaRPr lang="ar-SA" sz="17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3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4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0" dur="489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90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90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7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7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75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75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75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75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75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75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75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75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75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75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75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75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75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75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75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75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75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75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75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75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75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750" fill="hold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750" fill="hold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750" fill="hold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750" fill="hold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750" fill="hold" decel="10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750" fill="hold" decel="10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750" fill="hold" decel="100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750" fill="hold" decel="100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750" fill="hold" decel="100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750" fill="hold" decel="100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750" fill="hold" decel="100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750" fill="hold" decel="100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42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750" fill="hold" decel="100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750" fill="hold" decel="100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9" dur="750" fill="hold" decel="100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750" fill="hold" decel="100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4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750" fill="hold" decel="100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750" fill="hold" decel="100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53" presetClass="entr" presetSubtype="16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27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9" dur="6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6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/>
      <p:bldP spid="13" grpId="0" animBg="1"/>
      <p:bldP spid="14" grpId="0"/>
      <p:bldP spid="15" grpId="0"/>
      <p:bldP spid="12" grpId="0"/>
      <p:bldP spid="18" grpId="0"/>
      <p:bldP spid="21" grpId="0"/>
      <p:bldP spid="24" grpId="0"/>
      <p:bldP spid="27" grpId="0"/>
      <p:bldP spid="30" grpId="0"/>
      <p:bldP spid="31" grpId="0"/>
      <p:bldP spid="32" grpId="0" animBg="1"/>
      <p:bldP spid="34" grpId="0"/>
    </p:bldLst>
  </p:timing>
</p:sld>
</file>

<file path=ppt/slides/slide47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4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lens"/>
          <p:cNvSpPr/>
          <p:nvPr/>
        </p:nvSpPr>
        <p:spPr>
          <a:xfrm>
            <a:off x="5715000" y="-127000"/>
            <a:ext cx="7112000" cy="7112000"/>
          </a:xfrm>
          <a:prstGeom prst="ellipse">
            <a:avLst/>
          </a:prstGeom>
          <a:solidFill>
            <a:srgbClr val="FFFFFF">
              <a:alpha val="7000"/>
            </a:srgbClr>
          </a:solidFill>
          <a:ln/>
        </p:spPr>
      </p:sp>
      <p:pic>
        <p:nvPicPr>
          <p:cNvPr id="3" name="!!mt" descr="شعار نظرة ثمانية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7616081" y="2693293"/>
            <a:ext cx="3257550" cy="3213100"/>
          </a:xfrm>
          <a:prstGeom prst="rect">
            <a:avLst/>
          </a:prstGeom>
        </p:spPr>
      </p:pic>
      <p:pic>
        <p:nvPicPr>
          <p:cNvPr id="4" name="!!mb" descr="شعار نظرة ثمانية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7746901" y="953740"/>
            <a:ext cx="3181350" cy="3124200"/>
          </a:xfrm>
          <a:prstGeom prst="rect">
            <a:avLst/>
          </a:prstGeom>
        </p:spPr>
      </p:pic>
      <p:pic>
        <p:nvPicPr>
          <p:cNvPr id="5" name="!!ma" descr="شعار نظرة ثمانية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8740676" y="4297015"/>
            <a:ext cx="577850" cy="508000"/>
          </a:xfrm>
          <a:prstGeom prst="rect">
            <a:avLst/>
          </a:prstGeom>
        </p:spPr>
      </p:pic>
      <p:pic>
        <p:nvPicPr>
          <p:cNvPr id="6" name="!!hud" descr="!!hud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7800" y="177800"/>
            <a:ext cx="11836400" cy="6502400"/>
          </a:xfrm>
          <a:prstGeom prst="rect">
            <a:avLst/>
          </a:prstGeom>
        </p:spPr>
      </p:pic>
      <p:sp>
        <p:nvSpPr>
          <p:cNvPr id="7" name="!!rec"/>
          <p:cNvSpPr/>
          <p:nvPr/>
        </p:nvSpPr>
        <p:spPr>
          <a:xfrm>
            <a:off x="635000" y="6337300"/>
            <a:ext cx="101600" cy="101600"/>
          </a:xfrm>
          <a:prstGeom prst="ellipse">
            <a:avLst/>
          </a:prstGeom>
          <a:solidFill>
            <a:srgbClr val="FF8D26"/>
          </a:solidFill>
          <a:ln/>
        </p:spPr>
      </p:sp>
      <p:sp>
        <p:nvSpPr>
          <p:cNvPr id="8" name="!!num"/>
          <p:cNvSpPr txBox="1"/>
          <p:nvPr/>
        </p:nvSpPr>
        <p:spPr>
          <a:xfrm>
            <a:off x="825500" y="6281750"/>
            <a:ext cx="686594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altLang="en-US" sz="1200" dirty="0">
                <a:solidFill>
                  <a:srgbClr val="D9E0DB"/>
                </a:solidFill>
                <a:latin typeface="Sakkal Saad TN Trial Light"/>
                <a:cs typeface="Sakkal Saad TN Trial Light"/>
              </a:rPr>
              <a:t>REC · 47</a:t>
            </a:r>
            <a:endParaRPr lang="en-US" sz="1200" dirty="0"/>
          </a:p>
        </p:txBody>
      </p:sp>
      <p:pic>
        <p:nvPicPr>
          <p:cNvPr id="9" name="s47-snap-8" descr="s47-snap-8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7400" y="1041400"/>
            <a:ext cx="1880791" cy="1981200"/>
          </a:xfrm>
          <a:prstGeom prst="rect">
            <a:avLst/>
          </a:prstGeom>
        </p:spPr>
      </p:pic>
      <p:pic>
        <p:nvPicPr>
          <p:cNvPr id="10" name="s47-snap-9" descr="s47-snap-9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7400" y="3263900"/>
            <a:ext cx="6426200" cy="235188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3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4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53" presetClass="entr" presetSubtype="3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9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1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9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1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9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5" dur="63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8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lens"/>
          <p:cNvSpPr/>
          <p:nvPr/>
        </p:nvSpPr>
        <p:spPr>
          <a:xfrm>
            <a:off x="368300" y="127000"/>
            <a:ext cx="1206500" cy="1206500"/>
          </a:xfrm>
          <a:prstGeom prst="ellipse">
            <a:avLst/>
          </a:prstGeom>
          <a:solidFill>
            <a:srgbClr val="EEF2EF"/>
          </a:solidFill>
          <a:ln/>
        </p:spPr>
      </p:sp>
      <p:pic>
        <p:nvPicPr>
          <p:cNvPr id="3" name="!!mt" descr="شعار نظرة ثماني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3341" y="318443"/>
            <a:ext cx="546100" cy="533400"/>
          </a:xfrm>
          <a:prstGeom prst="rect">
            <a:avLst/>
          </a:prstGeom>
        </p:spPr>
      </p:pic>
      <p:pic>
        <p:nvPicPr>
          <p:cNvPr id="4" name="!!mb" descr="شعار نظرة ثمانية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040" y="621903"/>
            <a:ext cx="527050" cy="520700"/>
          </a:xfrm>
          <a:prstGeom prst="rect">
            <a:avLst/>
          </a:prstGeom>
        </p:spPr>
      </p:pic>
      <p:pic>
        <p:nvPicPr>
          <p:cNvPr id="5" name="!!ma" descr="شعار نظرة ثمانية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988" y="502196"/>
            <a:ext cx="95250" cy="82550"/>
          </a:xfrm>
          <a:prstGeom prst="rect">
            <a:avLst/>
          </a:prstGeom>
        </p:spPr>
      </p:pic>
      <p:pic>
        <p:nvPicPr>
          <p:cNvPr id="6" name="!!hud" descr="!!hu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800" y="177800"/>
            <a:ext cx="11836400" cy="6502400"/>
          </a:xfrm>
          <a:prstGeom prst="rect">
            <a:avLst/>
          </a:prstGeom>
        </p:spPr>
      </p:pic>
      <p:sp>
        <p:nvSpPr>
          <p:cNvPr id="7" name="!!rec"/>
          <p:cNvSpPr/>
          <p:nvPr/>
        </p:nvSpPr>
        <p:spPr>
          <a:xfrm>
            <a:off x="635000" y="6337300"/>
            <a:ext cx="101600" cy="101600"/>
          </a:xfrm>
          <a:prstGeom prst="ellipse">
            <a:avLst/>
          </a:prstGeom>
          <a:solidFill>
            <a:srgbClr val="FF8D26"/>
          </a:solidFill>
          <a:ln/>
        </p:spPr>
      </p:sp>
      <p:sp>
        <p:nvSpPr>
          <p:cNvPr id="8" name="!!num"/>
          <p:cNvSpPr txBox="1"/>
          <p:nvPr/>
        </p:nvSpPr>
        <p:spPr>
          <a:xfrm>
            <a:off x="825500" y="6281750"/>
            <a:ext cx="697508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altLang="en-US" sz="1200" dirty="0">
                <a:solidFill>
                  <a:srgbClr val="5E6D7C"/>
                </a:solidFill>
                <a:latin typeface="Sakkal Saad TN Trial Light"/>
                <a:cs typeface="Sakkal Saad TN Trial Light"/>
              </a:rPr>
              <a:t>REC · 48</a:t>
            </a:r>
            <a:endParaRPr lang="en-US" sz="1200" dirty="0"/>
          </a:p>
        </p:txBody>
      </p:sp>
      <p:sp>
        <p:nvSpPr>
          <p:cNvPr id="9" name="!!kick"/>
          <p:cNvSpPr txBox="1"/>
          <p:nvPr/>
        </p:nvSpPr>
        <p:spPr>
          <a:xfrm>
            <a:off x="8127250" y="318834"/>
            <a:ext cx="342975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ar-SA" altLang="en-US" sz="1500" b="1" dirty="0">
                <a:solidFill>
                  <a:srgbClr val="43644B"/>
                </a:solidFill>
                <a:latin typeface="Sakkal Saad TN Trial Light"/>
                <a:cs typeface="Sakkal Saad TN Trial Light"/>
              </a:rPr>
              <a:t>10</a:t>
            </a:r>
            <a:r>
              <a:rPr lang="ar-SA" altLang="en-US" sz="1500" dirty="0">
                <a:solidFill>
                  <a:srgbClr val="E9720C"/>
                </a:solidFill>
                <a:latin typeface="Sakkal Saad TN Trial Light"/>
                <a:cs typeface="Sakkal Saad TN Trial Light"/>
              </a:rPr>
              <a:t> صناعة المحتوى الإعلاني · أولًا: المحتوى الاستعراضي</a:t>
            </a:r>
            <a:endParaRPr lang="ar-SA" sz="1500" dirty="0"/>
          </a:p>
        </p:txBody>
      </p:sp>
      <p:sp>
        <p:nvSpPr>
          <p:cNvPr id="10" name="s48-shape-8"/>
          <p:cNvSpPr/>
          <p:nvPr/>
        </p:nvSpPr>
        <p:spPr>
          <a:xfrm>
            <a:off x="698500" y="1714500"/>
            <a:ext cx="3302000" cy="1905000"/>
          </a:xfrm>
          <a:prstGeom prst="roundRect">
            <a:avLst>
              <a:gd name="adj" fmla="val 13333"/>
            </a:avLst>
          </a:prstGeom>
          <a:solidFill>
            <a:srgbClr val="43644B"/>
          </a:solidFill>
          <a:ln/>
        </p:spPr>
      </p:sp>
      <p:pic>
        <p:nvPicPr>
          <p:cNvPr id="11" name="s48-snap-9" descr="s48-snap-9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75000" y="1955800"/>
            <a:ext cx="558800" cy="558800"/>
          </a:xfrm>
          <a:prstGeom prst="rect">
            <a:avLst/>
          </a:prstGeom>
        </p:spPr>
      </p:pic>
      <p:sp>
        <p:nvSpPr>
          <p:cNvPr id="12" name="s48-text-10"/>
          <p:cNvSpPr txBox="1"/>
          <p:nvPr/>
        </p:nvSpPr>
        <p:spPr>
          <a:xfrm>
            <a:off x="2574925" y="2030171"/>
            <a:ext cx="536575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240"/>
              </a:lnSpc>
              <a:buNone/>
            </a:pPr>
            <a:r>
              <a:rPr lang="ar-SA" altLang="en-US" sz="1600" dirty="0">
                <a:solidFill>
                  <a:srgbClr val="F6C342"/>
                </a:solidFill>
                <a:latin typeface="Sakkal Saad TN Trial Light"/>
                <a:cs typeface="Sakkal Saad TN Trial Light"/>
              </a:rPr>
              <a:t>الصيغة</a:t>
            </a:r>
            <a:endParaRPr lang="ar-SA" sz="1600" dirty="0"/>
          </a:p>
        </p:txBody>
      </p:sp>
      <p:sp>
        <p:nvSpPr>
          <p:cNvPr id="13" name="s48-text-11"/>
          <p:cNvSpPr txBox="1"/>
          <p:nvPr/>
        </p:nvSpPr>
        <p:spPr>
          <a:xfrm>
            <a:off x="787908" y="2551522"/>
            <a:ext cx="2907792" cy="70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5160"/>
              </a:lnSpc>
              <a:buNone/>
            </a:pPr>
            <a:r>
              <a:rPr lang="en-US" altLang="en-US" sz="4300" b="1" dirty="0">
                <a:solidFill>
                  <a:srgbClr val="FFFFFF"/>
                </a:solidFill>
                <a:latin typeface="Sakkal Saad TN Trial Light"/>
                <a:cs typeface="Sakkal Saad TN Trial Light"/>
              </a:rPr>
              <a:t>FAB</a:t>
            </a:r>
            <a:endParaRPr lang="en-US" sz="4300" dirty="0"/>
          </a:p>
        </p:txBody>
      </p:sp>
      <p:sp>
        <p:nvSpPr>
          <p:cNvPr id="14" name="s48-shape-12"/>
          <p:cNvSpPr/>
          <p:nvPr/>
        </p:nvSpPr>
        <p:spPr>
          <a:xfrm>
            <a:off x="698500" y="3746500"/>
            <a:ext cx="3302000" cy="2476500"/>
          </a:xfrm>
          <a:prstGeom prst="roundRect">
            <a:avLst>
              <a:gd name="adj" fmla="val 10256"/>
            </a:avLst>
          </a:prstGeom>
          <a:solidFill>
            <a:srgbClr val="FFF7DE"/>
          </a:solidFill>
          <a:ln/>
        </p:spPr>
      </p:sp>
      <p:pic>
        <p:nvPicPr>
          <p:cNvPr id="15" name="s48-snap-13" descr="s48-snap-13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75000" y="3987800"/>
            <a:ext cx="558800" cy="558800"/>
          </a:xfrm>
          <a:prstGeom prst="rect">
            <a:avLst/>
          </a:prstGeom>
        </p:spPr>
      </p:pic>
      <p:sp>
        <p:nvSpPr>
          <p:cNvPr id="16" name="s48-text-14"/>
          <p:cNvSpPr txBox="1"/>
          <p:nvPr/>
        </p:nvSpPr>
        <p:spPr>
          <a:xfrm>
            <a:off x="2090737" y="4062171"/>
            <a:ext cx="1020763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240"/>
              </a:lnSpc>
              <a:buNone/>
            </a:pPr>
            <a:r>
              <a:rPr lang="ar-SA" altLang="en-US" sz="1600" dirty="0">
                <a:solidFill>
                  <a:srgbClr val="E9720C"/>
                </a:solidFill>
                <a:latin typeface="Sakkal Saad TN Trial Light"/>
                <a:cs typeface="Sakkal Saad TN Trial Light"/>
              </a:rPr>
              <a:t>الزاوية الإعلانية</a:t>
            </a:r>
            <a:endParaRPr lang="ar-SA" sz="1600" dirty="0"/>
          </a:p>
        </p:txBody>
      </p:sp>
      <p:sp>
        <p:nvSpPr>
          <p:cNvPr id="17" name="s48-text-15"/>
          <p:cNvSpPr txBox="1"/>
          <p:nvPr/>
        </p:nvSpPr>
        <p:spPr>
          <a:xfrm>
            <a:off x="787908" y="4566164"/>
            <a:ext cx="2907792" cy="4006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755"/>
              </a:lnSpc>
              <a:buNone/>
            </a:pPr>
            <a:r>
              <a:rPr lang="ar-SA" altLang="en-US" sz="1900" b="1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الراحة</a:t>
            </a:r>
            <a:endParaRPr lang="ar-SA" sz="1900" dirty="0"/>
          </a:p>
        </p:txBody>
      </p:sp>
      <p:sp>
        <p:nvSpPr>
          <p:cNvPr id="18" name="s48-text-16"/>
          <p:cNvSpPr txBox="1"/>
          <p:nvPr/>
        </p:nvSpPr>
        <p:spPr>
          <a:xfrm>
            <a:off x="787908" y="4916010"/>
            <a:ext cx="2907792" cy="4006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755"/>
              </a:lnSpc>
              <a:buNone/>
            </a:pPr>
            <a:r>
              <a:rPr lang="ar-SA" altLang="en-US" sz="1900" b="1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+ الحل المتكامل</a:t>
            </a:r>
            <a:endParaRPr lang="ar-SA" sz="1900" dirty="0"/>
          </a:p>
        </p:txBody>
      </p:sp>
      <p:sp>
        <p:nvSpPr>
          <p:cNvPr id="19" name="s48-shape-17"/>
          <p:cNvSpPr/>
          <p:nvPr/>
        </p:nvSpPr>
        <p:spPr>
          <a:xfrm>
            <a:off x="10554990" y="1524000"/>
            <a:ext cx="938510" cy="349250"/>
          </a:xfrm>
          <a:prstGeom prst="roundRect">
            <a:avLst>
              <a:gd name="adj" fmla="val 50000"/>
            </a:avLst>
          </a:prstGeom>
          <a:solidFill>
            <a:srgbClr val="FF8D26"/>
          </a:solidFill>
          <a:ln/>
        </p:spPr>
      </p:sp>
      <p:sp>
        <p:nvSpPr>
          <p:cNvPr id="20" name="s48-text-18"/>
          <p:cNvSpPr txBox="1"/>
          <p:nvPr/>
        </p:nvSpPr>
        <p:spPr>
          <a:xfrm>
            <a:off x="10605790" y="1522222"/>
            <a:ext cx="735310" cy="298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950"/>
              </a:lnSpc>
              <a:buNone/>
            </a:pPr>
            <a:r>
              <a:rPr lang="ar-SA" altLang="en-US" sz="1500" b="1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المثال الأول</a:t>
            </a:r>
            <a:endParaRPr lang="ar-SA" sz="1500" dirty="0"/>
          </a:p>
        </p:txBody>
      </p:sp>
      <p:sp>
        <p:nvSpPr>
          <p:cNvPr id="21" name="s48-text-19"/>
          <p:cNvSpPr txBox="1"/>
          <p:nvPr/>
        </p:nvSpPr>
        <p:spPr>
          <a:xfrm>
            <a:off x="7640641" y="1403896"/>
            <a:ext cx="2787348" cy="459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3220"/>
              </a:lnSpc>
              <a:buNone/>
            </a:pPr>
            <a:r>
              <a:rPr lang="ar-SA" altLang="en-US" sz="2300" b="1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استعراض باقة مراقبة متكاملة</a:t>
            </a:r>
            <a:endParaRPr lang="ar-SA" sz="2300" dirty="0"/>
          </a:p>
        </p:txBody>
      </p:sp>
      <p:sp>
        <p:nvSpPr>
          <p:cNvPr id="22" name="s48-shape-20"/>
          <p:cNvSpPr/>
          <p:nvPr/>
        </p:nvSpPr>
        <p:spPr>
          <a:xfrm>
            <a:off x="4381500" y="2095500"/>
            <a:ext cx="7112000" cy="1079500"/>
          </a:xfrm>
          <a:prstGeom prst="roundRect">
            <a:avLst>
              <a:gd name="adj" fmla="val 23529"/>
            </a:avLst>
          </a:prstGeom>
          <a:solidFill>
            <a:srgbClr val="F6C342"/>
          </a:solidFill>
          <a:ln/>
        </p:spPr>
      </p:sp>
      <p:sp>
        <p:nvSpPr>
          <p:cNvPr id="23" name="s48-shape-21"/>
          <p:cNvSpPr/>
          <p:nvPr/>
        </p:nvSpPr>
        <p:spPr>
          <a:xfrm>
            <a:off x="10733286" y="2268240"/>
            <a:ext cx="531614" cy="265410"/>
          </a:xfrm>
          <a:prstGeom prst="roundRect">
            <a:avLst>
              <a:gd name="adj" fmla="val 50000"/>
            </a:avLst>
          </a:prstGeom>
          <a:solidFill>
            <a:srgbClr val="1E2A36"/>
          </a:solidFill>
          <a:ln/>
        </p:spPr>
      </p:sp>
      <p:sp>
        <p:nvSpPr>
          <p:cNvPr id="24" name="s48-text-22"/>
          <p:cNvSpPr txBox="1"/>
          <p:nvPr/>
        </p:nvSpPr>
        <p:spPr>
          <a:xfrm>
            <a:off x="10847586" y="2242357"/>
            <a:ext cx="404614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altLang="en-US" sz="1300" b="1" dirty="0">
                <a:solidFill>
                  <a:srgbClr val="F6C342"/>
                </a:solidFill>
                <a:latin typeface="Sakkal Saad TN Trial Light"/>
                <a:cs typeface="Sakkal Saad TN Trial Light"/>
              </a:rPr>
              <a:t>Hook</a:t>
            </a:r>
            <a:endParaRPr lang="en-US" sz="1300" dirty="0"/>
          </a:p>
        </p:txBody>
      </p:sp>
      <p:sp>
        <p:nvSpPr>
          <p:cNvPr id="25" name="s48-text-23"/>
          <p:cNvSpPr txBox="1"/>
          <p:nvPr/>
        </p:nvSpPr>
        <p:spPr>
          <a:xfrm>
            <a:off x="6792198" y="2503665"/>
            <a:ext cx="4472702" cy="455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3190"/>
              </a:lnSpc>
              <a:buNone/>
            </a:pPr>
            <a:r>
              <a:rPr lang="ar-SA" altLang="en-US" sz="2200" b="1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كل اللي تحتاجه لنظام مراقبة… في حل واحد 👀</a:t>
            </a:r>
            <a:endParaRPr lang="ar-SA" sz="2200" dirty="0"/>
          </a:p>
        </p:txBody>
      </p:sp>
      <p:sp>
        <p:nvSpPr>
          <p:cNvPr id="26" name="s48-text-24"/>
          <p:cNvSpPr txBox="1"/>
          <p:nvPr/>
        </p:nvSpPr>
        <p:spPr>
          <a:xfrm>
            <a:off x="3812540" y="3256737"/>
            <a:ext cx="7680960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550"/>
              </a:lnSpc>
              <a:buNone/>
            </a:pPr>
            <a:r>
              <a:rPr lang="ar-SA" altLang="en-US" sz="1700" b="1" dirty="0">
                <a:solidFill>
                  <a:srgbClr val="43644B"/>
                </a:solidFill>
                <a:latin typeface="Sakkal Saad TN Trial Light"/>
                <a:cs typeface="Sakkal Saad TN Trial Light"/>
              </a:rPr>
              <a:t>المحتوى:</a:t>
            </a:r>
            <a:r>
              <a:rPr lang="ar-SA" altLang="en-US" sz="17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 بدل ما تجمع النظام قطعة قطعة، يمكن تجهيز الحل ليشمل:</a:t>
            </a:r>
            <a:endParaRPr lang="ar-SA" sz="1700" dirty="0"/>
          </a:p>
        </p:txBody>
      </p:sp>
      <p:pic>
        <p:nvPicPr>
          <p:cNvPr id="27" name="s48-snap-25" descr="s48-snap-25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20275" y="3721100"/>
            <a:ext cx="1711325" cy="467320"/>
          </a:xfrm>
          <a:prstGeom prst="rect">
            <a:avLst/>
          </a:prstGeom>
        </p:spPr>
      </p:pic>
      <p:sp>
        <p:nvSpPr>
          <p:cNvPr id="28" name="s48-text-26"/>
          <p:cNvSpPr txBox="1"/>
          <p:nvPr/>
        </p:nvSpPr>
        <p:spPr>
          <a:xfrm>
            <a:off x="10062964" y="3761537"/>
            <a:ext cx="973336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080"/>
              </a:lnSpc>
              <a:buNone/>
            </a:pPr>
            <a:r>
              <a:rPr lang="ar-SA" altLang="en-US" sz="16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كاميرات مراقبة</a:t>
            </a:r>
            <a:endParaRPr lang="ar-SA" sz="1600" dirty="0"/>
          </a:p>
        </p:txBody>
      </p:sp>
      <p:pic>
        <p:nvPicPr>
          <p:cNvPr id="29" name="s48-snap-27" descr="s48-snap-27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10662" y="3721100"/>
            <a:ext cx="1496913" cy="467320"/>
          </a:xfrm>
          <a:prstGeom prst="rect">
            <a:avLst/>
          </a:prstGeom>
        </p:spPr>
      </p:pic>
      <p:sp>
        <p:nvSpPr>
          <p:cNvPr id="30" name="s48-text-28"/>
          <p:cNvSpPr txBox="1"/>
          <p:nvPr/>
        </p:nvSpPr>
        <p:spPr>
          <a:xfrm>
            <a:off x="8412262" y="3761537"/>
            <a:ext cx="900013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080"/>
              </a:lnSpc>
              <a:buNone/>
            </a:pPr>
            <a:r>
              <a:rPr lang="ar-SA" altLang="en-US" sz="16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جهاز تسجيل</a:t>
            </a:r>
            <a:endParaRPr lang="ar-SA" sz="1600" dirty="0"/>
          </a:p>
        </p:txBody>
      </p:sp>
      <p:pic>
        <p:nvPicPr>
          <p:cNvPr id="31" name="s48-snap-29" descr="s48-snap-29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37065" y="3721100"/>
            <a:ext cx="1460897" cy="467320"/>
          </a:xfrm>
          <a:prstGeom prst="rect">
            <a:avLst/>
          </a:prstGeom>
        </p:spPr>
      </p:pic>
      <p:sp>
        <p:nvSpPr>
          <p:cNvPr id="32" name="s48-text-30"/>
          <p:cNvSpPr txBox="1"/>
          <p:nvPr/>
        </p:nvSpPr>
        <p:spPr>
          <a:xfrm>
            <a:off x="7307659" y="3761537"/>
            <a:ext cx="495002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080"/>
              </a:lnSpc>
              <a:buNone/>
            </a:pPr>
            <a:r>
              <a:rPr lang="ar-SA" altLang="en-US" sz="16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تخزين</a:t>
            </a:r>
            <a:endParaRPr lang="ar-SA" sz="1600" dirty="0"/>
          </a:p>
        </p:txBody>
      </p:sp>
      <p:pic>
        <p:nvPicPr>
          <p:cNvPr id="33" name="s48-snap-31" descr="s48-snap-31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20275" y="4188420"/>
            <a:ext cx="1711325" cy="467320"/>
          </a:xfrm>
          <a:prstGeom prst="rect">
            <a:avLst/>
          </a:prstGeom>
        </p:spPr>
      </p:pic>
      <p:sp>
        <p:nvSpPr>
          <p:cNvPr id="34" name="s48-text-32"/>
          <p:cNvSpPr txBox="1"/>
          <p:nvPr/>
        </p:nvSpPr>
        <p:spPr>
          <a:xfrm>
            <a:off x="9921875" y="4228857"/>
            <a:ext cx="1114425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080"/>
              </a:lnSpc>
              <a:buNone/>
            </a:pPr>
            <a:r>
              <a:rPr lang="ar-SA" altLang="en-US" sz="16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كابلات وملحقات</a:t>
            </a:r>
            <a:endParaRPr lang="ar-SA" sz="1600" dirty="0"/>
          </a:p>
        </p:txBody>
      </p:sp>
      <p:pic>
        <p:nvPicPr>
          <p:cNvPr id="35" name="s48-snap-33" descr="s48-snap-33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10662" y="4188420"/>
            <a:ext cx="1496913" cy="467320"/>
          </a:xfrm>
          <a:prstGeom prst="rect">
            <a:avLst/>
          </a:prstGeom>
        </p:spPr>
      </p:pic>
      <p:sp>
        <p:nvSpPr>
          <p:cNvPr id="36" name="s48-text-34"/>
          <p:cNvSpPr txBox="1"/>
          <p:nvPr/>
        </p:nvSpPr>
        <p:spPr>
          <a:xfrm>
            <a:off x="8832949" y="4228857"/>
            <a:ext cx="479326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080"/>
              </a:lnSpc>
              <a:buNone/>
            </a:pPr>
            <a:r>
              <a:rPr lang="ar-SA" altLang="en-US" sz="16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تركيب</a:t>
            </a:r>
            <a:endParaRPr lang="ar-SA" sz="1600" dirty="0"/>
          </a:p>
        </p:txBody>
      </p:sp>
      <p:pic>
        <p:nvPicPr>
          <p:cNvPr id="37" name="s48-snap-35" descr="s48-snap-35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37065" y="4188420"/>
            <a:ext cx="1460897" cy="467320"/>
          </a:xfrm>
          <a:prstGeom prst="rect">
            <a:avLst/>
          </a:prstGeom>
        </p:spPr>
      </p:pic>
      <p:sp>
        <p:nvSpPr>
          <p:cNvPr id="38" name="s48-text-36"/>
          <p:cNvSpPr txBox="1"/>
          <p:nvPr/>
        </p:nvSpPr>
        <p:spPr>
          <a:xfrm>
            <a:off x="6938665" y="4228857"/>
            <a:ext cx="863997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080"/>
              </a:lnSpc>
              <a:buNone/>
            </a:pPr>
            <a:r>
              <a:rPr lang="ar-SA" altLang="en-US" sz="16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برمجة وتهيئة</a:t>
            </a:r>
            <a:endParaRPr lang="ar-SA" sz="1600" dirty="0"/>
          </a:p>
        </p:txBody>
      </p:sp>
      <p:sp>
        <p:nvSpPr>
          <p:cNvPr id="39" name="s48-text-37"/>
          <p:cNvSpPr txBox="1"/>
          <p:nvPr/>
        </p:nvSpPr>
        <p:spPr>
          <a:xfrm>
            <a:off x="3812540" y="4668212"/>
            <a:ext cx="7680960" cy="365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475"/>
              </a:lnSpc>
              <a:buNone/>
            </a:pPr>
            <a:r>
              <a:rPr lang="ar-SA" altLang="en-US" sz="16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الميزة ليست فقط في وجود الأجهزة، بل في أن تكون مكونات النظام متوافقة ومناسبة لاحتياج المكان.</a:t>
            </a:r>
            <a:endParaRPr lang="ar-SA" sz="1650" dirty="0"/>
          </a:p>
        </p:txBody>
      </p:sp>
      <p:sp>
        <p:nvSpPr>
          <p:cNvPr id="40" name="s48-shape-38"/>
          <p:cNvSpPr/>
          <p:nvPr/>
        </p:nvSpPr>
        <p:spPr>
          <a:xfrm>
            <a:off x="4381500" y="5588000"/>
            <a:ext cx="7112000" cy="635000"/>
          </a:xfrm>
          <a:prstGeom prst="roundRect">
            <a:avLst>
              <a:gd name="adj" fmla="val 40000"/>
            </a:avLst>
          </a:prstGeom>
          <a:solidFill>
            <a:srgbClr val="FF8D26"/>
          </a:solidFill>
          <a:ln/>
        </p:spPr>
      </p:sp>
      <p:pic>
        <p:nvPicPr>
          <p:cNvPr id="41" name="s48-snap-39" descr="s48-snap-39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769600" y="5626100"/>
            <a:ext cx="558800" cy="558800"/>
          </a:xfrm>
          <a:prstGeom prst="rect">
            <a:avLst/>
          </a:prstGeom>
        </p:spPr>
      </p:pic>
      <p:sp>
        <p:nvSpPr>
          <p:cNvPr id="42" name="s48-text-40"/>
          <p:cNvSpPr txBox="1"/>
          <p:nvPr/>
        </p:nvSpPr>
        <p:spPr>
          <a:xfrm>
            <a:off x="6218388" y="5695733"/>
            <a:ext cx="4436912" cy="336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248"/>
              </a:lnSpc>
              <a:buNone/>
            </a:pPr>
            <a:r>
              <a:rPr lang="ar-SA" altLang="en-US" sz="15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أرسل نوع المكان وعدد نقاط المراقبة، ونساعدك في اختيار الباقة المناسبة.</a:t>
            </a:r>
            <a:endParaRPr lang="ar-SA" sz="15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3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4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75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75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75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5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5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750" fill="hold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750" fill="hold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75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75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75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75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75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75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75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75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75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75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750" fill="hold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750" fill="hold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75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75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75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75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75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75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53" presetClass="entr" presetSubtype="16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89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70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70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75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75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750" fill="hold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750" fill="hold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75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75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53" presetClass="entr" presetSubtype="16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27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6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6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53" presetClass="entr" presetSubtype="16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27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6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6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53" presetClass="entr" presetSubtype="16" fill="hold" grpId="0" nodeType="withEffect">
                                  <p:stCondLst>
                                    <p:cond delay="62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27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6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6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53" presetClass="entr" presetSubtype="16" fill="hold" grpId="0" nodeType="withEffect">
                                  <p:stCondLst>
                                    <p:cond delay="62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27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6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6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53" presetClass="entr" presetSubtype="16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27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6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6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53" presetClass="entr" presetSubtype="16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27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6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6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53" presetClass="entr" presetSubtype="16" fill="hold" grpId="0" nodeType="withEffect">
                                  <p:stCondLst>
                                    <p:cond delay="76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27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5" dur="6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6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53" presetClass="entr" presetSubtype="16" fill="hold" grpId="0" nodeType="withEffect">
                                  <p:stCondLst>
                                    <p:cond delay="76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27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0" dur="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53" presetClass="entr" presetSubtype="16" fill="hold" grpId="0" nodeType="withEffect">
                                  <p:stCondLst>
                                    <p:cond delay="83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27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5" dur="6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6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53" presetClass="entr" presetSubtype="16" fill="hold" grpId="0" nodeType="withEffect">
                                  <p:stCondLst>
                                    <p:cond delay="83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27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0" dur="6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6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27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5" dur="6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6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27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0" dur="6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6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42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6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5" dur="750" fill="hold" decel="100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750" fill="hold" decel="100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6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0" dur="750" fill="hold" decel="100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750" fill="hold" decel="100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2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6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5" dur="750" fill="hold" decel="1000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750" fill="hold" decel="1000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7" presetID="53" presetClass="entr" presetSubtype="16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27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0" dur="6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6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9" grpId="0" animBg="1"/>
      <p:bldP spid="20" grpId="0"/>
      <p:bldP spid="21" grpId="0"/>
      <p:bldP spid="10" grpId="0" animBg="1"/>
      <p:bldP spid="12" grpId="0"/>
      <p:bldP spid="22" grpId="0" animBg="1"/>
      <p:bldP spid="23" grpId="0" animBg="1"/>
      <p:bldP spid="24" grpId="0"/>
      <p:bldP spid="25" grpId="0"/>
      <p:bldP spid="14" grpId="0" animBg="1"/>
      <p:bldP spid="16" grpId="0"/>
      <p:bldP spid="13" grpId="0"/>
      <p:bldP spid="17" grpId="0"/>
      <p:bldP spid="26" grpId="0"/>
      <p:bldP spid="18" grpId="0"/>
      <p:bldP spid="28" grpId="0"/>
      <p:bldP spid="30" grpId="0"/>
      <p:bldP spid="32" grpId="0"/>
      <p:bldP spid="34" grpId="0"/>
      <p:bldP spid="36" grpId="0"/>
      <p:bldP spid="38" grpId="0"/>
      <p:bldP spid="39" grpId="0"/>
      <p:bldP spid="40" grpId="0" animBg="1"/>
      <p:bldP spid="42" grpId="0"/>
    </p:bldLst>
  </p:timing>
</p:sld>
</file>

<file path=ppt/slides/slide49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lens"/>
          <p:cNvSpPr/>
          <p:nvPr/>
        </p:nvSpPr>
        <p:spPr>
          <a:xfrm>
            <a:off x="368300" y="127000"/>
            <a:ext cx="1206500" cy="1206500"/>
          </a:xfrm>
          <a:prstGeom prst="ellipse">
            <a:avLst/>
          </a:prstGeom>
          <a:solidFill>
            <a:srgbClr val="EEF2EF"/>
          </a:solidFill>
          <a:ln/>
        </p:spPr>
      </p:sp>
      <p:pic>
        <p:nvPicPr>
          <p:cNvPr id="3" name="!!mt" descr="شعار نظرة ثماني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700000">
            <a:off x="794345" y="364083"/>
            <a:ext cx="546100" cy="533400"/>
          </a:xfrm>
          <a:prstGeom prst="rect">
            <a:avLst/>
          </a:prstGeom>
        </p:spPr>
      </p:pic>
      <p:pic>
        <p:nvPicPr>
          <p:cNvPr id="4" name="!!mb" descr="شعار نظرة ثمانية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700000">
            <a:off x="582861" y="569813"/>
            <a:ext cx="527050" cy="520700"/>
          </a:xfrm>
          <a:prstGeom prst="rect">
            <a:avLst/>
          </a:prstGeom>
        </p:spPr>
      </p:pic>
      <p:pic>
        <p:nvPicPr>
          <p:cNvPr id="5" name="!!ma" descr="شعار نظرة ثمانية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700000">
            <a:off x="1074638" y="585440"/>
            <a:ext cx="95250" cy="82550"/>
          </a:xfrm>
          <a:prstGeom prst="rect">
            <a:avLst/>
          </a:prstGeom>
        </p:spPr>
      </p:pic>
      <p:pic>
        <p:nvPicPr>
          <p:cNvPr id="6" name="!!hud" descr="!!hu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800" y="177800"/>
            <a:ext cx="11836400" cy="6502400"/>
          </a:xfrm>
          <a:prstGeom prst="rect">
            <a:avLst/>
          </a:prstGeom>
        </p:spPr>
      </p:pic>
      <p:sp>
        <p:nvSpPr>
          <p:cNvPr id="7" name="!!rec"/>
          <p:cNvSpPr/>
          <p:nvPr/>
        </p:nvSpPr>
        <p:spPr>
          <a:xfrm>
            <a:off x="635000" y="6337300"/>
            <a:ext cx="101600" cy="101600"/>
          </a:xfrm>
          <a:prstGeom prst="ellipse">
            <a:avLst/>
          </a:prstGeom>
          <a:solidFill>
            <a:srgbClr val="FF8D26"/>
          </a:solidFill>
          <a:ln/>
        </p:spPr>
      </p:sp>
      <p:sp>
        <p:nvSpPr>
          <p:cNvPr id="8" name="!!num"/>
          <p:cNvSpPr txBox="1"/>
          <p:nvPr/>
        </p:nvSpPr>
        <p:spPr>
          <a:xfrm>
            <a:off x="825500" y="6281750"/>
            <a:ext cx="698897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altLang="en-US" sz="1200" dirty="0">
                <a:solidFill>
                  <a:srgbClr val="5E6D7C"/>
                </a:solidFill>
                <a:latin typeface="Sakkal Saad TN Trial Light"/>
                <a:cs typeface="Sakkal Saad TN Trial Light"/>
              </a:rPr>
              <a:t>REC · 49</a:t>
            </a:r>
            <a:endParaRPr lang="en-US" sz="1200" dirty="0"/>
          </a:p>
        </p:txBody>
      </p:sp>
      <p:sp>
        <p:nvSpPr>
          <p:cNvPr id="9" name="!!kick"/>
          <p:cNvSpPr txBox="1"/>
          <p:nvPr/>
        </p:nvSpPr>
        <p:spPr>
          <a:xfrm>
            <a:off x="8127250" y="318834"/>
            <a:ext cx="342975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ar-SA" altLang="en-US" sz="1500" b="1" dirty="0">
                <a:solidFill>
                  <a:srgbClr val="43644B"/>
                </a:solidFill>
                <a:latin typeface="Sakkal Saad TN Trial Light"/>
                <a:cs typeface="Sakkal Saad TN Trial Light"/>
              </a:rPr>
              <a:t>10</a:t>
            </a:r>
            <a:r>
              <a:rPr lang="ar-SA" altLang="en-US" sz="1500" dirty="0">
                <a:solidFill>
                  <a:srgbClr val="E9720C"/>
                </a:solidFill>
                <a:latin typeface="Sakkal Saad TN Trial Light"/>
                <a:cs typeface="Sakkal Saad TN Trial Light"/>
              </a:rPr>
              <a:t> صناعة المحتوى الإعلاني · أولًا: المحتوى الاستعراضي</a:t>
            </a:r>
            <a:endParaRPr lang="ar-SA" sz="1500" dirty="0"/>
          </a:p>
        </p:txBody>
      </p:sp>
      <p:sp>
        <p:nvSpPr>
          <p:cNvPr id="10" name="s49-shape-8"/>
          <p:cNvSpPr/>
          <p:nvPr/>
        </p:nvSpPr>
        <p:spPr>
          <a:xfrm>
            <a:off x="698500" y="1714500"/>
            <a:ext cx="3302000" cy="1905000"/>
          </a:xfrm>
          <a:prstGeom prst="roundRect">
            <a:avLst>
              <a:gd name="adj" fmla="val 13333"/>
            </a:avLst>
          </a:prstGeom>
          <a:solidFill>
            <a:srgbClr val="43644B"/>
          </a:solidFill>
          <a:ln/>
        </p:spPr>
      </p:sp>
      <p:pic>
        <p:nvPicPr>
          <p:cNvPr id="11" name="s49-snap-9" descr="s49-snap-9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75000" y="1955800"/>
            <a:ext cx="558800" cy="558800"/>
          </a:xfrm>
          <a:prstGeom prst="rect">
            <a:avLst/>
          </a:prstGeom>
        </p:spPr>
      </p:pic>
      <p:sp>
        <p:nvSpPr>
          <p:cNvPr id="12" name="s49-text-10"/>
          <p:cNvSpPr txBox="1"/>
          <p:nvPr/>
        </p:nvSpPr>
        <p:spPr>
          <a:xfrm>
            <a:off x="2574925" y="2030171"/>
            <a:ext cx="536575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240"/>
              </a:lnSpc>
              <a:buNone/>
            </a:pPr>
            <a:r>
              <a:rPr lang="ar-SA" altLang="en-US" sz="1600" dirty="0">
                <a:solidFill>
                  <a:srgbClr val="F6C342"/>
                </a:solidFill>
                <a:latin typeface="Sakkal Saad TN Trial Light"/>
                <a:cs typeface="Sakkal Saad TN Trial Light"/>
              </a:rPr>
              <a:t>الصيغة</a:t>
            </a:r>
            <a:endParaRPr lang="ar-SA" sz="1600" dirty="0"/>
          </a:p>
        </p:txBody>
      </p:sp>
      <p:sp>
        <p:nvSpPr>
          <p:cNvPr id="13" name="s49-text-11"/>
          <p:cNvSpPr txBox="1"/>
          <p:nvPr/>
        </p:nvSpPr>
        <p:spPr>
          <a:xfrm>
            <a:off x="787908" y="2862411"/>
            <a:ext cx="2907792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3120"/>
              </a:lnSpc>
              <a:buNone/>
            </a:pPr>
            <a:r>
              <a:rPr lang="en-US" altLang="en-US" sz="2600" b="1" dirty="0">
                <a:solidFill>
                  <a:srgbClr val="FFFFFF"/>
                </a:solidFill>
                <a:latin typeface="Sakkal Saad TN Trial Light"/>
                <a:cs typeface="Sakkal Saad TN Trial Light"/>
              </a:rPr>
              <a:t>Feature → Benefit</a:t>
            </a:r>
            <a:endParaRPr lang="en-US" sz="2600" dirty="0"/>
          </a:p>
        </p:txBody>
      </p:sp>
      <p:sp>
        <p:nvSpPr>
          <p:cNvPr id="14" name="s49-shape-12"/>
          <p:cNvSpPr/>
          <p:nvPr/>
        </p:nvSpPr>
        <p:spPr>
          <a:xfrm>
            <a:off x="698500" y="3746500"/>
            <a:ext cx="3302000" cy="2476500"/>
          </a:xfrm>
          <a:prstGeom prst="roundRect">
            <a:avLst>
              <a:gd name="adj" fmla="val 10256"/>
            </a:avLst>
          </a:prstGeom>
          <a:solidFill>
            <a:srgbClr val="FFF7DE"/>
          </a:solidFill>
          <a:ln/>
        </p:spPr>
      </p:sp>
      <p:pic>
        <p:nvPicPr>
          <p:cNvPr id="15" name="s49-snap-13" descr="s49-snap-13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75000" y="3987800"/>
            <a:ext cx="558800" cy="558800"/>
          </a:xfrm>
          <a:prstGeom prst="rect">
            <a:avLst/>
          </a:prstGeom>
        </p:spPr>
      </p:pic>
      <p:sp>
        <p:nvSpPr>
          <p:cNvPr id="16" name="s49-text-14"/>
          <p:cNvSpPr txBox="1"/>
          <p:nvPr/>
        </p:nvSpPr>
        <p:spPr>
          <a:xfrm>
            <a:off x="2090737" y="4062171"/>
            <a:ext cx="1020763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240"/>
              </a:lnSpc>
              <a:buNone/>
            </a:pPr>
            <a:r>
              <a:rPr lang="ar-SA" altLang="en-US" sz="1600" dirty="0">
                <a:solidFill>
                  <a:srgbClr val="E9720C"/>
                </a:solidFill>
                <a:latin typeface="Sakkal Saad TN Trial Light"/>
                <a:cs typeface="Sakkal Saad TN Trial Light"/>
              </a:rPr>
              <a:t>الزاوية الإعلانية</a:t>
            </a:r>
            <a:endParaRPr lang="ar-SA" sz="1600" dirty="0"/>
          </a:p>
        </p:txBody>
      </p:sp>
      <p:sp>
        <p:nvSpPr>
          <p:cNvPr id="17" name="s49-text-15"/>
          <p:cNvSpPr txBox="1"/>
          <p:nvPr/>
        </p:nvSpPr>
        <p:spPr>
          <a:xfrm>
            <a:off x="787908" y="4566164"/>
            <a:ext cx="2907792" cy="4006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755"/>
              </a:lnSpc>
              <a:buNone/>
            </a:pPr>
            <a:r>
              <a:rPr lang="ar-SA" altLang="en-US" sz="1900" b="1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الثقة في التنفيذ</a:t>
            </a:r>
            <a:endParaRPr lang="ar-SA" sz="1900" dirty="0"/>
          </a:p>
        </p:txBody>
      </p:sp>
      <p:sp>
        <p:nvSpPr>
          <p:cNvPr id="18" name="s49-shape-16"/>
          <p:cNvSpPr/>
          <p:nvPr/>
        </p:nvSpPr>
        <p:spPr>
          <a:xfrm>
            <a:off x="10563622" y="1524000"/>
            <a:ext cx="929878" cy="349250"/>
          </a:xfrm>
          <a:prstGeom prst="roundRect">
            <a:avLst>
              <a:gd name="adj" fmla="val 50000"/>
            </a:avLst>
          </a:prstGeom>
          <a:solidFill>
            <a:srgbClr val="FF8D26"/>
          </a:solidFill>
          <a:ln/>
        </p:spPr>
      </p:sp>
      <p:sp>
        <p:nvSpPr>
          <p:cNvPr id="19" name="s49-text-17"/>
          <p:cNvSpPr txBox="1"/>
          <p:nvPr/>
        </p:nvSpPr>
        <p:spPr>
          <a:xfrm>
            <a:off x="10614422" y="1522222"/>
            <a:ext cx="726678" cy="298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950"/>
              </a:lnSpc>
              <a:buNone/>
            </a:pPr>
            <a:r>
              <a:rPr lang="ar-SA" altLang="en-US" sz="1500" b="1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المثال الثاني</a:t>
            </a:r>
            <a:endParaRPr lang="ar-SA" sz="1500" dirty="0"/>
          </a:p>
        </p:txBody>
      </p:sp>
      <p:sp>
        <p:nvSpPr>
          <p:cNvPr id="20" name="s49-text-18"/>
          <p:cNvSpPr txBox="1"/>
          <p:nvPr/>
        </p:nvSpPr>
        <p:spPr>
          <a:xfrm>
            <a:off x="8028499" y="1403896"/>
            <a:ext cx="2408122" cy="459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3220"/>
              </a:lnSpc>
              <a:buNone/>
            </a:pPr>
            <a:r>
              <a:rPr lang="ar-SA" altLang="en-US" sz="2300" b="1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استعراض خدمة التركيب</a:t>
            </a:r>
            <a:endParaRPr lang="ar-SA" sz="2300" dirty="0"/>
          </a:p>
        </p:txBody>
      </p:sp>
      <p:sp>
        <p:nvSpPr>
          <p:cNvPr id="21" name="s49-shape-19"/>
          <p:cNvSpPr/>
          <p:nvPr/>
        </p:nvSpPr>
        <p:spPr>
          <a:xfrm>
            <a:off x="4381500" y="2095500"/>
            <a:ext cx="7112000" cy="952500"/>
          </a:xfrm>
          <a:prstGeom prst="roundRect">
            <a:avLst>
              <a:gd name="adj" fmla="val 26667"/>
            </a:avLst>
          </a:prstGeom>
          <a:solidFill>
            <a:srgbClr val="F6C342"/>
          </a:solidFill>
          <a:ln/>
        </p:spPr>
      </p:sp>
      <p:sp>
        <p:nvSpPr>
          <p:cNvPr id="22" name="s49-text-20"/>
          <p:cNvSpPr txBox="1"/>
          <p:nvPr/>
        </p:nvSpPr>
        <p:spPr>
          <a:xfrm>
            <a:off x="7393666" y="2275661"/>
            <a:ext cx="3871234" cy="455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3190"/>
              </a:lnSpc>
              <a:buNone/>
            </a:pPr>
            <a:r>
              <a:rPr lang="ar-SA" altLang="en-US" sz="2200" b="1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النظام الجيد ما يكتمل بدون تركيب صحيح.</a:t>
            </a:r>
            <a:endParaRPr lang="ar-SA" sz="2200" dirty="0"/>
          </a:p>
        </p:txBody>
      </p:sp>
      <p:sp>
        <p:nvSpPr>
          <p:cNvPr id="23" name="s49-text-21"/>
          <p:cNvSpPr txBox="1"/>
          <p:nvPr/>
        </p:nvSpPr>
        <p:spPr>
          <a:xfrm>
            <a:off x="3812540" y="3256737"/>
            <a:ext cx="7680960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550"/>
              </a:lnSpc>
              <a:buNone/>
            </a:pPr>
            <a:r>
              <a:rPr lang="ar-SA" altLang="en-US" sz="1700" b="1" dirty="0">
                <a:solidFill>
                  <a:srgbClr val="43644B"/>
                </a:solidFill>
                <a:latin typeface="Sakkal Saad TN Trial Light"/>
                <a:cs typeface="Sakkal Saad TN Trial Light"/>
              </a:rPr>
              <a:t>المحتوى:</a:t>
            </a:r>
            <a:r>
              <a:rPr lang="ar-SA" altLang="en-US" sz="17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 في نظرة ثمانية لا تتوقف الخدمة عند توفير الأجهزة.</a:t>
            </a:r>
            <a:endParaRPr lang="ar-SA" sz="1700" dirty="0"/>
          </a:p>
        </p:txBody>
      </p:sp>
      <p:sp>
        <p:nvSpPr>
          <p:cNvPr id="24" name="s49-text-22"/>
          <p:cNvSpPr txBox="1"/>
          <p:nvPr/>
        </p:nvSpPr>
        <p:spPr>
          <a:xfrm>
            <a:off x="3812540" y="3643128"/>
            <a:ext cx="7680960" cy="326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70"/>
              </a:lnSpc>
              <a:buNone/>
            </a:pPr>
            <a:r>
              <a:rPr lang="ar-SA" altLang="en-US" sz="1550" dirty="0">
                <a:solidFill>
                  <a:srgbClr val="5E6D7C"/>
                </a:solidFill>
                <a:latin typeface="Sakkal Saad TN Trial Light"/>
                <a:cs typeface="Sakkal Saad TN Trial Light"/>
              </a:rPr>
              <a:t>تمر عملية التجهيز من:</a:t>
            </a:r>
            <a:endParaRPr lang="ar-SA" sz="1550" dirty="0"/>
          </a:p>
        </p:txBody>
      </p:sp>
      <p:pic>
        <p:nvPicPr>
          <p:cNvPr id="25" name="s49-snap-23" descr="s49-snap-23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02900" y="4051300"/>
            <a:ext cx="609600" cy="609600"/>
          </a:xfrm>
          <a:prstGeom prst="rect">
            <a:avLst/>
          </a:prstGeom>
        </p:spPr>
      </p:pic>
      <p:sp>
        <p:nvSpPr>
          <p:cNvPr id="26" name="s49-text-24"/>
          <p:cNvSpPr txBox="1"/>
          <p:nvPr/>
        </p:nvSpPr>
        <p:spPr>
          <a:xfrm>
            <a:off x="10214769" y="4625816"/>
            <a:ext cx="1185863" cy="307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2025"/>
              </a:lnSpc>
              <a:buNone/>
            </a:pPr>
            <a:r>
              <a:rPr lang="ar-SA" altLang="en-US" sz="15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تحديد نقاط المراقبة</a:t>
            </a:r>
            <a:endParaRPr lang="ar-SA" sz="1500" dirty="0"/>
          </a:p>
        </p:txBody>
      </p:sp>
      <p:pic>
        <p:nvPicPr>
          <p:cNvPr id="27" name="s49-snap-25" descr="s49-snap-25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67800" y="4051300"/>
            <a:ext cx="609600" cy="609600"/>
          </a:xfrm>
          <a:prstGeom prst="rect">
            <a:avLst/>
          </a:prstGeom>
        </p:spPr>
      </p:pic>
      <p:sp>
        <p:nvSpPr>
          <p:cNvPr id="28" name="s49-text-26"/>
          <p:cNvSpPr txBox="1"/>
          <p:nvPr/>
        </p:nvSpPr>
        <p:spPr>
          <a:xfrm>
            <a:off x="8733334" y="4625816"/>
            <a:ext cx="1278632" cy="307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2025"/>
              </a:lnSpc>
              <a:buNone/>
            </a:pPr>
            <a:r>
              <a:rPr lang="ar-SA" altLang="en-US" sz="15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اختيار الزوايا المناسبة</a:t>
            </a:r>
            <a:endParaRPr lang="ar-SA" sz="1500" dirty="0"/>
          </a:p>
        </p:txBody>
      </p:sp>
      <p:pic>
        <p:nvPicPr>
          <p:cNvPr id="29" name="s49-snap-27" descr="s49-snap-27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32700" y="4051300"/>
            <a:ext cx="609600" cy="609600"/>
          </a:xfrm>
          <a:prstGeom prst="rect">
            <a:avLst/>
          </a:prstGeom>
        </p:spPr>
      </p:pic>
      <p:sp>
        <p:nvSpPr>
          <p:cNvPr id="30" name="s49-text-28"/>
          <p:cNvSpPr txBox="1"/>
          <p:nvPr/>
        </p:nvSpPr>
        <p:spPr>
          <a:xfrm>
            <a:off x="7301111" y="4625816"/>
            <a:ext cx="1272778" cy="307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2025"/>
              </a:lnSpc>
              <a:buNone/>
            </a:pPr>
            <a:r>
              <a:rPr lang="ar-SA" altLang="en-US" sz="15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تركيب وتمديد الأجهزة</a:t>
            </a:r>
            <a:endParaRPr lang="ar-SA" sz="1500" dirty="0"/>
          </a:p>
        </p:txBody>
      </p:sp>
      <p:pic>
        <p:nvPicPr>
          <p:cNvPr id="31" name="s49-snap-29" descr="s49-snap-29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97600" y="4051300"/>
            <a:ext cx="609600" cy="609600"/>
          </a:xfrm>
          <a:prstGeom prst="rect">
            <a:avLst/>
          </a:prstGeom>
        </p:spPr>
      </p:pic>
      <p:sp>
        <p:nvSpPr>
          <p:cNvPr id="32" name="s49-text-30"/>
          <p:cNvSpPr txBox="1"/>
          <p:nvPr/>
        </p:nvSpPr>
        <p:spPr>
          <a:xfrm>
            <a:off x="6007993" y="4625816"/>
            <a:ext cx="988814" cy="307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2025"/>
              </a:lnSpc>
              <a:buNone/>
            </a:pPr>
            <a:r>
              <a:rPr lang="ar-SA" altLang="en-US" sz="15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البرمجة والتهيئة</a:t>
            </a:r>
            <a:endParaRPr lang="ar-SA" sz="1500" dirty="0"/>
          </a:p>
        </p:txBody>
      </p:sp>
      <p:pic>
        <p:nvPicPr>
          <p:cNvPr id="33" name="s49-snap-31" descr="s49-snap-31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62500" y="4051300"/>
            <a:ext cx="609600" cy="609600"/>
          </a:xfrm>
          <a:prstGeom prst="rect">
            <a:avLst/>
          </a:prstGeom>
        </p:spPr>
      </p:pic>
      <p:sp>
        <p:nvSpPr>
          <p:cNvPr id="34" name="s49-text-32"/>
          <p:cNvSpPr txBox="1"/>
          <p:nvPr/>
        </p:nvSpPr>
        <p:spPr>
          <a:xfrm>
            <a:off x="4343241" y="4625816"/>
            <a:ext cx="1448217" cy="307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2025"/>
              </a:lnSpc>
              <a:buNone/>
            </a:pPr>
            <a:r>
              <a:rPr lang="ar-SA" altLang="en-US" sz="15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تجهيز النظام للاستخدام</a:t>
            </a:r>
            <a:endParaRPr lang="ar-SA" sz="1500" dirty="0"/>
          </a:p>
        </p:txBody>
      </p:sp>
      <p:sp>
        <p:nvSpPr>
          <p:cNvPr id="35" name="s49-text-33"/>
          <p:cNvSpPr txBox="1"/>
          <p:nvPr/>
        </p:nvSpPr>
        <p:spPr>
          <a:xfrm>
            <a:off x="3812540" y="4994046"/>
            <a:ext cx="7680960" cy="365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475"/>
              </a:lnSpc>
              <a:buNone/>
            </a:pPr>
            <a:r>
              <a:rPr lang="ar-SA" altLang="en-US" sz="16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حتى تحصل على نظام جاهز للعمل حسب احتياج الموقع.</a:t>
            </a:r>
            <a:endParaRPr lang="ar-SA" sz="1650" dirty="0"/>
          </a:p>
        </p:txBody>
      </p:sp>
      <p:sp>
        <p:nvSpPr>
          <p:cNvPr id="36" name="s49-shape-34"/>
          <p:cNvSpPr/>
          <p:nvPr/>
        </p:nvSpPr>
        <p:spPr>
          <a:xfrm>
            <a:off x="4381500" y="5588000"/>
            <a:ext cx="7112000" cy="635000"/>
          </a:xfrm>
          <a:prstGeom prst="roundRect">
            <a:avLst>
              <a:gd name="adj" fmla="val 40000"/>
            </a:avLst>
          </a:prstGeom>
          <a:solidFill>
            <a:srgbClr val="FF8D26"/>
          </a:solidFill>
          <a:ln/>
        </p:spPr>
      </p:sp>
      <p:pic>
        <p:nvPicPr>
          <p:cNvPr id="37" name="s49-snap-35" descr="s49-snap-35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769600" y="5626100"/>
            <a:ext cx="558800" cy="558800"/>
          </a:xfrm>
          <a:prstGeom prst="rect">
            <a:avLst/>
          </a:prstGeom>
        </p:spPr>
      </p:pic>
      <p:sp>
        <p:nvSpPr>
          <p:cNvPr id="38" name="s49-text-36"/>
          <p:cNvSpPr txBox="1"/>
          <p:nvPr/>
        </p:nvSpPr>
        <p:spPr>
          <a:xfrm>
            <a:off x="5742615" y="5695733"/>
            <a:ext cx="4912685" cy="336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248"/>
              </a:lnSpc>
              <a:buNone/>
            </a:pPr>
            <a:r>
              <a:rPr lang="ar-SA" altLang="en-US" sz="15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عندك منزل أو منشأة تحتاج تجهيز؟ أرسل لنا تفاصيل الموقع واطلب استشارتك.</a:t>
            </a:r>
            <a:endParaRPr lang="ar-SA" sz="15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3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4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75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75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75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5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5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750" fill="hold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750" fill="hold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75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75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75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75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75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75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75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75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75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75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75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75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75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75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53" presetClass="entr" presetSubtype="16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89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70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70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75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75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75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75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75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75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750" fill="hold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750" fill="hold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750" fill="hold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750" fill="hold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76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750" fill="hold" decel="10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750" fill="hold" decel="10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76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750" fill="hold" decel="100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750" fill="hold" decel="100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87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750" fill="hold" decel="100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750" fill="hold" decel="100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grpId="0" nodeType="withEffect">
                                  <p:stCondLst>
                                    <p:cond delay="87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750" fill="hold" decel="100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750" fill="hold" decel="100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750" fill="hold" decel="100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750" fill="hold" decel="100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750" fill="hold" decel="100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750" fill="hold" decel="100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42" presetClass="entr" presetSubtype="0" fill="hold" grpId="0" nodeType="withEffect">
                                  <p:stCondLst>
                                    <p:cond delay="109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5" dur="750" fill="hold" decel="1000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750" fill="hold" decel="1000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42" presetClass="entr" presetSubtype="0" fill="hold" grpId="0" nodeType="withEffect">
                                  <p:stCondLst>
                                    <p:cond delay="109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0" dur="750" fill="hold" decel="100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750" fill="hold" decel="100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2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5" dur="750" fill="hold" decel="1000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750" fill="hold" decel="1000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6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0" dur="750" fill="hold" decel="100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750" fill="hold" decel="100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6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5" dur="750" fill="hold" decel="100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750" fill="hold" decel="100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53" presetClass="entr" presetSubtype="16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27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0" dur="6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6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8" grpId="0" animBg="1"/>
      <p:bldP spid="19" grpId="0"/>
      <p:bldP spid="20" grpId="0"/>
      <p:bldP spid="10" grpId="0" animBg="1"/>
      <p:bldP spid="12" grpId="0"/>
      <p:bldP spid="21" grpId="0" animBg="1"/>
      <p:bldP spid="22" grpId="0"/>
      <p:bldP spid="14" grpId="0" animBg="1"/>
      <p:bldP spid="16" grpId="0"/>
      <p:bldP spid="13" grpId="0"/>
      <p:bldP spid="17" grpId="0"/>
      <p:bldP spid="23" grpId="0"/>
      <p:bldP spid="24" grpId="0"/>
      <p:bldP spid="26" grpId="0"/>
      <p:bldP spid="28" grpId="0"/>
      <p:bldP spid="30" grpId="0"/>
      <p:bldP spid="32" grpId="0"/>
      <p:bldP spid="34" grpId="0"/>
      <p:bldP spid="35" grpId="0"/>
      <p:bldP spid="36" grpId="0" animBg="1"/>
      <p:bldP spid="38" grpId="0"/>
    </p:bldLst>
  </p:timing>
</p:sld>
</file>

<file path=ppt/slides/slide50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lens"/>
          <p:cNvSpPr/>
          <p:nvPr/>
        </p:nvSpPr>
        <p:spPr>
          <a:xfrm>
            <a:off x="368300" y="127000"/>
            <a:ext cx="1206500" cy="1206500"/>
          </a:xfrm>
          <a:prstGeom prst="ellipse">
            <a:avLst/>
          </a:prstGeom>
          <a:solidFill>
            <a:srgbClr val="EEF2EF"/>
          </a:solidFill>
          <a:ln/>
        </p:spPr>
      </p:sp>
      <p:pic>
        <p:nvPicPr>
          <p:cNvPr id="3" name="!!mt" descr="شعار نظرة ثماني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5400000">
            <a:off x="833735" y="467668"/>
            <a:ext cx="546100" cy="533400"/>
          </a:xfrm>
          <a:prstGeom prst="rect">
            <a:avLst/>
          </a:prstGeom>
        </p:spPr>
      </p:pic>
      <p:pic>
        <p:nvPicPr>
          <p:cNvPr id="4" name="!!mb" descr="شعار نظرة ثمانية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546050" y="458688"/>
            <a:ext cx="527050" cy="520700"/>
          </a:xfrm>
          <a:prstGeom prst="rect">
            <a:avLst/>
          </a:prstGeom>
        </p:spPr>
      </p:pic>
      <p:pic>
        <p:nvPicPr>
          <p:cNvPr id="5" name="!!ma" descr="شعار نظرة ثمانية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101328" y="728911"/>
            <a:ext cx="95250" cy="82550"/>
          </a:xfrm>
          <a:prstGeom prst="rect">
            <a:avLst/>
          </a:prstGeom>
        </p:spPr>
      </p:pic>
      <p:pic>
        <p:nvPicPr>
          <p:cNvPr id="6" name="!!hud" descr="!!hu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800" y="177800"/>
            <a:ext cx="11836400" cy="6502400"/>
          </a:xfrm>
          <a:prstGeom prst="rect">
            <a:avLst/>
          </a:prstGeom>
        </p:spPr>
      </p:pic>
      <p:sp>
        <p:nvSpPr>
          <p:cNvPr id="7" name="!!rec"/>
          <p:cNvSpPr/>
          <p:nvPr/>
        </p:nvSpPr>
        <p:spPr>
          <a:xfrm>
            <a:off x="635000" y="6337300"/>
            <a:ext cx="101600" cy="101600"/>
          </a:xfrm>
          <a:prstGeom prst="ellipse">
            <a:avLst/>
          </a:prstGeom>
          <a:solidFill>
            <a:srgbClr val="FF8D26"/>
          </a:solidFill>
          <a:ln/>
        </p:spPr>
      </p:sp>
      <p:sp>
        <p:nvSpPr>
          <p:cNvPr id="8" name="!!num"/>
          <p:cNvSpPr txBox="1"/>
          <p:nvPr/>
        </p:nvSpPr>
        <p:spPr>
          <a:xfrm>
            <a:off x="825500" y="6281750"/>
            <a:ext cx="702072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altLang="en-US" sz="1200" dirty="0">
                <a:solidFill>
                  <a:srgbClr val="5E6D7C"/>
                </a:solidFill>
                <a:latin typeface="Sakkal Saad TN Trial Light"/>
                <a:cs typeface="Sakkal Saad TN Trial Light"/>
              </a:rPr>
              <a:t>REC · 50</a:t>
            </a:r>
            <a:endParaRPr lang="en-US" sz="1200" dirty="0"/>
          </a:p>
        </p:txBody>
      </p:sp>
      <p:sp>
        <p:nvSpPr>
          <p:cNvPr id="9" name="!!kick"/>
          <p:cNvSpPr txBox="1"/>
          <p:nvPr/>
        </p:nvSpPr>
        <p:spPr>
          <a:xfrm>
            <a:off x="8447861" y="318834"/>
            <a:ext cx="3109139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ar-SA" altLang="en-US" sz="1500" b="1" dirty="0">
                <a:solidFill>
                  <a:srgbClr val="43644B"/>
                </a:solidFill>
                <a:latin typeface="Sakkal Saad TN Trial Light"/>
                <a:cs typeface="Sakkal Saad TN Trial Light"/>
              </a:rPr>
              <a:t>10</a:t>
            </a:r>
            <a:r>
              <a:rPr lang="ar-SA" altLang="en-US" sz="1500" dirty="0">
                <a:solidFill>
                  <a:srgbClr val="E9720C"/>
                </a:solidFill>
                <a:latin typeface="Sakkal Saad TN Trial Light"/>
                <a:cs typeface="Sakkal Saad TN Trial Light"/>
              </a:rPr>
              <a:t> صناعة المحتوى الإعلاني · ثانيًا : المحتوى القيمي</a:t>
            </a:r>
            <a:endParaRPr lang="ar-SA" sz="1500" dirty="0"/>
          </a:p>
        </p:txBody>
      </p:sp>
      <p:sp>
        <p:nvSpPr>
          <p:cNvPr id="10" name="s50-shape-8"/>
          <p:cNvSpPr/>
          <p:nvPr/>
        </p:nvSpPr>
        <p:spPr>
          <a:xfrm>
            <a:off x="698500" y="1714500"/>
            <a:ext cx="3302000" cy="1905000"/>
          </a:xfrm>
          <a:prstGeom prst="roundRect">
            <a:avLst>
              <a:gd name="adj" fmla="val 13333"/>
            </a:avLst>
          </a:prstGeom>
          <a:solidFill>
            <a:srgbClr val="43644B"/>
          </a:solidFill>
          <a:ln/>
        </p:spPr>
      </p:sp>
      <p:pic>
        <p:nvPicPr>
          <p:cNvPr id="11" name="s50-snap-9" descr="s50-snap-9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75000" y="1955800"/>
            <a:ext cx="558800" cy="558800"/>
          </a:xfrm>
          <a:prstGeom prst="rect">
            <a:avLst/>
          </a:prstGeom>
        </p:spPr>
      </p:pic>
      <p:sp>
        <p:nvSpPr>
          <p:cNvPr id="12" name="s50-text-10"/>
          <p:cNvSpPr txBox="1"/>
          <p:nvPr/>
        </p:nvSpPr>
        <p:spPr>
          <a:xfrm>
            <a:off x="2574925" y="2030171"/>
            <a:ext cx="536575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240"/>
              </a:lnSpc>
              <a:buNone/>
            </a:pPr>
            <a:r>
              <a:rPr lang="ar-SA" altLang="en-US" sz="1600" dirty="0">
                <a:solidFill>
                  <a:srgbClr val="F6C342"/>
                </a:solidFill>
                <a:latin typeface="Sakkal Saad TN Trial Light"/>
                <a:cs typeface="Sakkal Saad TN Trial Light"/>
              </a:rPr>
              <a:t>الصيغة</a:t>
            </a:r>
            <a:endParaRPr lang="ar-SA" sz="1600" dirty="0"/>
          </a:p>
        </p:txBody>
      </p:sp>
      <p:sp>
        <p:nvSpPr>
          <p:cNvPr id="13" name="s50-text-11"/>
          <p:cNvSpPr txBox="1"/>
          <p:nvPr/>
        </p:nvSpPr>
        <p:spPr>
          <a:xfrm>
            <a:off x="787908" y="2551522"/>
            <a:ext cx="2907792" cy="70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5160"/>
              </a:lnSpc>
              <a:buNone/>
            </a:pPr>
            <a:r>
              <a:rPr lang="en-US" altLang="en-US" sz="4300" b="1" dirty="0">
                <a:solidFill>
                  <a:srgbClr val="FFFFFF"/>
                </a:solidFill>
                <a:latin typeface="Sakkal Saad TN Trial Light"/>
                <a:cs typeface="Sakkal Saad TN Trial Light"/>
              </a:rPr>
              <a:t>PAS</a:t>
            </a:r>
            <a:endParaRPr lang="en-US" sz="4300" dirty="0"/>
          </a:p>
        </p:txBody>
      </p:sp>
      <p:sp>
        <p:nvSpPr>
          <p:cNvPr id="14" name="s50-shape-12"/>
          <p:cNvSpPr/>
          <p:nvPr/>
        </p:nvSpPr>
        <p:spPr>
          <a:xfrm>
            <a:off x="698500" y="3746500"/>
            <a:ext cx="3302000" cy="2476500"/>
          </a:xfrm>
          <a:prstGeom prst="roundRect">
            <a:avLst>
              <a:gd name="adj" fmla="val 10256"/>
            </a:avLst>
          </a:prstGeom>
          <a:solidFill>
            <a:srgbClr val="FFF7DE"/>
          </a:solidFill>
          <a:ln/>
        </p:spPr>
      </p:sp>
      <p:pic>
        <p:nvPicPr>
          <p:cNvPr id="15" name="s50-snap-13" descr="s50-snap-13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75000" y="3987800"/>
            <a:ext cx="558800" cy="558800"/>
          </a:xfrm>
          <a:prstGeom prst="rect">
            <a:avLst/>
          </a:prstGeom>
        </p:spPr>
      </p:pic>
      <p:sp>
        <p:nvSpPr>
          <p:cNvPr id="16" name="s50-text-14"/>
          <p:cNvSpPr txBox="1"/>
          <p:nvPr/>
        </p:nvSpPr>
        <p:spPr>
          <a:xfrm>
            <a:off x="2090737" y="4062171"/>
            <a:ext cx="1020763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240"/>
              </a:lnSpc>
              <a:buNone/>
            </a:pPr>
            <a:r>
              <a:rPr lang="ar-SA" altLang="en-US" sz="1600" dirty="0">
                <a:solidFill>
                  <a:srgbClr val="E9720C"/>
                </a:solidFill>
                <a:latin typeface="Sakkal Saad TN Trial Light"/>
                <a:cs typeface="Sakkal Saad TN Trial Light"/>
              </a:rPr>
              <a:t>الزاوية الإعلانية</a:t>
            </a:r>
            <a:endParaRPr lang="ar-SA" sz="1600" dirty="0"/>
          </a:p>
        </p:txBody>
      </p:sp>
      <p:sp>
        <p:nvSpPr>
          <p:cNvPr id="17" name="s50-text-15"/>
          <p:cNvSpPr txBox="1"/>
          <p:nvPr/>
        </p:nvSpPr>
        <p:spPr>
          <a:xfrm>
            <a:off x="787908" y="4566164"/>
            <a:ext cx="2907792" cy="4006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755"/>
              </a:lnSpc>
              <a:buNone/>
            </a:pPr>
            <a:r>
              <a:rPr lang="ar-SA" altLang="en-US" sz="1900" b="1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تجنب الاختيار الخاطئ</a:t>
            </a:r>
            <a:endParaRPr lang="ar-SA" sz="1900" dirty="0"/>
          </a:p>
        </p:txBody>
      </p:sp>
      <p:sp>
        <p:nvSpPr>
          <p:cNvPr id="18" name="s50-text-16"/>
          <p:cNvSpPr txBox="1"/>
          <p:nvPr/>
        </p:nvSpPr>
        <p:spPr>
          <a:xfrm>
            <a:off x="787908" y="4916010"/>
            <a:ext cx="2907792" cy="4006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755"/>
              </a:lnSpc>
              <a:buNone/>
            </a:pPr>
            <a:r>
              <a:rPr lang="ar-SA" altLang="en-US" sz="1900" b="1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+ توفير المال</a:t>
            </a:r>
            <a:endParaRPr lang="ar-SA" sz="1900" dirty="0"/>
          </a:p>
        </p:txBody>
      </p:sp>
      <p:sp>
        <p:nvSpPr>
          <p:cNvPr id="19" name="s50-shape-17"/>
          <p:cNvSpPr/>
          <p:nvPr/>
        </p:nvSpPr>
        <p:spPr>
          <a:xfrm>
            <a:off x="10554990" y="1524000"/>
            <a:ext cx="938510" cy="349250"/>
          </a:xfrm>
          <a:prstGeom prst="roundRect">
            <a:avLst>
              <a:gd name="adj" fmla="val 50000"/>
            </a:avLst>
          </a:prstGeom>
          <a:solidFill>
            <a:srgbClr val="FF8D26"/>
          </a:solidFill>
          <a:ln/>
        </p:spPr>
      </p:sp>
      <p:sp>
        <p:nvSpPr>
          <p:cNvPr id="20" name="s50-text-18"/>
          <p:cNvSpPr txBox="1"/>
          <p:nvPr/>
        </p:nvSpPr>
        <p:spPr>
          <a:xfrm>
            <a:off x="10605790" y="1522222"/>
            <a:ext cx="735310" cy="298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950"/>
              </a:lnSpc>
              <a:buNone/>
            </a:pPr>
            <a:r>
              <a:rPr lang="ar-SA" altLang="en-US" sz="1500" b="1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المثال الأول</a:t>
            </a:r>
            <a:endParaRPr lang="ar-SA" sz="1500" dirty="0"/>
          </a:p>
        </p:txBody>
      </p:sp>
      <p:sp>
        <p:nvSpPr>
          <p:cNvPr id="21" name="s50-text-19"/>
          <p:cNvSpPr txBox="1"/>
          <p:nvPr/>
        </p:nvSpPr>
        <p:spPr>
          <a:xfrm>
            <a:off x="7259272" y="1403896"/>
            <a:ext cx="3168717" cy="459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3220"/>
              </a:lnSpc>
              <a:buNone/>
            </a:pPr>
            <a:r>
              <a:rPr lang="ar-SA" altLang="en-US" sz="2300" b="1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لا تختار الكاميرا حسب الدقة فقط</a:t>
            </a:r>
            <a:endParaRPr lang="ar-SA" sz="2300" dirty="0"/>
          </a:p>
        </p:txBody>
      </p:sp>
      <p:sp>
        <p:nvSpPr>
          <p:cNvPr id="22" name="s50-shape-20"/>
          <p:cNvSpPr/>
          <p:nvPr/>
        </p:nvSpPr>
        <p:spPr>
          <a:xfrm>
            <a:off x="4381500" y="2095500"/>
            <a:ext cx="7112000" cy="952500"/>
          </a:xfrm>
          <a:prstGeom prst="roundRect">
            <a:avLst>
              <a:gd name="adj" fmla="val 26667"/>
            </a:avLst>
          </a:prstGeom>
          <a:solidFill>
            <a:srgbClr val="F6C342"/>
          </a:solidFill>
          <a:ln/>
        </p:spPr>
      </p:sp>
      <p:sp>
        <p:nvSpPr>
          <p:cNvPr id="23" name="s50-text-21"/>
          <p:cNvSpPr txBox="1"/>
          <p:nvPr/>
        </p:nvSpPr>
        <p:spPr>
          <a:xfrm>
            <a:off x="7308477" y="2275661"/>
            <a:ext cx="3956423" cy="455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3190"/>
              </a:lnSpc>
              <a:buNone/>
            </a:pPr>
            <a:r>
              <a:rPr lang="ar-SA" altLang="en-US" sz="2200" b="1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8MP ما تعني تلقائيًا أنها أفضل كاميرا لمكانك.</a:t>
            </a:r>
            <a:endParaRPr lang="ar-SA" sz="2200" dirty="0"/>
          </a:p>
        </p:txBody>
      </p:sp>
      <p:sp>
        <p:nvSpPr>
          <p:cNvPr id="24" name="s50-text-22"/>
          <p:cNvSpPr txBox="1"/>
          <p:nvPr/>
        </p:nvSpPr>
        <p:spPr>
          <a:xfrm>
            <a:off x="3812540" y="3125394"/>
            <a:ext cx="768096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700"/>
              </a:lnSpc>
              <a:buNone/>
            </a:pPr>
            <a:r>
              <a:rPr lang="ar-SA" altLang="en-US" sz="1800" b="1" dirty="0">
                <a:solidFill>
                  <a:srgbClr val="43644B"/>
                </a:solidFill>
                <a:latin typeface="Sakkal Saad TN Trial Light"/>
                <a:cs typeface="Sakkal Saad TN Trial Light"/>
              </a:rPr>
              <a:t>الدقة مهمة لكنها ليست العامل الوحيد.</a:t>
            </a:r>
            <a:endParaRPr lang="ar-SA" sz="1800" dirty="0"/>
          </a:p>
        </p:txBody>
      </p:sp>
      <p:sp>
        <p:nvSpPr>
          <p:cNvPr id="25" name="s50-text-23"/>
          <p:cNvSpPr txBox="1"/>
          <p:nvPr/>
        </p:nvSpPr>
        <p:spPr>
          <a:xfrm>
            <a:off x="3812540" y="3524021"/>
            <a:ext cx="7680960" cy="365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475"/>
              </a:lnSpc>
              <a:buNone/>
            </a:pPr>
            <a:r>
              <a:rPr lang="ar-SA" altLang="en-US" sz="16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قد تشتري كاميرا قوية ثم تكتشف أن:</a:t>
            </a:r>
            <a:endParaRPr lang="ar-SA" sz="1650" dirty="0"/>
          </a:p>
        </p:txBody>
      </p:sp>
      <p:pic>
        <p:nvPicPr>
          <p:cNvPr id="26" name="s50-snap-24" descr="s50-snap-24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07723" y="3978275"/>
            <a:ext cx="2123877" cy="459085"/>
          </a:xfrm>
          <a:prstGeom prst="rect">
            <a:avLst/>
          </a:prstGeom>
        </p:spPr>
      </p:pic>
      <p:sp>
        <p:nvSpPr>
          <p:cNvPr id="27" name="s50-text-25"/>
          <p:cNvSpPr txBox="1"/>
          <p:nvPr/>
        </p:nvSpPr>
        <p:spPr>
          <a:xfrm>
            <a:off x="9496385" y="4024592"/>
            <a:ext cx="1546265" cy="306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015"/>
              </a:lnSpc>
              <a:buNone/>
            </a:pPr>
            <a:r>
              <a:rPr lang="ar-SA" altLang="en-US" sz="15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زاوية التصوير غير مناسبة</a:t>
            </a:r>
            <a:endParaRPr lang="ar-SA" sz="1550" dirty="0"/>
          </a:p>
        </p:txBody>
      </p:sp>
      <p:pic>
        <p:nvPicPr>
          <p:cNvPr id="28" name="s50-snap-26" descr="s50-snap-26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39868" y="3978275"/>
            <a:ext cx="2355155" cy="459085"/>
          </a:xfrm>
          <a:prstGeom prst="rect">
            <a:avLst/>
          </a:prstGeom>
        </p:spPr>
      </p:pic>
      <p:sp>
        <p:nvSpPr>
          <p:cNvPr id="29" name="s50-text-27"/>
          <p:cNvSpPr txBox="1"/>
          <p:nvPr/>
        </p:nvSpPr>
        <p:spPr>
          <a:xfrm>
            <a:off x="7394099" y="4024592"/>
            <a:ext cx="1511975" cy="306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015"/>
              </a:lnSpc>
              <a:buNone/>
            </a:pPr>
            <a:r>
              <a:rPr lang="ar-SA" altLang="en-US" sz="15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الإضاءة في الموقع ضعيفة</a:t>
            </a:r>
            <a:endParaRPr lang="ar-SA" sz="1550" dirty="0"/>
          </a:p>
        </p:txBody>
      </p:sp>
      <p:pic>
        <p:nvPicPr>
          <p:cNvPr id="30" name="s50-snap-28" descr="s50-snap-28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96532" y="3978275"/>
            <a:ext cx="2230636" cy="459085"/>
          </a:xfrm>
          <a:prstGeom prst="rect">
            <a:avLst/>
          </a:prstGeom>
        </p:spPr>
      </p:pic>
      <p:sp>
        <p:nvSpPr>
          <p:cNvPr id="31" name="s50-text-29"/>
          <p:cNvSpPr txBox="1"/>
          <p:nvPr/>
        </p:nvSpPr>
        <p:spPr>
          <a:xfrm>
            <a:off x="4876653" y="4024592"/>
            <a:ext cx="1661565" cy="306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015"/>
              </a:lnSpc>
              <a:buNone/>
            </a:pPr>
            <a:r>
              <a:rPr lang="ar-SA" altLang="en-US" sz="15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التخزين أقل من احتياجك</a:t>
            </a:r>
            <a:endParaRPr lang="ar-SA" sz="1550" dirty="0"/>
          </a:p>
        </p:txBody>
      </p:sp>
      <p:pic>
        <p:nvPicPr>
          <p:cNvPr id="32" name="s50-snap-30" descr="s50-snap-30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07723" y="4437360"/>
            <a:ext cx="2123877" cy="459085"/>
          </a:xfrm>
          <a:prstGeom prst="rect">
            <a:avLst/>
          </a:prstGeom>
        </p:spPr>
      </p:pic>
      <p:sp>
        <p:nvSpPr>
          <p:cNvPr id="33" name="s50-text-31"/>
          <p:cNvSpPr txBox="1"/>
          <p:nvPr/>
        </p:nvSpPr>
        <p:spPr>
          <a:xfrm>
            <a:off x="9501957" y="4483677"/>
            <a:ext cx="1540693" cy="306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015"/>
              </a:lnSpc>
              <a:buNone/>
            </a:pPr>
            <a:r>
              <a:rPr lang="ar-SA" altLang="en-US" sz="15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مكان التركيب غير صحيح</a:t>
            </a:r>
            <a:endParaRPr lang="ar-SA" sz="1550" dirty="0"/>
          </a:p>
        </p:txBody>
      </p:sp>
      <p:pic>
        <p:nvPicPr>
          <p:cNvPr id="34" name="s50-snap-32" descr="s50-snap-32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39868" y="4437360"/>
            <a:ext cx="2355155" cy="459085"/>
          </a:xfrm>
          <a:prstGeom prst="rect">
            <a:avLst/>
          </a:prstGeom>
        </p:spPr>
      </p:pic>
      <p:sp>
        <p:nvSpPr>
          <p:cNvPr id="35" name="s50-text-33"/>
          <p:cNvSpPr txBox="1"/>
          <p:nvPr/>
        </p:nvSpPr>
        <p:spPr>
          <a:xfrm>
            <a:off x="7110028" y="4483677"/>
            <a:ext cx="1796046" cy="306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015"/>
              </a:lnSpc>
              <a:buNone/>
            </a:pPr>
            <a:r>
              <a:rPr lang="ar-SA" altLang="en-US" sz="15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النظام لا يناسب طبيعة الموقع</a:t>
            </a:r>
            <a:endParaRPr lang="ar-SA" sz="1550" dirty="0"/>
          </a:p>
        </p:txBody>
      </p:sp>
      <p:sp>
        <p:nvSpPr>
          <p:cNvPr id="36" name="s50-text-34"/>
          <p:cNvSpPr txBox="1"/>
          <p:nvPr/>
        </p:nvSpPr>
        <p:spPr>
          <a:xfrm>
            <a:off x="3812540" y="4921033"/>
            <a:ext cx="7680960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550"/>
              </a:lnSpc>
              <a:buNone/>
            </a:pPr>
            <a:r>
              <a:rPr lang="ar-SA" altLang="en-US" sz="17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لذلك ابدأ من احتياج المكان ثم اختر المواصفات المناسبة.</a:t>
            </a:r>
            <a:endParaRPr lang="ar-SA" sz="1700" dirty="0"/>
          </a:p>
        </p:txBody>
      </p:sp>
      <p:sp>
        <p:nvSpPr>
          <p:cNvPr id="37" name="s50-shape-35"/>
          <p:cNvSpPr/>
          <p:nvPr/>
        </p:nvSpPr>
        <p:spPr>
          <a:xfrm>
            <a:off x="4381500" y="5588000"/>
            <a:ext cx="7112000" cy="635000"/>
          </a:xfrm>
          <a:prstGeom prst="roundRect">
            <a:avLst>
              <a:gd name="adj" fmla="val 40000"/>
            </a:avLst>
          </a:prstGeom>
          <a:solidFill>
            <a:srgbClr val="FF8D26"/>
          </a:solidFill>
          <a:ln/>
        </p:spPr>
      </p:sp>
      <p:pic>
        <p:nvPicPr>
          <p:cNvPr id="38" name="s50-snap-36" descr="s50-snap-36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769600" y="5626100"/>
            <a:ext cx="558800" cy="558800"/>
          </a:xfrm>
          <a:prstGeom prst="rect">
            <a:avLst/>
          </a:prstGeom>
        </p:spPr>
      </p:pic>
      <p:sp>
        <p:nvSpPr>
          <p:cNvPr id="39" name="s50-text-37"/>
          <p:cNvSpPr txBox="1"/>
          <p:nvPr/>
        </p:nvSpPr>
        <p:spPr>
          <a:xfrm>
            <a:off x="6342690" y="5695733"/>
            <a:ext cx="4312610" cy="336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248"/>
              </a:lnSpc>
              <a:buNone/>
            </a:pPr>
            <a:r>
              <a:rPr lang="ar-SA" altLang="en-US" sz="15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قبل الشراء أرسل لنا نوع المكان ونساعدك في تحديد الخيارات المناسبة.</a:t>
            </a:r>
            <a:endParaRPr lang="ar-SA" sz="15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3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4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75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75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75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5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5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750" fill="hold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750" fill="hold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75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75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75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75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75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75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75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75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75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75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75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75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75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75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53" presetClass="entr" presetSubtype="16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89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70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70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75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75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75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75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750" fill="hold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750" fill="hold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75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75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5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27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6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6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5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27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6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6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53" presetClass="entr" presetSubtype="16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27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6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6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53" presetClass="entr" presetSubtype="16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27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6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6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27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6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6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27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6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6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53" presetClass="entr" presetSubtype="16" fill="hold" grpId="0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27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6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6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53" presetClass="entr" presetSubtype="16" fill="hold" grpId="0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27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5" dur="6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6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53" presetClass="entr" presetSubtype="16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27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0" dur="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53" presetClass="entr" presetSubtype="16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27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5" dur="6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6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42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6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0" dur="750" fill="hold" decel="100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750" fill="hold" decel="100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6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5" dur="750" fill="hold" decel="100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750" fill="hold" decel="100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6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0" dur="750" fill="hold" decel="100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750" fill="hold" decel="100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53" presetClass="entr" presetSubtype="16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27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5" dur="6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6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9" grpId="0" animBg="1"/>
      <p:bldP spid="20" grpId="0"/>
      <p:bldP spid="21" grpId="0"/>
      <p:bldP spid="10" grpId="0" animBg="1"/>
      <p:bldP spid="12" grpId="0"/>
      <p:bldP spid="22" grpId="0" animBg="1"/>
      <p:bldP spid="23" grpId="0"/>
      <p:bldP spid="14" grpId="0" animBg="1"/>
      <p:bldP spid="16" grpId="0"/>
      <p:bldP spid="13" grpId="0"/>
      <p:bldP spid="17" grpId="0"/>
      <p:bldP spid="24" grpId="0"/>
      <p:bldP spid="25" grpId="0"/>
      <p:bldP spid="18" grpId="0"/>
      <p:bldP spid="27" grpId="0"/>
      <p:bldP spid="29" grpId="0"/>
      <p:bldP spid="31" grpId="0"/>
      <p:bldP spid="33" grpId="0"/>
      <p:bldP spid="35" grpId="0"/>
      <p:bldP spid="36" grpId="0"/>
      <p:bldP spid="37" grpId="0" animBg="1"/>
      <p:bldP spid="39" grpId="0"/>
    </p:bldLst>
  </p:timing>
</p:sld>
</file>

<file path=ppt/slides/slide51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lens"/>
          <p:cNvSpPr/>
          <p:nvPr/>
        </p:nvSpPr>
        <p:spPr>
          <a:xfrm>
            <a:off x="368300" y="127000"/>
            <a:ext cx="1206500" cy="1206500"/>
          </a:xfrm>
          <a:prstGeom prst="ellipse">
            <a:avLst/>
          </a:prstGeom>
          <a:solidFill>
            <a:srgbClr val="EEF2EF"/>
          </a:solidFill>
          <a:ln/>
        </p:spPr>
      </p:sp>
      <p:pic>
        <p:nvPicPr>
          <p:cNvPr id="3" name="!!mt" descr="شعار نظرة ثماني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8100000">
            <a:off x="788591" y="569268"/>
            <a:ext cx="546100" cy="533400"/>
          </a:xfrm>
          <a:prstGeom prst="rect">
            <a:avLst/>
          </a:prstGeom>
        </p:spPr>
      </p:pic>
      <p:pic>
        <p:nvPicPr>
          <p:cNvPr id="4" name="!!mb" descr="شعار نظرة ثمانية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8100000">
            <a:off x="598140" y="354608"/>
            <a:ext cx="527050" cy="520700"/>
          </a:xfrm>
          <a:prstGeom prst="rect">
            <a:avLst/>
          </a:prstGeom>
        </p:spPr>
      </p:pic>
      <p:pic>
        <p:nvPicPr>
          <p:cNvPr id="5" name="!!ma" descr="شعار نظرة ثمانية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8100000">
            <a:off x="1018183" y="849561"/>
            <a:ext cx="95250" cy="82550"/>
          </a:xfrm>
          <a:prstGeom prst="rect">
            <a:avLst/>
          </a:prstGeom>
        </p:spPr>
      </p:pic>
      <p:pic>
        <p:nvPicPr>
          <p:cNvPr id="6" name="!!hud" descr="!!hu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800" y="177800"/>
            <a:ext cx="11836400" cy="6502400"/>
          </a:xfrm>
          <a:prstGeom prst="rect">
            <a:avLst/>
          </a:prstGeom>
        </p:spPr>
      </p:pic>
      <p:sp>
        <p:nvSpPr>
          <p:cNvPr id="7" name="!!rec"/>
          <p:cNvSpPr/>
          <p:nvPr/>
        </p:nvSpPr>
        <p:spPr>
          <a:xfrm>
            <a:off x="635000" y="6337300"/>
            <a:ext cx="101600" cy="101600"/>
          </a:xfrm>
          <a:prstGeom prst="ellipse">
            <a:avLst/>
          </a:prstGeom>
          <a:solidFill>
            <a:srgbClr val="FF8D26"/>
          </a:solidFill>
          <a:ln/>
        </p:spPr>
      </p:sp>
      <p:sp>
        <p:nvSpPr>
          <p:cNvPr id="8" name="!!num"/>
          <p:cNvSpPr txBox="1"/>
          <p:nvPr/>
        </p:nvSpPr>
        <p:spPr>
          <a:xfrm>
            <a:off x="825500" y="6281750"/>
            <a:ext cx="674291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altLang="en-US" sz="1200" dirty="0">
                <a:solidFill>
                  <a:srgbClr val="5E6D7C"/>
                </a:solidFill>
                <a:latin typeface="Sakkal Saad TN Trial Light"/>
                <a:cs typeface="Sakkal Saad TN Trial Light"/>
              </a:rPr>
              <a:t>REC · 51</a:t>
            </a:r>
            <a:endParaRPr lang="en-US" sz="1200" dirty="0"/>
          </a:p>
        </p:txBody>
      </p:sp>
      <p:sp>
        <p:nvSpPr>
          <p:cNvPr id="9" name="!!kick"/>
          <p:cNvSpPr txBox="1"/>
          <p:nvPr/>
        </p:nvSpPr>
        <p:spPr>
          <a:xfrm>
            <a:off x="8447861" y="318834"/>
            <a:ext cx="3109139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ar-SA" altLang="en-US" sz="1500" b="1" dirty="0">
                <a:solidFill>
                  <a:srgbClr val="43644B"/>
                </a:solidFill>
                <a:latin typeface="Sakkal Saad TN Trial Light"/>
                <a:cs typeface="Sakkal Saad TN Trial Light"/>
              </a:rPr>
              <a:t>10</a:t>
            </a:r>
            <a:r>
              <a:rPr lang="ar-SA" altLang="en-US" sz="1500" dirty="0">
                <a:solidFill>
                  <a:srgbClr val="E9720C"/>
                </a:solidFill>
                <a:latin typeface="Sakkal Saad TN Trial Light"/>
                <a:cs typeface="Sakkal Saad TN Trial Light"/>
              </a:rPr>
              <a:t> صناعة المحتوى الإعلاني · ثانيًا : المحتوى القيمي</a:t>
            </a:r>
            <a:endParaRPr lang="ar-SA" sz="1500" dirty="0"/>
          </a:p>
        </p:txBody>
      </p:sp>
      <p:sp>
        <p:nvSpPr>
          <p:cNvPr id="10" name="s51-shape-8"/>
          <p:cNvSpPr/>
          <p:nvPr/>
        </p:nvSpPr>
        <p:spPr>
          <a:xfrm>
            <a:off x="698500" y="1714500"/>
            <a:ext cx="3302000" cy="1905000"/>
          </a:xfrm>
          <a:prstGeom prst="roundRect">
            <a:avLst>
              <a:gd name="adj" fmla="val 13333"/>
            </a:avLst>
          </a:prstGeom>
          <a:solidFill>
            <a:srgbClr val="43644B"/>
          </a:solidFill>
          <a:ln/>
        </p:spPr>
      </p:sp>
      <p:pic>
        <p:nvPicPr>
          <p:cNvPr id="11" name="s51-snap-9" descr="s51-snap-9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75000" y="1955800"/>
            <a:ext cx="558800" cy="558800"/>
          </a:xfrm>
          <a:prstGeom prst="rect">
            <a:avLst/>
          </a:prstGeom>
        </p:spPr>
      </p:pic>
      <p:sp>
        <p:nvSpPr>
          <p:cNvPr id="12" name="s51-text-10"/>
          <p:cNvSpPr txBox="1"/>
          <p:nvPr/>
        </p:nvSpPr>
        <p:spPr>
          <a:xfrm>
            <a:off x="2574925" y="2030171"/>
            <a:ext cx="536575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240"/>
              </a:lnSpc>
              <a:buNone/>
            </a:pPr>
            <a:r>
              <a:rPr lang="ar-SA" altLang="en-US" sz="1600" dirty="0">
                <a:solidFill>
                  <a:srgbClr val="F6C342"/>
                </a:solidFill>
                <a:latin typeface="Sakkal Saad TN Trial Light"/>
                <a:cs typeface="Sakkal Saad TN Trial Light"/>
              </a:rPr>
              <a:t>الصيغة</a:t>
            </a:r>
            <a:endParaRPr lang="ar-SA" sz="1600" dirty="0"/>
          </a:p>
        </p:txBody>
      </p:sp>
      <p:sp>
        <p:nvSpPr>
          <p:cNvPr id="13" name="s51-text-11"/>
          <p:cNvSpPr txBox="1"/>
          <p:nvPr/>
        </p:nvSpPr>
        <p:spPr>
          <a:xfrm>
            <a:off x="787908" y="2668778"/>
            <a:ext cx="2907792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400"/>
              </a:lnSpc>
              <a:buNone/>
            </a:pPr>
            <a:r>
              <a:rPr lang="en-US" altLang="en-US" sz="2000" b="1" dirty="0">
                <a:solidFill>
                  <a:srgbClr val="FFFFFF"/>
                </a:solidFill>
                <a:latin typeface="Sakkal Saad TN Trial Light"/>
                <a:cs typeface="Sakkal Saad TN Trial Light"/>
              </a:rPr>
              <a:t>Problem → Education →</a:t>
            </a:r>
            <a:endParaRPr lang="en-US" sz="2000" dirty="0"/>
          </a:p>
          <a:p>
            <a:pPr algn="r" indent="0" marL="0">
              <a:lnSpc>
                <a:spcPts val="2400"/>
              </a:lnSpc>
              <a:buNone/>
            </a:pPr>
            <a:r>
              <a:rPr lang="en-US" altLang="en-US" sz="2000" b="1" dirty="0">
                <a:solidFill>
                  <a:srgbClr val="FFFFFF"/>
                </a:solidFill>
                <a:latin typeface="Sakkal Saad TN Trial Light"/>
                <a:cs typeface="Sakkal Saad TN Trial Light"/>
              </a:rPr>
              <a:t>Solution</a:t>
            </a:r>
            <a:endParaRPr lang="en-US" sz="2000" dirty="0"/>
          </a:p>
        </p:txBody>
      </p:sp>
      <p:sp>
        <p:nvSpPr>
          <p:cNvPr id="14" name="s51-shape-12"/>
          <p:cNvSpPr/>
          <p:nvPr/>
        </p:nvSpPr>
        <p:spPr>
          <a:xfrm>
            <a:off x="698500" y="3746500"/>
            <a:ext cx="3302000" cy="2476500"/>
          </a:xfrm>
          <a:prstGeom prst="roundRect">
            <a:avLst>
              <a:gd name="adj" fmla="val 10256"/>
            </a:avLst>
          </a:prstGeom>
          <a:solidFill>
            <a:srgbClr val="FFF7DE"/>
          </a:solidFill>
          <a:ln/>
        </p:spPr>
      </p:sp>
      <p:pic>
        <p:nvPicPr>
          <p:cNvPr id="15" name="s51-snap-13" descr="s51-snap-13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75000" y="3987800"/>
            <a:ext cx="558800" cy="558800"/>
          </a:xfrm>
          <a:prstGeom prst="rect">
            <a:avLst/>
          </a:prstGeom>
        </p:spPr>
      </p:pic>
      <p:sp>
        <p:nvSpPr>
          <p:cNvPr id="16" name="s51-text-14"/>
          <p:cNvSpPr txBox="1"/>
          <p:nvPr/>
        </p:nvSpPr>
        <p:spPr>
          <a:xfrm>
            <a:off x="2090737" y="4062171"/>
            <a:ext cx="1020763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240"/>
              </a:lnSpc>
              <a:buNone/>
            </a:pPr>
            <a:r>
              <a:rPr lang="ar-SA" altLang="en-US" sz="1600" dirty="0">
                <a:solidFill>
                  <a:srgbClr val="E9720C"/>
                </a:solidFill>
                <a:latin typeface="Sakkal Saad TN Trial Light"/>
                <a:cs typeface="Sakkal Saad TN Trial Light"/>
              </a:rPr>
              <a:t>الزاوية الإعلانية</a:t>
            </a:r>
            <a:endParaRPr lang="ar-SA" sz="1600" dirty="0"/>
          </a:p>
        </p:txBody>
      </p:sp>
      <p:sp>
        <p:nvSpPr>
          <p:cNvPr id="17" name="s51-text-15"/>
          <p:cNvSpPr txBox="1"/>
          <p:nvPr/>
        </p:nvSpPr>
        <p:spPr>
          <a:xfrm>
            <a:off x="787908" y="4566164"/>
            <a:ext cx="2907792" cy="4006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755"/>
              </a:lnSpc>
              <a:buNone/>
            </a:pPr>
            <a:r>
              <a:rPr lang="ar-SA" altLang="en-US" sz="1900" b="1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التعليم</a:t>
            </a:r>
            <a:endParaRPr lang="ar-SA" sz="1900" dirty="0"/>
          </a:p>
        </p:txBody>
      </p:sp>
      <p:sp>
        <p:nvSpPr>
          <p:cNvPr id="18" name="s51-text-16"/>
          <p:cNvSpPr txBox="1"/>
          <p:nvPr/>
        </p:nvSpPr>
        <p:spPr>
          <a:xfrm>
            <a:off x="787908" y="4916010"/>
            <a:ext cx="2907792" cy="4006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755"/>
              </a:lnSpc>
              <a:buNone/>
            </a:pPr>
            <a:r>
              <a:rPr lang="ar-SA" altLang="en-US" sz="1900" b="1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+ تقليل المخاطر</a:t>
            </a:r>
            <a:endParaRPr lang="ar-SA" sz="1900" dirty="0"/>
          </a:p>
        </p:txBody>
      </p:sp>
      <p:sp>
        <p:nvSpPr>
          <p:cNvPr id="19" name="s51-shape-17"/>
          <p:cNvSpPr/>
          <p:nvPr/>
        </p:nvSpPr>
        <p:spPr>
          <a:xfrm>
            <a:off x="10563622" y="1524000"/>
            <a:ext cx="929878" cy="349250"/>
          </a:xfrm>
          <a:prstGeom prst="roundRect">
            <a:avLst>
              <a:gd name="adj" fmla="val 50000"/>
            </a:avLst>
          </a:prstGeom>
          <a:solidFill>
            <a:srgbClr val="FF8D26"/>
          </a:solidFill>
          <a:ln/>
        </p:spPr>
      </p:sp>
      <p:sp>
        <p:nvSpPr>
          <p:cNvPr id="20" name="s51-text-18"/>
          <p:cNvSpPr txBox="1"/>
          <p:nvPr/>
        </p:nvSpPr>
        <p:spPr>
          <a:xfrm>
            <a:off x="10614422" y="1522222"/>
            <a:ext cx="726678" cy="298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950"/>
              </a:lnSpc>
              <a:buNone/>
            </a:pPr>
            <a:r>
              <a:rPr lang="ar-SA" altLang="en-US" sz="1500" b="1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المثال الثاني</a:t>
            </a:r>
            <a:endParaRPr lang="ar-SA" sz="1500" dirty="0"/>
          </a:p>
        </p:txBody>
      </p:sp>
      <p:sp>
        <p:nvSpPr>
          <p:cNvPr id="21" name="s51-text-19"/>
          <p:cNvSpPr txBox="1"/>
          <p:nvPr/>
        </p:nvSpPr>
        <p:spPr>
          <a:xfrm>
            <a:off x="7942989" y="1403896"/>
            <a:ext cx="2493633" cy="459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3220"/>
              </a:lnSpc>
              <a:buNone/>
            </a:pPr>
            <a:r>
              <a:rPr lang="ar-SA" altLang="en-US" sz="2300" b="1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كيف تحدد سعة التخزين؟</a:t>
            </a:r>
            <a:endParaRPr lang="ar-SA" sz="2300" dirty="0"/>
          </a:p>
        </p:txBody>
      </p:sp>
      <p:sp>
        <p:nvSpPr>
          <p:cNvPr id="22" name="s51-shape-20"/>
          <p:cNvSpPr/>
          <p:nvPr/>
        </p:nvSpPr>
        <p:spPr>
          <a:xfrm>
            <a:off x="4381500" y="2095500"/>
            <a:ext cx="7112000" cy="952500"/>
          </a:xfrm>
          <a:prstGeom prst="roundRect">
            <a:avLst>
              <a:gd name="adj" fmla="val 26667"/>
            </a:avLst>
          </a:prstGeom>
          <a:solidFill>
            <a:srgbClr val="F6C342"/>
          </a:solidFill>
          <a:ln/>
        </p:spPr>
      </p:sp>
      <p:sp>
        <p:nvSpPr>
          <p:cNvPr id="23" name="s51-text-21"/>
          <p:cNvSpPr txBox="1"/>
          <p:nvPr/>
        </p:nvSpPr>
        <p:spPr>
          <a:xfrm>
            <a:off x="5697597" y="2275661"/>
            <a:ext cx="5567303" cy="455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3190"/>
              </a:lnSpc>
              <a:buNone/>
            </a:pPr>
            <a:r>
              <a:rPr lang="ar-SA" altLang="en-US" sz="2200" b="1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هل هارد 1TB يكفيك أسبوع؟ ما نقدر نحدد من السعة وحدها.</a:t>
            </a:r>
            <a:endParaRPr lang="ar-SA" sz="2200" dirty="0"/>
          </a:p>
        </p:txBody>
      </p:sp>
      <p:sp>
        <p:nvSpPr>
          <p:cNvPr id="24" name="s51-text-22"/>
          <p:cNvSpPr txBox="1"/>
          <p:nvPr/>
        </p:nvSpPr>
        <p:spPr>
          <a:xfrm>
            <a:off x="3812540" y="3129737"/>
            <a:ext cx="7680960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550"/>
              </a:lnSpc>
              <a:buNone/>
            </a:pPr>
            <a:r>
              <a:rPr lang="ar-SA" altLang="en-US" sz="1700" b="1" dirty="0">
                <a:solidFill>
                  <a:srgbClr val="43644B"/>
                </a:solidFill>
                <a:latin typeface="Sakkal Saad TN Trial Light"/>
                <a:cs typeface="Sakkal Saad TN Trial Light"/>
              </a:rPr>
              <a:t>مدة حفظ التسجيلات تعتمد على:</a:t>
            </a:r>
            <a:endParaRPr lang="ar-SA" sz="1700" dirty="0"/>
          </a:p>
        </p:txBody>
      </p:sp>
      <p:pic>
        <p:nvPicPr>
          <p:cNvPr id="25" name="s51-snap-23" descr="s51-snap-23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18799" y="3594100"/>
            <a:ext cx="1612801" cy="459085"/>
          </a:xfrm>
          <a:prstGeom prst="rect">
            <a:avLst/>
          </a:prstGeom>
        </p:spPr>
      </p:pic>
      <p:sp>
        <p:nvSpPr>
          <p:cNvPr id="26" name="s51-text-24"/>
          <p:cNvSpPr txBox="1"/>
          <p:nvPr/>
        </p:nvSpPr>
        <p:spPr>
          <a:xfrm>
            <a:off x="10123686" y="3640417"/>
            <a:ext cx="918964" cy="306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015"/>
              </a:lnSpc>
              <a:buNone/>
            </a:pPr>
            <a:r>
              <a:rPr lang="ar-SA" altLang="en-US" sz="15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عدد الكاميرات</a:t>
            </a:r>
            <a:endParaRPr lang="ar-SA" sz="1550" dirty="0"/>
          </a:p>
        </p:txBody>
      </p:sp>
      <p:pic>
        <p:nvPicPr>
          <p:cNvPr id="27" name="s51-snap-25" descr="s51-snap-25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34387" y="3594100"/>
            <a:ext cx="1471712" cy="459085"/>
          </a:xfrm>
          <a:prstGeom prst="rect">
            <a:avLst/>
          </a:prstGeom>
        </p:spPr>
      </p:pic>
      <p:sp>
        <p:nvSpPr>
          <p:cNvPr id="28" name="s51-text-26"/>
          <p:cNvSpPr txBox="1"/>
          <p:nvPr/>
        </p:nvSpPr>
        <p:spPr>
          <a:xfrm>
            <a:off x="8617843" y="3640417"/>
            <a:ext cx="799306" cy="306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015"/>
              </a:lnSpc>
              <a:buNone/>
            </a:pPr>
            <a:r>
              <a:rPr lang="ar-SA" altLang="en-US" sz="15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دقة التصوير</a:t>
            </a:r>
            <a:endParaRPr lang="ar-SA" sz="1550" dirty="0"/>
          </a:p>
        </p:txBody>
      </p:sp>
      <p:pic>
        <p:nvPicPr>
          <p:cNvPr id="29" name="s51-snap-27" descr="s51-snap-27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95393" y="3594100"/>
            <a:ext cx="1626295" cy="459085"/>
          </a:xfrm>
          <a:prstGeom prst="rect">
            <a:avLst/>
          </a:prstGeom>
        </p:spPr>
      </p:pic>
      <p:sp>
        <p:nvSpPr>
          <p:cNvPr id="30" name="s51-text-28"/>
          <p:cNvSpPr txBox="1"/>
          <p:nvPr/>
        </p:nvSpPr>
        <p:spPr>
          <a:xfrm>
            <a:off x="6896993" y="3640417"/>
            <a:ext cx="1035745" cy="306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015"/>
              </a:lnSpc>
              <a:buNone/>
            </a:pPr>
            <a:r>
              <a:rPr lang="ar-SA" altLang="en-US" sz="15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طريقة التسجيل</a:t>
            </a:r>
            <a:endParaRPr lang="ar-SA" sz="1550" dirty="0"/>
          </a:p>
        </p:txBody>
      </p:sp>
      <p:pic>
        <p:nvPicPr>
          <p:cNvPr id="31" name="s51-snap-29" descr="s51-snap-29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18799" y="4053185"/>
            <a:ext cx="1612801" cy="459085"/>
          </a:xfrm>
          <a:prstGeom prst="rect">
            <a:avLst/>
          </a:prstGeom>
        </p:spPr>
      </p:pic>
      <p:sp>
        <p:nvSpPr>
          <p:cNvPr id="32" name="s51-text-30"/>
          <p:cNvSpPr txBox="1"/>
          <p:nvPr/>
        </p:nvSpPr>
        <p:spPr>
          <a:xfrm>
            <a:off x="10020399" y="4099502"/>
            <a:ext cx="1022251" cy="306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015"/>
              </a:lnSpc>
              <a:buNone/>
            </a:pPr>
            <a:r>
              <a:rPr lang="ar-SA" altLang="en-US" sz="15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معدل التسجيل</a:t>
            </a:r>
            <a:endParaRPr lang="ar-SA" sz="1550" dirty="0"/>
          </a:p>
        </p:txBody>
      </p:sp>
      <p:pic>
        <p:nvPicPr>
          <p:cNvPr id="33" name="s51-snap-31" descr="s51-snap-31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34387" y="4053185"/>
            <a:ext cx="1471712" cy="459085"/>
          </a:xfrm>
          <a:prstGeom prst="rect">
            <a:avLst/>
          </a:prstGeom>
        </p:spPr>
      </p:pic>
      <p:sp>
        <p:nvSpPr>
          <p:cNvPr id="34" name="s51-text-32"/>
          <p:cNvSpPr txBox="1"/>
          <p:nvPr/>
        </p:nvSpPr>
        <p:spPr>
          <a:xfrm>
            <a:off x="8535988" y="4099502"/>
            <a:ext cx="881162" cy="306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015"/>
              </a:lnSpc>
              <a:buNone/>
            </a:pPr>
            <a:r>
              <a:rPr lang="ar-SA" altLang="en-US" sz="15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سعة التخزين</a:t>
            </a:r>
            <a:endParaRPr lang="ar-SA" sz="1550" dirty="0"/>
          </a:p>
        </p:txBody>
      </p:sp>
      <p:sp>
        <p:nvSpPr>
          <p:cNvPr id="35" name="s51-text-33"/>
          <p:cNvSpPr txBox="1"/>
          <p:nvPr/>
        </p:nvSpPr>
        <p:spPr>
          <a:xfrm>
            <a:off x="3812540" y="4524742"/>
            <a:ext cx="7680960" cy="365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475"/>
              </a:lnSpc>
              <a:buNone/>
            </a:pPr>
            <a:r>
              <a:rPr lang="ar-SA" altLang="en-US" sz="16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كلما ارتفع عدد الكاميرات أو الدقة، زادت كمية البيانات المطلوبة.</a:t>
            </a:r>
            <a:endParaRPr lang="ar-SA" sz="1650" dirty="0"/>
          </a:p>
        </p:txBody>
      </p:sp>
      <p:sp>
        <p:nvSpPr>
          <p:cNvPr id="36" name="s51-text-34"/>
          <p:cNvSpPr txBox="1"/>
          <p:nvPr/>
        </p:nvSpPr>
        <p:spPr>
          <a:xfrm>
            <a:off x="3812540" y="4902567"/>
            <a:ext cx="7680960" cy="679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475"/>
              </a:lnSpc>
              <a:buNone/>
            </a:pPr>
            <a:r>
              <a:rPr lang="ar-SA" altLang="en-US" sz="16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لذلك اختيار التخزين بشكل عشوائي قد يجعلك تكتشف لاحقًا أن التسجيلات القديمة اختفت قبل المدة التي</a:t>
            </a:r>
            <a:endParaRPr lang="ar-SA" sz="1650" dirty="0"/>
          </a:p>
          <a:p>
            <a:pPr rtl="1" algn="r" indent="0" marL="0">
              <a:lnSpc>
                <a:spcPts val="2475"/>
              </a:lnSpc>
              <a:buNone/>
            </a:pPr>
            <a:r>
              <a:rPr lang="ar-SA" altLang="en-US" sz="16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تحتاجها.</a:t>
            </a:r>
            <a:endParaRPr lang="ar-SA" sz="1650" dirty="0"/>
          </a:p>
        </p:txBody>
      </p:sp>
      <p:sp>
        <p:nvSpPr>
          <p:cNvPr id="37" name="s51-shape-35"/>
          <p:cNvSpPr/>
          <p:nvPr/>
        </p:nvSpPr>
        <p:spPr>
          <a:xfrm>
            <a:off x="4381500" y="5588000"/>
            <a:ext cx="7112000" cy="635000"/>
          </a:xfrm>
          <a:prstGeom prst="roundRect">
            <a:avLst>
              <a:gd name="adj" fmla="val 40000"/>
            </a:avLst>
          </a:prstGeom>
          <a:solidFill>
            <a:srgbClr val="FF8D26"/>
          </a:solidFill>
          <a:ln/>
        </p:spPr>
      </p:sp>
      <p:pic>
        <p:nvPicPr>
          <p:cNvPr id="38" name="s51-snap-36" descr="s51-snap-36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769600" y="5626100"/>
            <a:ext cx="558800" cy="558800"/>
          </a:xfrm>
          <a:prstGeom prst="rect">
            <a:avLst/>
          </a:prstGeom>
        </p:spPr>
      </p:pic>
      <p:sp>
        <p:nvSpPr>
          <p:cNvPr id="39" name="s51-text-37"/>
          <p:cNvSpPr txBox="1"/>
          <p:nvPr/>
        </p:nvSpPr>
        <p:spPr>
          <a:xfrm>
            <a:off x="5588631" y="5695733"/>
            <a:ext cx="5066669" cy="336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248"/>
              </a:lnSpc>
              <a:buNone/>
            </a:pPr>
            <a:r>
              <a:rPr lang="ar-SA" altLang="en-US" sz="15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أرسل عدد الكاميرات ومدة التسجيل المطلوبة، ونساعدك في تحديد السعة المناسبة.</a:t>
            </a:r>
            <a:endParaRPr lang="ar-SA" sz="15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3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4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75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75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75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5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5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750" fill="hold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750" fill="hold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75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75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75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75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75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75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75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75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75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75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75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75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75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75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53" presetClass="entr" presetSubtype="16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89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70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70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75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75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75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75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75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75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53" presetClass="entr" presetSubtype="16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27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6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6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53" presetClass="entr" presetSubtype="16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27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6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6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53" presetClass="entr" presetSubtype="16" fill="hold" grpId="0" nodeType="withEffect">
                                  <p:stCondLst>
                                    <p:cond delay="62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27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6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6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53" presetClass="entr" presetSubtype="16" fill="hold" grpId="0" nodeType="withEffect">
                                  <p:stCondLst>
                                    <p:cond delay="62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27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6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6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53" presetClass="entr" presetSubtype="16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27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6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6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53" presetClass="entr" presetSubtype="16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27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6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6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53" presetClass="entr" presetSubtype="16" fill="hold" grpId="0" nodeType="withEffect">
                                  <p:stCondLst>
                                    <p:cond delay="76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27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6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6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53" presetClass="entr" presetSubtype="16" fill="hold" grpId="0" nodeType="withEffect">
                                  <p:stCondLst>
                                    <p:cond delay="76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27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6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6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53" presetClass="entr" presetSubtype="16" fill="hold" grpId="0" nodeType="withEffect">
                                  <p:stCondLst>
                                    <p:cond delay="83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27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5" dur="6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6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53" presetClass="entr" presetSubtype="16" fill="hold" grpId="0" nodeType="withEffect">
                                  <p:stCondLst>
                                    <p:cond delay="83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27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0" dur="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5" dur="750" fill="hold" decel="1000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750" fill="hold" decel="1000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42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6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0" dur="750" fill="hold" decel="100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750" fill="hold" decel="100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6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5" dur="750" fill="hold" decel="100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750" fill="hold" decel="100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6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0" dur="750" fill="hold" decel="100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750" fill="hold" decel="100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53" presetClass="entr" presetSubtype="16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27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5" dur="6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6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9" grpId="0" animBg="1"/>
      <p:bldP spid="20" grpId="0"/>
      <p:bldP spid="21" grpId="0"/>
      <p:bldP spid="10" grpId="0" animBg="1"/>
      <p:bldP spid="12" grpId="0"/>
      <p:bldP spid="22" grpId="0" animBg="1"/>
      <p:bldP spid="23" grpId="0"/>
      <p:bldP spid="14" grpId="0" animBg="1"/>
      <p:bldP spid="16" grpId="0"/>
      <p:bldP spid="13" grpId="0"/>
      <p:bldP spid="17" grpId="0"/>
      <p:bldP spid="24" grpId="0"/>
      <p:bldP spid="18" grpId="0"/>
      <p:bldP spid="26" grpId="0"/>
      <p:bldP spid="28" grpId="0"/>
      <p:bldP spid="30" grpId="0"/>
      <p:bldP spid="32" grpId="0"/>
      <p:bldP spid="34" grpId="0"/>
      <p:bldP spid="35" grpId="0"/>
      <p:bldP spid="36" grpId="0"/>
      <p:bldP spid="37" grpId="0" animBg="1"/>
      <p:bldP spid="39" grpId="0"/>
    </p:bldLst>
  </p:timing>
</p:sld>
</file>

<file path=ppt/slides/slide52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lens"/>
          <p:cNvSpPr/>
          <p:nvPr/>
        </p:nvSpPr>
        <p:spPr>
          <a:xfrm>
            <a:off x="368300" y="127000"/>
            <a:ext cx="1206500" cy="1206500"/>
          </a:xfrm>
          <a:prstGeom prst="ellipse">
            <a:avLst/>
          </a:prstGeom>
          <a:solidFill>
            <a:srgbClr val="EEF2EF"/>
          </a:solidFill>
          <a:ln/>
        </p:spPr>
      </p:sp>
      <p:pic>
        <p:nvPicPr>
          <p:cNvPr id="3" name="!!mt" descr="شعار نظرة ثماني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10800000">
            <a:off x="684510" y="608558"/>
            <a:ext cx="546100" cy="533400"/>
          </a:xfrm>
          <a:prstGeom prst="rect">
            <a:avLst/>
          </a:prstGeom>
        </p:spPr>
      </p:pic>
      <p:pic>
        <p:nvPicPr>
          <p:cNvPr id="4" name="!!mb" descr="شعار نظرة ثمانية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709265" y="317798"/>
            <a:ext cx="527050" cy="520700"/>
          </a:xfrm>
          <a:prstGeom prst="rect">
            <a:avLst/>
          </a:prstGeom>
        </p:spPr>
      </p:pic>
      <p:pic>
        <p:nvPicPr>
          <p:cNvPr id="5" name="!!ma" descr="شعار نظرة ثمانية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874018" y="875556"/>
            <a:ext cx="95250" cy="82550"/>
          </a:xfrm>
          <a:prstGeom prst="rect">
            <a:avLst/>
          </a:prstGeom>
        </p:spPr>
      </p:pic>
      <p:pic>
        <p:nvPicPr>
          <p:cNvPr id="6" name="!!hud" descr="!!hu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800" y="177800"/>
            <a:ext cx="11836400" cy="6502400"/>
          </a:xfrm>
          <a:prstGeom prst="rect">
            <a:avLst/>
          </a:prstGeom>
        </p:spPr>
      </p:pic>
      <p:sp>
        <p:nvSpPr>
          <p:cNvPr id="7" name="!!rec"/>
          <p:cNvSpPr/>
          <p:nvPr/>
        </p:nvSpPr>
        <p:spPr>
          <a:xfrm>
            <a:off x="635000" y="6337300"/>
            <a:ext cx="101600" cy="101600"/>
          </a:xfrm>
          <a:prstGeom prst="ellipse">
            <a:avLst/>
          </a:prstGeom>
          <a:solidFill>
            <a:srgbClr val="FF8D26"/>
          </a:solidFill>
          <a:ln/>
        </p:spPr>
      </p:sp>
      <p:sp>
        <p:nvSpPr>
          <p:cNvPr id="8" name="!!num"/>
          <p:cNvSpPr txBox="1"/>
          <p:nvPr/>
        </p:nvSpPr>
        <p:spPr>
          <a:xfrm>
            <a:off x="825500" y="6281750"/>
            <a:ext cx="68709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altLang="en-US" sz="1200" dirty="0">
                <a:solidFill>
                  <a:srgbClr val="5E6D7C"/>
                </a:solidFill>
                <a:latin typeface="Sakkal Saad TN Trial Light"/>
                <a:cs typeface="Sakkal Saad TN Trial Light"/>
              </a:rPr>
              <a:t>REC · 52</a:t>
            </a:r>
            <a:endParaRPr lang="en-US" sz="1200" dirty="0"/>
          </a:p>
        </p:txBody>
      </p:sp>
      <p:sp>
        <p:nvSpPr>
          <p:cNvPr id="9" name="!!kick"/>
          <p:cNvSpPr txBox="1"/>
          <p:nvPr/>
        </p:nvSpPr>
        <p:spPr>
          <a:xfrm>
            <a:off x="8371995" y="318834"/>
            <a:ext cx="3185005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ar-SA" altLang="en-US" sz="1500" b="1" dirty="0">
                <a:solidFill>
                  <a:srgbClr val="43644B"/>
                </a:solidFill>
                <a:latin typeface="Sakkal Saad TN Trial Light"/>
                <a:cs typeface="Sakkal Saad TN Trial Light"/>
              </a:rPr>
              <a:t>10</a:t>
            </a:r>
            <a:r>
              <a:rPr lang="ar-SA" altLang="en-US" sz="1500" dirty="0">
                <a:solidFill>
                  <a:srgbClr val="E9720C"/>
                </a:solidFill>
                <a:latin typeface="Sakkal Saad TN Trial Light"/>
                <a:cs typeface="Sakkal Saad TN Trial Light"/>
              </a:rPr>
              <a:t> صناعة المحتوى الإعلاني · ثالثًا : المحتوى الإعلاني</a:t>
            </a:r>
            <a:endParaRPr lang="ar-SA" sz="1500" dirty="0"/>
          </a:p>
        </p:txBody>
      </p:sp>
      <p:sp>
        <p:nvSpPr>
          <p:cNvPr id="10" name="s52-shape-8"/>
          <p:cNvSpPr/>
          <p:nvPr/>
        </p:nvSpPr>
        <p:spPr>
          <a:xfrm>
            <a:off x="698500" y="1714500"/>
            <a:ext cx="3302000" cy="1905000"/>
          </a:xfrm>
          <a:prstGeom prst="roundRect">
            <a:avLst>
              <a:gd name="adj" fmla="val 13333"/>
            </a:avLst>
          </a:prstGeom>
          <a:solidFill>
            <a:srgbClr val="43644B"/>
          </a:solidFill>
          <a:ln/>
        </p:spPr>
      </p:sp>
      <p:pic>
        <p:nvPicPr>
          <p:cNvPr id="11" name="s52-snap-9" descr="s52-snap-9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75000" y="1955800"/>
            <a:ext cx="558800" cy="558800"/>
          </a:xfrm>
          <a:prstGeom prst="rect">
            <a:avLst/>
          </a:prstGeom>
        </p:spPr>
      </p:pic>
      <p:sp>
        <p:nvSpPr>
          <p:cNvPr id="12" name="s52-text-10"/>
          <p:cNvSpPr txBox="1"/>
          <p:nvPr/>
        </p:nvSpPr>
        <p:spPr>
          <a:xfrm>
            <a:off x="2574925" y="2030171"/>
            <a:ext cx="536575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240"/>
              </a:lnSpc>
              <a:buNone/>
            </a:pPr>
            <a:r>
              <a:rPr lang="ar-SA" altLang="en-US" sz="1600" dirty="0">
                <a:solidFill>
                  <a:srgbClr val="F6C342"/>
                </a:solidFill>
                <a:latin typeface="Sakkal Saad TN Trial Light"/>
                <a:cs typeface="Sakkal Saad TN Trial Light"/>
              </a:rPr>
              <a:t>الصيغة</a:t>
            </a:r>
            <a:endParaRPr lang="ar-SA" sz="1600" dirty="0"/>
          </a:p>
        </p:txBody>
      </p:sp>
      <p:sp>
        <p:nvSpPr>
          <p:cNvPr id="13" name="s52-text-11"/>
          <p:cNvSpPr txBox="1"/>
          <p:nvPr/>
        </p:nvSpPr>
        <p:spPr>
          <a:xfrm>
            <a:off x="787908" y="2551522"/>
            <a:ext cx="2907792" cy="70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5160"/>
              </a:lnSpc>
              <a:buNone/>
            </a:pPr>
            <a:r>
              <a:rPr lang="en-US" altLang="en-US" sz="4300" b="1" dirty="0">
                <a:solidFill>
                  <a:srgbClr val="FFFFFF"/>
                </a:solidFill>
                <a:latin typeface="Sakkal Saad TN Trial Light"/>
                <a:cs typeface="Sakkal Saad TN Trial Light"/>
              </a:rPr>
              <a:t>AIDA</a:t>
            </a:r>
            <a:endParaRPr lang="en-US" sz="4300" dirty="0"/>
          </a:p>
        </p:txBody>
      </p:sp>
      <p:sp>
        <p:nvSpPr>
          <p:cNvPr id="14" name="s52-shape-12"/>
          <p:cNvSpPr/>
          <p:nvPr/>
        </p:nvSpPr>
        <p:spPr>
          <a:xfrm>
            <a:off x="698500" y="3746500"/>
            <a:ext cx="3302000" cy="2476500"/>
          </a:xfrm>
          <a:prstGeom prst="roundRect">
            <a:avLst>
              <a:gd name="adj" fmla="val 10256"/>
            </a:avLst>
          </a:prstGeom>
          <a:solidFill>
            <a:srgbClr val="FFF7DE"/>
          </a:solidFill>
          <a:ln/>
        </p:spPr>
      </p:sp>
      <p:pic>
        <p:nvPicPr>
          <p:cNvPr id="15" name="s52-snap-13" descr="s52-snap-13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75000" y="3987800"/>
            <a:ext cx="558800" cy="558800"/>
          </a:xfrm>
          <a:prstGeom prst="rect">
            <a:avLst/>
          </a:prstGeom>
        </p:spPr>
      </p:pic>
      <p:sp>
        <p:nvSpPr>
          <p:cNvPr id="16" name="s52-text-14"/>
          <p:cNvSpPr txBox="1"/>
          <p:nvPr/>
        </p:nvSpPr>
        <p:spPr>
          <a:xfrm>
            <a:off x="2090737" y="4062171"/>
            <a:ext cx="1020763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240"/>
              </a:lnSpc>
              <a:buNone/>
            </a:pPr>
            <a:r>
              <a:rPr lang="ar-SA" altLang="en-US" sz="1600" dirty="0">
                <a:solidFill>
                  <a:srgbClr val="E9720C"/>
                </a:solidFill>
                <a:latin typeface="Sakkal Saad TN Trial Light"/>
                <a:cs typeface="Sakkal Saad TN Trial Light"/>
              </a:rPr>
              <a:t>الزاوية الإعلانية</a:t>
            </a:r>
            <a:endParaRPr lang="ar-SA" sz="1600" dirty="0"/>
          </a:p>
        </p:txBody>
      </p:sp>
      <p:sp>
        <p:nvSpPr>
          <p:cNvPr id="17" name="s52-text-15"/>
          <p:cNvSpPr txBox="1"/>
          <p:nvPr/>
        </p:nvSpPr>
        <p:spPr>
          <a:xfrm>
            <a:off x="787908" y="4566164"/>
            <a:ext cx="2907792" cy="4006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755"/>
              </a:lnSpc>
              <a:buNone/>
            </a:pPr>
            <a:r>
              <a:rPr lang="ar-SA" altLang="en-US" sz="1900" b="1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الراحة</a:t>
            </a:r>
            <a:endParaRPr lang="ar-SA" sz="1900" dirty="0"/>
          </a:p>
        </p:txBody>
      </p:sp>
      <p:sp>
        <p:nvSpPr>
          <p:cNvPr id="18" name="s52-text-16"/>
          <p:cNvSpPr txBox="1"/>
          <p:nvPr/>
        </p:nvSpPr>
        <p:spPr>
          <a:xfrm>
            <a:off x="787908" y="4916010"/>
            <a:ext cx="2907792" cy="4006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755"/>
              </a:lnSpc>
              <a:buNone/>
            </a:pPr>
            <a:r>
              <a:rPr lang="ar-SA" altLang="en-US" sz="1900" b="1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+ سهولة الاختيار</a:t>
            </a:r>
            <a:endParaRPr lang="ar-SA" sz="1900" dirty="0"/>
          </a:p>
        </p:txBody>
      </p:sp>
      <p:sp>
        <p:nvSpPr>
          <p:cNvPr id="19" name="s52-shape-17"/>
          <p:cNvSpPr/>
          <p:nvPr/>
        </p:nvSpPr>
        <p:spPr>
          <a:xfrm>
            <a:off x="10554990" y="1524000"/>
            <a:ext cx="938510" cy="349250"/>
          </a:xfrm>
          <a:prstGeom prst="roundRect">
            <a:avLst>
              <a:gd name="adj" fmla="val 50000"/>
            </a:avLst>
          </a:prstGeom>
          <a:solidFill>
            <a:srgbClr val="FF8D26"/>
          </a:solidFill>
          <a:ln/>
        </p:spPr>
      </p:sp>
      <p:sp>
        <p:nvSpPr>
          <p:cNvPr id="20" name="s52-text-18"/>
          <p:cNvSpPr txBox="1"/>
          <p:nvPr/>
        </p:nvSpPr>
        <p:spPr>
          <a:xfrm>
            <a:off x="10605790" y="1522222"/>
            <a:ext cx="735310" cy="298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950"/>
              </a:lnSpc>
              <a:buNone/>
            </a:pPr>
            <a:r>
              <a:rPr lang="ar-SA" altLang="en-US" sz="1500" b="1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المثال الأول</a:t>
            </a:r>
            <a:endParaRPr lang="ar-SA" sz="1500" dirty="0"/>
          </a:p>
        </p:txBody>
      </p:sp>
      <p:sp>
        <p:nvSpPr>
          <p:cNvPr id="21" name="s52-text-19"/>
          <p:cNvSpPr txBox="1"/>
          <p:nvPr/>
        </p:nvSpPr>
        <p:spPr>
          <a:xfrm>
            <a:off x="8486962" y="1403896"/>
            <a:ext cx="1941028" cy="459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3220"/>
              </a:lnSpc>
              <a:buNone/>
            </a:pPr>
            <a:r>
              <a:rPr lang="ar-SA" altLang="en-US" sz="2300" b="1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إعلان للعميل المنزلي</a:t>
            </a:r>
            <a:endParaRPr lang="ar-SA" sz="2300" dirty="0"/>
          </a:p>
        </p:txBody>
      </p:sp>
      <p:sp>
        <p:nvSpPr>
          <p:cNvPr id="22" name="s52-shape-20"/>
          <p:cNvSpPr/>
          <p:nvPr/>
        </p:nvSpPr>
        <p:spPr>
          <a:xfrm>
            <a:off x="4381500" y="2095500"/>
            <a:ext cx="7112000" cy="952500"/>
          </a:xfrm>
          <a:prstGeom prst="roundRect">
            <a:avLst>
              <a:gd name="adj" fmla="val 26667"/>
            </a:avLst>
          </a:prstGeom>
          <a:solidFill>
            <a:srgbClr val="F6C342"/>
          </a:solidFill>
          <a:ln/>
        </p:spPr>
      </p:sp>
      <p:sp>
        <p:nvSpPr>
          <p:cNvPr id="23" name="s52-text-21"/>
          <p:cNvSpPr txBox="1"/>
          <p:nvPr/>
        </p:nvSpPr>
        <p:spPr>
          <a:xfrm>
            <a:off x="7370842" y="2275661"/>
            <a:ext cx="3894058" cy="455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3190"/>
              </a:lnSpc>
              <a:buNone/>
            </a:pPr>
            <a:r>
              <a:rPr lang="ar-SA" altLang="en-US" sz="2200" b="1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تحتاج كاميرات لبيتك ومحتار من وين تبدأ؟</a:t>
            </a:r>
            <a:endParaRPr lang="ar-SA" sz="2200" dirty="0"/>
          </a:p>
        </p:txBody>
      </p:sp>
      <p:sp>
        <p:nvSpPr>
          <p:cNvPr id="24" name="s52-text-22"/>
          <p:cNvSpPr txBox="1"/>
          <p:nvPr/>
        </p:nvSpPr>
        <p:spPr>
          <a:xfrm>
            <a:off x="3812540" y="3123105"/>
            <a:ext cx="7680960" cy="3952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713"/>
              </a:lnSpc>
              <a:buNone/>
            </a:pPr>
            <a:r>
              <a:rPr lang="ar-SA" altLang="en-US" sz="17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بين نوع الكاميرا، جهاز التسجيل، التخزين، الكابلات والتركيب… ممكن يصبح الاختيار معقدًا.</a:t>
            </a:r>
            <a:endParaRPr lang="ar-SA" sz="1750" dirty="0"/>
          </a:p>
        </p:txBody>
      </p:sp>
      <p:sp>
        <p:nvSpPr>
          <p:cNvPr id="25" name="s52-shape-23"/>
          <p:cNvSpPr/>
          <p:nvPr/>
        </p:nvSpPr>
        <p:spPr>
          <a:xfrm>
            <a:off x="7988300" y="3665538"/>
            <a:ext cx="3505200" cy="1377950"/>
          </a:xfrm>
          <a:prstGeom prst="roundRect">
            <a:avLst>
              <a:gd name="adj" fmla="val 12903"/>
            </a:avLst>
          </a:prstGeom>
          <a:solidFill>
            <a:srgbClr val="EEF2EF"/>
          </a:solidFill>
          <a:ln/>
        </p:spPr>
      </p:sp>
      <p:pic>
        <p:nvPicPr>
          <p:cNvPr id="26" name="s52-snap-24" descr="s52-snap-24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83900" y="3767137"/>
            <a:ext cx="482600" cy="482600"/>
          </a:xfrm>
          <a:prstGeom prst="rect">
            <a:avLst/>
          </a:prstGeom>
        </p:spPr>
      </p:pic>
      <p:sp>
        <p:nvSpPr>
          <p:cNvPr id="27" name="s52-text-25"/>
          <p:cNvSpPr txBox="1"/>
          <p:nvPr/>
        </p:nvSpPr>
        <p:spPr>
          <a:xfrm>
            <a:off x="7899400" y="4198709"/>
            <a:ext cx="3429000" cy="679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475"/>
              </a:lnSpc>
              <a:buNone/>
            </a:pPr>
            <a:r>
              <a:rPr lang="ar-SA" altLang="en-US" sz="16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مع نظرة ثمانية نبدأ من احتياج المكان، ثم نساعدك في</a:t>
            </a:r>
            <a:endParaRPr lang="ar-SA" sz="1650" dirty="0"/>
          </a:p>
          <a:p>
            <a:pPr rtl="1" algn="r" indent="0" marL="0">
              <a:lnSpc>
                <a:spcPts val="2475"/>
              </a:lnSpc>
              <a:buNone/>
            </a:pPr>
            <a:r>
              <a:rPr lang="ar-SA" altLang="en-US" sz="16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تحديد المنتجات والخدمات المناسبة.</a:t>
            </a:r>
            <a:endParaRPr lang="ar-SA" sz="1650" dirty="0"/>
          </a:p>
        </p:txBody>
      </p:sp>
      <p:sp>
        <p:nvSpPr>
          <p:cNvPr id="28" name="s52-shape-26"/>
          <p:cNvSpPr/>
          <p:nvPr/>
        </p:nvSpPr>
        <p:spPr>
          <a:xfrm>
            <a:off x="4381500" y="3665538"/>
            <a:ext cx="3505200" cy="1377950"/>
          </a:xfrm>
          <a:prstGeom prst="roundRect">
            <a:avLst>
              <a:gd name="adj" fmla="val 12903"/>
            </a:avLst>
          </a:prstGeom>
          <a:solidFill>
            <a:srgbClr val="FFF1E3"/>
          </a:solidFill>
          <a:ln/>
        </p:spPr>
      </p:sp>
      <p:pic>
        <p:nvPicPr>
          <p:cNvPr id="29" name="s52-snap-27" descr="s52-snap-27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77100" y="3767137"/>
            <a:ext cx="482600" cy="482600"/>
          </a:xfrm>
          <a:prstGeom prst="rect">
            <a:avLst/>
          </a:prstGeom>
        </p:spPr>
      </p:pic>
      <p:sp>
        <p:nvSpPr>
          <p:cNvPr id="30" name="s52-text-28"/>
          <p:cNvSpPr txBox="1"/>
          <p:nvPr/>
        </p:nvSpPr>
        <p:spPr>
          <a:xfrm>
            <a:off x="4292600" y="4198709"/>
            <a:ext cx="3429000" cy="679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475"/>
              </a:lnSpc>
              <a:buNone/>
            </a:pPr>
            <a:r>
              <a:rPr lang="ar-SA" altLang="en-US" sz="16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بدل ما تجمع النظام قطعة قطعة، خذ حلًا متكاملًا</a:t>
            </a:r>
            <a:endParaRPr lang="ar-SA" sz="1650" dirty="0"/>
          </a:p>
          <a:p>
            <a:pPr rtl="1" algn="r" indent="0" marL="0">
              <a:lnSpc>
                <a:spcPts val="2475"/>
              </a:lnSpc>
              <a:buNone/>
            </a:pPr>
            <a:r>
              <a:rPr lang="ar-SA" altLang="en-US" sz="16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حسب احتياجك.</a:t>
            </a:r>
            <a:endParaRPr lang="ar-SA" sz="1650" dirty="0"/>
          </a:p>
        </p:txBody>
      </p:sp>
      <p:sp>
        <p:nvSpPr>
          <p:cNvPr id="31" name="s52-shape-29"/>
          <p:cNvSpPr/>
          <p:nvPr/>
        </p:nvSpPr>
        <p:spPr>
          <a:xfrm>
            <a:off x="4381500" y="5588000"/>
            <a:ext cx="7112000" cy="635000"/>
          </a:xfrm>
          <a:prstGeom prst="roundRect">
            <a:avLst>
              <a:gd name="adj" fmla="val 40000"/>
            </a:avLst>
          </a:prstGeom>
          <a:solidFill>
            <a:srgbClr val="FF8D26"/>
          </a:solidFill>
          <a:ln/>
        </p:spPr>
      </p:sp>
      <p:pic>
        <p:nvPicPr>
          <p:cNvPr id="32" name="s52-snap-30" descr="s52-snap-30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69600" y="5626100"/>
            <a:ext cx="558800" cy="558800"/>
          </a:xfrm>
          <a:prstGeom prst="rect">
            <a:avLst/>
          </a:prstGeom>
        </p:spPr>
      </p:pic>
      <p:sp>
        <p:nvSpPr>
          <p:cNvPr id="33" name="s52-text-31"/>
          <p:cNvSpPr txBox="1"/>
          <p:nvPr/>
        </p:nvSpPr>
        <p:spPr>
          <a:xfrm>
            <a:off x="7265519" y="5695733"/>
            <a:ext cx="3389781" cy="336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248"/>
              </a:lnSpc>
              <a:buNone/>
            </a:pPr>
            <a:r>
              <a:rPr lang="ar-SA" altLang="en-US" sz="15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أرسل لنا نوع المكان والمدينة عبر واتساب ونساعدك تبدأ.</a:t>
            </a:r>
            <a:endParaRPr lang="ar-SA" sz="15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3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4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75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75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75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5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5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750" fill="hold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750" fill="hold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75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75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75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75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75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75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75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75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75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75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75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75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75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75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53" presetClass="entr" presetSubtype="16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89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70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70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75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75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75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75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75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75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750" fill="hold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750" fill="hold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750" fill="hold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750" fill="hold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750" fill="hold" decel="10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750" fill="hold" decel="10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750" fill="hold" decel="100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750" fill="hold" decel="100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750" fill="hold" decel="100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750" fill="hold" decel="100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750" fill="hold" decel="100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750" fill="hold" decel="100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750" fill="hold" decel="100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750" fill="hold" decel="100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750" fill="hold" decel="1000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750" fill="hold" decel="1000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53" presetClass="entr" presetSubtype="16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27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5" dur="6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6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9" grpId="0" animBg="1"/>
      <p:bldP spid="20" grpId="0"/>
      <p:bldP spid="21" grpId="0"/>
      <p:bldP spid="10" grpId="0" animBg="1"/>
      <p:bldP spid="12" grpId="0"/>
      <p:bldP spid="22" grpId="0" animBg="1"/>
      <p:bldP spid="23" grpId="0"/>
      <p:bldP spid="14" grpId="0" animBg="1"/>
      <p:bldP spid="16" grpId="0"/>
      <p:bldP spid="13" grpId="0"/>
      <p:bldP spid="17" grpId="0"/>
      <p:bldP spid="24" grpId="0"/>
      <p:bldP spid="18" grpId="0"/>
      <p:bldP spid="25" grpId="0" animBg="1"/>
      <p:bldP spid="27" grpId="0"/>
      <p:bldP spid="28" grpId="0" animBg="1"/>
      <p:bldP spid="30" grpId="0"/>
      <p:bldP spid="31" grpId="0" animBg="1"/>
      <p:bldP spid="33" grpId="0"/>
    </p:bldLst>
  </p:timing>
</p:sld>
</file>

<file path=ppt/slides/slide53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lens"/>
          <p:cNvSpPr/>
          <p:nvPr/>
        </p:nvSpPr>
        <p:spPr>
          <a:xfrm>
            <a:off x="368300" y="127000"/>
            <a:ext cx="1206500" cy="1206500"/>
          </a:xfrm>
          <a:prstGeom prst="ellipse">
            <a:avLst/>
          </a:prstGeom>
          <a:solidFill>
            <a:srgbClr val="EEF2EF"/>
          </a:solidFill>
          <a:ln/>
        </p:spPr>
      </p:sp>
      <p:pic>
        <p:nvPicPr>
          <p:cNvPr id="3" name="!!mt" descr="شعار نظرة ثماني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-8100000">
            <a:off x="582910" y="562918"/>
            <a:ext cx="546100" cy="533400"/>
          </a:xfrm>
          <a:prstGeom prst="rect">
            <a:avLst/>
          </a:prstGeom>
        </p:spPr>
      </p:pic>
      <p:pic>
        <p:nvPicPr>
          <p:cNvPr id="4" name="!!mb" descr="شعار نظرة ثمانية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8100000">
            <a:off x="813346" y="370483"/>
            <a:ext cx="527050" cy="520700"/>
          </a:xfrm>
          <a:prstGeom prst="rect">
            <a:avLst/>
          </a:prstGeom>
        </p:spPr>
      </p:pic>
      <p:pic>
        <p:nvPicPr>
          <p:cNvPr id="5" name="!!ma" descr="شعار نظرة ثمانية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8100000">
            <a:off x="753368" y="792411"/>
            <a:ext cx="95250" cy="82550"/>
          </a:xfrm>
          <a:prstGeom prst="rect">
            <a:avLst/>
          </a:prstGeom>
        </p:spPr>
      </p:pic>
      <p:pic>
        <p:nvPicPr>
          <p:cNvPr id="6" name="!!hud" descr="!!hu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800" y="177800"/>
            <a:ext cx="11836400" cy="6502400"/>
          </a:xfrm>
          <a:prstGeom prst="rect">
            <a:avLst/>
          </a:prstGeom>
        </p:spPr>
      </p:pic>
      <p:sp>
        <p:nvSpPr>
          <p:cNvPr id="7" name="!!rec"/>
          <p:cNvSpPr/>
          <p:nvPr/>
        </p:nvSpPr>
        <p:spPr>
          <a:xfrm>
            <a:off x="635000" y="6337300"/>
            <a:ext cx="101600" cy="101600"/>
          </a:xfrm>
          <a:prstGeom prst="ellipse">
            <a:avLst/>
          </a:prstGeom>
          <a:solidFill>
            <a:srgbClr val="FF8D26"/>
          </a:solidFill>
          <a:ln/>
        </p:spPr>
      </p:sp>
      <p:sp>
        <p:nvSpPr>
          <p:cNvPr id="8" name="!!num"/>
          <p:cNvSpPr txBox="1"/>
          <p:nvPr/>
        </p:nvSpPr>
        <p:spPr>
          <a:xfrm>
            <a:off x="825500" y="6281750"/>
            <a:ext cx="68828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altLang="en-US" sz="1200" dirty="0">
                <a:solidFill>
                  <a:srgbClr val="5E6D7C"/>
                </a:solidFill>
                <a:latin typeface="Sakkal Saad TN Trial Light"/>
                <a:cs typeface="Sakkal Saad TN Trial Light"/>
              </a:rPr>
              <a:t>REC · 53</a:t>
            </a:r>
            <a:endParaRPr lang="en-US" sz="1200" dirty="0"/>
          </a:p>
        </p:txBody>
      </p:sp>
      <p:sp>
        <p:nvSpPr>
          <p:cNvPr id="9" name="!!kick"/>
          <p:cNvSpPr txBox="1"/>
          <p:nvPr/>
        </p:nvSpPr>
        <p:spPr>
          <a:xfrm>
            <a:off x="8371995" y="318834"/>
            <a:ext cx="3185005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ar-SA" altLang="en-US" sz="1500" b="1" dirty="0">
                <a:solidFill>
                  <a:srgbClr val="43644B"/>
                </a:solidFill>
                <a:latin typeface="Sakkal Saad TN Trial Light"/>
                <a:cs typeface="Sakkal Saad TN Trial Light"/>
              </a:rPr>
              <a:t>10</a:t>
            </a:r>
            <a:r>
              <a:rPr lang="ar-SA" altLang="en-US" sz="1500" dirty="0">
                <a:solidFill>
                  <a:srgbClr val="E9720C"/>
                </a:solidFill>
                <a:latin typeface="Sakkal Saad TN Trial Light"/>
                <a:cs typeface="Sakkal Saad TN Trial Light"/>
              </a:rPr>
              <a:t> صناعة المحتوى الإعلاني · ثالثًا : المحتوى الإعلاني</a:t>
            </a:r>
            <a:endParaRPr lang="ar-SA" sz="1500" dirty="0"/>
          </a:p>
        </p:txBody>
      </p:sp>
      <p:sp>
        <p:nvSpPr>
          <p:cNvPr id="10" name="s53-shape-8"/>
          <p:cNvSpPr/>
          <p:nvPr/>
        </p:nvSpPr>
        <p:spPr>
          <a:xfrm>
            <a:off x="698500" y="1714500"/>
            <a:ext cx="3302000" cy="1905000"/>
          </a:xfrm>
          <a:prstGeom prst="roundRect">
            <a:avLst>
              <a:gd name="adj" fmla="val 13333"/>
            </a:avLst>
          </a:prstGeom>
          <a:solidFill>
            <a:srgbClr val="43644B"/>
          </a:solidFill>
          <a:ln/>
        </p:spPr>
      </p:sp>
      <p:pic>
        <p:nvPicPr>
          <p:cNvPr id="11" name="s53-snap-9" descr="s53-snap-9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75000" y="1955800"/>
            <a:ext cx="558800" cy="558800"/>
          </a:xfrm>
          <a:prstGeom prst="rect">
            <a:avLst/>
          </a:prstGeom>
        </p:spPr>
      </p:pic>
      <p:sp>
        <p:nvSpPr>
          <p:cNvPr id="12" name="s53-text-10"/>
          <p:cNvSpPr txBox="1"/>
          <p:nvPr/>
        </p:nvSpPr>
        <p:spPr>
          <a:xfrm>
            <a:off x="2574925" y="2030171"/>
            <a:ext cx="536575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240"/>
              </a:lnSpc>
              <a:buNone/>
            </a:pPr>
            <a:r>
              <a:rPr lang="ar-SA" altLang="en-US" sz="1600" dirty="0">
                <a:solidFill>
                  <a:srgbClr val="F6C342"/>
                </a:solidFill>
                <a:latin typeface="Sakkal Saad TN Trial Light"/>
                <a:cs typeface="Sakkal Saad TN Trial Light"/>
              </a:rPr>
              <a:t>الصيغة</a:t>
            </a:r>
            <a:endParaRPr lang="ar-SA" sz="1600" dirty="0"/>
          </a:p>
        </p:txBody>
      </p:sp>
      <p:sp>
        <p:nvSpPr>
          <p:cNvPr id="13" name="s53-text-11"/>
          <p:cNvSpPr txBox="1"/>
          <p:nvPr/>
        </p:nvSpPr>
        <p:spPr>
          <a:xfrm>
            <a:off x="787908" y="2551522"/>
            <a:ext cx="2907792" cy="70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5160"/>
              </a:lnSpc>
              <a:buNone/>
            </a:pPr>
            <a:r>
              <a:rPr lang="en-US" altLang="en-US" sz="4300" b="1" dirty="0">
                <a:solidFill>
                  <a:srgbClr val="FFFFFF"/>
                </a:solidFill>
                <a:latin typeface="Sakkal Saad TN Trial Light"/>
                <a:cs typeface="Sakkal Saad TN Trial Light"/>
              </a:rPr>
              <a:t>4Ps</a:t>
            </a:r>
            <a:endParaRPr lang="en-US" sz="4300" dirty="0"/>
          </a:p>
        </p:txBody>
      </p:sp>
      <p:sp>
        <p:nvSpPr>
          <p:cNvPr id="14" name="s53-shape-12"/>
          <p:cNvSpPr/>
          <p:nvPr/>
        </p:nvSpPr>
        <p:spPr>
          <a:xfrm>
            <a:off x="698500" y="3746500"/>
            <a:ext cx="3302000" cy="2476500"/>
          </a:xfrm>
          <a:prstGeom prst="roundRect">
            <a:avLst>
              <a:gd name="adj" fmla="val 10256"/>
            </a:avLst>
          </a:prstGeom>
          <a:solidFill>
            <a:srgbClr val="FFF7DE"/>
          </a:solidFill>
          <a:ln/>
        </p:spPr>
      </p:sp>
      <p:pic>
        <p:nvPicPr>
          <p:cNvPr id="15" name="s53-snap-13" descr="s53-snap-13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75000" y="3987800"/>
            <a:ext cx="558800" cy="558800"/>
          </a:xfrm>
          <a:prstGeom prst="rect">
            <a:avLst/>
          </a:prstGeom>
        </p:spPr>
      </p:pic>
      <p:sp>
        <p:nvSpPr>
          <p:cNvPr id="16" name="s53-text-14"/>
          <p:cNvSpPr txBox="1"/>
          <p:nvPr/>
        </p:nvSpPr>
        <p:spPr>
          <a:xfrm>
            <a:off x="2090737" y="4062171"/>
            <a:ext cx="1020763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240"/>
              </a:lnSpc>
              <a:buNone/>
            </a:pPr>
            <a:r>
              <a:rPr lang="ar-SA" altLang="en-US" sz="1600" dirty="0">
                <a:solidFill>
                  <a:srgbClr val="E9720C"/>
                </a:solidFill>
                <a:latin typeface="Sakkal Saad TN Trial Light"/>
                <a:cs typeface="Sakkal Saad TN Trial Light"/>
              </a:rPr>
              <a:t>الزاوية الإعلانية</a:t>
            </a:r>
            <a:endParaRPr lang="ar-SA" sz="1600" dirty="0"/>
          </a:p>
        </p:txBody>
      </p:sp>
      <p:sp>
        <p:nvSpPr>
          <p:cNvPr id="17" name="s53-text-15"/>
          <p:cNvSpPr txBox="1"/>
          <p:nvPr/>
        </p:nvSpPr>
        <p:spPr>
          <a:xfrm>
            <a:off x="787908" y="4566164"/>
            <a:ext cx="2907792" cy="4006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755"/>
              </a:lnSpc>
              <a:buNone/>
            </a:pPr>
            <a:r>
              <a:rPr lang="ar-SA" altLang="en-US" sz="1900" b="1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الثقة</a:t>
            </a:r>
            <a:endParaRPr lang="ar-SA" sz="1900" dirty="0"/>
          </a:p>
        </p:txBody>
      </p:sp>
      <p:sp>
        <p:nvSpPr>
          <p:cNvPr id="18" name="s53-text-16"/>
          <p:cNvSpPr txBox="1"/>
          <p:nvPr/>
        </p:nvSpPr>
        <p:spPr>
          <a:xfrm>
            <a:off x="787908" y="4916010"/>
            <a:ext cx="2907792" cy="4006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755"/>
              </a:lnSpc>
              <a:buNone/>
            </a:pPr>
            <a:r>
              <a:rPr lang="ar-SA" altLang="en-US" sz="1900" b="1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+ الحل المتكامل</a:t>
            </a:r>
            <a:endParaRPr lang="ar-SA" sz="1900" dirty="0"/>
          </a:p>
        </p:txBody>
      </p:sp>
      <p:sp>
        <p:nvSpPr>
          <p:cNvPr id="19" name="s53-text-17"/>
          <p:cNvSpPr txBox="1"/>
          <p:nvPr/>
        </p:nvSpPr>
        <p:spPr>
          <a:xfrm>
            <a:off x="787908" y="5265855"/>
            <a:ext cx="2907792" cy="4006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755"/>
              </a:lnSpc>
              <a:buNone/>
            </a:pPr>
            <a:r>
              <a:rPr lang="ar-SA" altLang="en-US" sz="1900" b="1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+ كفاءة التنفيذ</a:t>
            </a:r>
            <a:endParaRPr lang="ar-SA" sz="1900" dirty="0"/>
          </a:p>
        </p:txBody>
      </p:sp>
      <p:sp>
        <p:nvSpPr>
          <p:cNvPr id="20" name="s53-shape-18"/>
          <p:cNvSpPr/>
          <p:nvPr/>
        </p:nvSpPr>
        <p:spPr>
          <a:xfrm>
            <a:off x="10563622" y="1524000"/>
            <a:ext cx="929878" cy="349250"/>
          </a:xfrm>
          <a:prstGeom prst="roundRect">
            <a:avLst>
              <a:gd name="adj" fmla="val 50000"/>
            </a:avLst>
          </a:prstGeom>
          <a:solidFill>
            <a:srgbClr val="FF8D26"/>
          </a:solidFill>
          <a:ln/>
        </p:spPr>
      </p:sp>
      <p:sp>
        <p:nvSpPr>
          <p:cNvPr id="21" name="s53-text-19"/>
          <p:cNvSpPr txBox="1"/>
          <p:nvPr/>
        </p:nvSpPr>
        <p:spPr>
          <a:xfrm>
            <a:off x="10614422" y="1522222"/>
            <a:ext cx="726678" cy="298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950"/>
              </a:lnSpc>
              <a:buNone/>
            </a:pPr>
            <a:r>
              <a:rPr lang="ar-SA" altLang="en-US" sz="1500" b="1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المثال الثاني</a:t>
            </a:r>
            <a:endParaRPr lang="ar-SA" sz="1500" dirty="0"/>
          </a:p>
        </p:txBody>
      </p:sp>
      <p:sp>
        <p:nvSpPr>
          <p:cNvPr id="22" name="s53-text-20"/>
          <p:cNvSpPr txBox="1"/>
          <p:nvPr/>
        </p:nvSpPr>
        <p:spPr>
          <a:xfrm>
            <a:off x="8085185" y="1403896"/>
            <a:ext cx="2351437" cy="459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3220"/>
              </a:lnSpc>
              <a:buNone/>
            </a:pPr>
            <a:r>
              <a:rPr lang="ar-SA" altLang="en-US" sz="2300" b="1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إعلان للشركات والمنشآت</a:t>
            </a:r>
            <a:endParaRPr lang="ar-SA" sz="2300" dirty="0"/>
          </a:p>
        </p:txBody>
      </p:sp>
      <p:sp>
        <p:nvSpPr>
          <p:cNvPr id="23" name="s53-shape-21"/>
          <p:cNvSpPr/>
          <p:nvPr/>
        </p:nvSpPr>
        <p:spPr>
          <a:xfrm>
            <a:off x="4381500" y="2095500"/>
            <a:ext cx="7112000" cy="952500"/>
          </a:xfrm>
          <a:prstGeom prst="roundRect">
            <a:avLst>
              <a:gd name="adj" fmla="val 26667"/>
            </a:avLst>
          </a:prstGeom>
          <a:solidFill>
            <a:srgbClr val="F6C342"/>
          </a:solidFill>
          <a:ln/>
        </p:spPr>
      </p:sp>
      <p:sp>
        <p:nvSpPr>
          <p:cNvPr id="24" name="s53-text-22"/>
          <p:cNvSpPr txBox="1"/>
          <p:nvPr/>
        </p:nvSpPr>
        <p:spPr>
          <a:xfrm>
            <a:off x="4793413" y="2275661"/>
            <a:ext cx="6471487" cy="455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3190"/>
              </a:lnSpc>
              <a:buNone/>
            </a:pPr>
            <a:r>
              <a:rPr lang="ar-SA" altLang="en-US" sz="2200" b="1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عندك شركة أو مستودع وتحتاج نظام مراقبة؟ لا تبدأ بعدد الكاميرات فقط.</a:t>
            </a:r>
            <a:endParaRPr lang="ar-SA" sz="2200" dirty="0"/>
          </a:p>
        </p:txBody>
      </p:sp>
      <p:sp>
        <p:nvSpPr>
          <p:cNvPr id="25" name="s53-text-23"/>
          <p:cNvSpPr txBox="1"/>
          <p:nvPr/>
        </p:nvSpPr>
        <p:spPr>
          <a:xfrm>
            <a:off x="3812540" y="3129737"/>
            <a:ext cx="7680960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550"/>
              </a:lnSpc>
              <a:buNone/>
            </a:pPr>
            <a:r>
              <a:rPr lang="ar-SA" altLang="en-US" sz="1700" b="1" dirty="0">
                <a:solidFill>
                  <a:srgbClr val="43644B"/>
                </a:solidFill>
                <a:latin typeface="Sakkal Saad TN Trial Light"/>
                <a:cs typeface="Sakkal Saad TN Trial Light"/>
              </a:rPr>
              <a:t>الحل المناسب يعتمد على أكثر من العدد:</a:t>
            </a:r>
            <a:endParaRPr lang="ar-SA" sz="1700" dirty="0"/>
          </a:p>
        </p:txBody>
      </p:sp>
      <p:sp>
        <p:nvSpPr>
          <p:cNvPr id="26" name="s53-shape-24"/>
          <p:cNvSpPr/>
          <p:nvPr/>
        </p:nvSpPr>
        <p:spPr>
          <a:xfrm>
            <a:off x="10025162" y="3632200"/>
            <a:ext cx="1468338" cy="431800"/>
          </a:xfrm>
          <a:prstGeom prst="roundRect">
            <a:avLst>
              <a:gd name="adj" fmla="val 32353"/>
            </a:avLst>
          </a:prstGeom>
          <a:solidFill>
            <a:srgbClr val="EEF2EF"/>
          </a:solidFill>
          <a:ln/>
        </p:spPr>
      </p:sp>
      <p:pic>
        <p:nvPicPr>
          <p:cNvPr id="27" name="s53-snap-25" descr="s53-snap-25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98200" y="3644900"/>
            <a:ext cx="406400" cy="406400"/>
          </a:xfrm>
          <a:prstGeom prst="rect">
            <a:avLst/>
          </a:prstGeom>
        </p:spPr>
      </p:pic>
      <p:sp>
        <p:nvSpPr>
          <p:cNvPr id="28" name="s53-text-26"/>
          <p:cNvSpPr txBox="1"/>
          <p:nvPr/>
        </p:nvSpPr>
        <p:spPr>
          <a:xfrm>
            <a:off x="10085189" y="3664825"/>
            <a:ext cx="874911" cy="306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015"/>
              </a:lnSpc>
              <a:buNone/>
            </a:pPr>
            <a:r>
              <a:rPr lang="ar-SA" altLang="en-US" sz="15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مساحة الموقع</a:t>
            </a:r>
            <a:endParaRPr lang="ar-SA" sz="1550" dirty="0"/>
          </a:p>
        </p:txBody>
      </p:sp>
      <p:sp>
        <p:nvSpPr>
          <p:cNvPr id="29" name="s53-shape-27"/>
          <p:cNvSpPr/>
          <p:nvPr/>
        </p:nvSpPr>
        <p:spPr>
          <a:xfrm>
            <a:off x="8138716" y="3632200"/>
            <a:ext cx="1797546" cy="431800"/>
          </a:xfrm>
          <a:prstGeom prst="roundRect">
            <a:avLst>
              <a:gd name="adj" fmla="val 32353"/>
            </a:avLst>
          </a:prstGeom>
          <a:solidFill>
            <a:srgbClr val="EEF2EF"/>
          </a:solidFill>
          <a:ln/>
        </p:spPr>
      </p:sp>
      <p:pic>
        <p:nvPicPr>
          <p:cNvPr id="30" name="s53-snap-28" descr="s53-snap-28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40962" y="3644900"/>
            <a:ext cx="406400" cy="406400"/>
          </a:xfrm>
          <a:prstGeom prst="rect">
            <a:avLst/>
          </a:prstGeom>
        </p:spPr>
      </p:pic>
      <p:sp>
        <p:nvSpPr>
          <p:cNvPr id="31" name="s53-text-29"/>
          <p:cNvSpPr txBox="1"/>
          <p:nvPr/>
        </p:nvSpPr>
        <p:spPr>
          <a:xfrm>
            <a:off x="8581430" y="3664825"/>
            <a:ext cx="821432" cy="306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015"/>
              </a:lnSpc>
              <a:buNone/>
            </a:pPr>
            <a:r>
              <a:rPr lang="ar-SA" altLang="en-US" sz="15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نقاط المراقبة</a:t>
            </a:r>
            <a:endParaRPr lang="ar-SA" sz="1550" dirty="0"/>
          </a:p>
        </p:txBody>
      </p:sp>
      <p:sp>
        <p:nvSpPr>
          <p:cNvPr id="32" name="s53-shape-30"/>
          <p:cNvSpPr/>
          <p:nvPr/>
        </p:nvSpPr>
        <p:spPr>
          <a:xfrm>
            <a:off x="5865416" y="3632200"/>
            <a:ext cx="2184400" cy="431800"/>
          </a:xfrm>
          <a:prstGeom prst="roundRect">
            <a:avLst>
              <a:gd name="adj" fmla="val 32353"/>
            </a:avLst>
          </a:prstGeom>
          <a:solidFill>
            <a:srgbClr val="EEF2EF"/>
          </a:solidFill>
          <a:ln/>
        </p:spPr>
      </p:sp>
      <p:pic>
        <p:nvPicPr>
          <p:cNvPr id="33" name="s53-snap-31" descr="s53-snap-31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54516" y="3644900"/>
            <a:ext cx="406400" cy="406400"/>
          </a:xfrm>
          <a:prstGeom prst="rect">
            <a:avLst/>
          </a:prstGeom>
        </p:spPr>
      </p:pic>
      <p:sp>
        <p:nvSpPr>
          <p:cNvPr id="34" name="s53-text-32"/>
          <p:cNvSpPr txBox="1"/>
          <p:nvPr/>
        </p:nvSpPr>
        <p:spPr>
          <a:xfrm>
            <a:off x="5815632" y="3664825"/>
            <a:ext cx="1700784" cy="306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015"/>
              </a:lnSpc>
              <a:buNone/>
            </a:pPr>
            <a:r>
              <a:rPr lang="ar-SA" altLang="en-US" sz="15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المناطق الداخلية والخارجية</a:t>
            </a:r>
            <a:endParaRPr lang="ar-SA" sz="1550" dirty="0"/>
          </a:p>
        </p:txBody>
      </p:sp>
      <p:sp>
        <p:nvSpPr>
          <p:cNvPr id="35" name="s53-shape-33"/>
          <p:cNvSpPr/>
          <p:nvPr/>
        </p:nvSpPr>
        <p:spPr>
          <a:xfrm>
            <a:off x="10025162" y="4140200"/>
            <a:ext cx="1468338" cy="431800"/>
          </a:xfrm>
          <a:prstGeom prst="roundRect">
            <a:avLst>
              <a:gd name="adj" fmla="val 32353"/>
            </a:avLst>
          </a:prstGeom>
          <a:solidFill>
            <a:srgbClr val="EEF2EF"/>
          </a:solidFill>
          <a:ln/>
        </p:spPr>
      </p:sp>
      <p:pic>
        <p:nvPicPr>
          <p:cNvPr id="36" name="s53-snap-34" descr="s53-snap-34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98200" y="4152900"/>
            <a:ext cx="406400" cy="406400"/>
          </a:xfrm>
          <a:prstGeom prst="rect">
            <a:avLst/>
          </a:prstGeom>
        </p:spPr>
      </p:pic>
      <p:sp>
        <p:nvSpPr>
          <p:cNvPr id="37" name="s53-text-35"/>
          <p:cNvSpPr txBox="1"/>
          <p:nvPr/>
        </p:nvSpPr>
        <p:spPr>
          <a:xfrm>
            <a:off x="9999762" y="4172825"/>
            <a:ext cx="960338" cy="306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015"/>
              </a:lnSpc>
              <a:buNone/>
            </a:pPr>
            <a:r>
              <a:rPr lang="ar-SA" altLang="en-US" sz="15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الشبكة الحالية</a:t>
            </a:r>
            <a:endParaRPr lang="ar-SA" sz="1550" dirty="0"/>
          </a:p>
        </p:txBody>
      </p:sp>
      <p:sp>
        <p:nvSpPr>
          <p:cNvPr id="38" name="s53-shape-36"/>
          <p:cNvSpPr/>
          <p:nvPr/>
        </p:nvSpPr>
        <p:spPr>
          <a:xfrm>
            <a:off x="8138716" y="4140200"/>
            <a:ext cx="1797546" cy="431800"/>
          </a:xfrm>
          <a:prstGeom prst="roundRect">
            <a:avLst>
              <a:gd name="adj" fmla="val 32353"/>
            </a:avLst>
          </a:prstGeom>
          <a:solidFill>
            <a:srgbClr val="EEF2EF"/>
          </a:solidFill>
          <a:ln/>
        </p:spPr>
      </p:sp>
      <p:pic>
        <p:nvPicPr>
          <p:cNvPr id="39" name="s53-snap-37" descr="s53-snap-37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440962" y="4152900"/>
            <a:ext cx="406400" cy="406400"/>
          </a:xfrm>
          <a:prstGeom prst="rect">
            <a:avLst/>
          </a:prstGeom>
        </p:spPr>
      </p:pic>
      <p:sp>
        <p:nvSpPr>
          <p:cNvPr id="40" name="s53-text-38"/>
          <p:cNvSpPr txBox="1"/>
          <p:nvPr/>
        </p:nvSpPr>
        <p:spPr>
          <a:xfrm>
            <a:off x="8113316" y="4172825"/>
            <a:ext cx="1289546" cy="306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015"/>
              </a:lnSpc>
              <a:buNone/>
            </a:pPr>
            <a:r>
              <a:rPr lang="ar-SA" altLang="en-US" sz="15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مدة التخزين المطلوبة</a:t>
            </a:r>
            <a:endParaRPr lang="ar-SA" sz="1550" dirty="0"/>
          </a:p>
        </p:txBody>
      </p:sp>
      <p:sp>
        <p:nvSpPr>
          <p:cNvPr id="41" name="s53-shape-39"/>
          <p:cNvSpPr/>
          <p:nvPr/>
        </p:nvSpPr>
        <p:spPr>
          <a:xfrm>
            <a:off x="5865416" y="4140200"/>
            <a:ext cx="2184400" cy="431800"/>
          </a:xfrm>
          <a:prstGeom prst="roundRect">
            <a:avLst>
              <a:gd name="adj" fmla="val 32353"/>
            </a:avLst>
          </a:prstGeom>
          <a:solidFill>
            <a:srgbClr val="EEF2EF"/>
          </a:solidFill>
          <a:ln/>
        </p:spPr>
      </p:sp>
      <p:pic>
        <p:nvPicPr>
          <p:cNvPr id="42" name="s53-snap-40" descr="s53-snap-40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554516" y="4152900"/>
            <a:ext cx="406400" cy="406400"/>
          </a:xfrm>
          <a:prstGeom prst="rect">
            <a:avLst/>
          </a:prstGeom>
        </p:spPr>
      </p:pic>
      <p:sp>
        <p:nvSpPr>
          <p:cNvPr id="43" name="s53-text-41"/>
          <p:cNvSpPr txBox="1"/>
          <p:nvPr/>
        </p:nvSpPr>
        <p:spPr>
          <a:xfrm>
            <a:off x="5843599" y="4172825"/>
            <a:ext cx="1672816" cy="306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015"/>
              </a:lnSpc>
              <a:buNone/>
            </a:pPr>
            <a:r>
              <a:rPr lang="ar-SA" altLang="en-US" sz="15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احتياجات التوسع مستقبلًا</a:t>
            </a:r>
            <a:endParaRPr lang="ar-SA" sz="1550" dirty="0"/>
          </a:p>
        </p:txBody>
      </p:sp>
      <p:sp>
        <p:nvSpPr>
          <p:cNvPr id="44" name="s53-text-42"/>
          <p:cNvSpPr txBox="1"/>
          <p:nvPr/>
        </p:nvSpPr>
        <p:spPr>
          <a:xfrm>
            <a:off x="3812540" y="4635271"/>
            <a:ext cx="7680960" cy="365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475"/>
              </a:lnSpc>
              <a:buNone/>
            </a:pPr>
            <a:r>
              <a:rPr lang="ar-SA" altLang="en-US" sz="16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في نظرة ثمانية نساعدك في بناء الحل حسب احتياج المنشأة بدل اختيار الأجهزة بشكل منفصل.</a:t>
            </a:r>
            <a:endParaRPr lang="ar-SA" sz="1650" dirty="0"/>
          </a:p>
        </p:txBody>
      </p:sp>
      <p:sp>
        <p:nvSpPr>
          <p:cNvPr id="45" name="s53-shape-43"/>
          <p:cNvSpPr/>
          <p:nvPr/>
        </p:nvSpPr>
        <p:spPr>
          <a:xfrm>
            <a:off x="4381500" y="5588000"/>
            <a:ext cx="7112000" cy="635000"/>
          </a:xfrm>
          <a:prstGeom prst="roundRect">
            <a:avLst>
              <a:gd name="adj" fmla="val 40000"/>
            </a:avLst>
          </a:prstGeom>
          <a:solidFill>
            <a:srgbClr val="FF8D26"/>
          </a:solidFill>
          <a:ln/>
        </p:spPr>
      </p:sp>
      <p:pic>
        <p:nvPicPr>
          <p:cNvPr id="46" name="s53-snap-44" descr="s53-snap-44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769600" y="5626100"/>
            <a:ext cx="558800" cy="558800"/>
          </a:xfrm>
          <a:prstGeom prst="rect">
            <a:avLst/>
          </a:prstGeom>
        </p:spPr>
      </p:pic>
      <p:sp>
        <p:nvSpPr>
          <p:cNvPr id="47" name="s53-text-45"/>
          <p:cNvSpPr txBox="1"/>
          <p:nvPr/>
        </p:nvSpPr>
        <p:spPr>
          <a:xfrm>
            <a:off x="7112071" y="5695733"/>
            <a:ext cx="3543229" cy="336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248"/>
              </a:lnSpc>
              <a:buNone/>
            </a:pPr>
            <a:r>
              <a:rPr lang="ar-SA" altLang="en-US" sz="15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أرسل بيانات الموقع واطلب عرض سعر مناسب لمشروعك.</a:t>
            </a:r>
            <a:endParaRPr lang="ar-SA" sz="15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3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4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75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75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75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5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5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750" fill="hold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750" fill="hold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75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75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75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75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75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75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75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75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75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75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75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75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75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75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53" presetClass="entr" presetSubtype="16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89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70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70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75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75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750" fill="hold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750" fill="hold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75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75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5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27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6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6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5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27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6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6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5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27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6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6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75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75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53" presetClass="entr" presetSubtype="16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27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6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6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53" presetClass="entr" presetSubtype="16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27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6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6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53" presetClass="entr" presetSubtype="16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27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6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6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53" presetClass="entr" presetSubtype="16" fill="hold" grpId="0" nodeType="withEffect">
                                  <p:stCondLst>
                                    <p:cond delay="76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27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6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6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53" presetClass="entr" presetSubtype="16" fill="hold" grpId="0" nodeType="withEffect">
                                  <p:stCondLst>
                                    <p:cond delay="76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27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5" dur="6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6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53" presetClass="entr" presetSubtype="16" fill="hold" grpId="0" nodeType="withEffect">
                                  <p:stCondLst>
                                    <p:cond delay="76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27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0" dur="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53" presetClass="entr" presetSubtype="16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27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5" dur="6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6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53" presetClass="entr" presetSubtype="16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27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0" dur="6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6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53" presetClass="entr" presetSubtype="16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27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5" dur="6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6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27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0" dur="6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6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27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5" dur="6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6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27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0" dur="6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6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2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27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5" dur="6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6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7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27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0" dur="6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6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2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27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5" dur="6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6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7" presetID="42" presetClass="entr" presetSubtype="0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6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0" dur="750" fill="hold" decel="1000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1" dur="750" fill="hold" decel="1000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2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6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5" dur="750" fill="hold" decel="1000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750" fill="hold" decel="1000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7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6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0" dur="750" fill="hold" decel="1000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1" dur="750" fill="hold" decel="1000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2" presetID="53" presetClass="entr" presetSubtype="16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27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5" dur="6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6" dur="6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20" grpId="0" animBg="1"/>
      <p:bldP spid="21" grpId="0"/>
      <p:bldP spid="22" grpId="0"/>
      <p:bldP spid="10" grpId="0" animBg="1"/>
      <p:bldP spid="12" grpId="0"/>
      <p:bldP spid="23" grpId="0" animBg="1"/>
      <p:bldP spid="24" grpId="0"/>
      <p:bldP spid="14" grpId="0" animBg="1"/>
      <p:bldP spid="16" grpId="0"/>
      <p:bldP spid="13" grpId="0"/>
      <p:bldP spid="17" grpId="0"/>
      <p:bldP spid="25" grpId="0"/>
      <p:bldP spid="18" grpId="0"/>
      <p:bldP spid="26" grpId="0" animBg="1"/>
      <p:bldP spid="28" grpId="0"/>
      <p:bldP spid="19" grpId="0"/>
      <p:bldP spid="29" grpId="0" animBg="1"/>
      <p:bldP spid="31" grpId="0"/>
      <p:bldP spid="32" grpId="0" animBg="1"/>
      <p:bldP spid="34" grpId="0"/>
      <p:bldP spid="35" grpId="0" animBg="1"/>
      <p:bldP spid="37" grpId="0"/>
      <p:bldP spid="38" grpId="0" animBg="1"/>
      <p:bldP spid="40" grpId="0"/>
      <p:bldP spid="41" grpId="0" animBg="1"/>
      <p:bldP spid="43" grpId="0"/>
      <p:bldP spid="44" grpId="0"/>
      <p:bldP spid="45" grpId="0" animBg="1"/>
      <p:bldP spid="47" grpId="0"/>
    </p:bldLst>
  </p:timing>
</p:sld>
</file>

<file path=ppt/slides/slide54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lens"/>
          <p:cNvSpPr/>
          <p:nvPr/>
        </p:nvSpPr>
        <p:spPr>
          <a:xfrm>
            <a:off x="368300" y="127000"/>
            <a:ext cx="1206500" cy="1206500"/>
          </a:xfrm>
          <a:prstGeom prst="ellipse">
            <a:avLst/>
          </a:prstGeom>
          <a:solidFill>
            <a:srgbClr val="EEF2EF"/>
          </a:solidFill>
          <a:ln/>
        </p:spPr>
      </p:sp>
      <p:pic>
        <p:nvPicPr>
          <p:cNvPr id="3" name="!!mt" descr="شعار نظرة ثماني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-5400000">
            <a:off x="543520" y="459333"/>
            <a:ext cx="546100" cy="533400"/>
          </a:xfrm>
          <a:prstGeom prst="rect">
            <a:avLst/>
          </a:prstGeom>
        </p:spPr>
      </p:pic>
      <p:pic>
        <p:nvPicPr>
          <p:cNvPr id="4" name="!!mb" descr="شعار نظرة ثمانية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5400000">
            <a:off x="850156" y="480913"/>
            <a:ext cx="527050" cy="520700"/>
          </a:xfrm>
          <a:prstGeom prst="rect">
            <a:avLst/>
          </a:prstGeom>
        </p:spPr>
      </p:pic>
      <p:pic>
        <p:nvPicPr>
          <p:cNvPr id="5" name="!!ma" descr="شعار نظرة ثمانية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5400000">
            <a:off x="727373" y="648940"/>
            <a:ext cx="95250" cy="82550"/>
          </a:xfrm>
          <a:prstGeom prst="rect">
            <a:avLst/>
          </a:prstGeom>
        </p:spPr>
      </p:pic>
      <p:pic>
        <p:nvPicPr>
          <p:cNvPr id="6" name="!!hud" descr="!!hu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800" y="177800"/>
            <a:ext cx="11836400" cy="6502400"/>
          </a:xfrm>
          <a:prstGeom prst="rect">
            <a:avLst/>
          </a:prstGeom>
        </p:spPr>
      </p:pic>
      <p:sp>
        <p:nvSpPr>
          <p:cNvPr id="7" name="!!rec"/>
          <p:cNvSpPr/>
          <p:nvPr/>
        </p:nvSpPr>
        <p:spPr>
          <a:xfrm>
            <a:off x="635000" y="6337300"/>
            <a:ext cx="101600" cy="101600"/>
          </a:xfrm>
          <a:prstGeom prst="ellipse">
            <a:avLst/>
          </a:prstGeom>
          <a:solidFill>
            <a:srgbClr val="FF8D26"/>
          </a:solidFill>
          <a:ln/>
        </p:spPr>
      </p:sp>
      <p:sp>
        <p:nvSpPr>
          <p:cNvPr id="8" name="!!num"/>
          <p:cNvSpPr txBox="1"/>
          <p:nvPr/>
        </p:nvSpPr>
        <p:spPr>
          <a:xfrm>
            <a:off x="825500" y="6281750"/>
            <a:ext cx="698302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altLang="en-US" sz="1200" dirty="0">
                <a:solidFill>
                  <a:srgbClr val="5E6D7C"/>
                </a:solidFill>
                <a:latin typeface="Sakkal Saad TN Trial Light"/>
                <a:cs typeface="Sakkal Saad TN Trial Light"/>
              </a:rPr>
              <a:t>REC · 54</a:t>
            </a:r>
            <a:endParaRPr lang="en-US" sz="1200" dirty="0"/>
          </a:p>
        </p:txBody>
      </p:sp>
      <p:sp>
        <p:nvSpPr>
          <p:cNvPr id="9" name="!!kick"/>
          <p:cNvSpPr txBox="1"/>
          <p:nvPr/>
        </p:nvSpPr>
        <p:spPr>
          <a:xfrm>
            <a:off x="8843375" y="318834"/>
            <a:ext cx="2713625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ar-SA" altLang="en-US" sz="1500" dirty="0">
                <a:solidFill>
                  <a:srgbClr val="E9720C"/>
                </a:solidFill>
                <a:latin typeface="Sakkal Saad TN Trial Light"/>
                <a:cs typeface="Sakkal Saad TN Trial Light"/>
              </a:rPr>
              <a:t>شخصية العميل المستهدف Buyer Persona</a:t>
            </a:r>
            <a:endParaRPr lang="ar-SA" sz="1500" dirty="0"/>
          </a:p>
        </p:txBody>
      </p:sp>
      <p:sp>
        <p:nvSpPr>
          <p:cNvPr id="10" name="s54-text-8"/>
          <p:cNvSpPr txBox="1"/>
          <p:nvPr/>
        </p:nvSpPr>
        <p:spPr>
          <a:xfrm>
            <a:off x="6540373" y="695134"/>
            <a:ext cx="5016627" cy="702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5130"/>
              </a:lnSpc>
              <a:buNone/>
            </a:pPr>
            <a:r>
              <a:rPr lang="ar-SA" altLang="en-US" sz="3800" b="1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الشخصية الأولى : صاحب منزل</a:t>
            </a:r>
            <a:endParaRPr lang="ar-SA" sz="3800" dirty="0"/>
          </a:p>
        </p:txBody>
      </p:sp>
      <p:pic>
        <p:nvPicPr>
          <p:cNvPr id="11" name="s54-snap-9" descr="s54-snap-9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400" y="1803400"/>
            <a:ext cx="3632200" cy="4457700"/>
          </a:xfrm>
          <a:prstGeom prst="rect">
            <a:avLst/>
          </a:prstGeom>
        </p:spPr>
      </p:pic>
      <p:pic>
        <p:nvPicPr>
          <p:cNvPr id="12" name="s54-snap-10" descr="s54-snap-10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84500" y="2057400"/>
            <a:ext cx="1028700" cy="1028700"/>
          </a:xfrm>
          <a:prstGeom prst="rect">
            <a:avLst/>
          </a:prstGeom>
        </p:spPr>
      </p:pic>
      <p:sp>
        <p:nvSpPr>
          <p:cNvPr id="13" name="s54-text-11"/>
          <p:cNvSpPr txBox="1"/>
          <p:nvPr/>
        </p:nvSpPr>
        <p:spPr>
          <a:xfrm>
            <a:off x="2014835" y="2069095"/>
            <a:ext cx="842665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960"/>
              </a:lnSpc>
              <a:buNone/>
            </a:pPr>
            <a:r>
              <a:rPr lang="ar-SA" altLang="en-US" sz="1400" dirty="0">
                <a:solidFill>
                  <a:srgbClr val="D0D8D2"/>
                </a:solidFill>
                <a:latin typeface="Sakkal Saad TN Trial Light"/>
                <a:cs typeface="Sakkal Saad TN Trial Light"/>
              </a:rPr>
              <a:t>الاسم</a:t>
            </a:r>
            <a:endParaRPr lang="ar-SA" sz="1400" dirty="0"/>
          </a:p>
        </p:txBody>
      </p:sp>
      <p:sp>
        <p:nvSpPr>
          <p:cNvPr id="14" name="s54-text-12"/>
          <p:cNvSpPr txBox="1"/>
          <p:nvPr/>
        </p:nvSpPr>
        <p:spPr>
          <a:xfrm>
            <a:off x="2014835" y="2236989"/>
            <a:ext cx="842665" cy="690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5040"/>
              </a:lnSpc>
              <a:buNone/>
            </a:pPr>
            <a:r>
              <a:rPr lang="ar-SA" altLang="en-US" sz="4200" b="1" dirty="0">
                <a:solidFill>
                  <a:srgbClr val="FFFFFF"/>
                </a:solidFill>
                <a:latin typeface="Sakkal Saad TN Trial Light"/>
                <a:cs typeface="Sakkal Saad TN Trial Light"/>
              </a:rPr>
              <a:t>خالد</a:t>
            </a:r>
            <a:endParaRPr lang="ar-SA" sz="4200" dirty="0"/>
          </a:p>
        </p:txBody>
      </p:sp>
      <p:sp>
        <p:nvSpPr>
          <p:cNvPr id="15" name="s54-text-13"/>
          <p:cNvSpPr txBox="1"/>
          <p:nvPr/>
        </p:nvSpPr>
        <p:spPr>
          <a:xfrm>
            <a:off x="3581003" y="3214675"/>
            <a:ext cx="394097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960"/>
              </a:lnSpc>
              <a:buNone/>
            </a:pPr>
            <a:r>
              <a:rPr lang="ar-SA" altLang="en-US" sz="1400" dirty="0">
                <a:solidFill>
                  <a:srgbClr val="D0D8D2"/>
                </a:solidFill>
                <a:latin typeface="Sakkal Saad TN Trial Light"/>
                <a:cs typeface="Sakkal Saad TN Trial Light"/>
              </a:rPr>
              <a:t>العمر</a:t>
            </a:r>
            <a:endParaRPr lang="ar-SA" sz="1400" dirty="0"/>
          </a:p>
        </p:txBody>
      </p:sp>
      <p:sp>
        <p:nvSpPr>
          <p:cNvPr id="16" name="s54-text-14"/>
          <p:cNvSpPr txBox="1"/>
          <p:nvPr/>
        </p:nvSpPr>
        <p:spPr>
          <a:xfrm>
            <a:off x="977900" y="3214561"/>
            <a:ext cx="775791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l" indent="0" marL="0">
              <a:lnSpc>
                <a:spcPts val="2100"/>
              </a:lnSpc>
              <a:buNone/>
            </a:pPr>
            <a:r>
              <a:rPr lang="ar-SA" altLang="en-US" sz="1500" dirty="0">
                <a:solidFill>
                  <a:srgbClr val="FFFFFF"/>
                </a:solidFill>
                <a:latin typeface="Sakkal Saad TN Trial Light"/>
                <a:cs typeface="Sakkal Saad TN Trial Light"/>
              </a:rPr>
              <a:t>30–45 سنة</a:t>
            </a:r>
            <a:endParaRPr lang="ar-SA" sz="1500" dirty="0"/>
          </a:p>
        </p:txBody>
      </p:sp>
      <p:sp>
        <p:nvSpPr>
          <p:cNvPr id="17" name="s54-text-15"/>
          <p:cNvSpPr txBox="1"/>
          <p:nvPr/>
        </p:nvSpPr>
        <p:spPr>
          <a:xfrm>
            <a:off x="3595688" y="3640125"/>
            <a:ext cx="379413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960"/>
              </a:lnSpc>
              <a:buNone/>
            </a:pPr>
            <a:r>
              <a:rPr lang="ar-SA" altLang="en-US" sz="1400" dirty="0">
                <a:solidFill>
                  <a:srgbClr val="D0D8D2"/>
                </a:solidFill>
                <a:latin typeface="Sakkal Saad TN Trial Light"/>
                <a:cs typeface="Sakkal Saad TN Trial Light"/>
              </a:rPr>
              <a:t>الموقع</a:t>
            </a:r>
            <a:endParaRPr lang="ar-SA" sz="1400" dirty="0"/>
          </a:p>
        </p:txBody>
      </p:sp>
      <p:sp>
        <p:nvSpPr>
          <p:cNvPr id="18" name="s54-text-16"/>
          <p:cNvSpPr txBox="1"/>
          <p:nvPr/>
        </p:nvSpPr>
        <p:spPr>
          <a:xfrm>
            <a:off x="977900" y="3640011"/>
            <a:ext cx="642838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l" indent="0" marL="0">
              <a:lnSpc>
                <a:spcPts val="2100"/>
              </a:lnSpc>
              <a:buNone/>
            </a:pPr>
            <a:r>
              <a:rPr lang="ar-SA" altLang="en-US" sz="1500" dirty="0">
                <a:solidFill>
                  <a:srgbClr val="FFFFFF"/>
                </a:solidFill>
                <a:latin typeface="Sakkal Saad TN Trial Light"/>
                <a:cs typeface="Sakkal Saad TN Trial Light"/>
              </a:rPr>
              <a:t>السعودية</a:t>
            </a:r>
            <a:endParaRPr lang="ar-SA" sz="1500" dirty="0"/>
          </a:p>
        </p:txBody>
      </p:sp>
      <p:sp>
        <p:nvSpPr>
          <p:cNvPr id="19" name="s54-text-17"/>
          <p:cNvSpPr txBox="1"/>
          <p:nvPr/>
        </p:nvSpPr>
        <p:spPr>
          <a:xfrm>
            <a:off x="3613051" y="4065575"/>
            <a:ext cx="362049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960"/>
              </a:lnSpc>
              <a:buNone/>
            </a:pPr>
            <a:r>
              <a:rPr lang="ar-SA" altLang="en-US" sz="1400" dirty="0">
                <a:solidFill>
                  <a:srgbClr val="D0D8D2"/>
                </a:solidFill>
                <a:latin typeface="Sakkal Saad TN Trial Light"/>
                <a:cs typeface="Sakkal Saad TN Trial Light"/>
              </a:rPr>
              <a:t>الفئة</a:t>
            </a:r>
            <a:endParaRPr lang="ar-SA" sz="1400" dirty="0"/>
          </a:p>
        </p:txBody>
      </p:sp>
      <p:sp>
        <p:nvSpPr>
          <p:cNvPr id="20" name="s54-text-18"/>
          <p:cNvSpPr txBox="1"/>
          <p:nvPr/>
        </p:nvSpPr>
        <p:spPr>
          <a:xfrm>
            <a:off x="977900" y="4065461"/>
            <a:ext cx="1224062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l" indent="0" marL="0">
              <a:lnSpc>
                <a:spcPts val="2100"/>
              </a:lnSpc>
              <a:buNone/>
            </a:pPr>
            <a:r>
              <a:rPr lang="ar-SA" altLang="en-US" sz="1500" dirty="0">
                <a:solidFill>
                  <a:srgbClr val="FFFFFF"/>
                </a:solidFill>
                <a:latin typeface="Sakkal Saad TN Trial Light"/>
                <a:cs typeface="Sakkal Saad TN Trial Light"/>
              </a:rPr>
              <a:t>صاحب منزل أو فيلا</a:t>
            </a:r>
            <a:endParaRPr lang="ar-SA" sz="1500" dirty="0"/>
          </a:p>
        </p:txBody>
      </p:sp>
      <p:sp>
        <p:nvSpPr>
          <p:cNvPr id="21" name="s54-shape-19"/>
          <p:cNvSpPr/>
          <p:nvPr/>
        </p:nvSpPr>
        <p:spPr>
          <a:xfrm>
            <a:off x="8064500" y="1841500"/>
            <a:ext cx="3429000" cy="438150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0" dist="76200" dir="5400000">
              <a:srgbClr val="1E2A36">
                <a:alpha val="10000"/>
              </a:srgbClr>
            </a:outerShdw>
          </a:effectLst>
        </p:spPr>
      </p:sp>
      <p:pic>
        <p:nvPicPr>
          <p:cNvPr id="22" name="s54-snap-20" descr="s54-snap-20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91800" y="2082800"/>
            <a:ext cx="635000" cy="635000"/>
          </a:xfrm>
          <a:prstGeom prst="rect">
            <a:avLst/>
          </a:prstGeom>
        </p:spPr>
      </p:pic>
      <p:sp>
        <p:nvSpPr>
          <p:cNvPr id="23" name="s54-text-21"/>
          <p:cNvSpPr txBox="1"/>
          <p:nvPr/>
        </p:nvSpPr>
        <p:spPr>
          <a:xfrm>
            <a:off x="9637316" y="2154555"/>
            <a:ext cx="852884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700"/>
              </a:lnSpc>
              <a:buNone/>
            </a:pPr>
            <a:r>
              <a:rPr lang="ar-SA" altLang="en-US" sz="2000" b="1" dirty="0">
                <a:solidFill>
                  <a:srgbClr val="E9720C"/>
                </a:solidFill>
                <a:latin typeface="Sakkal Saad TN Trial Light"/>
                <a:cs typeface="Sakkal Saad TN Trial Light"/>
              </a:rPr>
              <a:t>احتياجاته</a:t>
            </a:r>
            <a:endParaRPr lang="ar-SA" sz="2000" dirty="0"/>
          </a:p>
        </p:txBody>
      </p:sp>
      <p:sp>
        <p:nvSpPr>
          <p:cNvPr id="24" name="s54-shape-22"/>
          <p:cNvSpPr/>
          <p:nvPr/>
        </p:nvSpPr>
        <p:spPr>
          <a:xfrm>
            <a:off x="11099800" y="2971800"/>
            <a:ext cx="88900" cy="88900"/>
          </a:xfrm>
          <a:prstGeom prst="ellipse">
            <a:avLst/>
          </a:prstGeom>
          <a:solidFill>
            <a:srgbClr val="FF8D26"/>
          </a:solidFill>
          <a:ln/>
        </p:spPr>
      </p:sp>
      <p:sp>
        <p:nvSpPr>
          <p:cNvPr id="25" name="s54-text-23"/>
          <p:cNvSpPr txBox="1"/>
          <p:nvPr/>
        </p:nvSpPr>
        <p:spPr>
          <a:xfrm>
            <a:off x="9493829" y="2781071"/>
            <a:ext cx="1478971" cy="365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475"/>
              </a:lnSpc>
              <a:buNone/>
            </a:pPr>
            <a:r>
              <a:rPr lang="ar-SA" altLang="en-US" sz="16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مراقبة المنزل والمداخل.</a:t>
            </a:r>
            <a:endParaRPr lang="ar-SA" sz="1650" dirty="0"/>
          </a:p>
        </p:txBody>
      </p:sp>
      <p:sp>
        <p:nvSpPr>
          <p:cNvPr id="26" name="s54-shape-24"/>
          <p:cNvSpPr/>
          <p:nvPr/>
        </p:nvSpPr>
        <p:spPr>
          <a:xfrm>
            <a:off x="11099800" y="3387725"/>
            <a:ext cx="88900" cy="88900"/>
          </a:xfrm>
          <a:prstGeom prst="ellipse">
            <a:avLst/>
          </a:prstGeom>
          <a:solidFill>
            <a:srgbClr val="FF8D26"/>
          </a:solidFill>
          <a:ln/>
        </p:spPr>
      </p:sp>
      <p:sp>
        <p:nvSpPr>
          <p:cNvPr id="27" name="s54-text-25"/>
          <p:cNvSpPr txBox="1"/>
          <p:nvPr/>
        </p:nvSpPr>
        <p:spPr>
          <a:xfrm>
            <a:off x="8664976" y="3196996"/>
            <a:ext cx="2307824" cy="365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475"/>
              </a:lnSpc>
              <a:buNone/>
            </a:pPr>
            <a:r>
              <a:rPr lang="ar-SA" altLang="en-US" sz="16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الاطمئنان أثناء وجوده خارج المنزل.</a:t>
            </a:r>
            <a:endParaRPr lang="ar-SA" sz="1650" dirty="0"/>
          </a:p>
        </p:txBody>
      </p:sp>
      <p:sp>
        <p:nvSpPr>
          <p:cNvPr id="28" name="s54-shape-26"/>
          <p:cNvSpPr/>
          <p:nvPr/>
        </p:nvSpPr>
        <p:spPr>
          <a:xfrm>
            <a:off x="11099800" y="3803650"/>
            <a:ext cx="88900" cy="88900"/>
          </a:xfrm>
          <a:prstGeom prst="ellipse">
            <a:avLst/>
          </a:prstGeom>
          <a:solidFill>
            <a:srgbClr val="FF8D26"/>
          </a:solidFill>
          <a:ln/>
        </p:spPr>
      </p:sp>
      <p:sp>
        <p:nvSpPr>
          <p:cNvPr id="29" name="s54-text-27"/>
          <p:cNvSpPr txBox="1"/>
          <p:nvPr/>
        </p:nvSpPr>
        <p:spPr>
          <a:xfrm>
            <a:off x="8934581" y="3612921"/>
            <a:ext cx="2038219" cy="365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475"/>
              </a:lnSpc>
              <a:buNone/>
            </a:pPr>
            <a:r>
              <a:rPr lang="ar-SA" altLang="en-US" sz="16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مشاهدة الكاميرات من الجوال.</a:t>
            </a:r>
            <a:endParaRPr lang="ar-SA" sz="1650" dirty="0"/>
          </a:p>
        </p:txBody>
      </p:sp>
      <p:sp>
        <p:nvSpPr>
          <p:cNvPr id="30" name="s54-shape-28"/>
          <p:cNvSpPr/>
          <p:nvPr/>
        </p:nvSpPr>
        <p:spPr>
          <a:xfrm>
            <a:off x="11099800" y="4219575"/>
            <a:ext cx="88900" cy="88900"/>
          </a:xfrm>
          <a:prstGeom prst="ellipse">
            <a:avLst/>
          </a:prstGeom>
          <a:solidFill>
            <a:srgbClr val="FF8D26"/>
          </a:solidFill>
          <a:ln/>
        </p:spPr>
      </p:sp>
      <p:sp>
        <p:nvSpPr>
          <p:cNvPr id="31" name="s54-text-29"/>
          <p:cNvSpPr txBox="1"/>
          <p:nvPr/>
        </p:nvSpPr>
        <p:spPr>
          <a:xfrm>
            <a:off x="9737824" y="4028846"/>
            <a:ext cx="1234976" cy="365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475"/>
              </a:lnSpc>
              <a:buNone/>
            </a:pPr>
            <a:r>
              <a:rPr lang="ar-SA" altLang="en-US" sz="16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سهولة الاستخدام.</a:t>
            </a:r>
            <a:endParaRPr lang="ar-SA" sz="1650" dirty="0"/>
          </a:p>
        </p:txBody>
      </p:sp>
      <p:sp>
        <p:nvSpPr>
          <p:cNvPr id="32" name="s54-shape-30"/>
          <p:cNvSpPr/>
          <p:nvPr/>
        </p:nvSpPr>
        <p:spPr>
          <a:xfrm>
            <a:off x="11099800" y="4635500"/>
            <a:ext cx="88900" cy="88900"/>
          </a:xfrm>
          <a:prstGeom prst="ellipse">
            <a:avLst/>
          </a:prstGeom>
          <a:solidFill>
            <a:srgbClr val="FF8D26"/>
          </a:solidFill>
          <a:ln/>
        </p:spPr>
      </p:sp>
      <p:sp>
        <p:nvSpPr>
          <p:cNvPr id="33" name="s54-text-31"/>
          <p:cNvSpPr txBox="1"/>
          <p:nvPr/>
        </p:nvSpPr>
        <p:spPr>
          <a:xfrm>
            <a:off x="8726055" y="4444771"/>
            <a:ext cx="2246745" cy="365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475"/>
              </a:lnSpc>
              <a:buNone/>
            </a:pPr>
            <a:r>
              <a:rPr lang="ar-SA" altLang="en-US" sz="16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جهة تساعده في التركيب والبرمجة.</a:t>
            </a:r>
            <a:endParaRPr lang="ar-SA" sz="1650" dirty="0"/>
          </a:p>
        </p:txBody>
      </p:sp>
      <p:sp>
        <p:nvSpPr>
          <p:cNvPr id="34" name="s54-shape-32"/>
          <p:cNvSpPr/>
          <p:nvPr/>
        </p:nvSpPr>
        <p:spPr>
          <a:xfrm>
            <a:off x="4445000" y="1841500"/>
            <a:ext cx="3429000" cy="4381500"/>
          </a:xfrm>
          <a:prstGeom prst="roundRect">
            <a:avLst>
              <a:gd name="adj" fmla="val 7407"/>
            </a:avLst>
          </a:prstGeom>
          <a:solidFill>
            <a:srgbClr val="FFF1E3"/>
          </a:solidFill>
          <a:ln/>
        </p:spPr>
      </p:sp>
      <p:pic>
        <p:nvPicPr>
          <p:cNvPr id="35" name="s54-snap-33" descr="s54-snap-33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72300" y="2082800"/>
            <a:ext cx="635000" cy="635000"/>
          </a:xfrm>
          <a:prstGeom prst="rect">
            <a:avLst/>
          </a:prstGeom>
        </p:spPr>
      </p:pic>
      <p:sp>
        <p:nvSpPr>
          <p:cNvPr id="36" name="s54-text-34"/>
          <p:cNvSpPr txBox="1"/>
          <p:nvPr/>
        </p:nvSpPr>
        <p:spPr>
          <a:xfrm>
            <a:off x="6124972" y="2154555"/>
            <a:ext cx="745728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700"/>
              </a:lnSpc>
              <a:buNone/>
            </a:pPr>
            <a:r>
              <a:rPr lang="ar-SA" altLang="en-US" sz="2000" b="1" dirty="0">
                <a:solidFill>
                  <a:srgbClr val="E9720C"/>
                </a:solidFill>
                <a:latin typeface="Sakkal Saad TN Trial Light"/>
                <a:cs typeface="Sakkal Saad TN Trial Light"/>
              </a:rPr>
              <a:t>مشكلاته</a:t>
            </a:r>
            <a:endParaRPr lang="ar-SA" sz="2000" dirty="0"/>
          </a:p>
        </p:txBody>
      </p:sp>
      <p:sp>
        <p:nvSpPr>
          <p:cNvPr id="37" name="s54-shape-35"/>
          <p:cNvSpPr/>
          <p:nvPr/>
        </p:nvSpPr>
        <p:spPr>
          <a:xfrm>
            <a:off x="7480300" y="2971800"/>
            <a:ext cx="88900" cy="88900"/>
          </a:xfrm>
          <a:prstGeom prst="ellipse">
            <a:avLst/>
          </a:prstGeom>
          <a:solidFill>
            <a:srgbClr val="FF8D26"/>
          </a:solidFill>
          <a:ln/>
        </p:spPr>
      </p:sp>
      <p:sp>
        <p:nvSpPr>
          <p:cNvPr id="38" name="s54-text-36"/>
          <p:cNvSpPr txBox="1"/>
          <p:nvPr/>
        </p:nvSpPr>
        <p:spPr>
          <a:xfrm>
            <a:off x="5170849" y="2781071"/>
            <a:ext cx="2182451" cy="365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475"/>
              </a:lnSpc>
              <a:buNone/>
            </a:pPr>
            <a:r>
              <a:rPr lang="ar-SA" altLang="en-US" sz="16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لا يعرف الفرق بين أنواع الأنظمة.</a:t>
            </a:r>
            <a:endParaRPr lang="ar-SA" sz="1650" dirty="0"/>
          </a:p>
        </p:txBody>
      </p:sp>
      <p:sp>
        <p:nvSpPr>
          <p:cNvPr id="39" name="s54-shape-37"/>
          <p:cNvSpPr/>
          <p:nvPr/>
        </p:nvSpPr>
        <p:spPr>
          <a:xfrm>
            <a:off x="7480300" y="3387725"/>
            <a:ext cx="88900" cy="88900"/>
          </a:xfrm>
          <a:prstGeom prst="ellipse">
            <a:avLst/>
          </a:prstGeom>
          <a:solidFill>
            <a:srgbClr val="FF8D26"/>
          </a:solidFill>
          <a:ln/>
        </p:spPr>
      </p:sp>
      <p:sp>
        <p:nvSpPr>
          <p:cNvPr id="40" name="s54-text-38"/>
          <p:cNvSpPr txBox="1"/>
          <p:nvPr/>
        </p:nvSpPr>
        <p:spPr>
          <a:xfrm>
            <a:off x="4879705" y="3196996"/>
            <a:ext cx="2473595" cy="365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475"/>
              </a:lnSpc>
              <a:buNone/>
            </a:pPr>
            <a:r>
              <a:rPr lang="ar-SA" altLang="en-US" sz="16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لا يعرف العدد المناسب من الكاميرات.</a:t>
            </a:r>
            <a:endParaRPr lang="ar-SA" sz="1650" dirty="0"/>
          </a:p>
        </p:txBody>
      </p:sp>
      <p:sp>
        <p:nvSpPr>
          <p:cNvPr id="41" name="s54-shape-39"/>
          <p:cNvSpPr/>
          <p:nvPr/>
        </p:nvSpPr>
        <p:spPr>
          <a:xfrm>
            <a:off x="7480300" y="3803650"/>
            <a:ext cx="88900" cy="88900"/>
          </a:xfrm>
          <a:prstGeom prst="ellipse">
            <a:avLst/>
          </a:prstGeom>
          <a:solidFill>
            <a:srgbClr val="FF8D26"/>
          </a:solidFill>
          <a:ln/>
        </p:spPr>
      </p:sp>
      <p:sp>
        <p:nvSpPr>
          <p:cNvPr id="42" name="s54-text-40"/>
          <p:cNvSpPr txBox="1"/>
          <p:nvPr/>
        </p:nvSpPr>
        <p:spPr>
          <a:xfrm>
            <a:off x="5144488" y="3612921"/>
            <a:ext cx="2208812" cy="365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475"/>
              </a:lnSpc>
              <a:buNone/>
            </a:pPr>
            <a:r>
              <a:rPr lang="ar-SA" altLang="en-US" sz="16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يخاف من شراء نظام غير مناسب.</a:t>
            </a:r>
            <a:endParaRPr lang="ar-SA" sz="1650" dirty="0"/>
          </a:p>
        </p:txBody>
      </p:sp>
      <p:sp>
        <p:nvSpPr>
          <p:cNvPr id="43" name="s54-shape-41"/>
          <p:cNvSpPr/>
          <p:nvPr/>
        </p:nvSpPr>
        <p:spPr>
          <a:xfrm>
            <a:off x="7480300" y="4219575"/>
            <a:ext cx="88900" cy="88900"/>
          </a:xfrm>
          <a:prstGeom prst="ellipse">
            <a:avLst/>
          </a:prstGeom>
          <a:solidFill>
            <a:srgbClr val="FF8D26"/>
          </a:solidFill>
          <a:ln/>
        </p:spPr>
      </p:sp>
      <p:sp>
        <p:nvSpPr>
          <p:cNvPr id="44" name="s54-text-42"/>
          <p:cNvSpPr txBox="1"/>
          <p:nvPr/>
        </p:nvSpPr>
        <p:spPr>
          <a:xfrm>
            <a:off x="5609011" y="4028846"/>
            <a:ext cx="1744289" cy="365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475"/>
              </a:lnSpc>
              <a:buNone/>
            </a:pPr>
            <a:r>
              <a:rPr lang="ar-SA" altLang="en-US" sz="16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يقارن الأسعار بين المتاجر.</a:t>
            </a:r>
            <a:endParaRPr lang="ar-SA" sz="1650" dirty="0"/>
          </a:p>
        </p:txBody>
      </p:sp>
      <p:sp>
        <p:nvSpPr>
          <p:cNvPr id="45" name="s54-shape-43"/>
          <p:cNvSpPr/>
          <p:nvPr/>
        </p:nvSpPr>
        <p:spPr>
          <a:xfrm>
            <a:off x="7480300" y="4635500"/>
            <a:ext cx="88900" cy="88900"/>
          </a:xfrm>
          <a:prstGeom prst="ellipse">
            <a:avLst/>
          </a:prstGeom>
          <a:solidFill>
            <a:srgbClr val="FF8D26"/>
          </a:solidFill>
          <a:ln/>
        </p:spPr>
      </p:sp>
      <p:sp>
        <p:nvSpPr>
          <p:cNvPr id="46" name="s54-text-44"/>
          <p:cNvSpPr txBox="1"/>
          <p:nvPr/>
        </p:nvSpPr>
        <p:spPr>
          <a:xfrm>
            <a:off x="4541520" y="4444771"/>
            <a:ext cx="2811780" cy="679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475"/>
              </a:lnSpc>
              <a:buNone/>
            </a:pPr>
            <a:r>
              <a:rPr lang="ar-SA" altLang="en-US" sz="16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يريد معرفة ما الذي يحصل عليه مقابل</a:t>
            </a:r>
            <a:endParaRPr lang="ar-SA" sz="1650" dirty="0"/>
          </a:p>
          <a:p>
            <a:pPr rtl="1" algn="r" indent="0" marL="0">
              <a:lnSpc>
                <a:spcPts val="2475"/>
              </a:lnSpc>
              <a:buNone/>
            </a:pPr>
            <a:r>
              <a:rPr lang="ar-SA" altLang="en-US" sz="16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المبلغ المدفوع.</a:t>
            </a:r>
            <a:endParaRPr lang="ar-SA" sz="16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3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4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0" dur="489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75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75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75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5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75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75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75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75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75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75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75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75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75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7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75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75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75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75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75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75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53" presetClass="entr" presetSubtype="16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27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6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6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750" fill="hold" decel="100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750" fill="hold" decel="100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75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75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750" fill="hold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750" fill="hold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750" fill="hold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750" fill="hold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750" fill="hold" decel="10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750" fill="hold" decel="10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6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750" fill="hold" decel="100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750" fill="hold" decel="100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42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750" fill="hold" decel="100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750" fill="hold" decel="100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42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750" fill="hold" decel="100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750" fill="hold" decel="100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27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9" dur="6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6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42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750" fill="hold" decel="100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750" fill="hold" decel="100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42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9" dur="750" fill="hold" decel="100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750" fill="hold" decel="100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42" presetClass="entr" presetSubtype="0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6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4" dur="750" fill="hold" decel="100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750" fill="hold" decel="100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42" presetClass="entr" presetSubtype="0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6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9" dur="750" fill="hold" decel="100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750" fill="hold" decel="100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4" dur="750" fill="hold" decel="100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750" fill="hold" decel="100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6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9" dur="750" fill="hold" decel="1000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750" fill="hold" decel="1000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1" presetID="42" presetClass="entr" presetSubtype="0" fill="hold" grpId="0" nodeType="withEffect">
                                  <p:stCondLst>
                                    <p:cond delay="103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6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4" dur="750" fill="hold" decel="100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750" fill="hold" decel="100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6" presetID="42" presetClass="entr" presetSubtype="0" fill="hold" grpId="0" nodeType="withEffect">
                                  <p:stCondLst>
                                    <p:cond delay="103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6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9" dur="750" fill="hold" decel="100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750" fill="hold" decel="100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1" presetID="42" presetClass="entr" presetSubtype="0" fill="hold" grpId="0" nodeType="withEffect">
                                  <p:stCondLst>
                                    <p:cond delay="111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6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4" dur="750" fill="hold" decel="1000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750" fill="hold" decel="1000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6" presetID="42" presetClass="entr" presetSubtype="0" fill="hold" grpId="0" nodeType="withEffect">
                                  <p:stCondLst>
                                    <p:cond delay="111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6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9" dur="750" fill="hold" decel="1000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750" fill="hold" decel="1000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1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6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4" dur="750" fill="hold" decel="1000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750" fill="hold" decel="1000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6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6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9" dur="750" fill="hold" decel="1000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0" dur="750" fill="hold" decel="1000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1" presetID="42" presetClass="entr" presetSubtype="0" fill="hold" grpId="0" nodeType="withEffect">
                                  <p:stCondLst>
                                    <p:cond delay="127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6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4" dur="750" fill="hold" decel="1000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5" dur="750" fill="hold" decel="1000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6" presetID="42" presetClass="entr" presetSubtype="0" fill="hold" grpId="0" nodeType="withEffect">
                                  <p:stCondLst>
                                    <p:cond delay="127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6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9" dur="750" fill="hold" decel="1000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750" fill="hold" decel="1000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/>
      <p:bldP spid="13" grpId="0"/>
      <p:bldP spid="15" grpId="0"/>
      <p:bldP spid="16" grpId="0"/>
      <p:bldP spid="17" grpId="0"/>
      <p:bldP spid="18" grpId="0"/>
      <p:bldP spid="19" grpId="0"/>
      <p:bldP spid="20" grpId="0"/>
      <p:bldP spid="21" grpId="0" animBg="1"/>
      <p:bldP spid="14" grpId="0"/>
      <p:bldP spid="23" grpId="0"/>
      <p:bldP spid="34" grpId="0" animBg="1"/>
      <p:bldP spid="24" grpId="0" animBg="1"/>
      <p:bldP spid="25" grpId="0"/>
      <p:bldP spid="26" grpId="0" animBg="1"/>
      <p:bldP spid="27" grpId="0"/>
      <p:bldP spid="36" grpId="0"/>
      <p:bldP spid="28" grpId="0" animBg="1"/>
      <p:bldP spid="29" grpId="0"/>
      <p:bldP spid="30" grpId="0" animBg="1"/>
      <p:bldP spid="31" grpId="0"/>
      <p:bldP spid="37" grpId="0" animBg="1"/>
      <p:bldP spid="38" grpId="0"/>
      <p:bldP spid="32" grpId="0" animBg="1"/>
      <p:bldP spid="33" grpId="0"/>
      <p:bldP spid="39" grpId="0" animBg="1"/>
      <p:bldP spid="40" grpId="0"/>
      <p:bldP spid="41" grpId="0" animBg="1"/>
      <p:bldP spid="42" grpId="0"/>
      <p:bldP spid="43" grpId="0" animBg="1"/>
      <p:bldP spid="44" grpId="0"/>
      <p:bldP spid="45" grpId="0" animBg="1"/>
      <p:bldP spid="46" grpId="0"/>
    </p:bldLst>
  </p:timing>
</p:sld>
</file>

<file path=ppt/slides/slide55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lens"/>
          <p:cNvSpPr/>
          <p:nvPr/>
        </p:nvSpPr>
        <p:spPr>
          <a:xfrm>
            <a:off x="368300" y="127000"/>
            <a:ext cx="1206500" cy="1206500"/>
          </a:xfrm>
          <a:prstGeom prst="ellipse">
            <a:avLst/>
          </a:prstGeom>
          <a:solidFill>
            <a:srgbClr val="EEF2EF"/>
          </a:solidFill>
          <a:ln/>
        </p:spPr>
      </p:sp>
      <p:pic>
        <p:nvPicPr>
          <p:cNvPr id="3" name="!!mt" descr="شعار نظرة ثماني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-2700000">
            <a:off x="589260" y="357733"/>
            <a:ext cx="546100" cy="533400"/>
          </a:xfrm>
          <a:prstGeom prst="rect">
            <a:avLst/>
          </a:prstGeom>
        </p:spPr>
      </p:pic>
      <p:pic>
        <p:nvPicPr>
          <p:cNvPr id="4" name="!!mb" descr="شعار نظرة ثمانية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2700000">
            <a:off x="798165" y="585093"/>
            <a:ext cx="527050" cy="520700"/>
          </a:xfrm>
          <a:prstGeom prst="rect">
            <a:avLst/>
          </a:prstGeom>
        </p:spPr>
      </p:pic>
      <p:pic>
        <p:nvPicPr>
          <p:cNvPr id="5" name="!!ma" descr="شعار نظرة ثمانية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2700000">
            <a:off x="810518" y="528290"/>
            <a:ext cx="95250" cy="82550"/>
          </a:xfrm>
          <a:prstGeom prst="rect">
            <a:avLst/>
          </a:prstGeom>
        </p:spPr>
      </p:pic>
      <p:pic>
        <p:nvPicPr>
          <p:cNvPr id="6" name="!!hud" descr="!!hu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800" y="177800"/>
            <a:ext cx="11836400" cy="6502400"/>
          </a:xfrm>
          <a:prstGeom prst="rect">
            <a:avLst/>
          </a:prstGeom>
        </p:spPr>
      </p:pic>
      <p:sp>
        <p:nvSpPr>
          <p:cNvPr id="7" name="!!rec"/>
          <p:cNvSpPr/>
          <p:nvPr/>
        </p:nvSpPr>
        <p:spPr>
          <a:xfrm>
            <a:off x="635000" y="6337300"/>
            <a:ext cx="101600" cy="101600"/>
          </a:xfrm>
          <a:prstGeom prst="ellipse">
            <a:avLst/>
          </a:prstGeom>
          <a:solidFill>
            <a:srgbClr val="FF8D26"/>
          </a:solidFill>
          <a:ln/>
        </p:spPr>
      </p:sp>
      <p:sp>
        <p:nvSpPr>
          <p:cNvPr id="8" name="!!num"/>
          <p:cNvSpPr txBox="1"/>
          <p:nvPr/>
        </p:nvSpPr>
        <p:spPr>
          <a:xfrm>
            <a:off x="825500" y="6281750"/>
            <a:ext cx="689173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altLang="en-US" sz="1200" dirty="0">
                <a:solidFill>
                  <a:srgbClr val="5E6D7C"/>
                </a:solidFill>
                <a:latin typeface="Sakkal Saad TN Trial Light"/>
                <a:cs typeface="Sakkal Saad TN Trial Light"/>
              </a:rPr>
              <a:t>REC · 55</a:t>
            </a:r>
            <a:endParaRPr lang="en-US" sz="1200" dirty="0"/>
          </a:p>
        </p:txBody>
      </p:sp>
      <p:sp>
        <p:nvSpPr>
          <p:cNvPr id="9" name="!!kick"/>
          <p:cNvSpPr txBox="1"/>
          <p:nvPr/>
        </p:nvSpPr>
        <p:spPr>
          <a:xfrm>
            <a:off x="8843375" y="318834"/>
            <a:ext cx="2713625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ar-SA" altLang="en-US" sz="1500" dirty="0">
                <a:solidFill>
                  <a:srgbClr val="E9720C"/>
                </a:solidFill>
                <a:latin typeface="Sakkal Saad TN Trial Light"/>
                <a:cs typeface="Sakkal Saad TN Trial Light"/>
              </a:rPr>
              <a:t>شخصية العميل المستهدف Buyer Persona</a:t>
            </a:r>
            <a:endParaRPr lang="ar-SA" sz="1500" dirty="0"/>
          </a:p>
        </p:txBody>
      </p:sp>
      <p:sp>
        <p:nvSpPr>
          <p:cNvPr id="10" name="s55-text-8"/>
          <p:cNvSpPr txBox="1"/>
          <p:nvPr/>
        </p:nvSpPr>
        <p:spPr>
          <a:xfrm>
            <a:off x="6540373" y="695134"/>
            <a:ext cx="5016627" cy="702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5130"/>
              </a:lnSpc>
              <a:buNone/>
            </a:pPr>
            <a:r>
              <a:rPr lang="ar-SA" altLang="en-US" sz="3800" b="1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الشخصية الأولى : صاحب منزل</a:t>
            </a:r>
            <a:endParaRPr lang="ar-SA" sz="3800" dirty="0"/>
          </a:p>
        </p:txBody>
      </p:sp>
      <p:sp>
        <p:nvSpPr>
          <p:cNvPr id="11" name="s55-shape-9"/>
          <p:cNvSpPr/>
          <p:nvPr/>
        </p:nvSpPr>
        <p:spPr>
          <a:xfrm>
            <a:off x="6032500" y="1841500"/>
            <a:ext cx="5461000" cy="2095500"/>
          </a:xfrm>
          <a:prstGeom prst="roundRect">
            <a:avLst>
              <a:gd name="adj" fmla="val 12121"/>
            </a:avLst>
          </a:prstGeom>
          <a:solidFill>
            <a:srgbClr val="FFF7DE"/>
          </a:solidFill>
          <a:ln/>
        </p:spPr>
      </p:sp>
      <p:pic>
        <p:nvPicPr>
          <p:cNvPr id="12" name="s55-snap-10" descr="s55-snap-10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93400" y="2082800"/>
            <a:ext cx="533400" cy="533400"/>
          </a:xfrm>
          <a:prstGeom prst="rect">
            <a:avLst/>
          </a:prstGeom>
        </p:spPr>
      </p:pic>
      <p:sp>
        <p:nvSpPr>
          <p:cNvPr id="13" name="s55-text-11"/>
          <p:cNvSpPr txBox="1"/>
          <p:nvPr/>
        </p:nvSpPr>
        <p:spPr>
          <a:xfrm>
            <a:off x="9158053" y="2138064"/>
            <a:ext cx="1459147" cy="344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310"/>
              </a:lnSpc>
              <a:buNone/>
            </a:pPr>
            <a:r>
              <a:rPr lang="ar-SA" altLang="en-US" sz="1650" b="1" dirty="0">
                <a:solidFill>
                  <a:srgbClr val="E9720C"/>
                </a:solidFill>
                <a:latin typeface="Sakkal Saad TN Trial Light"/>
                <a:cs typeface="Sakkal Saad TN Trial Light"/>
              </a:rPr>
              <a:t>ما يؤثر على قرار الشراء</a:t>
            </a:r>
            <a:endParaRPr lang="ar-SA" sz="1650" dirty="0"/>
          </a:p>
        </p:txBody>
      </p:sp>
      <p:sp>
        <p:nvSpPr>
          <p:cNvPr id="14" name="s55-shape-12"/>
          <p:cNvSpPr/>
          <p:nvPr/>
        </p:nvSpPr>
        <p:spPr>
          <a:xfrm>
            <a:off x="9043194" y="2692400"/>
            <a:ext cx="2145506" cy="368300"/>
          </a:xfrm>
          <a:prstGeom prst="roundRect">
            <a:avLst>
              <a:gd name="adj" fmla="val 34483"/>
            </a:avLst>
          </a:prstGeom>
          <a:solidFill>
            <a:srgbClr val="FFFFFF"/>
          </a:solidFill>
          <a:ln/>
        </p:spPr>
      </p:sp>
      <p:pic>
        <p:nvPicPr>
          <p:cNvPr id="15" name="s55-snap-13" descr="s55-snap-13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6900" y="2692400"/>
            <a:ext cx="368300" cy="368300"/>
          </a:xfrm>
          <a:prstGeom prst="rect">
            <a:avLst/>
          </a:prstGeom>
        </p:spPr>
      </p:pic>
      <p:sp>
        <p:nvSpPr>
          <p:cNvPr id="16" name="s55-text-14"/>
          <p:cNvSpPr txBox="1"/>
          <p:nvPr/>
        </p:nvSpPr>
        <p:spPr>
          <a:xfrm>
            <a:off x="9650214" y="2714315"/>
            <a:ext cx="1081286" cy="2736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755"/>
              </a:lnSpc>
              <a:buNone/>
            </a:pPr>
            <a:r>
              <a:rPr lang="ar-SA" altLang="en-US" sz="13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السعر مقابل القيمة</a:t>
            </a:r>
            <a:endParaRPr lang="ar-SA" sz="1350" dirty="0"/>
          </a:p>
        </p:txBody>
      </p:sp>
      <p:sp>
        <p:nvSpPr>
          <p:cNvPr id="17" name="s55-shape-15"/>
          <p:cNvSpPr/>
          <p:nvPr/>
        </p:nvSpPr>
        <p:spPr>
          <a:xfrm>
            <a:off x="7684988" y="2692400"/>
            <a:ext cx="1294705" cy="368300"/>
          </a:xfrm>
          <a:prstGeom prst="roundRect">
            <a:avLst>
              <a:gd name="adj" fmla="val 34483"/>
            </a:avLst>
          </a:prstGeom>
          <a:solidFill>
            <a:srgbClr val="FFFFFF"/>
          </a:solidFill>
          <a:ln/>
        </p:spPr>
      </p:sp>
      <p:pic>
        <p:nvPicPr>
          <p:cNvPr id="18" name="s55-snap-16" descr="s55-snap-16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47894" y="2692400"/>
            <a:ext cx="368300" cy="368300"/>
          </a:xfrm>
          <a:prstGeom prst="rect">
            <a:avLst/>
          </a:prstGeom>
        </p:spPr>
      </p:pic>
      <p:sp>
        <p:nvSpPr>
          <p:cNvPr id="19" name="s55-text-17"/>
          <p:cNvSpPr txBox="1"/>
          <p:nvPr/>
        </p:nvSpPr>
        <p:spPr>
          <a:xfrm>
            <a:off x="7673479" y="2714315"/>
            <a:ext cx="849015" cy="2736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755"/>
              </a:lnSpc>
              <a:buNone/>
            </a:pPr>
            <a:r>
              <a:rPr lang="ar-SA" altLang="en-US" sz="13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جودة المنتجات</a:t>
            </a:r>
            <a:endParaRPr lang="ar-SA" sz="1350" dirty="0"/>
          </a:p>
        </p:txBody>
      </p:sp>
      <p:sp>
        <p:nvSpPr>
          <p:cNvPr id="20" name="s55-shape-18"/>
          <p:cNvSpPr/>
          <p:nvPr/>
        </p:nvSpPr>
        <p:spPr>
          <a:xfrm>
            <a:off x="6337300" y="2692400"/>
            <a:ext cx="1284188" cy="368300"/>
          </a:xfrm>
          <a:prstGeom prst="roundRect">
            <a:avLst>
              <a:gd name="adj" fmla="val 34483"/>
            </a:avLst>
          </a:prstGeom>
          <a:solidFill>
            <a:srgbClr val="FFFFFF"/>
          </a:solidFill>
          <a:ln/>
        </p:spPr>
      </p:sp>
      <p:pic>
        <p:nvPicPr>
          <p:cNvPr id="21" name="s55-snap-19" descr="s55-snap-19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89688" y="2692400"/>
            <a:ext cx="368300" cy="368300"/>
          </a:xfrm>
          <a:prstGeom prst="rect">
            <a:avLst/>
          </a:prstGeom>
        </p:spPr>
      </p:pic>
      <p:sp>
        <p:nvSpPr>
          <p:cNvPr id="22" name="s55-text-20"/>
          <p:cNvSpPr txBox="1"/>
          <p:nvPr/>
        </p:nvSpPr>
        <p:spPr>
          <a:xfrm>
            <a:off x="6437412" y="2714315"/>
            <a:ext cx="726877" cy="2736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755"/>
              </a:lnSpc>
              <a:buNone/>
            </a:pPr>
            <a:r>
              <a:rPr lang="ar-SA" altLang="en-US" sz="13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وضوح الباقة</a:t>
            </a:r>
            <a:endParaRPr lang="ar-SA" sz="1350" dirty="0"/>
          </a:p>
        </p:txBody>
      </p:sp>
      <p:sp>
        <p:nvSpPr>
          <p:cNvPr id="23" name="s55-shape-21"/>
          <p:cNvSpPr/>
          <p:nvPr/>
        </p:nvSpPr>
        <p:spPr>
          <a:xfrm>
            <a:off x="9043194" y="3136900"/>
            <a:ext cx="2145506" cy="521891"/>
          </a:xfrm>
          <a:prstGeom prst="roundRect">
            <a:avLst>
              <a:gd name="adj" fmla="val 24335"/>
            </a:avLst>
          </a:prstGeom>
          <a:solidFill>
            <a:srgbClr val="FFFFFF"/>
          </a:solidFill>
          <a:ln/>
        </p:spPr>
      </p:sp>
      <p:pic>
        <p:nvPicPr>
          <p:cNvPr id="24" name="s55-snap-22" descr="s55-snap-22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63647" y="3213695"/>
            <a:ext cx="361553" cy="368300"/>
          </a:xfrm>
          <a:prstGeom prst="rect">
            <a:avLst/>
          </a:prstGeom>
        </p:spPr>
      </p:pic>
      <p:sp>
        <p:nvSpPr>
          <p:cNvPr id="25" name="s55-text-23"/>
          <p:cNvSpPr txBox="1"/>
          <p:nvPr/>
        </p:nvSpPr>
        <p:spPr>
          <a:xfrm>
            <a:off x="8976169" y="3124187"/>
            <a:ext cx="1762077" cy="496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755"/>
              </a:lnSpc>
              <a:buNone/>
            </a:pPr>
            <a:r>
              <a:rPr lang="ar-SA" altLang="en-US" sz="13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تقييمات العملاء والمشاريع</a:t>
            </a:r>
            <a:endParaRPr lang="ar-SA" sz="1350" dirty="0"/>
          </a:p>
          <a:p>
            <a:pPr rtl="1" algn="r" indent="0" marL="0">
              <a:lnSpc>
                <a:spcPts val="1755"/>
              </a:lnSpc>
              <a:buNone/>
            </a:pPr>
            <a:r>
              <a:rPr lang="ar-SA" altLang="en-US" sz="13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السابقة</a:t>
            </a:r>
            <a:endParaRPr lang="ar-SA" sz="1350" dirty="0"/>
          </a:p>
        </p:txBody>
      </p:sp>
      <p:sp>
        <p:nvSpPr>
          <p:cNvPr id="26" name="s55-shape-24"/>
          <p:cNvSpPr/>
          <p:nvPr/>
        </p:nvSpPr>
        <p:spPr>
          <a:xfrm>
            <a:off x="7684988" y="3136900"/>
            <a:ext cx="1294705" cy="521891"/>
          </a:xfrm>
          <a:prstGeom prst="roundRect">
            <a:avLst>
              <a:gd name="adj" fmla="val 24335"/>
            </a:avLst>
          </a:prstGeom>
          <a:solidFill>
            <a:srgbClr val="FFFFFF"/>
          </a:solidFill>
          <a:ln/>
        </p:spPr>
      </p:sp>
      <p:pic>
        <p:nvPicPr>
          <p:cNvPr id="27" name="s55-snap-25" descr="s55-snap-25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47894" y="3213695"/>
            <a:ext cx="368300" cy="368300"/>
          </a:xfrm>
          <a:prstGeom prst="rect">
            <a:avLst/>
          </a:prstGeom>
        </p:spPr>
      </p:pic>
      <p:sp>
        <p:nvSpPr>
          <p:cNvPr id="28" name="s55-text-26"/>
          <p:cNvSpPr txBox="1"/>
          <p:nvPr/>
        </p:nvSpPr>
        <p:spPr>
          <a:xfrm>
            <a:off x="7646888" y="3235610"/>
            <a:ext cx="875605" cy="2736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755"/>
              </a:lnSpc>
              <a:buNone/>
            </a:pPr>
            <a:r>
              <a:rPr lang="ar-SA" altLang="en-US" sz="13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سهولة التواصل</a:t>
            </a:r>
            <a:endParaRPr lang="ar-SA" sz="1350" dirty="0"/>
          </a:p>
        </p:txBody>
      </p:sp>
      <p:sp>
        <p:nvSpPr>
          <p:cNvPr id="29" name="s55-shape-27"/>
          <p:cNvSpPr/>
          <p:nvPr/>
        </p:nvSpPr>
        <p:spPr>
          <a:xfrm>
            <a:off x="6337300" y="3136900"/>
            <a:ext cx="1284188" cy="521891"/>
          </a:xfrm>
          <a:prstGeom prst="roundRect">
            <a:avLst>
              <a:gd name="adj" fmla="val 24335"/>
            </a:avLst>
          </a:prstGeom>
          <a:solidFill>
            <a:srgbClr val="FFFFFF"/>
          </a:solidFill>
          <a:ln/>
        </p:spPr>
      </p:sp>
      <p:pic>
        <p:nvPicPr>
          <p:cNvPr id="30" name="s55-snap-28" descr="s55-snap-28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89688" y="3213695"/>
            <a:ext cx="368300" cy="368300"/>
          </a:xfrm>
          <a:prstGeom prst="rect">
            <a:avLst/>
          </a:prstGeom>
        </p:spPr>
      </p:pic>
      <p:sp>
        <p:nvSpPr>
          <p:cNvPr id="31" name="s55-text-29"/>
          <p:cNvSpPr txBox="1"/>
          <p:nvPr/>
        </p:nvSpPr>
        <p:spPr>
          <a:xfrm>
            <a:off x="6299200" y="3235610"/>
            <a:ext cx="865088" cy="2736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755"/>
              </a:lnSpc>
              <a:buNone/>
            </a:pPr>
            <a:r>
              <a:rPr lang="ar-SA" altLang="en-US" sz="13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التركيب والدعم</a:t>
            </a:r>
            <a:endParaRPr lang="ar-SA" sz="1350" dirty="0"/>
          </a:p>
        </p:txBody>
      </p:sp>
      <p:sp>
        <p:nvSpPr>
          <p:cNvPr id="32" name="s55-shape-30"/>
          <p:cNvSpPr/>
          <p:nvPr/>
        </p:nvSpPr>
        <p:spPr>
          <a:xfrm>
            <a:off x="698500" y="1841500"/>
            <a:ext cx="5207000" cy="209550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0" dist="76200" dir="5400000">
              <a:srgbClr val="1E2A36">
                <a:alpha val="10000"/>
              </a:srgbClr>
            </a:outerShdw>
          </a:effectLst>
        </p:spPr>
      </p:sp>
      <p:pic>
        <p:nvPicPr>
          <p:cNvPr id="33" name="s55-snap-31" descr="s55-snap-31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05400" y="2082800"/>
            <a:ext cx="533400" cy="533400"/>
          </a:xfrm>
          <a:prstGeom prst="rect">
            <a:avLst/>
          </a:prstGeom>
        </p:spPr>
      </p:pic>
      <p:sp>
        <p:nvSpPr>
          <p:cNvPr id="34" name="s55-text-32"/>
          <p:cNvSpPr txBox="1"/>
          <p:nvPr/>
        </p:nvSpPr>
        <p:spPr>
          <a:xfrm>
            <a:off x="3222974" y="2138064"/>
            <a:ext cx="1806226" cy="344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310"/>
              </a:lnSpc>
              <a:buNone/>
            </a:pPr>
            <a:r>
              <a:rPr lang="ar-SA" altLang="en-US" sz="1650" b="1" dirty="0">
                <a:solidFill>
                  <a:srgbClr val="E9720C"/>
                </a:solidFill>
                <a:latin typeface="Sakkal Saad TN Trial Light"/>
                <a:cs typeface="Sakkal Saad TN Trial Light"/>
              </a:rPr>
              <a:t>ما الذي يجذبه في المحتوى؟</a:t>
            </a:r>
            <a:endParaRPr lang="ar-SA" sz="1650" dirty="0"/>
          </a:p>
        </p:txBody>
      </p:sp>
      <p:sp>
        <p:nvSpPr>
          <p:cNvPr id="35" name="s55-text-33"/>
          <p:cNvSpPr txBox="1"/>
          <p:nvPr/>
        </p:nvSpPr>
        <p:spPr>
          <a:xfrm>
            <a:off x="635508" y="2597966"/>
            <a:ext cx="4965192" cy="907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248"/>
              </a:lnSpc>
              <a:buNone/>
            </a:pPr>
            <a:r>
              <a:rPr lang="ar-SA" altLang="en-US" sz="14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المقارنات البسيطة بين الأنظمة، الفيديوهات القصيرة، مشاريع التركيب الحقيقية، قبل/بعد،</a:t>
            </a:r>
            <a:endParaRPr lang="ar-SA" sz="1450" dirty="0"/>
          </a:p>
          <a:p>
            <a:pPr rtl="1" algn="r" indent="0" marL="0">
              <a:lnSpc>
                <a:spcPts val="2248"/>
              </a:lnSpc>
              <a:buNone/>
            </a:pPr>
            <a:r>
              <a:rPr lang="ar-SA" altLang="en-US" sz="14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تقييمات العملاء، الباقات الواضحة، والنصائح التي تساعده على اختيار النظام</a:t>
            </a:r>
            <a:endParaRPr lang="ar-SA" sz="1450" dirty="0"/>
          </a:p>
          <a:p>
            <a:pPr rtl="1" algn="r" indent="0" marL="0">
              <a:lnSpc>
                <a:spcPts val="2248"/>
              </a:lnSpc>
              <a:buNone/>
            </a:pPr>
            <a:r>
              <a:rPr lang="ar-SA" altLang="en-US" sz="14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المناسب بدون تعقيد.</a:t>
            </a:r>
            <a:endParaRPr lang="ar-SA" sz="1450" dirty="0"/>
          </a:p>
        </p:txBody>
      </p:sp>
      <p:sp>
        <p:nvSpPr>
          <p:cNvPr id="36" name="s55-shape-34"/>
          <p:cNvSpPr/>
          <p:nvPr/>
        </p:nvSpPr>
        <p:spPr>
          <a:xfrm>
            <a:off x="6032500" y="4095750"/>
            <a:ext cx="5461000" cy="2127250"/>
          </a:xfrm>
          <a:prstGeom prst="roundRect">
            <a:avLst>
              <a:gd name="adj" fmla="val 11940"/>
            </a:avLst>
          </a:prstGeom>
          <a:solidFill>
            <a:srgbClr val="43644B"/>
          </a:solidFill>
          <a:ln/>
        </p:spPr>
      </p:sp>
      <p:pic>
        <p:nvPicPr>
          <p:cNvPr id="37" name="s55-snap-35" descr="s55-snap-35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693400" y="4337050"/>
            <a:ext cx="533400" cy="533400"/>
          </a:xfrm>
          <a:prstGeom prst="rect">
            <a:avLst/>
          </a:prstGeom>
        </p:spPr>
      </p:pic>
      <p:sp>
        <p:nvSpPr>
          <p:cNvPr id="38" name="s55-text-36"/>
          <p:cNvSpPr txBox="1"/>
          <p:nvPr/>
        </p:nvSpPr>
        <p:spPr>
          <a:xfrm>
            <a:off x="8877518" y="4392314"/>
            <a:ext cx="1739682" cy="344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310"/>
              </a:lnSpc>
              <a:buNone/>
            </a:pPr>
            <a:r>
              <a:rPr lang="ar-SA" altLang="en-US" sz="1650" b="1" dirty="0">
                <a:solidFill>
                  <a:srgbClr val="F6C342"/>
                </a:solidFill>
                <a:latin typeface="Sakkal Saad TN Trial Light"/>
                <a:cs typeface="Sakkal Saad TN Trial Light"/>
              </a:rPr>
              <a:t>الزاوية الإعلانية المناسبة له</a:t>
            </a:r>
            <a:endParaRPr lang="ar-SA" sz="1650" dirty="0"/>
          </a:p>
        </p:txBody>
      </p:sp>
      <p:sp>
        <p:nvSpPr>
          <p:cNvPr id="39" name="s55-text-37"/>
          <p:cNvSpPr txBox="1"/>
          <p:nvPr/>
        </p:nvSpPr>
        <p:spPr>
          <a:xfrm>
            <a:off x="5949188" y="4825321"/>
            <a:ext cx="5239512" cy="464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3255"/>
              </a:lnSpc>
              <a:buNone/>
            </a:pPr>
            <a:r>
              <a:rPr lang="ar-SA" altLang="en-US" sz="2100" dirty="0">
                <a:solidFill>
                  <a:srgbClr val="FFFFFF"/>
                </a:solidFill>
                <a:latin typeface="Sakkal Saad TN Trial Light"/>
                <a:cs typeface="Sakkal Saad TN Trial Light"/>
              </a:rPr>
              <a:t>الراحة والاطمئنان + سهولة الاختيار + القيمة مقابل المال.</a:t>
            </a:r>
            <a:endParaRPr lang="ar-SA" sz="2100" dirty="0"/>
          </a:p>
        </p:txBody>
      </p:sp>
      <p:sp>
        <p:nvSpPr>
          <p:cNvPr id="40" name="s55-shape-38"/>
          <p:cNvSpPr/>
          <p:nvPr/>
        </p:nvSpPr>
        <p:spPr>
          <a:xfrm>
            <a:off x="698500" y="4095750"/>
            <a:ext cx="5207000" cy="2127250"/>
          </a:xfrm>
          <a:prstGeom prst="roundRect">
            <a:avLst>
              <a:gd name="adj" fmla="val 11940"/>
            </a:avLst>
          </a:prstGeom>
          <a:solidFill>
            <a:srgbClr val="FF8D26"/>
          </a:solidFill>
          <a:ln/>
        </p:spPr>
      </p:sp>
      <p:pic>
        <p:nvPicPr>
          <p:cNvPr id="41" name="s55-snap-39" descr="s55-snap-39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105400" y="4486275"/>
            <a:ext cx="533400" cy="533400"/>
          </a:xfrm>
          <a:prstGeom prst="rect">
            <a:avLst/>
          </a:prstGeom>
        </p:spPr>
      </p:pic>
      <p:sp>
        <p:nvSpPr>
          <p:cNvPr id="42" name="s55-text-40"/>
          <p:cNvSpPr txBox="1"/>
          <p:nvPr/>
        </p:nvSpPr>
        <p:spPr>
          <a:xfrm>
            <a:off x="4069655" y="4560761"/>
            <a:ext cx="97224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00"/>
              </a:lnSpc>
              <a:buNone/>
            </a:pPr>
            <a:r>
              <a:rPr lang="ar-SA" altLang="en-US" sz="15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الرسالة المناسبة</a:t>
            </a:r>
            <a:endParaRPr lang="ar-SA" sz="1500" dirty="0"/>
          </a:p>
        </p:txBody>
      </p:sp>
      <p:sp>
        <p:nvSpPr>
          <p:cNvPr id="43" name="s55-text-41"/>
          <p:cNvSpPr txBox="1"/>
          <p:nvPr/>
        </p:nvSpPr>
        <p:spPr>
          <a:xfrm>
            <a:off x="635508" y="4984775"/>
            <a:ext cx="4965192" cy="774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850"/>
              </a:lnSpc>
              <a:buNone/>
            </a:pPr>
            <a:r>
              <a:rPr lang="ar-SA" altLang="en-US" sz="1900" b="1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"مو لازم تكون خبير كاميرات… أخبرنا عن مكانك واحتياجك</a:t>
            </a:r>
            <a:endParaRPr lang="ar-SA" sz="1900" dirty="0"/>
          </a:p>
          <a:p>
            <a:pPr rtl="1" algn="r" indent="0" marL="0">
              <a:lnSpc>
                <a:spcPts val="2850"/>
              </a:lnSpc>
              <a:buNone/>
            </a:pPr>
            <a:r>
              <a:rPr lang="ar-SA" altLang="en-US" sz="1900" b="1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ونساعدك في اختيار الحل المناسب."</a:t>
            </a:r>
            <a:endParaRPr lang="ar-SA" sz="1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3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4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0" dur="489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75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75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75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5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7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7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7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grpId="0" nodeType="withEffect">
                                  <p:stCondLst>
                                    <p:cond delay="43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7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grpId="0" nodeType="withEffect">
                                  <p:stCondLst>
                                    <p:cond delay="43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27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53" presetClass="entr" presetSubtype="16" fill="hold" grpId="0" nodeType="withEffect">
                                  <p:stCondLst>
                                    <p:cond delay="43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7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750" fill="hold" decel="100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750" fill="hold" decel="100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750" fill="hold" decel="1000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750" fill="hold" decel="1000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750" fill="hold" decel="100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750" fill="hold" decel="100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750" fill="hold" decel="1000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750" fill="hold" decel="1000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53" presetClass="entr" presetSubtype="16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27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53" presetClass="entr" presetSubtype="16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27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6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6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53" presetClass="entr" presetSubtype="16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27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6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6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53" presetClass="entr" presetSubtype="16" fill="hold" grpId="0" nodeType="withEffect">
                                  <p:stCondLst>
                                    <p:cond delay="59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27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6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6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53" presetClass="entr" presetSubtype="16" fill="hold" grpId="0" nodeType="withEffect">
                                  <p:stCondLst>
                                    <p:cond delay="59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27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6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6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53" presetClass="entr" presetSubtype="16" fill="hold" grpId="0" nodeType="withEffect">
                                  <p:stCondLst>
                                    <p:cond delay="59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27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6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6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53" presetClass="entr" presetSubtype="16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27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6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6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53" presetClass="entr" presetSubtype="16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27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6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6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53" presetClass="entr" presetSubtype="16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27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9" dur="6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6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6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750" fill="hold" decel="100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750" fill="hold" decel="100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6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9" dur="750" fill="hold" decel="100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750" fill="hold" decel="100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6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4" dur="750" fill="hold" decel="100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750" fill="hold" decel="100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6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9" dur="750" fill="hold" decel="100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750" fill="hold" decel="100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27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4" dur="6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6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6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27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9" dur="6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6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1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27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4" dur="6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6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6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6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9" dur="750" fill="hold" decel="100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750" fill="hold" decel="100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1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6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4" dur="750" fill="hold" decel="1000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750" fill="hold" decel="1000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6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6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9" dur="750" fill="hold" decel="1000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750" fill="hold" decel="1000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1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6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4" dur="750" fill="hold" decel="1000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750" fill="hold" decel="1000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/>
      <p:bldP spid="11" grpId="0" animBg="1"/>
      <p:bldP spid="13" grpId="0"/>
      <p:bldP spid="14" grpId="0" animBg="1"/>
      <p:bldP spid="16" grpId="0"/>
      <p:bldP spid="17" grpId="0" animBg="1"/>
      <p:bldP spid="19" grpId="0"/>
      <p:bldP spid="32" grpId="0" animBg="1"/>
      <p:bldP spid="34" grpId="0"/>
      <p:bldP spid="35" grpId="0"/>
      <p:bldP spid="20" grpId="0" animBg="1"/>
      <p:bldP spid="22" grpId="0"/>
      <p:bldP spid="23" grpId="0" animBg="1"/>
      <p:bldP spid="25" grpId="0"/>
      <p:bldP spid="26" grpId="0" animBg="1"/>
      <p:bldP spid="28" grpId="0"/>
      <p:bldP spid="36" grpId="0" animBg="1"/>
      <p:bldP spid="38" grpId="0"/>
      <p:bldP spid="39" grpId="0"/>
      <p:bldP spid="29" grpId="0" animBg="1"/>
      <p:bldP spid="31" grpId="0"/>
      <p:bldP spid="40" grpId="0" animBg="1"/>
      <p:bldP spid="42" grpId="0"/>
      <p:bldP spid="43" grpId="0"/>
    </p:bldLst>
  </p:timing>
</p:sld>
</file>

<file path=ppt/slides/slide56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lens"/>
          <p:cNvSpPr/>
          <p:nvPr/>
        </p:nvSpPr>
        <p:spPr>
          <a:xfrm>
            <a:off x="368300" y="127000"/>
            <a:ext cx="1206500" cy="1206500"/>
          </a:xfrm>
          <a:prstGeom prst="ellipse">
            <a:avLst/>
          </a:prstGeom>
          <a:solidFill>
            <a:srgbClr val="EEF2EF"/>
          </a:solidFill>
          <a:ln/>
        </p:spPr>
      </p:sp>
      <p:pic>
        <p:nvPicPr>
          <p:cNvPr id="3" name="!!mt" descr="شعار نظرة ثماني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3341" y="318443"/>
            <a:ext cx="546100" cy="533400"/>
          </a:xfrm>
          <a:prstGeom prst="rect">
            <a:avLst/>
          </a:prstGeom>
        </p:spPr>
      </p:pic>
      <p:pic>
        <p:nvPicPr>
          <p:cNvPr id="4" name="!!mb" descr="شعار نظرة ثمانية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040" y="621903"/>
            <a:ext cx="527050" cy="520700"/>
          </a:xfrm>
          <a:prstGeom prst="rect">
            <a:avLst/>
          </a:prstGeom>
        </p:spPr>
      </p:pic>
      <p:pic>
        <p:nvPicPr>
          <p:cNvPr id="5" name="!!ma" descr="شعار نظرة ثمانية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988" y="502196"/>
            <a:ext cx="95250" cy="82550"/>
          </a:xfrm>
          <a:prstGeom prst="rect">
            <a:avLst/>
          </a:prstGeom>
        </p:spPr>
      </p:pic>
      <p:pic>
        <p:nvPicPr>
          <p:cNvPr id="6" name="!!hud" descr="!!hu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800" y="177800"/>
            <a:ext cx="11836400" cy="6502400"/>
          </a:xfrm>
          <a:prstGeom prst="rect">
            <a:avLst/>
          </a:prstGeom>
        </p:spPr>
      </p:pic>
      <p:sp>
        <p:nvSpPr>
          <p:cNvPr id="7" name="!!rec"/>
          <p:cNvSpPr/>
          <p:nvPr/>
        </p:nvSpPr>
        <p:spPr>
          <a:xfrm>
            <a:off x="635000" y="6337300"/>
            <a:ext cx="101600" cy="101600"/>
          </a:xfrm>
          <a:prstGeom prst="ellipse">
            <a:avLst/>
          </a:prstGeom>
          <a:solidFill>
            <a:srgbClr val="FF8D26"/>
          </a:solidFill>
          <a:ln/>
        </p:spPr>
      </p:sp>
      <p:sp>
        <p:nvSpPr>
          <p:cNvPr id="8" name="!!num"/>
          <p:cNvSpPr txBox="1"/>
          <p:nvPr/>
        </p:nvSpPr>
        <p:spPr>
          <a:xfrm>
            <a:off x="825500" y="6281750"/>
            <a:ext cx="693341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altLang="en-US" sz="1200" dirty="0">
                <a:solidFill>
                  <a:srgbClr val="5E6D7C"/>
                </a:solidFill>
                <a:latin typeface="Sakkal Saad TN Trial Light"/>
                <a:cs typeface="Sakkal Saad TN Trial Light"/>
              </a:rPr>
              <a:t>REC · 56</a:t>
            </a:r>
            <a:endParaRPr lang="en-US" sz="1200" dirty="0"/>
          </a:p>
        </p:txBody>
      </p:sp>
      <p:sp>
        <p:nvSpPr>
          <p:cNvPr id="9" name="!!kick"/>
          <p:cNvSpPr txBox="1"/>
          <p:nvPr/>
        </p:nvSpPr>
        <p:spPr>
          <a:xfrm>
            <a:off x="8843375" y="318834"/>
            <a:ext cx="2713625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ar-SA" altLang="en-US" sz="1500" dirty="0">
                <a:solidFill>
                  <a:srgbClr val="E9720C"/>
                </a:solidFill>
                <a:latin typeface="Sakkal Saad TN Trial Light"/>
                <a:cs typeface="Sakkal Saad TN Trial Light"/>
              </a:rPr>
              <a:t>شخصية العميل المستهدف Buyer Persona</a:t>
            </a:r>
            <a:endParaRPr lang="ar-SA" sz="1500" dirty="0"/>
          </a:p>
        </p:txBody>
      </p:sp>
      <p:sp>
        <p:nvSpPr>
          <p:cNvPr id="10" name="s56-text-8"/>
          <p:cNvSpPr txBox="1"/>
          <p:nvPr/>
        </p:nvSpPr>
        <p:spPr>
          <a:xfrm>
            <a:off x="4283877" y="695134"/>
            <a:ext cx="7273123" cy="702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5130"/>
              </a:lnSpc>
              <a:buNone/>
            </a:pPr>
            <a:r>
              <a:rPr lang="ar-SA" altLang="en-US" sz="3800" b="1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الشخصية الثانية : صاحب منشأة أو مشروع B2B</a:t>
            </a:r>
            <a:endParaRPr lang="ar-SA" sz="3800" dirty="0"/>
          </a:p>
        </p:txBody>
      </p:sp>
      <p:pic>
        <p:nvPicPr>
          <p:cNvPr id="11" name="s56-snap-9" descr="s56-snap-9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400" y="1803400"/>
            <a:ext cx="3632200" cy="4457700"/>
          </a:xfrm>
          <a:prstGeom prst="rect">
            <a:avLst/>
          </a:prstGeom>
        </p:spPr>
      </p:pic>
      <p:pic>
        <p:nvPicPr>
          <p:cNvPr id="12" name="s56-snap-10" descr="s56-snap-10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84500" y="2057400"/>
            <a:ext cx="1028700" cy="1028700"/>
          </a:xfrm>
          <a:prstGeom prst="rect">
            <a:avLst/>
          </a:prstGeom>
        </p:spPr>
      </p:pic>
      <p:sp>
        <p:nvSpPr>
          <p:cNvPr id="13" name="s56-text-11"/>
          <p:cNvSpPr txBox="1"/>
          <p:nvPr/>
        </p:nvSpPr>
        <p:spPr>
          <a:xfrm>
            <a:off x="1679178" y="2069095"/>
            <a:ext cx="1178322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960"/>
              </a:lnSpc>
              <a:buNone/>
            </a:pPr>
            <a:r>
              <a:rPr lang="ar-SA" altLang="en-US" sz="1400" dirty="0">
                <a:solidFill>
                  <a:srgbClr val="D0D8D2"/>
                </a:solidFill>
                <a:latin typeface="Sakkal Saad TN Trial Light"/>
                <a:cs typeface="Sakkal Saad TN Trial Light"/>
              </a:rPr>
              <a:t>الاسم</a:t>
            </a:r>
            <a:endParaRPr lang="ar-SA" sz="1400" dirty="0"/>
          </a:p>
        </p:txBody>
      </p:sp>
      <p:sp>
        <p:nvSpPr>
          <p:cNvPr id="14" name="s56-text-12"/>
          <p:cNvSpPr txBox="1"/>
          <p:nvPr/>
        </p:nvSpPr>
        <p:spPr>
          <a:xfrm>
            <a:off x="1679178" y="2236989"/>
            <a:ext cx="1178322" cy="690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5040"/>
              </a:lnSpc>
              <a:buNone/>
            </a:pPr>
            <a:r>
              <a:rPr lang="ar-SA" altLang="en-US" sz="4200" b="1" dirty="0">
                <a:solidFill>
                  <a:srgbClr val="FFFFFF"/>
                </a:solidFill>
                <a:latin typeface="Sakkal Saad TN Trial Light"/>
                <a:cs typeface="Sakkal Saad TN Trial Light"/>
              </a:rPr>
              <a:t>عبدالله</a:t>
            </a:r>
            <a:endParaRPr lang="ar-SA" sz="4200" dirty="0"/>
          </a:p>
        </p:txBody>
      </p:sp>
      <p:sp>
        <p:nvSpPr>
          <p:cNvPr id="15" name="s56-text-13"/>
          <p:cNvSpPr txBox="1"/>
          <p:nvPr/>
        </p:nvSpPr>
        <p:spPr>
          <a:xfrm>
            <a:off x="3581003" y="3214675"/>
            <a:ext cx="394097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960"/>
              </a:lnSpc>
              <a:buNone/>
            </a:pPr>
            <a:r>
              <a:rPr lang="ar-SA" altLang="en-US" sz="1400" dirty="0">
                <a:solidFill>
                  <a:srgbClr val="D0D8D2"/>
                </a:solidFill>
                <a:latin typeface="Sakkal Saad TN Trial Light"/>
                <a:cs typeface="Sakkal Saad TN Trial Light"/>
              </a:rPr>
              <a:t>العمر</a:t>
            </a:r>
            <a:endParaRPr lang="ar-SA" sz="1400" dirty="0"/>
          </a:p>
        </p:txBody>
      </p:sp>
      <p:sp>
        <p:nvSpPr>
          <p:cNvPr id="16" name="s56-text-14"/>
          <p:cNvSpPr txBox="1"/>
          <p:nvPr/>
        </p:nvSpPr>
        <p:spPr>
          <a:xfrm>
            <a:off x="977900" y="3214561"/>
            <a:ext cx="781348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l" indent="0" marL="0">
              <a:lnSpc>
                <a:spcPts val="2100"/>
              </a:lnSpc>
              <a:buNone/>
            </a:pPr>
            <a:r>
              <a:rPr lang="ar-SA" altLang="en-US" sz="1500" dirty="0">
                <a:solidFill>
                  <a:srgbClr val="FFFFFF"/>
                </a:solidFill>
                <a:latin typeface="Sakkal Saad TN Trial Light"/>
                <a:cs typeface="Sakkal Saad TN Trial Light"/>
              </a:rPr>
              <a:t>30–50 سنة</a:t>
            </a:r>
            <a:endParaRPr lang="ar-SA" sz="1500" dirty="0"/>
          </a:p>
        </p:txBody>
      </p:sp>
      <p:sp>
        <p:nvSpPr>
          <p:cNvPr id="17" name="s56-text-15"/>
          <p:cNvSpPr txBox="1"/>
          <p:nvPr/>
        </p:nvSpPr>
        <p:spPr>
          <a:xfrm>
            <a:off x="3613051" y="3640125"/>
            <a:ext cx="362049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960"/>
              </a:lnSpc>
              <a:buNone/>
            </a:pPr>
            <a:r>
              <a:rPr lang="ar-SA" altLang="en-US" sz="1400" dirty="0">
                <a:solidFill>
                  <a:srgbClr val="D0D8D2"/>
                </a:solidFill>
                <a:latin typeface="Sakkal Saad TN Trial Light"/>
                <a:cs typeface="Sakkal Saad TN Trial Light"/>
              </a:rPr>
              <a:t>الفئة</a:t>
            </a:r>
            <a:endParaRPr lang="ar-SA" sz="1400" dirty="0"/>
          </a:p>
        </p:txBody>
      </p:sp>
      <p:sp>
        <p:nvSpPr>
          <p:cNvPr id="18" name="s56-text-16"/>
          <p:cNvSpPr txBox="1"/>
          <p:nvPr/>
        </p:nvSpPr>
        <p:spPr>
          <a:xfrm>
            <a:off x="977900" y="3640011"/>
            <a:ext cx="2809637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l" indent="0" marL="0">
              <a:lnSpc>
                <a:spcPts val="2100"/>
              </a:lnSpc>
              <a:buNone/>
            </a:pPr>
            <a:r>
              <a:rPr lang="ar-SA" altLang="en-US" sz="1500" dirty="0">
                <a:solidFill>
                  <a:srgbClr val="FFFFFF"/>
                </a:solidFill>
                <a:latin typeface="Sakkal Saad TN Trial Light"/>
                <a:cs typeface="Sakkal Saad TN Trial Light"/>
              </a:rPr>
              <a:t>صاحب شركة، مدير منشأة أو مسؤول مشتريات</a:t>
            </a:r>
            <a:endParaRPr lang="ar-SA" sz="1500" dirty="0"/>
          </a:p>
        </p:txBody>
      </p:sp>
      <p:sp>
        <p:nvSpPr>
          <p:cNvPr id="19" name="s56-shape-17"/>
          <p:cNvSpPr/>
          <p:nvPr/>
        </p:nvSpPr>
        <p:spPr>
          <a:xfrm>
            <a:off x="8064500" y="1841500"/>
            <a:ext cx="3429000" cy="438150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0" dist="76200" dir="5400000">
              <a:srgbClr val="1E2A36">
                <a:alpha val="10000"/>
              </a:srgbClr>
            </a:outerShdw>
          </a:effectLst>
        </p:spPr>
      </p:sp>
      <p:pic>
        <p:nvPicPr>
          <p:cNvPr id="20" name="s56-snap-18" descr="s56-snap-18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91800" y="2082800"/>
            <a:ext cx="635000" cy="635000"/>
          </a:xfrm>
          <a:prstGeom prst="rect">
            <a:avLst/>
          </a:prstGeom>
        </p:spPr>
      </p:pic>
      <p:sp>
        <p:nvSpPr>
          <p:cNvPr id="21" name="s56-text-19"/>
          <p:cNvSpPr txBox="1"/>
          <p:nvPr/>
        </p:nvSpPr>
        <p:spPr>
          <a:xfrm>
            <a:off x="9637316" y="2154555"/>
            <a:ext cx="852884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700"/>
              </a:lnSpc>
              <a:buNone/>
            </a:pPr>
            <a:r>
              <a:rPr lang="ar-SA" altLang="en-US" sz="2000" b="1" dirty="0">
                <a:solidFill>
                  <a:srgbClr val="E9720C"/>
                </a:solidFill>
                <a:latin typeface="Sakkal Saad TN Trial Light"/>
                <a:cs typeface="Sakkal Saad TN Trial Light"/>
              </a:rPr>
              <a:t>احتياجاته</a:t>
            </a:r>
            <a:endParaRPr lang="ar-SA" sz="2000" dirty="0"/>
          </a:p>
        </p:txBody>
      </p:sp>
      <p:sp>
        <p:nvSpPr>
          <p:cNvPr id="22" name="s56-shape-20"/>
          <p:cNvSpPr/>
          <p:nvPr/>
        </p:nvSpPr>
        <p:spPr>
          <a:xfrm>
            <a:off x="11099800" y="2971800"/>
            <a:ext cx="88900" cy="88900"/>
          </a:xfrm>
          <a:prstGeom prst="ellipse">
            <a:avLst/>
          </a:prstGeom>
          <a:solidFill>
            <a:srgbClr val="FF8D26"/>
          </a:solidFill>
          <a:ln/>
        </p:spPr>
      </p:sp>
      <p:sp>
        <p:nvSpPr>
          <p:cNvPr id="23" name="s56-text-21"/>
          <p:cNvSpPr txBox="1"/>
          <p:nvPr/>
        </p:nvSpPr>
        <p:spPr>
          <a:xfrm>
            <a:off x="8900291" y="2781071"/>
            <a:ext cx="2072509" cy="365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475"/>
              </a:lnSpc>
              <a:buNone/>
            </a:pPr>
            <a:r>
              <a:rPr lang="ar-SA" altLang="en-US" sz="16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نظام يغطي الموقع بشكل صحيح.</a:t>
            </a:r>
            <a:endParaRPr lang="ar-SA" sz="1650" dirty="0"/>
          </a:p>
        </p:txBody>
      </p:sp>
      <p:sp>
        <p:nvSpPr>
          <p:cNvPr id="24" name="s56-shape-22"/>
          <p:cNvSpPr/>
          <p:nvPr/>
        </p:nvSpPr>
        <p:spPr>
          <a:xfrm>
            <a:off x="11099800" y="3387725"/>
            <a:ext cx="88900" cy="88900"/>
          </a:xfrm>
          <a:prstGeom prst="ellipse">
            <a:avLst/>
          </a:prstGeom>
          <a:solidFill>
            <a:srgbClr val="FF8D26"/>
          </a:solidFill>
          <a:ln/>
        </p:spPr>
      </p:sp>
      <p:sp>
        <p:nvSpPr>
          <p:cNvPr id="25" name="s56-text-23"/>
          <p:cNvSpPr txBox="1"/>
          <p:nvPr/>
        </p:nvSpPr>
        <p:spPr>
          <a:xfrm>
            <a:off x="9732665" y="3196996"/>
            <a:ext cx="1240135" cy="365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475"/>
              </a:lnSpc>
              <a:buNone/>
            </a:pPr>
            <a:r>
              <a:rPr lang="ar-SA" altLang="en-US" sz="16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عرض سعر واضح.</a:t>
            </a:r>
            <a:endParaRPr lang="ar-SA" sz="1650" dirty="0"/>
          </a:p>
        </p:txBody>
      </p:sp>
      <p:sp>
        <p:nvSpPr>
          <p:cNvPr id="26" name="s56-shape-24"/>
          <p:cNvSpPr/>
          <p:nvPr/>
        </p:nvSpPr>
        <p:spPr>
          <a:xfrm>
            <a:off x="11099800" y="3803650"/>
            <a:ext cx="88900" cy="88900"/>
          </a:xfrm>
          <a:prstGeom prst="ellipse">
            <a:avLst/>
          </a:prstGeom>
          <a:solidFill>
            <a:srgbClr val="FF8D26"/>
          </a:solidFill>
          <a:ln/>
        </p:spPr>
      </p:sp>
      <p:sp>
        <p:nvSpPr>
          <p:cNvPr id="27" name="s56-text-25"/>
          <p:cNvSpPr txBox="1"/>
          <p:nvPr/>
        </p:nvSpPr>
        <p:spPr>
          <a:xfrm>
            <a:off x="9531013" y="3612921"/>
            <a:ext cx="1441787" cy="365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475"/>
              </a:lnSpc>
              <a:buNone/>
            </a:pPr>
            <a:r>
              <a:rPr lang="ar-SA" altLang="en-US" sz="16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تركيب وتنفيذ احترافي.</a:t>
            </a:r>
            <a:endParaRPr lang="ar-SA" sz="1650" dirty="0"/>
          </a:p>
        </p:txBody>
      </p:sp>
      <p:sp>
        <p:nvSpPr>
          <p:cNvPr id="28" name="s56-shape-26"/>
          <p:cNvSpPr/>
          <p:nvPr/>
        </p:nvSpPr>
        <p:spPr>
          <a:xfrm>
            <a:off x="11099800" y="4219575"/>
            <a:ext cx="88900" cy="88900"/>
          </a:xfrm>
          <a:prstGeom prst="ellipse">
            <a:avLst/>
          </a:prstGeom>
          <a:solidFill>
            <a:srgbClr val="FF8D26"/>
          </a:solidFill>
          <a:ln/>
        </p:spPr>
      </p:sp>
      <p:sp>
        <p:nvSpPr>
          <p:cNvPr id="29" name="s56-text-27"/>
          <p:cNvSpPr txBox="1"/>
          <p:nvPr/>
        </p:nvSpPr>
        <p:spPr>
          <a:xfrm>
            <a:off x="9386995" y="4028846"/>
            <a:ext cx="1585805" cy="365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475"/>
              </a:lnSpc>
              <a:buNone/>
            </a:pPr>
            <a:r>
              <a:rPr lang="ar-SA" altLang="en-US" sz="16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إمكانية التوسع مستقبلًا.</a:t>
            </a:r>
            <a:endParaRPr lang="ar-SA" sz="1650" dirty="0"/>
          </a:p>
        </p:txBody>
      </p:sp>
      <p:sp>
        <p:nvSpPr>
          <p:cNvPr id="30" name="s56-shape-28"/>
          <p:cNvSpPr/>
          <p:nvPr/>
        </p:nvSpPr>
        <p:spPr>
          <a:xfrm>
            <a:off x="11099800" y="4635500"/>
            <a:ext cx="88900" cy="88900"/>
          </a:xfrm>
          <a:prstGeom prst="ellipse">
            <a:avLst/>
          </a:prstGeom>
          <a:solidFill>
            <a:srgbClr val="FF8D26"/>
          </a:solidFill>
          <a:ln/>
        </p:spPr>
      </p:sp>
      <p:sp>
        <p:nvSpPr>
          <p:cNvPr id="31" name="s56-text-29"/>
          <p:cNvSpPr txBox="1"/>
          <p:nvPr/>
        </p:nvSpPr>
        <p:spPr>
          <a:xfrm>
            <a:off x="8665512" y="4444771"/>
            <a:ext cx="2307288" cy="365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475"/>
              </a:lnSpc>
              <a:buNone/>
            </a:pPr>
            <a:r>
              <a:rPr lang="ar-SA" altLang="en-US" sz="16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جهة واحدة تتعامل مع النظام كاملًا.</a:t>
            </a:r>
            <a:endParaRPr lang="ar-SA" sz="1650" dirty="0"/>
          </a:p>
        </p:txBody>
      </p:sp>
      <p:sp>
        <p:nvSpPr>
          <p:cNvPr id="32" name="s56-shape-30"/>
          <p:cNvSpPr/>
          <p:nvPr/>
        </p:nvSpPr>
        <p:spPr>
          <a:xfrm>
            <a:off x="4445000" y="1841500"/>
            <a:ext cx="3429000" cy="4381500"/>
          </a:xfrm>
          <a:prstGeom prst="roundRect">
            <a:avLst>
              <a:gd name="adj" fmla="val 7407"/>
            </a:avLst>
          </a:prstGeom>
          <a:solidFill>
            <a:srgbClr val="FFF1E3"/>
          </a:solidFill>
          <a:ln/>
        </p:spPr>
      </p:sp>
      <p:pic>
        <p:nvPicPr>
          <p:cNvPr id="33" name="s56-snap-31" descr="s56-snap-31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72300" y="2082800"/>
            <a:ext cx="635000" cy="635000"/>
          </a:xfrm>
          <a:prstGeom prst="rect">
            <a:avLst/>
          </a:prstGeom>
        </p:spPr>
      </p:pic>
      <p:sp>
        <p:nvSpPr>
          <p:cNvPr id="34" name="s56-text-32"/>
          <p:cNvSpPr txBox="1"/>
          <p:nvPr/>
        </p:nvSpPr>
        <p:spPr>
          <a:xfrm>
            <a:off x="6124972" y="2154555"/>
            <a:ext cx="745728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700"/>
              </a:lnSpc>
              <a:buNone/>
            </a:pPr>
            <a:r>
              <a:rPr lang="ar-SA" altLang="en-US" sz="2000" b="1" dirty="0">
                <a:solidFill>
                  <a:srgbClr val="E9720C"/>
                </a:solidFill>
                <a:latin typeface="Sakkal Saad TN Trial Light"/>
                <a:cs typeface="Sakkal Saad TN Trial Light"/>
              </a:rPr>
              <a:t>مشكلاته</a:t>
            </a:r>
            <a:endParaRPr lang="ar-SA" sz="2000" dirty="0"/>
          </a:p>
        </p:txBody>
      </p:sp>
      <p:sp>
        <p:nvSpPr>
          <p:cNvPr id="35" name="s56-shape-33"/>
          <p:cNvSpPr/>
          <p:nvPr/>
        </p:nvSpPr>
        <p:spPr>
          <a:xfrm>
            <a:off x="7480300" y="2971800"/>
            <a:ext cx="88900" cy="88900"/>
          </a:xfrm>
          <a:prstGeom prst="ellipse">
            <a:avLst/>
          </a:prstGeom>
          <a:solidFill>
            <a:srgbClr val="FF8D26"/>
          </a:solidFill>
          <a:ln/>
        </p:spPr>
      </p:sp>
      <p:sp>
        <p:nvSpPr>
          <p:cNvPr id="36" name="s56-text-34"/>
          <p:cNvSpPr txBox="1"/>
          <p:nvPr/>
        </p:nvSpPr>
        <p:spPr>
          <a:xfrm>
            <a:off x="6397327" y="2781071"/>
            <a:ext cx="955973" cy="365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475"/>
              </a:lnSpc>
              <a:buNone/>
            </a:pPr>
            <a:r>
              <a:rPr lang="ar-SA" altLang="en-US" sz="16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تعدد الموردين.</a:t>
            </a:r>
            <a:endParaRPr lang="ar-SA" sz="1650" dirty="0"/>
          </a:p>
        </p:txBody>
      </p:sp>
      <p:sp>
        <p:nvSpPr>
          <p:cNvPr id="37" name="s56-shape-35"/>
          <p:cNvSpPr/>
          <p:nvPr/>
        </p:nvSpPr>
        <p:spPr>
          <a:xfrm>
            <a:off x="7480300" y="3387725"/>
            <a:ext cx="88900" cy="88900"/>
          </a:xfrm>
          <a:prstGeom prst="ellipse">
            <a:avLst/>
          </a:prstGeom>
          <a:solidFill>
            <a:srgbClr val="FF8D26"/>
          </a:solidFill>
          <a:ln/>
        </p:spPr>
      </p:sp>
      <p:sp>
        <p:nvSpPr>
          <p:cNvPr id="38" name="s56-text-36"/>
          <p:cNvSpPr txBox="1"/>
          <p:nvPr/>
        </p:nvSpPr>
        <p:spPr>
          <a:xfrm>
            <a:off x="5774246" y="3196996"/>
            <a:ext cx="1579055" cy="365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475"/>
              </a:lnSpc>
              <a:buNone/>
            </a:pPr>
            <a:r>
              <a:rPr lang="ar-SA" altLang="en-US" sz="16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صعوبة مقارنة العروض.</a:t>
            </a:r>
            <a:endParaRPr lang="ar-SA" sz="1650" dirty="0"/>
          </a:p>
        </p:txBody>
      </p:sp>
      <p:sp>
        <p:nvSpPr>
          <p:cNvPr id="39" name="s56-shape-37"/>
          <p:cNvSpPr/>
          <p:nvPr/>
        </p:nvSpPr>
        <p:spPr>
          <a:xfrm>
            <a:off x="7480300" y="3803650"/>
            <a:ext cx="88900" cy="88900"/>
          </a:xfrm>
          <a:prstGeom prst="ellipse">
            <a:avLst/>
          </a:prstGeom>
          <a:solidFill>
            <a:srgbClr val="FF8D26"/>
          </a:solidFill>
          <a:ln/>
        </p:spPr>
      </p:sp>
      <p:sp>
        <p:nvSpPr>
          <p:cNvPr id="40" name="s56-text-38"/>
          <p:cNvSpPr txBox="1"/>
          <p:nvPr/>
        </p:nvSpPr>
        <p:spPr>
          <a:xfrm>
            <a:off x="4754654" y="3612921"/>
            <a:ext cx="2598646" cy="365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475"/>
              </a:lnSpc>
              <a:buNone/>
            </a:pPr>
            <a:r>
              <a:rPr lang="ar-SA" altLang="en-US" sz="16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الخوف من وجود تكاليف غير محسوبة.</a:t>
            </a:r>
            <a:endParaRPr lang="ar-SA" sz="1650" dirty="0"/>
          </a:p>
        </p:txBody>
      </p:sp>
      <p:sp>
        <p:nvSpPr>
          <p:cNvPr id="41" name="s56-shape-39"/>
          <p:cNvSpPr/>
          <p:nvPr/>
        </p:nvSpPr>
        <p:spPr>
          <a:xfrm>
            <a:off x="7480300" y="4219575"/>
            <a:ext cx="88900" cy="88900"/>
          </a:xfrm>
          <a:prstGeom prst="ellipse">
            <a:avLst/>
          </a:prstGeom>
          <a:solidFill>
            <a:srgbClr val="FF8D26"/>
          </a:solidFill>
          <a:ln/>
        </p:spPr>
      </p:sp>
      <p:sp>
        <p:nvSpPr>
          <p:cNvPr id="42" name="s56-text-40"/>
          <p:cNvSpPr txBox="1"/>
          <p:nvPr/>
        </p:nvSpPr>
        <p:spPr>
          <a:xfrm>
            <a:off x="4541520" y="4028846"/>
            <a:ext cx="2811780" cy="679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475"/>
              </a:lnSpc>
              <a:buNone/>
            </a:pPr>
            <a:r>
              <a:rPr lang="ar-SA" altLang="en-US" sz="16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الحاجة إلى نظام مناسب للموقع وليس</a:t>
            </a:r>
            <a:endParaRPr lang="ar-SA" sz="1650" dirty="0"/>
          </a:p>
          <a:p>
            <a:pPr rtl="1" algn="r" indent="0" marL="0">
              <a:lnSpc>
                <a:spcPts val="2475"/>
              </a:lnSpc>
              <a:buNone/>
            </a:pPr>
            <a:r>
              <a:rPr lang="ar-SA" altLang="en-US" sz="16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مجرد أجهزة.</a:t>
            </a:r>
            <a:endParaRPr lang="ar-SA" sz="16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3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4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0" dur="489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75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75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75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5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75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75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75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75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75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7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75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75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75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75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75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75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53" presetClass="entr" presetSubtype="16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7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750" fill="hold" decel="100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750" fill="hold" decel="100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75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75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75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75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75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75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750" fill="hold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750" fill="hold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750" fill="hold" decel="100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750" fill="hold" decel="100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750" fill="hold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750" fill="hold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750" fill="hold" decel="10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750" fill="hold" decel="10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27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6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6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42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750" fill="hold" decel="100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750" fill="hold" decel="100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9" dur="750" fill="hold" decel="100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750" fill="hold" decel="100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42" presetClass="entr" presetSubtype="0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750" fill="hold" decel="1000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750" fill="hold" decel="1000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42" presetClass="entr" presetSubtype="0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6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9" dur="750" fill="hold" decel="100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750" fill="hold" decel="100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4" dur="750" fill="hold" decel="100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750" fill="hold" decel="100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9" dur="750" fill="hold" decel="100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750" fill="hold" decel="100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42" presetClass="entr" presetSubtype="0" fill="hold" grpId="0" nodeType="withEffect">
                                  <p:stCondLst>
                                    <p:cond delay="103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6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4" dur="750" fill="hold" decel="100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750" fill="hold" decel="100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6" presetID="42" presetClass="entr" presetSubtype="0" fill="hold" grpId="0" nodeType="withEffect">
                                  <p:stCondLst>
                                    <p:cond delay="103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6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9" dur="750" fill="hold" decel="100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750" fill="hold" decel="100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1" presetID="42" presetClass="entr" presetSubtype="0" fill="hold" grpId="0" nodeType="withEffect">
                                  <p:stCondLst>
                                    <p:cond delay="111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6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4" dur="750" fill="hold" decel="100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750" fill="hold" decel="100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6" presetID="42" presetClass="entr" presetSubtype="0" fill="hold" grpId="0" nodeType="withEffect">
                                  <p:stCondLst>
                                    <p:cond delay="111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6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9" dur="750" fill="hold" decel="100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750" fill="hold" decel="100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1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6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4" dur="750" fill="hold" decel="1000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750" fill="hold" decel="1000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6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6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9" dur="750" fill="hold" decel="1000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750" fill="hold" decel="1000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/>
      <p:bldP spid="13" grpId="0"/>
      <p:bldP spid="15" grpId="0"/>
      <p:bldP spid="16" grpId="0"/>
      <p:bldP spid="17" grpId="0"/>
      <p:bldP spid="18" grpId="0"/>
      <p:bldP spid="19" grpId="0" animBg="1"/>
      <p:bldP spid="14" grpId="0"/>
      <p:bldP spid="21" grpId="0"/>
      <p:bldP spid="32" grpId="0" animBg="1"/>
      <p:bldP spid="22" grpId="0" animBg="1"/>
      <p:bldP spid="23" grpId="0"/>
      <p:bldP spid="24" grpId="0" animBg="1"/>
      <p:bldP spid="25" grpId="0"/>
      <p:bldP spid="34" grpId="0"/>
      <p:bldP spid="26" grpId="0" animBg="1"/>
      <p:bldP spid="27" grpId="0"/>
      <p:bldP spid="28" grpId="0" animBg="1"/>
      <p:bldP spid="29" grpId="0"/>
      <p:bldP spid="35" grpId="0" animBg="1"/>
      <p:bldP spid="36" grpId="0"/>
      <p:bldP spid="30" grpId="0" animBg="1"/>
      <p:bldP spid="31" grpId="0"/>
      <p:bldP spid="37" grpId="0" animBg="1"/>
      <p:bldP spid="38" grpId="0"/>
      <p:bldP spid="39" grpId="0" animBg="1"/>
      <p:bldP spid="40" grpId="0"/>
      <p:bldP spid="41" grpId="0" animBg="1"/>
      <p:bldP spid="42" grpId="0"/>
    </p:bldLst>
  </p:timing>
</p:sld>
</file>

<file path=ppt/slides/slide57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lens"/>
          <p:cNvSpPr/>
          <p:nvPr/>
        </p:nvSpPr>
        <p:spPr>
          <a:xfrm>
            <a:off x="368300" y="127000"/>
            <a:ext cx="1206500" cy="1206500"/>
          </a:xfrm>
          <a:prstGeom prst="ellipse">
            <a:avLst/>
          </a:prstGeom>
          <a:solidFill>
            <a:srgbClr val="EEF2EF"/>
          </a:solidFill>
          <a:ln/>
        </p:spPr>
      </p:sp>
      <p:pic>
        <p:nvPicPr>
          <p:cNvPr id="3" name="!!mt" descr="شعار نظرة ثماني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700000">
            <a:off x="794345" y="364083"/>
            <a:ext cx="546100" cy="533400"/>
          </a:xfrm>
          <a:prstGeom prst="rect">
            <a:avLst/>
          </a:prstGeom>
        </p:spPr>
      </p:pic>
      <p:pic>
        <p:nvPicPr>
          <p:cNvPr id="4" name="!!mb" descr="شعار نظرة ثمانية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700000">
            <a:off x="582861" y="569813"/>
            <a:ext cx="527050" cy="520700"/>
          </a:xfrm>
          <a:prstGeom prst="rect">
            <a:avLst/>
          </a:prstGeom>
        </p:spPr>
      </p:pic>
      <p:pic>
        <p:nvPicPr>
          <p:cNvPr id="5" name="!!ma" descr="شعار نظرة ثمانية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700000">
            <a:off x="1074638" y="585440"/>
            <a:ext cx="95250" cy="82550"/>
          </a:xfrm>
          <a:prstGeom prst="rect">
            <a:avLst/>
          </a:prstGeom>
        </p:spPr>
      </p:pic>
      <p:pic>
        <p:nvPicPr>
          <p:cNvPr id="6" name="!!hud" descr="!!hu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800" y="177800"/>
            <a:ext cx="11836400" cy="6502400"/>
          </a:xfrm>
          <a:prstGeom prst="rect">
            <a:avLst/>
          </a:prstGeom>
        </p:spPr>
      </p:pic>
      <p:sp>
        <p:nvSpPr>
          <p:cNvPr id="7" name="!!rec"/>
          <p:cNvSpPr/>
          <p:nvPr/>
        </p:nvSpPr>
        <p:spPr>
          <a:xfrm>
            <a:off x="635000" y="6337300"/>
            <a:ext cx="101600" cy="101600"/>
          </a:xfrm>
          <a:prstGeom prst="ellipse">
            <a:avLst/>
          </a:prstGeom>
          <a:solidFill>
            <a:srgbClr val="FF8D26"/>
          </a:solidFill>
          <a:ln/>
        </p:spPr>
      </p:sp>
      <p:sp>
        <p:nvSpPr>
          <p:cNvPr id="8" name="!!num"/>
          <p:cNvSpPr txBox="1"/>
          <p:nvPr/>
        </p:nvSpPr>
        <p:spPr>
          <a:xfrm>
            <a:off x="825500" y="6281750"/>
            <a:ext cx="682526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altLang="en-US" sz="1200" dirty="0">
                <a:solidFill>
                  <a:srgbClr val="5E6D7C"/>
                </a:solidFill>
                <a:latin typeface="Sakkal Saad TN Trial Light"/>
                <a:cs typeface="Sakkal Saad TN Trial Light"/>
              </a:rPr>
              <a:t>REC · 57</a:t>
            </a:r>
            <a:endParaRPr lang="en-US" sz="1200" dirty="0"/>
          </a:p>
        </p:txBody>
      </p:sp>
      <p:sp>
        <p:nvSpPr>
          <p:cNvPr id="9" name="!!kick"/>
          <p:cNvSpPr txBox="1"/>
          <p:nvPr/>
        </p:nvSpPr>
        <p:spPr>
          <a:xfrm>
            <a:off x="8843375" y="318834"/>
            <a:ext cx="2713625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ar-SA" altLang="en-US" sz="1500" dirty="0">
                <a:solidFill>
                  <a:srgbClr val="E9720C"/>
                </a:solidFill>
                <a:latin typeface="Sakkal Saad TN Trial Light"/>
                <a:cs typeface="Sakkal Saad TN Trial Light"/>
              </a:rPr>
              <a:t>شخصية العميل المستهدف Buyer Persona</a:t>
            </a:r>
            <a:endParaRPr lang="ar-SA" sz="1500" dirty="0"/>
          </a:p>
        </p:txBody>
      </p:sp>
      <p:sp>
        <p:nvSpPr>
          <p:cNvPr id="10" name="s57-text-8"/>
          <p:cNvSpPr txBox="1"/>
          <p:nvPr/>
        </p:nvSpPr>
        <p:spPr>
          <a:xfrm>
            <a:off x="4283877" y="695134"/>
            <a:ext cx="7273123" cy="702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5130"/>
              </a:lnSpc>
              <a:buNone/>
            </a:pPr>
            <a:r>
              <a:rPr lang="ar-SA" altLang="en-US" sz="3800" b="1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الشخصية الثانية : صاحب منشأة أو مشروع B2B</a:t>
            </a:r>
            <a:endParaRPr lang="ar-SA" sz="3800" dirty="0"/>
          </a:p>
        </p:txBody>
      </p:sp>
      <p:sp>
        <p:nvSpPr>
          <p:cNvPr id="11" name="s57-shape-9"/>
          <p:cNvSpPr/>
          <p:nvPr/>
        </p:nvSpPr>
        <p:spPr>
          <a:xfrm>
            <a:off x="698500" y="1841500"/>
            <a:ext cx="10795000" cy="1905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0" dist="76200" dir="5400000">
              <a:srgbClr val="1E2A36">
                <a:alpha val="10000"/>
              </a:srgbClr>
            </a:outerShdw>
          </a:effectLst>
        </p:spPr>
      </p:sp>
      <p:pic>
        <p:nvPicPr>
          <p:cNvPr id="12" name="s57-snap-10" descr="s57-snap-10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93400" y="2082800"/>
            <a:ext cx="533400" cy="533400"/>
          </a:xfrm>
          <a:prstGeom prst="rect">
            <a:avLst/>
          </a:prstGeom>
        </p:spPr>
      </p:pic>
      <p:sp>
        <p:nvSpPr>
          <p:cNvPr id="13" name="s57-text-11"/>
          <p:cNvSpPr txBox="1"/>
          <p:nvPr/>
        </p:nvSpPr>
        <p:spPr>
          <a:xfrm>
            <a:off x="8810974" y="2138064"/>
            <a:ext cx="1806226" cy="344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310"/>
              </a:lnSpc>
              <a:buNone/>
            </a:pPr>
            <a:r>
              <a:rPr lang="ar-SA" altLang="en-US" sz="1650" b="1" dirty="0">
                <a:solidFill>
                  <a:srgbClr val="E9720C"/>
                </a:solidFill>
                <a:latin typeface="Sakkal Saad TN Trial Light"/>
                <a:cs typeface="Sakkal Saad TN Trial Light"/>
              </a:rPr>
              <a:t>ما الذي يجذبه في المحتوى؟</a:t>
            </a:r>
            <a:endParaRPr lang="ar-SA" sz="1650" dirty="0"/>
          </a:p>
        </p:txBody>
      </p:sp>
      <p:sp>
        <p:nvSpPr>
          <p:cNvPr id="14" name="s57-text-12"/>
          <p:cNvSpPr txBox="1"/>
          <p:nvPr/>
        </p:nvSpPr>
        <p:spPr>
          <a:xfrm>
            <a:off x="188468" y="2587377"/>
            <a:ext cx="11000232" cy="720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635"/>
              </a:lnSpc>
              <a:buNone/>
            </a:pPr>
            <a:r>
              <a:rPr lang="ar-SA" altLang="en-US" sz="17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المشاريع الحقيقية، دراسات الحالة، قبل/بعد، تفاصيل التنفيذ، الحلول المخصصة للمنشآت، المقارنات بين الخيارات، المحتوى الذي يوضح التكلفة والقيمة، وخطوات</a:t>
            </a:r>
            <a:endParaRPr lang="ar-SA" sz="1700" dirty="0"/>
          </a:p>
          <a:p>
            <a:pPr rtl="1" algn="r" indent="0" marL="0">
              <a:lnSpc>
                <a:spcPts val="2635"/>
              </a:lnSpc>
              <a:buNone/>
            </a:pPr>
            <a:r>
              <a:rPr lang="ar-SA" altLang="en-US" sz="17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إعداد عرض السعر.</a:t>
            </a:r>
            <a:endParaRPr lang="ar-SA" sz="1700" dirty="0"/>
          </a:p>
        </p:txBody>
      </p:sp>
      <p:sp>
        <p:nvSpPr>
          <p:cNvPr id="15" name="s57-shape-13"/>
          <p:cNvSpPr/>
          <p:nvPr/>
        </p:nvSpPr>
        <p:spPr>
          <a:xfrm>
            <a:off x="698500" y="3937000"/>
            <a:ext cx="5270500" cy="2286000"/>
          </a:xfrm>
          <a:prstGeom prst="roundRect">
            <a:avLst>
              <a:gd name="adj" fmla="val 11111"/>
            </a:avLst>
          </a:prstGeom>
          <a:solidFill>
            <a:srgbClr val="43644B"/>
          </a:solidFill>
          <a:ln/>
        </p:spPr>
      </p:sp>
      <p:pic>
        <p:nvPicPr>
          <p:cNvPr id="16" name="s57-snap-14" descr="s57-snap-14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68900" y="4178300"/>
            <a:ext cx="533400" cy="533400"/>
          </a:xfrm>
          <a:prstGeom prst="rect">
            <a:avLst/>
          </a:prstGeom>
        </p:spPr>
      </p:pic>
      <p:sp>
        <p:nvSpPr>
          <p:cNvPr id="17" name="s57-text-15"/>
          <p:cNvSpPr txBox="1"/>
          <p:nvPr/>
        </p:nvSpPr>
        <p:spPr>
          <a:xfrm>
            <a:off x="3353018" y="4233564"/>
            <a:ext cx="1739682" cy="344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310"/>
              </a:lnSpc>
              <a:buNone/>
            </a:pPr>
            <a:r>
              <a:rPr lang="ar-SA" altLang="en-US" sz="1650" b="1" dirty="0">
                <a:solidFill>
                  <a:srgbClr val="F6C342"/>
                </a:solidFill>
                <a:latin typeface="Sakkal Saad TN Trial Light"/>
                <a:cs typeface="Sakkal Saad TN Trial Light"/>
              </a:rPr>
              <a:t>الزاوية الإعلانية المناسبة له</a:t>
            </a:r>
            <a:endParaRPr lang="ar-SA" sz="1650" dirty="0"/>
          </a:p>
        </p:txBody>
      </p:sp>
      <p:sp>
        <p:nvSpPr>
          <p:cNvPr id="18" name="s57-text-16"/>
          <p:cNvSpPr txBox="1"/>
          <p:nvPr/>
        </p:nvSpPr>
        <p:spPr>
          <a:xfrm>
            <a:off x="630428" y="4666571"/>
            <a:ext cx="5033772" cy="464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3255"/>
              </a:lnSpc>
              <a:buNone/>
            </a:pPr>
            <a:r>
              <a:rPr lang="ar-SA" altLang="en-US" sz="2100" dirty="0">
                <a:solidFill>
                  <a:srgbClr val="FFFFFF"/>
                </a:solidFill>
                <a:latin typeface="Sakkal Saad TN Trial Light"/>
                <a:cs typeface="Sakkal Saad TN Trial Light"/>
              </a:rPr>
              <a:t>الثقة + كفاءة التنفيذ + الحل المتكامل + تقليل المخاطر.</a:t>
            </a:r>
            <a:endParaRPr lang="ar-SA" sz="2100" dirty="0"/>
          </a:p>
        </p:txBody>
      </p:sp>
      <p:sp>
        <p:nvSpPr>
          <p:cNvPr id="19" name="s57-shape-17"/>
          <p:cNvSpPr/>
          <p:nvPr/>
        </p:nvSpPr>
        <p:spPr>
          <a:xfrm>
            <a:off x="6159500" y="3937000"/>
            <a:ext cx="5334000" cy="2286000"/>
          </a:xfrm>
          <a:prstGeom prst="roundRect">
            <a:avLst>
              <a:gd name="adj" fmla="val 11111"/>
            </a:avLst>
          </a:prstGeom>
          <a:solidFill>
            <a:srgbClr val="FF8D26"/>
          </a:solidFill>
          <a:ln/>
        </p:spPr>
      </p:sp>
      <p:pic>
        <p:nvPicPr>
          <p:cNvPr id="20" name="s57-snap-18" descr="s57-snap-18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93400" y="4549775"/>
            <a:ext cx="533400" cy="533400"/>
          </a:xfrm>
          <a:prstGeom prst="rect">
            <a:avLst/>
          </a:prstGeom>
        </p:spPr>
      </p:pic>
      <p:sp>
        <p:nvSpPr>
          <p:cNvPr id="21" name="s57-text-19"/>
          <p:cNvSpPr txBox="1"/>
          <p:nvPr/>
        </p:nvSpPr>
        <p:spPr>
          <a:xfrm>
            <a:off x="9657655" y="4624261"/>
            <a:ext cx="97224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00"/>
              </a:lnSpc>
              <a:buNone/>
            </a:pPr>
            <a:r>
              <a:rPr lang="ar-SA" altLang="en-US" sz="15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الرسالة المناسبة</a:t>
            </a:r>
            <a:endParaRPr lang="ar-SA" sz="1500" dirty="0"/>
          </a:p>
        </p:txBody>
      </p:sp>
      <p:sp>
        <p:nvSpPr>
          <p:cNvPr id="22" name="s57-text-20"/>
          <p:cNvSpPr txBox="1"/>
          <p:nvPr/>
        </p:nvSpPr>
        <p:spPr>
          <a:xfrm>
            <a:off x="6086348" y="5034077"/>
            <a:ext cx="5102352" cy="488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3450"/>
              </a:lnSpc>
              <a:buNone/>
            </a:pPr>
            <a:r>
              <a:rPr lang="ar-SA" altLang="en-US" sz="2300" b="1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"لا تقارن عدد الكاميرات فقط… قارن الحل كاملًا."</a:t>
            </a:r>
            <a:endParaRPr lang="ar-SA" sz="23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3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4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0" dur="489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75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75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75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5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75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75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75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75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75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75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75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75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75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75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75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75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75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75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75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75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75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/>
      <p:bldP spid="11" grpId="0" animBg="1"/>
      <p:bldP spid="13" grpId="0"/>
      <p:bldP spid="14" grpId="0"/>
      <p:bldP spid="15" grpId="0" animBg="1"/>
      <p:bldP spid="17" grpId="0"/>
      <p:bldP spid="18" grpId="0"/>
      <p:bldP spid="19" grpId="0" animBg="1"/>
      <p:bldP spid="21" grpId="0"/>
      <p:bldP spid="22" grpId="0"/>
    </p:bldLst>
  </p:timing>
</p:sld>
</file>

<file path=ppt/slides/slide58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5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lens"/>
          <p:cNvSpPr/>
          <p:nvPr/>
        </p:nvSpPr>
        <p:spPr>
          <a:xfrm>
            <a:off x="-635000" y="-127000"/>
            <a:ext cx="7112000" cy="7112000"/>
          </a:xfrm>
          <a:prstGeom prst="ellipse">
            <a:avLst/>
          </a:prstGeom>
          <a:solidFill>
            <a:srgbClr val="FFFFFF">
              <a:alpha val="7000"/>
            </a:srgbClr>
          </a:solidFill>
          <a:ln/>
        </p:spPr>
      </p:sp>
      <p:pic>
        <p:nvPicPr>
          <p:cNvPr id="3" name="!!mt" descr="شعار نظرة ثمانية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5400000">
            <a:off x="900013" y="2109788"/>
            <a:ext cx="2635250" cy="2597150"/>
          </a:xfrm>
          <a:prstGeom prst="rect">
            <a:avLst/>
          </a:prstGeom>
        </p:spPr>
      </p:pic>
      <p:pic>
        <p:nvPicPr>
          <p:cNvPr id="4" name="!!mb" descr="شعار نظرة ثمانية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5400000">
            <a:off x="2375843" y="2218928"/>
            <a:ext cx="2565400" cy="2527300"/>
          </a:xfrm>
          <a:prstGeom prst="rect">
            <a:avLst/>
          </a:prstGeom>
        </p:spPr>
      </p:pic>
      <p:pic>
        <p:nvPicPr>
          <p:cNvPr id="5" name="!!ma" descr="شعار نظرة ثمانية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-5400000">
            <a:off x="1782961" y="3027908"/>
            <a:ext cx="463550" cy="412750"/>
          </a:xfrm>
          <a:prstGeom prst="rect">
            <a:avLst/>
          </a:prstGeom>
        </p:spPr>
      </p:pic>
      <p:pic>
        <p:nvPicPr>
          <p:cNvPr id="6" name="!!hud" descr="!!hud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7800" y="177800"/>
            <a:ext cx="11836400" cy="6502400"/>
          </a:xfrm>
          <a:prstGeom prst="rect">
            <a:avLst/>
          </a:prstGeom>
        </p:spPr>
      </p:pic>
      <p:sp>
        <p:nvSpPr>
          <p:cNvPr id="7" name="!!rec"/>
          <p:cNvSpPr/>
          <p:nvPr/>
        </p:nvSpPr>
        <p:spPr>
          <a:xfrm>
            <a:off x="635000" y="6337300"/>
            <a:ext cx="101600" cy="101600"/>
          </a:xfrm>
          <a:prstGeom prst="ellipse">
            <a:avLst/>
          </a:prstGeom>
          <a:solidFill>
            <a:srgbClr val="FF8D26"/>
          </a:solidFill>
          <a:ln/>
        </p:spPr>
      </p:sp>
      <p:sp>
        <p:nvSpPr>
          <p:cNvPr id="8" name="!!num"/>
          <p:cNvSpPr txBox="1"/>
          <p:nvPr/>
        </p:nvSpPr>
        <p:spPr>
          <a:xfrm>
            <a:off x="825500" y="6281750"/>
            <a:ext cx="689769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altLang="en-US" sz="1200" dirty="0">
                <a:solidFill>
                  <a:srgbClr val="D9E0DB"/>
                </a:solidFill>
                <a:latin typeface="Sakkal Saad TN Trial Light"/>
                <a:cs typeface="Sakkal Saad TN Trial Light"/>
              </a:rPr>
              <a:t>REC · 58</a:t>
            </a:r>
            <a:endParaRPr lang="en-US" sz="1200" dirty="0"/>
          </a:p>
        </p:txBody>
      </p:sp>
      <p:pic>
        <p:nvPicPr>
          <p:cNvPr id="9" name="s58-snap-8" descr="s58-snap-8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3809" y="1041400"/>
            <a:ext cx="1880791" cy="1981200"/>
          </a:xfrm>
          <a:prstGeom prst="rect">
            <a:avLst/>
          </a:prstGeom>
        </p:spPr>
      </p:pic>
      <p:pic>
        <p:nvPicPr>
          <p:cNvPr id="10" name="s58-snap-9" descr="s58-snap-9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78400" y="3263900"/>
            <a:ext cx="6426200" cy="235188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3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4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53" presetClass="entr" presetSubtype="3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9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1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9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1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9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5" dur="63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59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lens"/>
          <p:cNvSpPr/>
          <p:nvPr/>
        </p:nvSpPr>
        <p:spPr>
          <a:xfrm>
            <a:off x="368300" y="127000"/>
            <a:ext cx="1206500" cy="1206500"/>
          </a:xfrm>
          <a:prstGeom prst="ellipse">
            <a:avLst/>
          </a:prstGeom>
          <a:solidFill>
            <a:srgbClr val="EEF2EF"/>
          </a:solidFill>
          <a:ln/>
        </p:spPr>
      </p:sp>
      <p:pic>
        <p:nvPicPr>
          <p:cNvPr id="3" name="!!mt" descr="شعار نظرة ثماني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8100000">
            <a:off x="788591" y="569268"/>
            <a:ext cx="546100" cy="533400"/>
          </a:xfrm>
          <a:prstGeom prst="rect">
            <a:avLst/>
          </a:prstGeom>
        </p:spPr>
      </p:pic>
      <p:pic>
        <p:nvPicPr>
          <p:cNvPr id="4" name="!!mb" descr="شعار نظرة ثمانية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8100000">
            <a:off x="598140" y="354608"/>
            <a:ext cx="527050" cy="520700"/>
          </a:xfrm>
          <a:prstGeom prst="rect">
            <a:avLst/>
          </a:prstGeom>
        </p:spPr>
      </p:pic>
      <p:pic>
        <p:nvPicPr>
          <p:cNvPr id="5" name="!!ma" descr="شعار نظرة ثمانية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8100000">
            <a:off x="1018183" y="849561"/>
            <a:ext cx="95250" cy="82550"/>
          </a:xfrm>
          <a:prstGeom prst="rect">
            <a:avLst/>
          </a:prstGeom>
        </p:spPr>
      </p:pic>
      <p:pic>
        <p:nvPicPr>
          <p:cNvPr id="6" name="!!hud" descr="!!hu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800" y="177800"/>
            <a:ext cx="11836400" cy="6502400"/>
          </a:xfrm>
          <a:prstGeom prst="rect">
            <a:avLst/>
          </a:prstGeom>
        </p:spPr>
      </p:pic>
      <p:sp>
        <p:nvSpPr>
          <p:cNvPr id="7" name="!!rec"/>
          <p:cNvSpPr/>
          <p:nvPr/>
        </p:nvSpPr>
        <p:spPr>
          <a:xfrm>
            <a:off x="635000" y="6337300"/>
            <a:ext cx="101600" cy="101600"/>
          </a:xfrm>
          <a:prstGeom prst="ellipse">
            <a:avLst/>
          </a:prstGeom>
          <a:solidFill>
            <a:srgbClr val="FF8D26"/>
          </a:solidFill>
          <a:ln/>
        </p:spPr>
      </p:sp>
      <p:sp>
        <p:nvSpPr>
          <p:cNvPr id="8" name="!!num"/>
          <p:cNvSpPr txBox="1"/>
          <p:nvPr/>
        </p:nvSpPr>
        <p:spPr>
          <a:xfrm>
            <a:off x="825500" y="6281750"/>
            <a:ext cx="69086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altLang="en-US" sz="1200" dirty="0">
                <a:solidFill>
                  <a:srgbClr val="5E6D7C"/>
                </a:solidFill>
                <a:latin typeface="Sakkal Saad TN Trial Light"/>
                <a:cs typeface="Sakkal Saad TN Trial Light"/>
              </a:rPr>
              <a:t>REC · 59</a:t>
            </a:r>
            <a:endParaRPr lang="en-US" sz="1200" dirty="0"/>
          </a:p>
        </p:txBody>
      </p:sp>
      <p:sp>
        <p:nvSpPr>
          <p:cNvPr id="9" name="!!kick"/>
          <p:cNvSpPr txBox="1"/>
          <p:nvPr/>
        </p:nvSpPr>
        <p:spPr>
          <a:xfrm>
            <a:off x="9090799" y="318834"/>
            <a:ext cx="2466201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ar-SA" altLang="en-US" sz="1500" b="1" dirty="0">
                <a:solidFill>
                  <a:srgbClr val="43644B"/>
                </a:solidFill>
                <a:latin typeface="Sakkal Saad TN Trial Light"/>
                <a:cs typeface="Sakkal Saad TN Trial Light"/>
              </a:rPr>
              <a:t>11</a:t>
            </a:r>
            <a:r>
              <a:rPr lang="ar-SA" altLang="en-US" sz="1500" dirty="0">
                <a:solidFill>
                  <a:srgbClr val="E9720C"/>
                </a:solidFill>
                <a:latin typeface="Sakkal Saad TN Trial Light"/>
                <a:cs typeface="Sakkal Saad TN Trial Light"/>
              </a:rPr>
              <a:t> توظيف الذكاء الاصطناعي في المشروع</a:t>
            </a:r>
            <a:endParaRPr lang="ar-SA" sz="1500" dirty="0"/>
          </a:p>
        </p:txBody>
      </p:sp>
      <p:sp>
        <p:nvSpPr>
          <p:cNvPr id="10" name="s59-text-8"/>
          <p:cNvSpPr txBox="1"/>
          <p:nvPr/>
        </p:nvSpPr>
        <p:spPr>
          <a:xfrm>
            <a:off x="7630045" y="695134"/>
            <a:ext cx="3926955" cy="702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5130"/>
              </a:lnSpc>
              <a:buNone/>
            </a:pPr>
            <a:r>
              <a:rPr lang="ar-SA" altLang="en-US" sz="3800" b="1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توظيف الذكاء الاصطناعي</a:t>
            </a:r>
            <a:endParaRPr lang="ar-SA" sz="3800" dirty="0"/>
          </a:p>
        </p:txBody>
      </p:sp>
      <p:pic>
        <p:nvPicPr>
          <p:cNvPr id="11" name="s59-snap-9" descr="s59-snap-9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61700" y="1536700"/>
            <a:ext cx="469900" cy="469900"/>
          </a:xfrm>
          <a:prstGeom prst="rect">
            <a:avLst/>
          </a:prstGeom>
        </p:spPr>
      </p:pic>
      <p:sp>
        <p:nvSpPr>
          <p:cNvPr id="12" name="s59-text-10"/>
          <p:cNvSpPr txBox="1"/>
          <p:nvPr/>
        </p:nvSpPr>
        <p:spPr>
          <a:xfrm>
            <a:off x="2001413" y="1568564"/>
            <a:ext cx="8984087" cy="326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70"/>
              </a:lnSpc>
              <a:buNone/>
            </a:pPr>
            <a:r>
              <a:rPr lang="ar-SA" altLang="en-US" sz="15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تم استخدام أدوات الذكاء الاصطناعي في نظرة ثمانية دعم مراحل التخطيط وصناعة المحتوى والتصميم والفيديو مع مراجعة المخرجات قبل اعتمادها.</a:t>
            </a:r>
            <a:endParaRPr lang="ar-SA" sz="1550" dirty="0"/>
          </a:p>
        </p:txBody>
      </p:sp>
      <p:sp>
        <p:nvSpPr>
          <p:cNvPr id="13" name="s59-shape-11"/>
          <p:cNvSpPr/>
          <p:nvPr/>
        </p:nvSpPr>
        <p:spPr>
          <a:xfrm>
            <a:off x="698500" y="2127250"/>
            <a:ext cx="10795000" cy="749300"/>
          </a:xfrm>
          <a:prstGeom prst="roundRect">
            <a:avLst>
              <a:gd name="adj" fmla="val 33898"/>
            </a:avLst>
          </a:prstGeom>
          <a:solidFill>
            <a:srgbClr val="43644B"/>
          </a:solidFill>
          <a:ln/>
        </p:spPr>
      </p:sp>
      <p:pic>
        <p:nvPicPr>
          <p:cNvPr id="14" name="s59-snap-12" descr="s59-snap-12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82300" y="2222500"/>
            <a:ext cx="558800" cy="558800"/>
          </a:xfrm>
          <a:prstGeom prst="rect">
            <a:avLst/>
          </a:prstGeom>
        </p:spPr>
      </p:pic>
      <p:sp>
        <p:nvSpPr>
          <p:cNvPr id="15" name="s59-text-13"/>
          <p:cNvSpPr txBox="1"/>
          <p:nvPr/>
        </p:nvSpPr>
        <p:spPr>
          <a:xfrm>
            <a:off x="8392160" y="2290464"/>
            <a:ext cx="2263140" cy="344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310"/>
              </a:lnSpc>
              <a:buNone/>
            </a:pPr>
            <a:r>
              <a:rPr lang="ar-SA" altLang="en-US" sz="1650" b="1" dirty="0">
                <a:solidFill>
                  <a:srgbClr val="F6C342"/>
                </a:solidFill>
                <a:latin typeface="Sakkal Saad TN Trial Light"/>
                <a:cs typeface="Sakkal Saad TN Trial Light"/>
              </a:rPr>
              <a:t>توليد الأفكار</a:t>
            </a:r>
            <a:endParaRPr lang="ar-SA" sz="1650" dirty="0"/>
          </a:p>
        </p:txBody>
      </p:sp>
      <p:sp>
        <p:nvSpPr>
          <p:cNvPr id="16" name="s59-text-14"/>
          <p:cNvSpPr txBox="1"/>
          <p:nvPr/>
        </p:nvSpPr>
        <p:spPr>
          <a:xfrm>
            <a:off x="3155509" y="2298814"/>
            <a:ext cx="5239191" cy="326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70"/>
              </a:lnSpc>
              <a:buNone/>
            </a:pPr>
            <a:r>
              <a:rPr lang="ar-SA" altLang="en-US" sz="1550" dirty="0">
                <a:solidFill>
                  <a:srgbClr val="FFFFFF"/>
                </a:solidFill>
                <a:latin typeface="Sakkal Saad TN Trial Light"/>
                <a:cs typeface="Sakkal Saad TN Trial Light"/>
              </a:rPr>
              <a:t>استخدام ChatGPT لاقتراح أفكار المحتوى، الزوايا الإعلانية، الـHooks وأفكار الحملات.</a:t>
            </a:r>
            <a:endParaRPr lang="ar-SA" sz="1550" dirty="0"/>
          </a:p>
        </p:txBody>
      </p:sp>
      <p:sp>
        <p:nvSpPr>
          <p:cNvPr id="17" name="s59-shape-15"/>
          <p:cNvSpPr/>
          <p:nvPr/>
        </p:nvSpPr>
        <p:spPr>
          <a:xfrm>
            <a:off x="698500" y="2952750"/>
            <a:ext cx="10795000" cy="749300"/>
          </a:xfrm>
          <a:prstGeom prst="roundRect">
            <a:avLst>
              <a:gd name="adj" fmla="val 338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0" dist="76200" dir="5400000">
              <a:srgbClr val="1E2A36">
                <a:alpha val="10000"/>
              </a:srgbClr>
            </a:outerShdw>
          </a:effectLst>
        </p:spPr>
      </p:sp>
      <p:pic>
        <p:nvPicPr>
          <p:cNvPr id="18" name="s59-snap-16" descr="s59-snap-16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82300" y="3048000"/>
            <a:ext cx="558800" cy="558800"/>
          </a:xfrm>
          <a:prstGeom prst="rect">
            <a:avLst/>
          </a:prstGeom>
        </p:spPr>
      </p:pic>
      <p:sp>
        <p:nvSpPr>
          <p:cNvPr id="19" name="s59-text-17"/>
          <p:cNvSpPr txBox="1"/>
          <p:nvPr/>
        </p:nvSpPr>
        <p:spPr>
          <a:xfrm>
            <a:off x="8392160" y="3115964"/>
            <a:ext cx="2263140" cy="344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310"/>
              </a:lnSpc>
              <a:buNone/>
            </a:pPr>
            <a:r>
              <a:rPr lang="ar-SA" altLang="en-US" sz="1650" b="1" dirty="0">
                <a:solidFill>
                  <a:srgbClr val="E9720C"/>
                </a:solidFill>
                <a:latin typeface="Sakkal Saad TN Trial Light"/>
                <a:cs typeface="Sakkal Saad TN Trial Light"/>
              </a:rPr>
              <a:t>صياغة المحتوى</a:t>
            </a:r>
            <a:endParaRPr lang="ar-SA" sz="1650" dirty="0"/>
          </a:p>
        </p:txBody>
      </p:sp>
      <p:sp>
        <p:nvSpPr>
          <p:cNvPr id="20" name="s59-text-18"/>
          <p:cNvSpPr txBox="1"/>
          <p:nvPr/>
        </p:nvSpPr>
        <p:spPr>
          <a:xfrm>
            <a:off x="1102610" y="3124314"/>
            <a:ext cx="7292090" cy="326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70"/>
              </a:lnSpc>
              <a:buNone/>
            </a:pPr>
            <a:r>
              <a:rPr lang="ar-SA" altLang="en-US" sz="15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استخدام ChatGPT لكتابة النصوص التسويقية والإعلانية، وصياغة CTA، وتطبيق صيغ مثل AIDA وPAS وFAB و4Ps.</a:t>
            </a:r>
            <a:endParaRPr lang="ar-SA" sz="1550" dirty="0"/>
          </a:p>
        </p:txBody>
      </p:sp>
      <p:sp>
        <p:nvSpPr>
          <p:cNvPr id="21" name="s59-shape-19"/>
          <p:cNvSpPr/>
          <p:nvPr/>
        </p:nvSpPr>
        <p:spPr>
          <a:xfrm>
            <a:off x="698500" y="3778250"/>
            <a:ext cx="10795000" cy="749300"/>
          </a:xfrm>
          <a:prstGeom prst="roundRect">
            <a:avLst>
              <a:gd name="adj" fmla="val 338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0" dist="76200" dir="5400000">
              <a:srgbClr val="1E2A36">
                <a:alpha val="10000"/>
              </a:srgbClr>
            </a:outerShdw>
          </a:effectLst>
        </p:spPr>
      </p:sp>
      <p:pic>
        <p:nvPicPr>
          <p:cNvPr id="22" name="s59-snap-20" descr="s59-snap-20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82300" y="3873500"/>
            <a:ext cx="558800" cy="558800"/>
          </a:xfrm>
          <a:prstGeom prst="rect">
            <a:avLst/>
          </a:prstGeom>
        </p:spPr>
      </p:pic>
      <p:sp>
        <p:nvSpPr>
          <p:cNvPr id="23" name="s59-text-21"/>
          <p:cNvSpPr txBox="1"/>
          <p:nvPr/>
        </p:nvSpPr>
        <p:spPr>
          <a:xfrm>
            <a:off x="8392160" y="3941464"/>
            <a:ext cx="2263140" cy="344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310"/>
              </a:lnSpc>
              <a:buNone/>
            </a:pPr>
            <a:r>
              <a:rPr lang="ar-SA" altLang="en-US" sz="1650" b="1" dirty="0">
                <a:solidFill>
                  <a:srgbClr val="E9720C"/>
                </a:solidFill>
                <a:latin typeface="Sakkal Saad TN Trial Light"/>
                <a:cs typeface="Sakkal Saad TN Trial Light"/>
              </a:rPr>
              <a:t>التصميم والمقترحات البصرية</a:t>
            </a:r>
            <a:endParaRPr lang="ar-SA" sz="1650" dirty="0"/>
          </a:p>
        </p:txBody>
      </p:sp>
      <p:sp>
        <p:nvSpPr>
          <p:cNvPr id="24" name="s59-text-22"/>
          <p:cNvSpPr txBox="1"/>
          <p:nvPr/>
        </p:nvSpPr>
        <p:spPr>
          <a:xfrm>
            <a:off x="2167529" y="3949814"/>
            <a:ext cx="6227171" cy="326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70"/>
              </a:lnSpc>
              <a:buNone/>
            </a:pPr>
            <a:r>
              <a:rPr lang="ar-SA" altLang="en-US" sz="15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استخدام الذكاء الاصطناعي لتطوير أفكار التصاميم، المشاهد، الإضاءة، الخلفيات وزوايا عرض المنتجات.</a:t>
            </a:r>
            <a:endParaRPr lang="ar-SA" sz="1550" dirty="0"/>
          </a:p>
        </p:txBody>
      </p:sp>
      <p:sp>
        <p:nvSpPr>
          <p:cNvPr id="25" name="s59-shape-23"/>
          <p:cNvSpPr/>
          <p:nvPr/>
        </p:nvSpPr>
        <p:spPr>
          <a:xfrm>
            <a:off x="698500" y="4603750"/>
            <a:ext cx="10795000" cy="749300"/>
          </a:xfrm>
          <a:prstGeom prst="roundRect">
            <a:avLst>
              <a:gd name="adj" fmla="val 338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0" dist="76200" dir="5400000">
              <a:srgbClr val="1E2A36">
                <a:alpha val="10000"/>
              </a:srgbClr>
            </a:outerShdw>
          </a:effectLst>
        </p:spPr>
      </p:sp>
      <p:pic>
        <p:nvPicPr>
          <p:cNvPr id="26" name="s59-snap-24" descr="s59-snap-24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82300" y="4699000"/>
            <a:ext cx="558800" cy="558800"/>
          </a:xfrm>
          <a:prstGeom prst="rect">
            <a:avLst/>
          </a:prstGeom>
        </p:spPr>
      </p:pic>
      <p:sp>
        <p:nvSpPr>
          <p:cNvPr id="27" name="s59-text-25"/>
          <p:cNvSpPr txBox="1"/>
          <p:nvPr/>
        </p:nvSpPr>
        <p:spPr>
          <a:xfrm>
            <a:off x="8392160" y="4766964"/>
            <a:ext cx="2263140" cy="344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310"/>
              </a:lnSpc>
              <a:buNone/>
            </a:pPr>
            <a:r>
              <a:rPr lang="ar-SA" altLang="en-US" sz="1650" b="1" dirty="0">
                <a:solidFill>
                  <a:srgbClr val="E9720C"/>
                </a:solidFill>
                <a:latin typeface="Sakkal Saad TN Trial Light"/>
                <a:cs typeface="Sakkal Saad TN Trial Light"/>
              </a:rPr>
              <a:t>الفيديو والصوت</a:t>
            </a:r>
            <a:endParaRPr lang="ar-SA" sz="1650" dirty="0"/>
          </a:p>
        </p:txBody>
      </p:sp>
      <p:sp>
        <p:nvSpPr>
          <p:cNvPr id="28" name="s59-text-26"/>
          <p:cNvSpPr txBox="1"/>
          <p:nvPr/>
        </p:nvSpPr>
        <p:spPr>
          <a:xfrm>
            <a:off x="288544" y="4661822"/>
            <a:ext cx="8106156" cy="566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030"/>
              </a:lnSpc>
              <a:buNone/>
            </a:pPr>
            <a:r>
              <a:rPr lang="ar-SA" altLang="en-US" sz="14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استخدام ChatGPT لكتابة السيناريو والـVoice-over، وMeta AI لإعداد الـ Storyboard، وGoogle Flow و Gemini للمساعدة في إنتاج</a:t>
            </a:r>
            <a:endParaRPr lang="ar-SA" sz="1450" dirty="0"/>
          </a:p>
          <a:p>
            <a:pPr rtl="1" algn="r" indent="0" marL="0">
              <a:lnSpc>
                <a:spcPts val="2030"/>
              </a:lnSpc>
              <a:buNone/>
            </a:pPr>
            <a:r>
              <a:rPr lang="ar-SA" altLang="en-US" sz="14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المشاهد والفيديو.</a:t>
            </a:r>
            <a:endParaRPr lang="ar-SA" sz="1450" dirty="0"/>
          </a:p>
        </p:txBody>
      </p:sp>
      <p:sp>
        <p:nvSpPr>
          <p:cNvPr id="29" name="s59-shape-27"/>
          <p:cNvSpPr/>
          <p:nvPr/>
        </p:nvSpPr>
        <p:spPr>
          <a:xfrm>
            <a:off x="698500" y="5429250"/>
            <a:ext cx="10795000" cy="749300"/>
          </a:xfrm>
          <a:prstGeom prst="roundRect">
            <a:avLst>
              <a:gd name="adj" fmla="val 338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0" dist="76200" dir="5400000">
              <a:srgbClr val="1E2A36">
                <a:alpha val="10000"/>
              </a:srgbClr>
            </a:outerShdw>
          </a:effectLst>
        </p:spPr>
      </p:sp>
      <p:pic>
        <p:nvPicPr>
          <p:cNvPr id="30" name="s59-snap-28" descr="s59-snap-28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782300" y="5524500"/>
            <a:ext cx="558800" cy="558800"/>
          </a:xfrm>
          <a:prstGeom prst="rect">
            <a:avLst/>
          </a:prstGeom>
        </p:spPr>
      </p:pic>
      <p:sp>
        <p:nvSpPr>
          <p:cNvPr id="31" name="s59-text-29"/>
          <p:cNvSpPr txBox="1"/>
          <p:nvPr/>
        </p:nvSpPr>
        <p:spPr>
          <a:xfrm>
            <a:off x="8392160" y="5592464"/>
            <a:ext cx="2263140" cy="344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310"/>
              </a:lnSpc>
              <a:buNone/>
            </a:pPr>
            <a:r>
              <a:rPr lang="ar-SA" altLang="en-US" sz="1650" b="1" dirty="0">
                <a:solidFill>
                  <a:srgbClr val="E9720C"/>
                </a:solidFill>
                <a:latin typeface="Sakkal Saad TN Trial Light"/>
                <a:cs typeface="Sakkal Saad TN Trial Light"/>
              </a:rPr>
              <a:t>تحسين البرومبتات</a:t>
            </a:r>
            <a:endParaRPr lang="ar-SA" sz="1650" dirty="0"/>
          </a:p>
        </p:txBody>
      </p:sp>
      <p:sp>
        <p:nvSpPr>
          <p:cNvPr id="32" name="s59-text-30"/>
          <p:cNvSpPr txBox="1"/>
          <p:nvPr/>
        </p:nvSpPr>
        <p:spPr>
          <a:xfrm>
            <a:off x="3373680" y="5600814"/>
            <a:ext cx="5021020" cy="326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70"/>
              </a:lnSpc>
              <a:buNone/>
            </a:pPr>
            <a:r>
              <a:rPr lang="ar-SA" altLang="en-US" sz="15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استخدام ChatGPT لصياغة وتحسين أوامر توليد الصور والفيديو بشكل أكثر دقة.</a:t>
            </a:r>
            <a:endParaRPr lang="ar-SA" sz="15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3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4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0" dur="489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75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75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75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5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75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75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75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75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75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75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75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75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75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53" presetClass="entr" presetSubtype="16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7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75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75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75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75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75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75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53" presetClass="entr" presetSubtype="16" fill="hold" grpId="0" nodeType="withEffect">
                                  <p:stCondLst>
                                    <p:cond delay="57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27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750" fill="hold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750" fill="hold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750" fill="hold" decel="10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750" fill="hold" decel="10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750" fill="hold" decel="100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750" fill="hold" decel="100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53" presetClass="entr" presetSubtype="16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27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6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6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750" fill="hold" decel="100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750" fill="hold" decel="100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750" fill="hold" decel="100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750" fill="hold" decel="100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750" fill="hold" decel="100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750" fill="hold" decel="100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53" presetClass="entr" presetSubtype="16" fill="hold" grpId="0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27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6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6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53" presetClass="entr" presetSubtype="16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27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9" dur="6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6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/>
      <p:bldP spid="12" grpId="0"/>
      <p:bldP spid="13" grpId="0" animBg="1"/>
      <p:bldP spid="15" grpId="0"/>
      <p:bldP spid="16" grpId="0"/>
      <p:bldP spid="17" grpId="0" animBg="1"/>
      <p:bldP spid="19" grpId="0"/>
      <p:bldP spid="20" grpId="0"/>
      <p:bldP spid="21" grpId="0" animBg="1"/>
      <p:bldP spid="23" grpId="0"/>
      <p:bldP spid="24" grpId="0"/>
      <p:bldP spid="25" grpId="0" animBg="1"/>
      <p:bldP spid="27" grpId="0"/>
      <p:bldP spid="28" grpId="0"/>
      <p:bldP spid="29" grpId="0" animBg="1"/>
      <p:bldP spid="31" grpId="0"/>
      <p:bldP spid="32" grpId="0"/>
    </p:bldLst>
  </p:timing>
</p:sld>
</file>

<file path=ppt/slides/slide60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6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lens"/>
          <p:cNvSpPr/>
          <p:nvPr/>
        </p:nvSpPr>
        <p:spPr>
          <a:xfrm>
            <a:off x="5715000" y="-127000"/>
            <a:ext cx="7112000" cy="7112000"/>
          </a:xfrm>
          <a:prstGeom prst="ellipse">
            <a:avLst/>
          </a:prstGeom>
          <a:solidFill>
            <a:srgbClr val="FFFFFF">
              <a:alpha val="7000"/>
            </a:srgbClr>
          </a:solidFill>
          <a:ln/>
        </p:spPr>
      </p:sp>
      <p:pic>
        <p:nvPicPr>
          <p:cNvPr id="3" name="!!mt" descr="شعار نظرة ثمانية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8171" y="951508"/>
            <a:ext cx="3257550" cy="3213100"/>
          </a:xfrm>
          <a:prstGeom prst="rect">
            <a:avLst/>
          </a:prstGeom>
        </p:spPr>
      </p:pic>
      <p:pic>
        <p:nvPicPr>
          <p:cNvPr id="4" name="!!mb" descr="شعار نظرة ثمانية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3551" y="2779961"/>
            <a:ext cx="3181350" cy="3124200"/>
          </a:xfrm>
          <a:prstGeom prst="rect">
            <a:avLst/>
          </a:prstGeom>
        </p:spPr>
      </p:pic>
      <p:pic>
        <p:nvPicPr>
          <p:cNvPr id="5" name="!!ma" descr="شعار نظرة ثمانية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3276" y="2052886"/>
            <a:ext cx="577850" cy="508000"/>
          </a:xfrm>
          <a:prstGeom prst="rect">
            <a:avLst/>
          </a:prstGeom>
        </p:spPr>
      </p:pic>
      <p:pic>
        <p:nvPicPr>
          <p:cNvPr id="6" name="!!hud" descr="!!hud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7800" y="177800"/>
            <a:ext cx="11836400" cy="6502400"/>
          </a:xfrm>
          <a:prstGeom prst="rect">
            <a:avLst/>
          </a:prstGeom>
        </p:spPr>
      </p:pic>
      <p:sp>
        <p:nvSpPr>
          <p:cNvPr id="7" name="!!rec"/>
          <p:cNvSpPr/>
          <p:nvPr/>
        </p:nvSpPr>
        <p:spPr>
          <a:xfrm>
            <a:off x="635000" y="6337300"/>
            <a:ext cx="101600" cy="101600"/>
          </a:xfrm>
          <a:prstGeom prst="ellipse">
            <a:avLst/>
          </a:prstGeom>
          <a:solidFill>
            <a:srgbClr val="FF8D26"/>
          </a:solidFill>
          <a:ln/>
        </p:spPr>
      </p:sp>
      <p:sp>
        <p:nvSpPr>
          <p:cNvPr id="8" name="!!num"/>
          <p:cNvSpPr txBox="1"/>
          <p:nvPr/>
        </p:nvSpPr>
        <p:spPr>
          <a:xfrm>
            <a:off x="825500" y="6281750"/>
            <a:ext cx="706438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altLang="en-US" sz="1200" dirty="0">
                <a:solidFill>
                  <a:srgbClr val="D9E0DB"/>
                </a:solidFill>
                <a:latin typeface="Sakkal Saad TN Trial Light"/>
                <a:cs typeface="Sakkal Saad TN Trial Light"/>
              </a:rPr>
              <a:t>REC · 60</a:t>
            </a:r>
            <a:endParaRPr lang="en-US" sz="1200" dirty="0"/>
          </a:p>
        </p:txBody>
      </p:sp>
      <p:pic>
        <p:nvPicPr>
          <p:cNvPr id="9" name="s60-snap-8" descr="s60-snap-8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7400" y="1041400"/>
            <a:ext cx="1880791" cy="1981200"/>
          </a:xfrm>
          <a:prstGeom prst="rect">
            <a:avLst/>
          </a:prstGeom>
        </p:spPr>
      </p:pic>
      <p:pic>
        <p:nvPicPr>
          <p:cNvPr id="10" name="s60-snap-9" descr="s60-snap-9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7400" y="3263900"/>
            <a:ext cx="6426200" cy="121404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3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4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53" presetClass="entr" presetSubtype="3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9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1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9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1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9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5" dur="63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61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lens"/>
          <p:cNvSpPr/>
          <p:nvPr/>
        </p:nvSpPr>
        <p:spPr>
          <a:xfrm>
            <a:off x="368300" y="127000"/>
            <a:ext cx="1206500" cy="1206500"/>
          </a:xfrm>
          <a:prstGeom prst="ellipse">
            <a:avLst/>
          </a:prstGeom>
          <a:solidFill>
            <a:srgbClr val="EEF2EF"/>
          </a:solidFill>
          <a:ln/>
        </p:spPr>
      </p:sp>
      <p:pic>
        <p:nvPicPr>
          <p:cNvPr id="3" name="!!mt" descr="شعار نظرة ثماني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-8100000">
            <a:off x="582910" y="562918"/>
            <a:ext cx="546100" cy="533400"/>
          </a:xfrm>
          <a:prstGeom prst="rect">
            <a:avLst/>
          </a:prstGeom>
        </p:spPr>
      </p:pic>
      <p:pic>
        <p:nvPicPr>
          <p:cNvPr id="4" name="!!mb" descr="شعار نظرة ثمانية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8100000">
            <a:off x="813346" y="370483"/>
            <a:ext cx="527050" cy="520700"/>
          </a:xfrm>
          <a:prstGeom prst="rect">
            <a:avLst/>
          </a:prstGeom>
        </p:spPr>
      </p:pic>
      <p:pic>
        <p:nvPicPr>
          <p:cNvPr id="5" name="!!ma" descr="شعار نظرة ثمانية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8100000">
            <a:off x="753368" y="792411"/>
            <a:ext cx="95250" cy="82550"/>
          </a:xfrm>
          <a:prstGeom prst="rect">
            <a:avLst/>
          </a:prstGeom>
        </p:spPr>
      </p:pic>
      <p:pic>
        <p:nvPicPr>
          <p:cNvPr id="6" name="!!hud" descr="!!hu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800" y="177800"/>
            <a:ext cx="11836400" cy="6502400"/>
          </a:xfrm>
          <a:prstGeom prst="rect">
            <a:avLst/>
          </a:prstGeom>
        </p:spPr>
      </p:pic>
      <p:sp>
        <p:nvSpPr>
          <p:cNvPr id="7" name="!!rec"/>
          <p:cNvSpPr/>
          <p:nvPr/>
        </p:nvSpPr>
        <p:spPr>
          <a:xfrm>
            <a:off x="635000" y="6337300"/>
            <a:ext cx="101600" cy="101600"/>
          </a:xfrm>
          <a:prstGeom prst="ellipse">
            <a:avLst/>
          </a:prstGeom>
          <a:solidFill>
            <a:srgbClr val="FF8D26"/>
          </a:solidFill>
          <a:ln/>
        </p:spPr>
      </p:sp>
      <p:sp>
        <p:nvSpPr>
          <p:cNvPr id="8" name="!!num"/>
          <p:cNvSpPr txBox="1"/>
          <p:nvPr/>
        </p:nvSpPr>
        <p:spPr>
          <a:xfrm>
            <a:off x="825500" y="6281750"/>
            <a:ext cx="677962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altLang="en-US" sz="1200" dirty="0">
                <a:solidFill>
                  <a:srgbClr val="5E6D7C"/>
                </a:solidFill>
                <a:latin typeface="Sakkal Saad TN Trial Light"/>
                <a:cs typeface="Sakkal Saad TN Trial Light"/>
              </a:rPr>
              <a:t>REC · 61</a:t>
            </a:r>
            <a:endParaRPr lang="en-US" sz="1200" dirty="0"/>
          </a:p>
        </p:txBody>
      </p:sp>
      <p:sp>
        <p:nvSpPr>
          <p:cNvPr id="9" name="!!kick"/>
          <p:cNvSpPr txBox="1"/>
          <p:nvPr/>
        </p:nvSpPr>
        <p:spPr>
          <a:xfrm>
            <a:off x="9883005" y="318834"/>
            <a:ext cx="1673995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ar-SA" altLang="en-US" sz="1500" b="1" dirty="0">
                <a:solidFill>
                  <a:srgbClr val="43644B"/>
                </a:solidFill>
                <a:latin typeface="Sakkal Saad TN Trial Light"/>
                <a:cs typeface="Sakkal Saad TN Trial Light"/>
              </a:rPr>
              <a:t>12</a:t>
            </a:r>
            <a:r>
              <a:rPr lang="ar-SA" altLang="en-US" sz="1500" dirty="0">
                <a:solidFill>
                  <a:srgbClr val="E9720C"/>
                </a:solidFill>
                <a:latin typeface="Sakkal Saad TN Trial Light"/>
                <a:cs typeface="Sakkal Saad TN Trial Light"/>
              </a:rPr>
              <a:t> خطة الحملات الإعلانية</a:t>
            </a:r>
            <a:endParaRPr lang="ar-SA" sz="1500" dirty="0"/>
          </a:p>
        </p:txBody>
      </p:sp>
      <p:sp>
        <p:nvSpPr>
          <p:cNvPr id="10" name="s61-text-8"/>
          <p:cNvSpPr txBox="1"/>
          <p:nvPr/>
        </p:nvSpPr>
        <p:spPr>
          <a:xfrm>
            <a:off x="9277945" y="720535"/>
            <a:ext cx="1326555" cy="702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5130"/>
              </a:lnSpc>
              <a:buNone/>
            </a:pPr>
            <a:r>
              <a:rPr lang="ar-SA" altLang="en-US" sz="3800" b="1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حملة ميتا</a:t>
            </a:r>
            <a:endParaRPr lang="ar-SA" sz="3800" dirty="0"/>
          </a:p>
        </p:txBody>
      </p:sp>
      <p:pic>
        <p:nvPicPr>
          <p:cNvPr id="11" name="s61-snap-9" descr="s61-snap-9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95000" y="850900"/>
            <a:ext cx="736600" cy="736600"/>
          </a:xfrm>
          <a:prstGeom prst="rect">
            <a:avLst/>
          </a:prstGeom>
        </p:spPr>
      </p:pic>
      <p:sp>
        <p:nvSpPr>
          <p:cNvPr id="12" name="s61-shape-10"/>
          <p:cNvSpPr/>
          <p:nvPr/>
        </p:nvSpPr>
        <p:spPr>
          <a:xfrm>
            <a:off x="4762500" y="1841500"/>
            <a:ext cx="6731000" cy="2095500"/>
          </a:xfrm>
          <a:prstGeom prst="roundRect">
            <a:avLst>
              <a:gd name="adj" fmla="val 12121"/>
            </a:avLst>
          </a:prstGeom>
          <a:solidFill>
            <a:srgbClr val="43644B"/>
          </a:solidFill>
          <a:ln/>
        </p:spPr>
      </p:sp>
      <p:pic>
        <p:nvPicPr>
          <p:cNvPr id="13" name="s61-snap-11" descr="s61-snap-11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93400" y="2082800"/>
            <a:ext cx="533400" cy="533400"/>
          </a:xfrm>
          <a:prstGeom prst="rect">
            <a:avLst/>
          </a:prstGeom>
        </p:spPr>
      </p:pic>
      <p:sp>
        <p:nvSpPr>
          <p:cNvPr id="14" name="s61-text-12"/>
          <p:cNvSpPr txBox="1"/>
          <p:nvPr/>
        </p:nvSpPr>
        <p:spPr>
          <a:xfrm>
            <a:off x="9798844" y="2138064"/>
            <a:ext cx="818356" cy="344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310"/>
              </a:lnSpc>
              <a:buNone/>
            </a:pPr>
            <a:r>
              <a:rPr lang="ar-SA" altLang="en-US" sz="1650" b="1" dirty="0">
                <a:solidFill>
                  <a:srgbClr val="F6C342"/>
                </a:solidFill>
                <a:latin typeface="Sakkal Saad TN Trial Light"/>
                <a:cs typeface="Sakkal Saad TN Trial Light"/>
              </a:rPr>
              <a:t>تصور الحملة</a:t>
            </a:r>
            <a:endParaRPr lang="ar-SA" sz="1650" dirty="0"/>
          </a:p>
        </p:txBody>
      </p:sp>
      <p:sp>
        <p:nvSpPr>
          <p:cNvPr id="15" name="s61-text-13"/>
          <p:cNvSpPr txBox="1"/>
          <p:nvPr/>
        </p:nvSpPr>
        <p:spPr>
          <a:xfrm>
            <a:off x="4577588" y="2587377"/>
            <a:ext cx="6611112" cy="720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635"/>
              </a:lnSpc>
              <a:buNone/>
            </a:pPr>
            <a:r>
              <a:rPr lang="ar-SA" altLang="en-US" sz="1700" dirty="0">
                <a:solidFill>
                  <a:srgbClr val="FFFFFF"/>
                </a:solidFill>
                <a:latin typeface="Sakkal Saad TN Trial Light"/>
                <a:cs typeface="Sakkal Saad TN Trial Light"/>
              </a:rPr>
              <a:t>الترويج لباقات وحلول المراقبة للمنازل والمحلات، باستخدام Reels وتصاميم إعلانية تركز على المشكلة</a:t>
            </a:r>
            <a:endParaRPr lang="ar-SA" sz="1700" dirty="0"/>
          </a:p>
          <a:p>
            <a:pPr rtl="1" algn="r" indent="0" marL="0">
              <a:lnSpc>
                <a:spcPts val="2635"/>
              </a:lnSpc>
              <a:buNone/>
            </a:pPr>
            <a:r>
              <a:rPr lang="ar-SA" altLang="en-US" sz="1700" dirty="0">
                <a:solidFill>
                  <a:srgbClr val="FFFFFF"/>
                </a:solidFill>
                <a:latin typeface="Sakkal Saad TN Trial Light"/>
                <a:cs typeface="Sakkal Saad TN Trial Light"/>
              </a:rPr>
              <a:t>والحل مع توجيه العميل إلى واتساب للاستفسار والطلب.</a:t>
            </a:r>
            <a:endParaRPr lang="ar-SA" sz="1700" dirty="0"/>
          </a:p>
        </p:txBody>
      </p:sp>
      <p:sp>
        <p:nvSpPr>
          <p:cNvPr id="16" name="s61-shape-14"/>
          <p:cNvSpPr/>
          <p:nvPr/>
        </p:nvSpPr>
        <p:spPr>
          <a:xfrm>
            <a:off x="698500" y="1841500"/>
            <a:ext cx="3873500" cy="2095500"/>
          </a:xfrm>
          <a:prstGeom prst="roundRect">
            <a:avLst>
              <a:gd name="adj" fmla="val 12121"/>
            </a:avLst>
          </a:prstGeom>
          <a:solidFill>
            <a:srgbClr val="FFF7DE"/>
          </a:solidFill>
          <a:ln/>
        </p:spPr>
      </p:sp>
      <p:pic>
        <p:nvPicPr>
          <p:cNvPr id="17" name="s61-snap-15" descr="s61-snap-15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71900" y="2082800"/>
            <a:ext cx="533400" cy="533400"/>
          </a:xfrm>
          <a:prstGeom prst="rect">
            <a:avLst/>
          </a:prstGeom>
        </p:spPr>
      </p:pic>
      <p:sp>
        <p:nvSpPr>
          <p:cNvPr id="18" name="s61-text-16"/>
          <p:cNvSpPr txBox="1"/>
          <p:nvPr/>
        </p:nvSpPr>
        <p:spPr>
          <a:xfrm>
            <a:off x="2665214" y="2138064"/>
            <a:ext cx="1030486" cy="344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310"/>
              </a:lnSpc>
              <a:buNone/>
            </a:pPr>
            <a:r>
              <a:rPr lang="ar-SA" altLang="en-US" sz="1650" b="1" dirty="0">
                <a:solidFill>
                  <a:srgbClr val="E9720C"/>
                </a:solidFill>
                <a:latin typeface="Sakkal Saad TN Trial Light"/>
                <a:cs typeface="Sakkal Saad TN Trial Light"/>
              </a:rPr>
              <a:t>الهدف الإعلاني</a:t>
            </a:r>
            <a:endParaRPr lang="ar-SA" sz="1650" dirty="0"/>
          </a:p>
        </p:txBody>
      </p:sp>
      <p:sp>
        <p:nvSpPr>
          <p:cNvPr id="19" name="s61-text-17"/>
          <p:cNvSpPr txBox="1"/>
          <p:nvPr/>
        </p:nvSpPr>
        <p:spPr>
          <a:xfrm>
            <a:off x="742188" y="2582507"/>
            <a:ext cx="3525012" cy="405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790"/>
              </a:lnSpc>
              <a:buNone/>
            </a:pPr>
            <a:r>
              <a:rPr lang="ar-SA" altLang="en-US" sz="18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زيادة الاستفسارات المؤهلة وتحويلها إلى مبيعات.</a:t>
            </a:r>
            <a:endParaRPr lang="ar-SA" sz="1800" dirty="0"/>
          </a:p>
        </p:txBody>
      </p:sp>
      <p:sp>
        <p:nvSpPr>
          <p:cNvPr id="20" name="s61-shape-18"/>
          <p:cNvSpPr/>
          <p:nvPr/>
        </p:nvSpPr>
        <p:spPr>
          <a:xfrm>
            <a:off x="7683500" y="4127500"/>
            <a:ext cx="3810000" cy="209550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0" dist="76200" dir="5400000">
              <a:srgbClr val="1E2A36">
                <a:alpha val="10000"/>
              </a:srgbClr>
            </a:outerShdw>
          </a:effectLst>
        </p:spPr>
      </p:sp>
      <p:pic>
        <p:nvPicPr>
          <p:cNvPr id="21" name="s61-snap-19" descr="s61-snap-19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93400" y="4368800"/>
            <a:ext cx="533400" cy="533400"/>
          </a:xfrm>
          <a:prstGeom prst="rect">
            <a:avLst/>
          </a:prstGeom>
        </p:spPr>
      </p:pic>
      <p:sp>
        <p:nvSpPr>
          <p:cNvPr id="22" name="s61-text-20"/>
          <p:cNvSpPr txBox="1"/>
          <p:nvPr/>
        </p:nvSpPr>
        <p:spPr>
          <a:xfrm>
            <a:off x="9427270" y="4424064"/>
            <a:ext cx="1189930" cy="344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310"/>
              </a:lnSpc>
              <a:buNone/>
            </a:pPr>
            <a:r>
              <a:rPr lang="ar-SA" altLang="en-US" sz="1650" b="1" dirty="0">
                <a:solidFill>
                  <a:srgbClr val="E9720C"/>
                </a:solidFill>
                <a:latin typeface="Sakkal Saad TN Trial Light"/>
                <a:cs typeface="Sakkal Saad TN Trial Light"/>
              </a:rPr>
              <a:t>الجمهور المستهدف</a:t>
            </a:r>
            <a:endParaRPr lang="ar-SA" sz="1650" dirty="0"/>
          </a:p>
        </p:txBody>
      </p:sp>
      <p:sp>
        <p:nvSpPr>
          <p:cNvPr id="23" name="s61-text-21"/>
          <p:cNvSpPr txBox="1"/>
          <p:nvPr/>
        </p:nvSpPr>
        <p:spPr>
          <a:xfrm>
            <a:off x="7732268" y="4910315"/>
            <a:ext cx="3456432" cy="455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3190"/>
              </a:lnSpc>
              <a:buNone/>
            </a:pPr>
            <a:r>
              <a:rPr lang="ar-SA" altLang="en-US" sz="2200" b="1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أصحاب المنازل والفلل</a:t>
            </a:r>
            <a:endParaRPr lang="ar-SA" sz="2200" dirty="0"/>
          </a:p>
        </p:txBody>
      </p:sp>
      <p:sp>
        <p:nvSpPr>
          <p:cNvPr id="24" name="s61-shape-22"/>
          <p:cNvSpPr/>
          <p:nvPr/>
        </p:nvSpPr>
        <p:spPr>
          <a:xfrm>
            <a:off x="3556000" y="4127500"/>
            <a:ext cx="3937000" cy="2095500"/>
          </a:xfrm>
          <a:prstGeom prst="roundRect">
            <a:avLst>
              <a:gd name="adj" fmla="val 12121"/>
            </a:avLst>
          </a:prstGeom>
          <a:solidFill>
            <a:srgbClr val="FFF1E3"/>
          </a:solidFill>
          <a:ln/>
        </p:spPr>
      </p:sp>
      <p:pic>
        <p:nvPicPr>
          <p:cNvPr id="25" name="s61-snap-23" descr="s61-snap-23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92900" y="4368800"/>
            <a:ext cx="533400" cy="533400"/>
          </a:xfrm>
          <a:prstGeom prst="rect">
            <a:avLst/>
          </a:prstGeom>
        </p:spPr>
      </p:pic>
      <p:sp>
        <p:nvSpPr>
          <p:cNvPr id="26" name="s61-text-24"/>
          <p:cNvSpPr txBox="1"/>
          <p:nvPr/>
        </p:nvSpPr>
        <p:spPr>
          <a:xfrm>
            <a:off x="4888484" y="4424064"/>
            <a:ext cx="1728216" cy="344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310"/>
              </a:lnSpc>
              <a:buNone/>
            </a:pPr>
            <a:r>
              <a:rPr lang="ar-SA" altLang="en-US" sz="1650" b="1" dirty="0">
                <a:solidFill>
                  <a:srgbClr val="E9720C"/>
                </a:solidFill>
                <a:latin typeface="Sakkal Saad TN Trial Light"/>
                <a:cs typeface="Sakkal Saad TN Trial Light"/>
              </a:rPr>
              <a:t>الزوايا الإعلانية المستخدمة</a:t>
            </a:r>
            <a:endParaRPr lang="ar-SA" sz="1650" dirty="0"/>
          </a:p>
        </p:txBody>
      </p:sp>
      <p:sp>
        <p:nvSpPr>
          <p:cNvPr id="27" name="s61-text-25"/>
          <p:cNvSpPr txBox="1"/>
          <p:nvPr/>
        </p:nvSpPr>
        <p:spPr>
          <a:xfrm>
            <a:off x="3594608" y="4925581"/>
            <a:ext cx="3593592" cy="382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610"/>
              </a:lnSpc>
              <a:buNone/>
            </a:pPr>
            <a:r>
              <a:rPr lang="ar-SA" altLang="en-US" sz="1800" b="1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الراحة والاطمئنان</a:t>
            </a:r>
            <a:endParaRPr lang="ar-SA" sz="1800" dirty="0"/>
          </a:p>
        </p:txBody>
      </p:sp>
      <p:sp>
        <p:nvSpPr>
          <p:cNvPr id="28" name="s61-text-26"/>
          <p:cNvSpPr txBox="1"/>
          <p:nvPr/>
        </p:nvSpPr>
        <p:spPr>
          <a:xfrm>
            <a:off x="3594608" y="5256971"/>
            <a:ext cx="3593592" cy="382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610"/>
              </a:lnSpc>
              <a:buNone/>
            </a:pPr>
            <a:r>
              <a:rPr lang="ar-SA" altLang="en-US" sz="1800" b="1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+ مالي</a:t>
            </a:r>
            <a:endParaRPr lang="ar-SA" sz="1800" dirty="0"/>
          </a:p>
        </p:txBody>
      </p:sp>
      <p:sp>
        <p:nvSpPr>
          <p:cNvPr id="29" name="s61-text-27"/>
          <p:cNvSpPr txBox="1"/>
          <p:nvPr/>
        </p:nvSpPr>
        <p:spPr>
          <a:xfrm>
            <a:off x="3594608" y="5588362"/>
            <a:ext cx="3593592" cy="382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610"/>
              </a:lnSpc>
              <a:buNone/>
            </a:pPr>
            <a:r>
              <a:rPr lang="ar-SA" altLang="en-US" sz="1800" b="1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+ سهولة الطلب</a:t>
            </a:r>
            <a:endParaRPr lang="ar-SA" sz="1800" dirty="0"/>
          </a:p>
        </p:txBody>
      </p:sp>
      <p:sp>
        <p:nvSpPr>
          <p:cNvPr id="30" name="s61-shape-28"/>
          <p:cNvSpPr/>
          <p:nvPr/>
        </p:nvSpPr>
        <p:spPr>
          <a:xfrm>
            <a:off x="698500" y="4127500"/>
            <a:ext cx="2667000" cy="2095500"/>
          </a:xfrm>
          <a:prstGeom prst="roundRect">
            <a:avLst>
              <a:gd name="adj" fmla="val 12121"/>
            </a:avLst>
          </a:prstGeom>
          <a:solidFill>
            <a:srgbClr val="FF8D26"/>
          </a:solidFill>
          <a:ln/>
        </p:spPr>
      </p:sp>
      <p:sp>
        <p:nvSpPr>
          <p:cNvPr id="31" name="s61-text-29"/>
          <p:cNvSpPr txBox="1"/>
          <p:nvPr/>
        </p:nvSpPr>
        <p:spPr>
          <a:xfrm>
            <a:off x="838708" y="4335164"/>
            <a:ext cx="2221992" cy="344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310"/>
              </a:lnSpc>
              <a:buNone/>
            </a:pPr>
            <a:r>
              <a:rPr lang="ar-SA" altLang="en-US" sz="1650" b="1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الميزانية المقترحة</a:t>
            </a:r>
            <a:endParaRPr lang="ar-SA" sz="1650" dirty="0"/>
          </a:p>
        </p:txBody>
      </p:sp>
      <p:sp>
        <p:nvSpPr>
          <p:cNvPr id="32" name="s61-text-30"/>
          <p:cNvSpPr txBox="1"/>
          <p:nvPr/>
        </p:nvSpPr>
        <p:spPr>
          <a:xfrm>
            <a:off x="2056805" y="4579461"/>
            <a:ext cx="1003895" cy="95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7125"/>
              </a:lnSpc>
              <a:buNone/>
            </a:pPr>
            <a:r>
              <a:rPr lang="ar-SA" altLang="en-US" sz="7500" b="1" dirty="0">
                <a:solidFill>
                  <a:srgbClr val="FFFFFF"/>
                </a:solidFill>
                <a:latin typeface="Sakkal Saad TN Trial Light"/>
                <a:cs typeface="Sakkal Saad TN Trial Light"/>
              </a:rPr>
              <a:t>10</a:t>
            </a:r>
            <a:endParaRPr lang="ar-SA" sz="7500" dirty="0"/>
          </a:p>
        </p:txBody>
      </p:sp>
      <p:sp>
        <p:nvSpPr>
          <p:cNvPr id="33" name="s61-text-31"/>
          <p:cNvSpPr txBox="1"/>
          <p:nvPr/>
        </p:nvSpPr>
        <p:spPr>
          <a:xfrm>
            <a:off x="838708" y="5557368"/>
            <a:ext cx="2221992" cy="370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520"/>
              </a:lnSpc>
              <a:buNone/>
            </a:pPr>
            <a:r>
              <a:rPr lang="ar-SA" altLang="en-US" sz="18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ريال سعودي</a:t>
            </a:r>
            <a:endParaRPr lang="ar-SA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3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4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0" dur="489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7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75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75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5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75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75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75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75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75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75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75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75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75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75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75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75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75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75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75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75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75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75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75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75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75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750" fill="hold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750" fill="hold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750" fill="hold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750" fill="hold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750" fill="hold" decel="10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750" fill="hold" decel="10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750" fill="hold" decel="100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750" fill="hold" decel="100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750" fill="hold" decel="100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750" fill="hold" decel="100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42" presetClass="entr" presetSubtype="0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750" fill="hold" decel="100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750" fill="hold" decel="100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42" presetClass="entr" presetSubtype="0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750" fill="hold" decel="100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750" fill="hold" decel="100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9" dur="750" fill="hold" decel="1000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750" fill="hold" decel="1000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53" presetClass="entr" presetSubtype="16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489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700" fill="hold" decel="100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700" fill="hold" decel="100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/>
      <p:bldP spid="12" grpId="0" animBg="1"/>
      <p:bldP spid="14" grpId="0"/>
      <p:bldP spid="15" grpId="0"/>
      <p:bldP spid="16" grpId="0" animBg="1"/>
      <p:bldP spid="18" grpId="0"/>
      <p:bldP spid="19" grpId="0"/>
      <p:bldP spid="20" grpId="0" animBg="1"/>
      <p:bldP spid="22" grpId="0"/>
      <p:bldP spid="23" grpId="0"/>
      <p:bldP spid="24" grpId="0" animBg="1"/>
      <p:bldP spid="26" grpId="0"/>
      <p:bldP spid="27" grpId="0"/>
      <p:bldP spid="28" grpId="0"/>
      <p:bldP spid="29" grpId="0"/>
      <p:bldP spid="30" grpId="0" animBg="1"/>
      <p:bldP spid="31" grpId="0"/>
      <p:bldP spid="33" grpId="0"/>
      <p:bldP spid="32" grpId="0"/>
    </p:bldLst>
  </p:timing>
</p:sld>
</file>

<file path=ppt/slides/slide62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lens"/>
          <p:cNvSpPr/>
          <p:nvPr/>
        </p:nvSpPr>
        <p:spPr>
          <a:xfrm>
            <a:off x="368300" y="127000"/>
            <a:ext cx="1206500" cy="1206500"/>
          </a:xfrm>
          <a:prstGeom prst="ellipse">
            <a:avLst/>
          </a:prstGeom>
          <a:solidFill>
            <a:srgbClr val="EEF2EF"/>
          </a:solidFill>
          <a:ln/>
        </p:spPr>
      </p:sp>
      <p:pic>
        <p:nvPicPr>
          <p:cNvPr id="3" name="!!mt" descr="شعار نظرة ثماني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-5400000">
            <a:off x="543520" y="459333"/>
            <a:ext cx="546100" cy="533400"/>
          </a:xfrm>
          <a:prstGeom prst="rect">
            <a:avLst/>
          </a:prstGeom>
        </p:spPr>
      </p:pic>
      <p:pic>
        <p:nvPicPr>
          <p:cNvPr id="4" name="!!mb" descr="شعار نظرة ثمانية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5400000">
            <a:off x="850156" y="480913"/>
            <a:ext cx="527050" cy="520700"/>
          </a:xfrm>
          <a:prstGeom prst="rect">
            <a:avLst/>
          </a:prstGeom>
        </p:spPr>
      </p:pic>
      <p:pic>
        <p:nvPicPr>
          <p:cNvPr id="5" name="!!ma" descr="شعار نظرة ثمانية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5400000">
            <a:off x="727373" y="648940"/>
            <a:ext cx="95250" cy="82550"/>
          </a:xfrm>
          <a:prstGeom prst="rect">
            <a:avLst/>
          </a:prstGeom>
        </p:spPr>
      </p:pic>
      <p:pic>
        <p:nvPicPr>
          <p:cNvPr id="6" name="!!hud" descr="!!hu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800" y="177800"/>
            <a:ext cx="11836400" cy="6502400"/>
          </a:xfrm>
          <a:prstGeom prst="rect">
            <a:avLst/>
          </a:prstGeom>
        </p:spPr>
      </p:pic>
      <p:sp>
        <p:nvSpPr>
          <p:cNvPr id="7" name="!!rec"/>
          <p:cNvSpPr/>
          <p:nvPr/>
        </p:nvSpPr>
        <p:spPr>
          <a:xfrm>
            <a:off x="635000" y="6337300"/>
            <a:ext cx="101600" cy="101600"/>
          </a:xfrm>
          <a:prstGeom prst="ellipse">
            <a:avLst/>
          </a:prstGeom>
          <a:solidFill>
            <a:srgbClr val="FF8D26"/>
          </a:solidFill>
          <a:ln/>
        </p:spPr>
      </p:sp>
      <p:sp>
        <p:nvSpPr>
          <p:cNvPr id="8" name="!!num"/>
          <p:cNvSpPr txBox="1"/>
          <p:nvPr/>
        </p:nvSpPr>
        <p:spPr>
          <a:xfrm>
            <a:off x="825500" y="6281750"/>
            <a:ext cx="690662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altLang="en-US" sz="1200" dirty="0">
                <a:solidFill>
                  <a:srgbClr val="5E6D7C"/>
                </a:solidFill>
                <a:latin typeface="Sakkal Saad TN Trial Light"/>
                <a:cs typeface="Sakkal Saad TN Trial Light"/>
              </a:rPr>
              <a:t>REC · 62</a:t>
            </a:r>
            <a:endParaRPr lang="en-US" sz="1200" dirty="0"/>
          </a:p>
        </p:txBody>
      </p:sp>
      <p:sp>
        <p:nvSpPr>
          <p:cNvPr id="9" name="!!kick"/>
          <p:cNvSpPr txBox="1"/>
          <p:nvPr/>
        </p:nvSpPr>
        <p:spPr>
          <a:xfrm>
            <a:off x="9883005" y="318834"/>
            <a:ext cx="1673995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ar-SA" altLang="en-US" sz="1500" b="1" dirty="0">
                <a:solidFill>
                  <a:srgbClr val="43644B"/>
                </a:solidFill>
                <a:latin typeface="Sakkal Saad TN Trial Light"/>
                <a:cs typeface="Sakkal Saad TN Trial Light"/>
              </a:rPr>
              <a:t>12</a:t>
            </a:r>
            <a:r>
              <a:rPr lang="ar-SA" altLang="en-US" sz="1500" dirty="0">
                <a:solidFill>
                  <a:srgbClr val="E9720C"/>
                </a:solidFill>
                <a:latin typeface="Sakkal Saad TN Trial Light"/>
                <a:cs typeface="Sakkal Saad TN Trial Light"/>
              </a:rPr>
              <a:t> خطة الحملات الإعلانية</a:t>
            </a:r>
            <a:endParaRPr lang="ar-SA" sz="1500" dirty="0"/>
          </a:p>
        </p:txBody>
      </p:sp>
      <p:sp>
        <p:nvSpPr>
          <p:cNvPr id="10" name="s62-text-8"/>
          <p:cNvSpPr txBox="1"/>
          <p:nvPr/>
        </p:nvSpPr>
        <p:spPr>
          <a:xfrm>
            <a:off x="5028732" y="720535"/>
            <a:ext cx="5575768" cy="702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5130"/>
              </a:lnSpc>
              <a:buNone/>
            </a:pPr>
            <a:r>
              <a:rPr lang="ar-SA" altLang="en-US" sz="3800" b="1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الرسالة الإعلانية </a:t>
            </a:r>
            <a:r>
              <a:rPr lang="ar-SA" altLang="en-US" sz="3800" b="1" dirty="0">
                <a:solidFill>
                  <a:srgbClr val="E9720C"/>
                </a:solidFill>
                <a:latin typeface="Sakkal Saad TN Trial Light"/>
                <a:cs typeface="Sakkal Saad TN Trial Light"/>
              </a:rPr>
              <a:t>· الراحة والاطمئنان</a:t>
            </a:r>
            <a:endParaRPr lang="ar-SA" sz="3800" dirty="0"/>
          </a:p>
        </p:txBody>
      </p:sp>
      <p:sp>
        <p:nvSpPr>
          <p:cNvPr id="11" name="s62-shape-9"/>
          <p:cNvSpPr/>
          <p:nvPr/>
        </p:nvSpPr>
        <p:spPr>
          <a:xfrm>
            <a:off x="10833100" y="889000"/>
            <a:ext cx="660400" cy="660400"/>
          </a:xfrm>
          <a:prstGeom prst="ellipse">
            <a:avLst/>
          </a:prstGeom>
          <a:solidFill>
            <a:srgbClr val="FF8D26"/>
          </a:solidFill>
          <a:ln/>
        </p:spPr>
      </p:sp>
      <p:sp>
        <p:nvSpPr>
          <p:cNvPr id="12" name="s62-text-10"/>
          <p:cNvSpPr txBox="1"/>
          <p:nvPr/>
        </p:nvSpPr>
        <p:spPr>
          <a:xfrm>
            <a:off x="10905331" y="995655"/>
            <a:ext cx="41443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600"/>
              </a:lnSpc>
              <a:buNone/>
            </a:pPr>
            <a:r>
              <a:rPr lang="ar-SA" altLang="en-US" sz="2600" b="1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01</a:t>
            </a:r>
            <a:endParaRPr lang="ar-SA" sz="2600" dirty="0"/>
          </a:p>
        </p:txBody>
      </p:sp>
      <p:sp>
        <p:nvSpPr>
          <p:cNvPr id="13" name="s62-shape-11"/>
          <p:cNvSpPr/>
          <p:nvPr/>
        </p:nvSpPr>
        <p:spPr>
          <a:xfrm>
            <a:off x="4762500" y="1809750"/>
            <a:ext cx="6731000" cy="365125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0" dist="76200" dir="5400000">
              <a:srgbClr val="1E2A36">
                <a:alpha val="10000"/>
              </a:srgbClr>
            </a:outerShdw>
          </a:effectLst>
        </p:spPr>
      </p:sp>
      <p:sp>
        <p:nvSpPr>
          <p:cNvPr id="14" name="s62-text-12"/>
          <p:cNvSpPr txBox="1"/>
          <p:nvPr/>
        </p:nvSpPr>
        <p:spPr>
          <a:xfrm>
            <a:off x="4577588" y="1958143"/>
            <a:ext cx="6611112" cy="621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4495"/>
              </a:lnSpc>
              <a:buNone/>
            </a:pPr>
            <a:r>
              <a:rPr lang="ar-SA" altLang="en-US" sz="3100" b="1" dirty="0">
                <a:solidFill>
                  <a:srgbClr val="43644B"/>
                </a:solidFill>
                <a:latin typeface="Sakkal Saad TN Trial Light"/>
                <a:cs typeface="Sakkal Saad TN Trial Light"/>
              </a:rPr>
              <a:t>وأنت خارج البيت… مين يطمنك على بيتك؟ 🏠</a:t>
            </a:r>
            <a:endParaRPr lang="ar-SA" sz="3100" dirty="0"/>
          </a:p>
        </p:txBody>
      </p:sp>
      <p:sp>
        <p:nvSpPr>
          <p:cNvPr id="15" name="s62-text-13"/>
          <p:cNvSpPr txBox="1"/>
          <p:nvPr/>
        </p:nvSpPr>
        <p:spPr>
          <a:xfrm>
            <a:off x="4577588" y="2657796"/>
            <a:ext cx="661111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3100"/>
              </a:lnSpc>
              <a:buNone/>
            </a:pPr>
            <a:r>
              <a:rPr lang="ar-SA" altLang="en-US" sz="20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تطلع للدوام، تسافر، أو حتى تكون في مشوار…</a:t>
            </a:r>
            <a:endParaRPr lang="ar-SA" sz="2000" dirty="0"/>
          </a:p>
        </p:txBody>
      </p:sp>
      <p:sp>
        <p:nvSpPr>
          <p:cNvPr id="16" name="s62-text-14"/>
          <p:cNvSpPr txBox="1"/>
          <p:nvPr/>
        </p:nvSpPr>
        <p:spPr>
          <a:xfrm>
            <a:off x="4577588" y="3140396"/>
            <a:ext cx="661111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3100"/>
              </a:lnSpc>
              <a:buNone/>
            </a:pPr>
            <a:r>
              <a:rPr lang="ar-SA" altLang="en-US" sz="20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لكن يظل في بالك سؤال: وش يصير في البيت وأنا بعيد؟</a:t>
            </a:r>
            <a:endParaRPr lang="ar-SA" sz="2000" dirty="0"/>
          </a:p>
        </p:txBody>
      </p:sp>
      <p:sp>
        <p:nvSpPr>
          <p:cNvPr id="17" name="s62-text-15"/>
          <p:cNvSpPr txBox="1"/>
          <p:nvPr/>
        </p:nvSpPr>
        <p:spPr>
          <a:xfrm>
            <a:off x="4577588" y="3622996"/>
            <a:ext cx="661111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3100"/>
              </a:lnSpc>
              <a:buNone/>
            </a:pPr>
            <a:r>
              <a:rPr lang="ar-SA" altLang="en-US" sz="20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مع باقة المراقبة المنزلية تقدر تتابع بيتك من جوالك وترجع للتسجيلات وقت الحاجة</a:t>
            </a:r>
            <a:endParaRPr lang="ar-SA" sz="2000" dirty="0"/>
          </a:p>
        </p:txBody>
      </p:sp>
      <p:pic>
        <p:nvPicPr>
          <p:cNvPr id="18" name="s62-snap-16" descr="s62-snap-16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400" y="1771650"/>
            <a:ext cx="4013200" cy="4489450"/>
          </a:xfrm>
          <a:prstGeom prst="rect">
            <a:avLst/>
          </a:prstGeom>
        </p:spPr>
      </p:pic>
      <p:pic>
        <p:nvPicPr>
          <p:cNvPr id="19" name="s62-snap-17" descr="s62-snap-17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98900" y="1987550"/>
            <a:ext cx="520700" cy="520700"/>
          </a:xfrm>
          <a:prstGeom prst="rect">
            <a:avLst/>
          </a:prstGeom>
        </p:spPr>
      </p:pic>
      <p:sp>
        <p:nvSpPr>
          <p:cNvPr id="20" name="s62-text-18"/>
          <p:cNvSpPr txBox="1"/>
          <p:nvPr/>
        </p:nvSpPr>
        <p:spPr>
          <a:xfrm>
            <a:off x="2690118" y="2049278"/>
            <a:ext cx="1145282" cy="326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70"/>
              </a:lnSpc>
              <a:buNone/>
            </a:pPr>
            <a:r>
              <a:rPr lang="ar-SA" altLang="en-US" sz="1550" b="1" dirty="0">
                <a:solidFill>
                  <a:srgbClr val="F6C342"/>
                </a:solidFill>
                <a:latin typeface="Sakkal Saad TN Trial Light"/>
                <a:cs typeface="Sakkal Saad TN Trial Light"/>
              </a:rPr>
              <a:t>الراحة والاطمئنان</a:t>
            </a:r>
            <a:endParaRPr lang="ar-SA" sz="1550" dirty="0"/>
          </a:p>
        </p:txBody>
      </p:sp>
      <p:pic>
        <p:nvPicPr>
          <p:cNvPr id="21" name="s62-snap-19" descr="s62-snap-19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11600" y="2559050"/>
            <a:ext cx="508000" cy="508000"/>
          </a:xfrm>
          <a:prstGeom prst="rect">
            <a:avLst/>
          </a:prstGeom>
        </p:spPr>
      </p:pic>
      <p:sp>
        <p:nvSpPr>
          <p:cNvPr id="22" name="s62-text-20"/>
          <p:cNvSpPr txBox="1"/>
          <p:nvPr/>
        </p:nvSpPr>
        <p:spPr>
          <a:xfrm>
            <a:off x="2065873" y="2601614"/>
            <a:ext cx="1756827" cy="344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310"/>
              </a:lnSpc>
              <a:buNone/>
            </a:pPr>
            <a:r>
              <a:rPr lang="ar-SA" altLang="en-US" sz="1650" dirty="0">
                <a:solidFill>
                  <a:srgbClr val="FFFFFF"/>
                </a:solidFill>
                <a:latin typeface="Sakkal Saad TN Trial Light"/>
                <a:cs typeface="Sakkal Saad TN Trial Light"/>
              </a:rPr>
              <a:t>4 كاميرات بدقة 8MP / 4K</a:t>
            </a:r>
            <a:endParaRPr lang="ar-SA" sz="1650" dirty="0"/>
          </a:p>
        </p:txBody>
      </p:sp>
      <p:pic>
        <p:nvPicPr>
          <p:cNvPr id="23" name="s62-snap-21" descr="s62-snap-21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11600" y="3155950"/>
            <a:ext cx="508000" cy="508000"/>
          </a:xfrm>
          <a:prstGeom prst="rect">
            <a:avLst/>
          </a:prstGeom>
        </p:spPr>
      </p:pic>
      <p:sp>
        <p:nvSpPr>
          <p:cNvPr id="24" name="s62-text-22"/>
          <p:cNvSpPr txBox="1"/>
          <p:nvPr/>
        </p:nvSpPr>
        <p:spPr>
          <a:xfrm>
            <a:off x="3053060" y="3198514"/>
            <a:ext cx="769640" cy="344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310"/>
              </a:lnSpc>
              <a:buNone/>
            </a:pPr>
            <a:r>
              <a:rPr lang="ar-SA" altLang="en-US" sz="1650" dirty="0">
                <a:solidFill>
                  <a:srgbClr val="FFFFFF"/>
                </a:solidFill>
                <a:latin typeface="Sakkal Saad TN Trial Light"/>
                <a:cs typeface="Sakkal Saad TN Trial Light"/>
              </a:rPr>
              <a:t>جهاز DVR</a:t>
            </a:r>
            <a:endParaRPr lang="ar-SA" sz="1650" dirty="0"/>
          </a:p>
        </p:txBody>
      </p:sp>
      <p:pic>
        <p:nvPicPr>
          <p:cNvPr id="25" name="s62-snap-23" descr="s62-snap-23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11600" y="3752850"/>
            <a:ext cx="508000" cy="508000"/>
          </a:xfrm>
          <a:prstGeom prst="rect">
            <a:avLst/>
          </a:prstGeom>
        </p:spPr>
      </p:pic>
      <p:sp>
        <p:nvSpPr>
          <p:cNvPr id="26" name="s62-text-24"/>
          <p:cNvSpPr txBox="1"/>
          <p:nvPr/>
        </p:nvSpPr>
        <p:spPr>
          <a:xfrm>
            <a:off x="2855714" y="3795414"/>
            <a:ext cx="966986" cy="344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310"/>
              </a:lnSpc>
              <a:buNone/>
            </a:pPr>
            <a:r>
              <a:rPr lang="ar-SA" altLang="en-US" sz="1650" dirty="0">
                <a:solidFill>
                  <a:srgbClr val="FFFFFF"/>
                </a:solidFill>
                <a:latin typeface="Sakkal Saad TN Trial Light"/>
                <a:cs typeface="Sakkal Saad TN Trial Light"/>
              </a:rPr>
              <a:t>هاردسك 1TB</a:t>
            </a:r>
            <a:endParaRPr lang="ar-SA" sz="1650" dirty="0"/>
          </a:p>
        </p:txBody>
      </p:sp>
      <p:pic>
        <p:nvPicPr>
          <p:cNvPr id="27" name="s62-snap-25" descr="s62-snap-25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11600" y="4349750"/>
            <a:ext cx="508000" cy="508000"/>
          </a:xfrm>
          <a:prstGeom prst="rect">
            <a:avLst/>
          </a:prstGeom>
        </p:spPr>
      </p:pic>
      <p:sp>
        <p:nvSpPr>
          <p:cNvPr id="28" name="s62-text-26"/>
          <p:cNvSpPr txBox="1"/>
          <p:nvPr/>
        </p:nvSpPr>
        <p:spPr>
          <a:xfrm>
            <a:off x="2437170" y="4392314"/>
            <a:ext cx="1385530" cy="344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310"/>
              </a:lnSpc>
              <a:buNone/>
            </a:pPr>
            <a:r>
              <a:rPr lang="ar-SA" altLang="en-US" sz="1650" dirty="0">
                <a:solidFill>
                  <a:srgbClr val="FFFFFF"/>
                </a:solidFill>
                <a:latin typeface="Sakkal Saad TN Trial Light"/>
                <a:cs typeface="Sakkal Saad TN Trial Light"/>
              </a:rPr>
              <a:t>تمديدات حتى 80 متر</a:t>
            </a:r>
            <a:endParaRPr lang="ar-SA" sz="1650" dirty="0"/>
          </a:p>
        </p:txBody>
      </p:sp>
      <p:pic>
        <p:nvPicPr>
          <p:cNvPr id="29" name="s62-snap-27" descr="s62-snap-27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911600" y="4946650"/>
            <a:ext cx="508000" cy="508000"/>
          </a:xfrm>
          <a:prstGeom prst="rect">
            <a:avLst/>
          </a:prstGeom>
        </p:spPr>
      </p:pic>
      <p:sp>
        <p:nvSpPr>
          <p:cNvPr id="30" name="s62-text-28"/>
          <p:cNvSpPr txBox="1"/>
          <p:nvPr/>
        </p:nvSpPr>
        <p:spPr>
          <a:xfrm>
            <a:off x="2520553" y="4989214"/>
            <a:ext cx="1302147" cy="344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310"/>
              </a:lnSpc>
              <a:buNone/>
            </a:pPr>
            <a:r>
              <a:rPr lang="ar-SA" altLang="en-US" sz="1650" dirty="0">
                <a:solidFill>
                  <a:srgbClr val="FFFFFF"/>
                </a:solidFill>
                <a:latin typeface="Sakkal Saad TN Trial Light"/>
                <a:cs typeface="Sakkal Saad TN Trial Light"/>
              </a:rPr>
              <a:t>تركيب وبرمجة كاملة</a:t>
            </a:r>
            <a:endParaRPr lang="ar-SA" sz="1650" dirty="0"/>
          </a:p>
        </p:txBody>
      </p:sp>
      <p:sp>
        <p:nvSpPr>
          <p:cNvPr id="31" name="s62-shape-29"/>
          <p:cNvSpPr/>
          <p:nvPr/>
        </p:nvSpPr>
        <p:spPr>
          <a:xfrm>
            <a:off x="4762500" y="5619750"/>
            <a:ext cx="6731000" cy="603250"/>
          </a:xfrm>
          <a:prstGeom prst="roundRect">
            <a:avLst>
              <a:gd name="adj" fmla="val 42105"/>
            </a:avLst>
          </a:prstGeom>
          <a:solidFill>
            <a:srgbClr val="FF8D26"/>
          </a:solidFill>
          <a:ln/>
        </p:spPr>
      </p:sp>
      <p:pic>
        <p:nvPicPr>
          <p:cNvPr id="32" name="s62-snap-30" descr="s62-snap-30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858500" y="5680075"/>
            <a:ext cx="482600" cy="482600"/>
          </a:xfrm>
          <a:prstGeom prst="rect">
            <a:avLst/>
          </a:prstGeom>
        </p:spPr>
      </p:pic>
      <p:sp>
        <p:nvSpPr>
          <p:cNvPr id="33" name="s62-text-31"/>
          <p:cNvSpPr txBox="1"/>
          <p:nvPr/>
        </p:nvSpPr>
        <p:spPr>
          <a:xfrm>
            <a:off x="8917297" y="5687543"/>
            <a:ext cx="1852303" cy="370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520"/>
              </a:lnSpc>
              <a:buNone/>
            </a:pPr>
            <a:r>
              <a:rPr lang="ar-SA" altLang="en-US" sz="1800" b="1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باقتك الآن من نظرة ثمانية</a:t>
            </a:r>
            <a:endParaRPr lang="ar-SA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3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4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0" dur="489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7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7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5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75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75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75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75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75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75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75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75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75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75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75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75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75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75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75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75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75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grpId="0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75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75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75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75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750" fill="hold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750" fill="hold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750" fill="hold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750" fill="hold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42" presetClass="entr" presetSubtype="0" fill="hold" grpId="0" nodeType="withEffect">
                                  <p:stCondLst>
                                    <p:cond delay="103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750" fill="hold" decel="10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750" fill="hold" decel="10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103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750" fill="hold" decel="100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750" fill="hold" decel="100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grpId="0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750" fill="hold" decel="100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750" fill="hold" decel="100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42" presetClass="entr" presetSubtype="0" fill="hold" grpId="0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750" fill="hold" decel="100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750" fill="hold" decel="100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53" presetClass="entr" presetSubtype="16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27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6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6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53" presetClass="entr" presetSubtype="16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27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9" dur="6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6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53" presetClass="entr" presetSubtype="16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27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6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6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/>
      <p:bldP spid="11" grpId="0" animBg="1"/>
      <p:bldP spid="12" grpId="0"/>
      <p:bldP spid="13" grpId="0" animBg="1"/>
      <p:bldP spid="14" grpId="0"/>
      <p:bldP spid="15" grpId="0"/>
      <p:bldP spid="16" grpId="0"/>
      <p:bldP spid="20" grpId="0"/>
      <p:bldP spid="17" grpId="0"/>
      <p:bldP spid="22" grpId="0"/>
      <p:bldP spid="24" grpId="0"/>
      <p:bldP spid="26" grpId="0"/>
      <p:bldP spid="28" grpId="0"/>
      <p:bldP spid="30" grpId="0"/>
      <p:bldP spid="31" grpId="0" animBg="1"/>
      <p:bldP spid="33" grpId="0"/>
    </p:bldLst>
  </p:timing>
</p:sld>
</file>

<file path=ppt/slides/slide63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lens"/>
          <p:cNvSpPr/>
          <p:nvPr/>
        </p:nvSpPr>
        <p:spPr>
          <a:xfrm>
            <a:off x="368300" y="127000"/>
            <a:ext cx="1206500" cy="1206500"/>
          </a:xfrm>
          <a:prstGeom prst="ellipse">
            <a:avLst/>
          </a:prstGeom>
          <a:solidFill>
            <a:srgbClr val="EEF2EF"/>
          </a:solidFill>
          <a:ln/>
        </p:spPr>
      </p:sp>
      <p:pic>
        <p:nvPicPr>
          <p:cNvPr id="3" name="!!mt" descr="شعار نظرة ثماني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-2700000">
            <a:off x="589260" y="357733"/>
            <a:ext cx="546100" cy="533400"/>
          </a:xfrm>
          <a:prstGeom prst="rect">
            <a:avLst/>
          </a:prstGeom>
        </p:spPr>
      </p:pic>
      <p:pic>
        <p:nvPicPr>
          <p:cNvPr id="4" name="!!mb" descr="شعار نظرة ثمانية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2700000">
            <a:off x="798165" y="585093"/>
            <a:ext cx="527050" cy="520700"/>
          </a:xfrm>
          <a:prstGeom prst="rect">
            <a:avLst/>
          </a:prstGeom>
        </p:spPr>
      </p:pic>
      <p:pic>
        <p:nvPicPr>
          <p:cNvPr id="5" name="!!ma" descr="شعار نظرة ثمانية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2700000">
            <a:off x="810518" y="528290"/>
            <a:ext cx="95250" cy="82550"/>
          </a:xfrm>
          <a:prstGeom prst="rect">
            <a:avLst/>
          </a:prstGeom>
        </p:spPr>
      </p:pic>
      <p:pic>
        <p:nvPicPr>
          <p:cNvPr id="6" name="!!hud" descr="!!hu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800" y="177800"/>
            <a:ext cx="11836400" cy="6502400"/>
          </a:xfrm>
          <a:prstGeom prst="rect">
            <a:avLst/>
          </a:prstGeom>
        </p:spPr>
      </p:pic>
      <p:sp>
        <p:nvSpPr>
          <p:cNvPr id="7" name="!!rec"/>
          <p:cNvSpPr/>
          <p:nvPr/>
        </p:nvSpPr>
        <p:spPr>
          <a:xfrm>
            <a:off x="635000" y="6337300"/>
            <a:ext cx="101600" cy="101600"/>
          </a:xfrm>
          <a:prstGeom prst="ellipse">
            <a:avLst/>
          </a:prstGeom>
          <a:solidFill>
            <a:srgbClr val="FF8D26"/>
          </a:solidFill>
          <a:ln/>
        </p:spPr>
      </p:sp>
      <p:sp>
        <p:nvSpPr>
          <p:cNvPr id="8" name="!!num"/>
          <p:cNvSpPr txBox="1"/>
          <p:nvPr/>
        </p:nvSpPr>
        <p:spPr>
          <a:xfrm>
            <a:off x="825500" y="6281750"/>
            <a:ext cx="691555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altLang="en-US" sz="1200" dirty="0">
                <a:solidFill>
                  <a:srgbClr val="5E6D7C"/>
                </a:solidFill>
                <a:latin typeface="Sakkal Saad TN Trial Light"/>
                <a:cs typeface="Sakkal Saad TN Trial Light"/>
              </a:rPr>
              <a:t>REC · 63</a:t>
            </a:r>
            <a:endParaRPr lang="en-US" sz="1200" dirty="0"/>
          </a:p>
        </p:txBody>
      </p:sp>
      <p:sp>
        <p:nvSpPr>
          <p:cNvPr id="9" name="!!kick"/>
          <p:cNvSpPr txBox="1"/>
          <p:nvPr/>
        </p:nvSpPr>
        <p:spPr>
          <a:xfrm>
            <a:off x="9883005" y="318834"/>
            <a:ext cx="1673995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ar-SA" altLang="en-US" sz="1500" b="1" dirty="0">
                <a:solidFill>
                  <a:srgbClr val="43644B"/>
                </a:solidFill>
                <a:latin typeface="Sakkal Saad TN Trial Light"/>
                <a:cs typeface="Sakkal Saad TN Trial Light"/>
              </a:rPr>
              <a:t>12</a:t>
            </a:r>
            <a:r>
              <a:rPr lang="ar-SA" altLang="en-US" sz="1500" dirty="0">
                <a:solidFill>
                  <a:srgbClr val="E9720C"/>
                </a:solidFill>
                <a:latin typeface="Sakkal Saad TN Trial Light"/>
                <a:cs typeface="Sakkal Saad TN Trial Light"/>
              </a:rPr>
              <a:t> خطة الحملات الإعلانية</a:t>
            </a:r>
            <a:endParaRPr lang="ar-SA" sz="1500" dirty="0"/>
          </a:p>
        </p:txBody>
      </p:sp>
      <p:sp>
        <p:nvSpPr>
          <p:cNvPr id="10" name="s63-text-8"/>
          <p:cNvSpPr txBox="1"/>
          <p:nvPr/>
        </p:nvSpPr>
        <p:spPr>
          <a:xfrm>
            <a:off x="7107134" y="720535"/>
            <a:ext cx="3497366" cy="702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5130"/>
              </a:lnSpc>
              <a:buNone/>
            </a:pPr>
            <a:r>
              <a:rPr lang="ar-SA" altLang="en-US" sz="3800" b="1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الرسالة الإعلانية </a:t>
            </a:r>
            <a:r>
              <a:rPr lang="ar-SA" altLang="en-US" sz="3800" b="1" dirty="0">
                <a:solidFill>
                  <a:srgbClr val="E9720C"/>
                </a:solidFill>
                <a:latin typeface="Sakkal Saad TN Trial Light"/>
                <a:cs typeface="Sakkal Saad TN Trial Light"/>
              </a:rPr>
              <a:t>· مالي</a:t>
            </a:r>
            <a:endParaRPr lang="ar-SA" sz="3800" dirty="0"/>
          </a:p>
        </p:txBody>
      </p:sp>
      <p:sp>
        <p:nvSpPr>
          <p:cNvPr id="11" name="s63-shape-9"/>
          <p:cNvSpPr/>
          <p:nvPr/>
        </p:nvSpPr>
        <p:spPr>
          <a:xfrm>
            <a:off x="10833100" y="889000"/>
            <a:ext cx="660400" cy="660400"/>
          </a:xfrm>
          <a:prstGeom prst="ellipse">
            <a:avLst/>
          </a:prstGeom>
          <a:solidFill>
            <a:srgbClr val="FF8D26"/>
          </a:solidFill>
          <a:ln/>
        </p:spPr>
      </p:sp>
      <p:sp>
        <p:nvSpPr>
          <p:cNvPr id="12" name="s63-text-10"/>
          <p:cNvSpPr txBox="1"/>
          <p:nvPr/>
        </p:nvSpPr>
        <p:spPr>
          <a:xfrm>
            <a:off x="10905331" y="995655"/>
            <a:ext cx="41443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600"/>
              </a:lnSpc>
              <a:buNone/>
            </a:pPr>
            <a:r>
              <a:rPr lang="ar-SA" altLang="en-US" sz="2600" b="1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02</a:t>
            </a:r>
            <a:endParaRPr lang="ar-SA" sz="2600" dirty="0"/>
          </a:p>
        </p:txBody>
      </p:sp>
      <p:sp>
        <p:nvSpPr>
          <p:cNvPr id="13" name="s63-shape-11"/>
          <p:cNvSpPr/>
          <p:nvPr/>
        </p:nvSpPr>
        <p:spPr>
          <a:xfrm>
            <a:off x="4762500" y="1809750"/>
            <a:ext cx="6731000" cy="365125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0" dist="76200" dir="5400000">
              <a:srgbClr val="1E2A36">
                <a:alpha val="10000"/>
              </a:srgbClr>
            </a:outerShdw>
          </a:effectLst>
        </p:spPr>
      </p:sp>
      <p:sp>
        <p:nvSpPr>
          <p:cNvPr id="14" name="s63-text-12"/>
          <p:cNvSpPr txBox="1"/>
          <p:nvPr/>
        </p:nvSpPr>
        <p:spPr>
          <a:xfrm>
            <a:off x="4577588" y="1958143"/>
            <a:ext cx="6611112" cy="1192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4495"/>
              </a:lnSpc>
              <a:buNone/>
            </a:pPr>
            <a:r>
              <a:rPr lang="ar-SA" altLang="en-US" sz="3100" b="1" dirty="0">
                <a:solidFill>
                  <a:srgbClr val="43644B"/>
                </a:solidFill>
                <a:latin typeface="Sakkal Saad TN Trial Light"/>
                <a:cs typeface="Sakkal Saad TN Trial Light"/>
              </a:rPr>
              <a:t>ليش تدفع أكثر وأنت تقدر تأخذ النظام كامل بسعر</a:t>
            </a:r>
            <a:endParaRPr lang="ar-SA" sz="3100" dirty="0"/>
          </a:p>
          <a:p>
            <a:pPr rtl="1" algn="r" indent="0" marL="0">
              <a:lnSpc>
                <a:spcPts val="4495"/>
              </a:lnSpc>
              <a:buNone/>
            </a:pPr>
            <a:r>
              <a:rPr lang="ar-SA" altLang="en-US" sz="3100" b="1" dirty="0">
                <a:solidFill>
                  <a:srgbClr val="43644B"/>
                </a:solidFill>
                <a:latin typeface="Sakkal Saad TN Trial Light"/>
                <a:cs typeface="Sakkal Saad TN Trial Light"/>
              </a:rPr>
              <a:t>أوفر ؟ 👀</a:t>
            </a:r>
            <a:endParaRPr lang="ar-SA" sz="3100" dirty="0"/>
          </a:p>
        </p:txBody>
      </p:sp>
      <p:sp>
        <p:nvSpPr>
          <p:cNvPr id="15" name="s63-text-13"/>
          <p:cNvSpPr txBox="1"/>
          <p:nvPr/>
        </p:nvSpPr>
        <p:spPr>
          <a:xfrm>
            <a:off x="4577588" y="3215686"/>
            <a:ext cx="6611112" cy="483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3410"/>
              </a:lnSpc>
              <a:buNone/>
            </a:pPr>
            <a:r>
              <a:rPr lang="ar-SA" altLang="en-US" sz="22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باقة مراقبة منزلية متكاملة من Hikvision تشمل :</a:t>
            </a:r>
            <a:endParaRPr lang="ar-SA" sz="2200" dirty="0"/>
          </a:p>
        </p:txBody>
      </p:sp>
      <p:pic>
        <p:nvPicPr>
          <p:cNvPr id="16" name="s63-snap-14" descr="s63-snap-14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400" y="1771650"/>
            <a:ext cx="4013200" cy="4489450"/>
          </a:xfrm>
          <a:prstGeom prst="rect">
            <a:avLst/>
          </a:prstGeom>
        </p:spPr>
      </p:pic>
      <p:pic>
        <p:nvPicPr>
          <p:cNvPr id="17" name="s63-snap-15" descr="s63-snap-15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98900" y="1987550"/>
            <a:ext cx="520700" cy="520700"/>
          </a:xfrm>
          <a:prstGeom prst="rect">
            <a:avLst/>
          </a:prstGeom>
        </p:spPr>
      </p:pic>
      <p:sp>
        <p:nvSpPr>
          <p:cNvPr id="18" name="s63-text-16"/>
          <p:cNvSpPr txBox="1"/>
          <p:nvPr/>
        </p:nvSpPr>
        <p:spPr>
          <a:xfrm>
            <a:off x="3477617" y="2049278"/>
            <a:ext cx="357783" cy="326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70"/>
              </a:lnSpc>
              <a:buNone/>
            </a:pPr>
            <a:r>
              <a:rPr lang="ar-SA" altLang="en-US" sz="1550" b="1" dirty="0">
                <a:solidFill>
                  <a:srgbClr val="F6C342"/>
                </a:solidFill>
                <a:latin typeface="Sakkal Saad TN Trial Light"/>
                <a:cs typeface="Sakkal Saad TN Trial Light"/>
              </a:rPr>
              <a:t>مالي</a:t>
            </a:r>
            <a:endParaRPr lang="ar-SA" sz="1550" dirty="0"/>
          </a:p>
        </p:txBody>
      </p:sp>
      <p:pic>
        <p:nvPicPr>
          <p:cNvPr id="19" name="s63-snap-17" descr="s63-snap-17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11600" y="2559050"/>
            <a:ext cx="508000" cy="508000"/>
          </a:xfrm>
          <a:prstGeom prst="rect">
            <a:avLst/>
          </a:prstGeom>
        </p:spPr>
      </p:pic>
      <p:sp>
        <p:nvSpPr>
          <p:cNvPr id="20" name="s63-text-18"/>
          <p:cNvSpPr txBox="1"/>
          <p:nvPr/>
        </p:nvSpPr>
        <p:spPr>
          <a:xfrm>
            <a:off x="2065873" y="2601614"/>
            <a:ext cx="1756827" cy="344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310"/>
              </a:lnSpc>
              <a:buNone/>
            </a:pPr>
            <a:r>
              <a:rPr lang="ar-SA" altLang="en-US" sz="1650" dirty="0">
                <a:solidFill>
                  <a:srgbClr val="FFFFFF"/>
                </a:solidFill>
                <a:latin typeface="Sakkal Saad TN Trial Light"/>
                <a:cs typeface="Sakkal Saad TN Trial Light"/>
              </a:rPr>
              <a:t>4 كاميرات بدقة 8MP / 4K</a:t>
            </a:r>
            <a:endParaRPr lang="ar-SA" sz="1650" dirty="0"/>
          </a:p>
        </p:txBody>
      </p:sp>
      <p:pic>
        <p:nvPicPr>
          <p:cNvPr id="21" name="s63-snap-19" descr="s63-snap-19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11600" y="3155950"/>
            <a:ext cx="508000" cy="508000"/>
          </a:xfrm>
          <a:prstGeom prst="rect">
            <a:avLst/>
          </a:prstGeom>
        </p:spPr>
      </p:pic>
      <p:sp>
        <p:nvSpPr>
          <p:cNvPr id="22" name="s63-text-20"/>
          <p:cNvSpPr txBox="1"/>
          <p:nvPr/>
        </p:nvSpPr>
        <p:spPr>
          <a:xfrm>
            <a:off x="3053060" y="3198514"/>
            <a:ext cx="769640" cy="344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310"/>
              </a:lnSpc>
              <a:buNone/>
            </a:pPr>
            <a:r>
              <a:rPr lang="ar-SA" altLang="en-US" sz="1650" dirty="0">
                <a:solidFill>
                  <a:srgbClr val="FFFFFF"/>
                </a:solidFill>
                <a:latin typeface="Sakkal Saad TN Trial Light"/>
                <a:cs typeface="Sakkal Saad TN Trial Light"/>
              </a:rPr>
              <a:t>جهاز DVR</a:t>
            </a:r>
            <a:endParaRPr lang="ar-SA" sz="1650" dirty="0"/>
          </a:p>
        </p:txBody>
      </p:sp>
      <p:pic>
        <p:nvPicPr>
          <p:cNvPr id="23" name="s63-snap-21" descr="s63-snap-21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11600" y="3752850"/>
            <a:ext cx="508000" cy="508000"/>
          </a:xfrm>
          <a:prstGeom prst="rect">
            <a:avLst/>
          </a:prstGeom>
        </p:spPr>
      </p:pic>
      <p:sp>
        <p:nvSpPr>
          <p:cNvPr id="24" name="s63-text-22"/>
          <p:cNvSpPr txBox="1"/>
          <p:nvPr/>
        </p:nvSpPr>
        <p:spPr>
          <a:xfrm>
            <a:off x="2855714" y="3795414"/>
            <a:ext cx="966986" cy="344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310"/>
              </a:lnSpc>
              <a:buNone/>
            </a:pPr>
            <a:r>
              <a:rPr lang="ar-SA" altLang="en-US" sz="1650" dirty="0">
                <a:solidFill>
                  <a:srgbClr val="FFFFFF"/>
                </a:solidFill>
                <a:latin typeface="Sakkal Saad TN Trial Light"/>
                <a:cs typeface="Sakkal Saad TN Trial Light"/>
              </a:rPr>
              <a:t>هاردسك 1TB</a:t>
            </a:r>
            <a:endParaRPr lang="ar-SA" sz="1650" dirty="0"/>
          </a:p>
        </p:txBody>
      </p:sp>
      <p:pic>
        <p:nvPicPr>
          <p:cNvPr id="25" name="s63-snap-23" descr="s63-snap-23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11600" y="4349750"/>
            <a:ext cx="508000" cy="508000"/>
          </a:xfrm>
          <a:prstGeom prst="rect">
            <a:avLst/>
          </a:prstGeom>
        </p:spPr>
      </p:pic>
      <p:sp>
        <p:nvSpPr>
          <p:cNvPr id="26" name="s63-text-24"/>
          <p:cNvSpPr txBox="1"/>
          <p:nvPr/>
        </p:nvSpPr>
        <p:spPr>
          <a:xfrm>
            <a:off x="2437170" y="4392314"/>
            <a:ext cx="1385530" cy="344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310"/>
              </a:lnSpc>
              <a:buNone/>
            </a:pPr>
            <a:r>
              <a:rPr lang="ar-SA" altLang="en-US" sz="1650" dirty="0">
                <a:solidFill>
                  <a:srgbClr val="FFFFFF"/>
                </a:solidFill>
                <a:latin typeface="Sakkal Saad TN Trial Light"/>
                <a:cs typeface="Sakkal Saad TN Trial Light"/>
              </a:rPr>
              <a:t>تمديدات حتى 80 متر</a:t>
            </a:r>
            <a:endParaRPr lang="ar-SA" sz="1650" dirty="0"/>
          </a:p>
        </p:txBody>
      </p:sp>
      <p:pic>
        <p:nvPicPr>
          <p:cNvPr id="27" name="s63-snap-25" descr="s63-snap-25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911600" y="4946650"/>
            <a:ext cx="508000" cy="508000"/>
          </a:xfrm>
          <a:prstGeom prst="rect">
            <a:avLst/>
          </a:prstGeom>
        </p:spPr>
      </p:pic>
      <p:sp>
        <p:nvSpPr>
          <p:cNvPr id="28" name="s63-text-26"/>
          <p:cNvSpPr txBox="1"/>
          <p:nvPr/>
        </p:nvSpPr>
        <p:spPr>
          <a:xfrm>
            <a:off x="2520553" y="4989214"/>
            <a:ext cx="1302147" cy="344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310"/>
              </a:lnSpc>
              <a:buNone/>
            </a:pPr>
            <a:r>
              <a:rPr lang="ar-SA" altLang="en-US" sz="1650" dirty="0">
                <a:solidFill>
                  <a:srgbClr val="FFFFFF"/>
                </a:solidFill>
                <a:latin typeface="Sakkal Saad TN Trial Light"/>
                <a:cs typeface="Sakkal Saad TN Trial Light"/>
              </a:rPr>
              <a:t>تركيب وبرمجة كاملة</a:t>
            </a:r>
            <a:endParaRPr lang="ar-SA" sz="1650" dirty="0"/>
          </a:p>
        </p:txBody>
      </p:sp>
      <p:sp>
        <p:nvSpPr>
          <p:cNvPr id="29" name="s63-shape-27"/>
          <p:cNvSpPr/>
          <p:nvPr/>
        </p:nvSpPr>
        <p:spPr>
          <a:xfrm>
            <a:off x="4762500" y="5619750"/>
            <a:ext cx="6731000" cy="603250"/>
          </a:xfrm>
          <a:prstGeom prst="roundRect">
            <a:avLst>
              <a:gd name="adj" fmla="val 42105"/>
            </a:avLst>
          </a:prstGeom>
          <a:solidFill>
            <a:srgbClr val="FF8D26"/>
          </a:solidFill>
          <a:ln/>
        </p:spPr>
      </p:sp>
      <p:pic>
        <p:nvPicPr>
          <p:cNvPr id="30" name="s63-snap-28" descr="s63-snap-28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858500" y="5680075"/>
            <a:ext cx="482600" cy="482600"/>
          </a:xfrm>
          <a:prstGeom prst="rect">
            <a:avLst/>
          </a:prstGeom>
        </p:spPr>
      </p:pic>
      <p:sp>
        <p:nvSpPr>
          <p:cNvPr id="31" name="s63-text-29"/>
          <p:cNvSpPr txBox="1"/>
          <p:nvPr/>
        </p:nvSpPr>
        <p:spPr>
          <a:xfrm>
            <a:off x="8454061" y="5687543"/>
            <a:ext cx="2315539" cy="370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520"/>
              </a:lnSpc>
              <a:buNone/>
            </a:pPr>
            <a:r>
              <a:rPr lang="ar-SA" altLang="en-US" sz="1800" b="1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اطلب باقتك الآن من نظرة ثمانية</a:t>
            </a:r>
            <a:endParaRPr lang="ar-SA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3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4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0" dur="489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7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7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5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75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75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75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75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75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75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75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75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75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75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75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75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75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75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75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75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75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75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75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75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75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103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750" fill="hold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750" fill="hold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103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750" fill="hold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750" fill="hold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42" presetClass="entr" presetSubtype="0" fill="hold" grpId="0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750" fill="hold" decel="10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750" fill="hold" decel="10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750" fill="hold" decel="100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750" fill="hold" decel="100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53" presetClass="entr" presetSubtype="16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27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6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6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53" presetClass="entr" presetSubtype="16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27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6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6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53" presetClass="entr" presetSubtype="16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27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6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6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/>
      <p:bldP spid="11" grpId="0" animBg="1"/>
      <p:bldP spid="12" grpId="0"/>
      <p:bldP spid="13" grpId="0" animBg="1"/>
      <p:bldP spid="14" grpId="0"/>
      <p:bldP spid="15" grpId="0"/>
      <p:bldP spid="18" grpId="0"/>
      <p:bldP spid="20" grpId="0"/>
      <p:bldP spid="22" grpId="0"/>
      <p:bldP spid="24" grpId="0"/>
      <p:bldP spid="26" grpId="0"/>
      <p:bldP spid="28" grpId="0"/>
      <p:bldP spid="29" grpId="0" animBg="1"/>
      <p:bldP spid="31" grpId="0"/>
    </p:bldLst>
  </p:timing>
</p:sld>
</file>

<file path=ppt/slides/slide64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lens"/>
          <p:cNvSpPr/>
          <p:nvPr/>
        </p:nvSpPr>
        <p:spPr>
          <a:xfrm>
            <a:off x="368300" y="127000"/>
            <a:ext cx="1206500" cy="1206500"/>
          </a:xfrm>
          <a:prstGeom prst="ellipse">
            <a:avLst/>
          </a:prstGeom>
          <a:solidFill>
            <a:srgbClr val="EEF2EF"/>
          </a:solidFill>
          <a:ln/>
        </p:spPr>
      </p:sp>
      <p:pic>
        <p:nvPicPr>
          <p:cNvPr id="3" name="!!mt" descr="شعار نظرة ثماني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3341" y="318443"/>
            <a:ext cx="546100" cy="533400"/>
          </a:xfrm>
          <a:prstGeom prst="rect">
            <a:avLst/>
          </a:prstGeom>
        </p:spPr>
      </p:pic>
      <p:pic>
        <p:nvPicPr>
          <p:cNvPr id="4" name="!!mb" descr="شعار نظرة ثمانية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040" y="621903"/>
            <a:ext cx="527050" cy="520700"/>
          </a:xfrm>
          <a:prstGeom prst="rect">
            <a:avLst/>
          </a:prstGeom>
        </p:spPr>
      </p:pic>
      <p:pic>
        <p:nvPicPr>
          <p:cNvPr id="5" name="!!ma" descr="شعار نظرة ثمانية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988" y="502196"/>
            <a:ext cx="95250" cy="82550"/>
          </a:xfrm>
          <a:prstGeom prst="rect">
            <a:avLst/>
          </a:prstGeom>
        </p:spPr>
      </p:pic>
      <p:pic>
        <p:nvPicPr>
          <p:cNvPr id="6" name="!!hud" descr="!!hu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800" y="177800"/>
            <a:ext cx="11836400" cy="6502400"/>
          </a:xfrm>
          <a:prstGeom prst="rect">
            <a:avLst/>
          </a:prstGeom>
        </p:spPr>
      </p:pic>
      <p:sp>
        <p:nvSpPr>
          <p:cNvPr id="7" name="!!rec"/>
          <p:cNvSpPr/>
          <p:nvPr/>
        </p:nvSpPr>
        <p:spPr>
          <a:xfrm>
            <a:off x="635000" y="6337300"/>
            <a:ext cx="101600" cy="101600"/>
          </a:xfrm>
          <a:prstGeom prst="ellipse">
            <a:avLst/>
          </a:prstGeom>
          <a:solidFill>
            <a:srgbClr val="FF8D26"/>
          </a:solidFill>
          <a:ln/>
        </p:spPr>
      </p:sp>
      <p:sp>
        <p:nvSpPr>
          <p:cNvPr id="8" name="!!num"/>
          <p:cNvSpPr txBox="1"/>
          <p:nvPr/>
        </p:nvSpPr>
        <p:spPr>
          <a:xfrm>
            <a:off x="825500" y="6281750"/>
            <a:ext cx="701973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altLang="en-US" sz="1200" dirty="0">
                <a:solidFill>
                  <a:srgbClr val="5E6D7C"/>
                </a:solidFill>
                <a:latin typeface="Sakkal Saad TN Trial Light"/>
                <a:cs typeface="Sakkal Saad TN Trial Light"/>
              </a:rPr>
              <a:t>REC · 64</a:t>
            </a:r>
            <a:endParaRPr lang="en-US" sz="1200" dirty="0"/>
          </a:p>
        </p:txBody>
      </p:sp>
      <p:sp>
        <p:nvSpPr>
          <p:cNvPr id="9" name="!!kick"/>
          <p:cNvSpPr txBox="1"/>
          <p:nvPr/>
        </p:nvSpPr>
        <p:spPr>
          <a:xfrm>
            <a:off x="9883005" y="318834"/>
            <a:ext cx="1673995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ar-SA" altLang="en-US" sz="1500" b="1" dirty="0">
                <a:solidFill>
                  <a:srgbClr val="43644B"/>
                </a:solidFill>
                <a:latin typeface="Sakkal Saad TN Trial Light"/>
                <a:cs typeface="Sakkal Saad TN Trial Light"/>
              </a:rPr>
              <a:t>12</a:t>
            </a:r>
            <a:r>
              <a:rPr lang="ar-SA" altLang="en-US" sz="1500" dirty="0">
                <a:solidFill>
                  <a:srgbClr val="E9720C"/>
                </a:solidFill>
                <a:latin typeface="Sakkal Saad TN Trial Light"/>
                <a:cs typeface="Sakkal Saad TN Trial Light"/>
              </a:rPr>
              <a:t> خطة الحملات الإعلانية</a:t>
            </a:r>
            <a:endParaRPr lang="ar-SA" sz="1500" dirty="0"/>
          </a:p>
        </p:txBody>
      </p:sp>
      <p:sp>
        <p:nvSpPr>
          <p:cNvPr id="10" name="s64-text-8"/>
          <p:cNvSpPr txBox="1"/>
          <p:nvPr/>
        </p:nvSpPr>
        <p:spPr>
          <a:xfrm>
            <a:off x="5732105" y="720535"/>
            <a:ext cx="4872395" cy="702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5130"/>
              </a:lnSpc>
              <a:buNone/>
            </a:pPr>
            <a:r>
              <a:rPr lang="ar-SA" altLang="en-US" sz="3800" b="1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الرسالة الإعلانية </a:t>
            </a:r>
            <a:r>
              <a:rPr lang="ar-SA" altLang="en-US" sz="3800" b="1" dirty="0">
                <a:solidFill>
                  <a:srgbClr val="E9720C"/>
                </a:solidFill>
                <a:latin typeface="Sakkal Saad TN Trial Light"/>
                <a:cs typeface="Sakkal Saad TN Trial Light"/>
              </a:rPr>
              <a:t>· سهولة الطلب</a:t>
            </a:r>
            <a:endParaRPr lang="ar-SA" sz="3800" dirty="0"/>
          </a:p>
        </p:txBody>
      </p:sp>
      <p:sp>
        <p:nvSpPr>
          <p:cNvPr id="11" name="s64-shape-9"/>
          <p:cNvSpPr/>
          <p:nvPr/>
        </p:nvSpPr>
        <p:spPr>
          <a:xfrm>
            <a:off x="10833100" y="889000"/>
            <a:ext cx="660400" cy="660400"/>
          </a:xfrm>
          <a:prstGeom prst="ellipse">
            <a:avLst/>
          </a:prstGeom>
          <a:solidFill>
            <a:srgbClr val="FF8D26"/>
          </a:solidFill>
          <a:ln/>
        </p:spPr>
      </p:sp>
      <p:sp>
        <p:nvSpPr>
          <p:cNvPr id="12" name="s64-text-10"/>
          <p:cNvSpPr txBox="1"/>
          <p:nvPr/>
        </p:nvSpPr>
        <p:spPr>
          <a:xfrm>
            <a:off x="10905331" y="995655"/>
            <a:ext cx="41443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600"/>
              </a:lnSpc>
              <a:buNone/>
            </a:pPr>
            <a:r>
              <a:rPr lang="ar-SA" altLang="en-US" sz="2600" b="1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03</a:t>
            </a:r>
            <a:endParaRPr lang="ar-SA" sz="2600" dirty="0"/>
          </a:p>
        </p:txBody>
      </p:sp>
      <p:sp>
        <p:nvSpPr>
          <p:cNvPr id="13" name="s64-shape-11"/>
          <p:cNvSpPr/>
          <p:nvPr/>
        </p:nvSpPr>
        <p:spPr>
          <a:xfrm>
            <a:off x="4762500" y="1809750"/>
            <a:ext cx="6731000" cy="365125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0" dist="76200" dir="5400000">
              <a:srgbClr val="1E2A36">
                <a:alpha val="10000"/>
              </a:srgbClr>
            </a:outerShdw>
          </a:effectLst>
        </p:spPr>
      </p:sp>
      <p:sp>
        <p:nvSpPr>
          <p:cNvPr id="14" name="s64-text-12"/>
          <p:cNvSpPr txBox="1"/>
          <p:nvPr/>
        </p:nvSpPr>
        <p:spPr>
          <a:xfrm>
            <a:off x="4577588" y="1958143"/>
            <a:ext cx="6611112" cy="1192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4495"/>
              </a:lnSpc>
              <a:buNone/>
            </a:pPr>
            <a:r>
              <a:rPr lang="ar-SA" altLang="en-US" sz="3100" b="1" dirty="0">
                <a:solidFill>
                  <a:srgbClr val="43644B"/>
                </a:solidFill>
                <a:latin typeface="Sakkal Saad TN Trial Light"/>
                <a:cs typeface="Sakkal Saad TN Trial Light"/>
              </a:rPr>
              <a:t>تبي تركب كاميرات لبيتك بدون حيرة الأجهزة</a:t>
            </a:r>
            <a:endParaRPr lang="ar-SA" sz="3100" dirty="0"/>
          </a:p>
          <a:p>
            <a:pPr rtl="1" algn="r" indent="0" marL="0">
              <a:lnSpc>
                <a:spcPts val="4495"/>
              </a:lnSpc>
              <a:buNone/>
            </a:pPr>
            <a:r>
              <a:rPr lang="ar-SA" altLang="en-US" sz="3100" b="1" dirty="0">
                <a:solidFill>
                  <a:srgbClr val="43644B"/>
                </a:solidFill>
                <a:latin typeface="Sakkal Saad TN Trial Light"/>
                <a:cs typeface="Sakkal Saad TN Trial Light"/>
              </a:rPr>
              <a:t>والتركيب ؟</a:t>
            </a:r>
            <a:endParaRPr lang="ar-SA" sz="3100" dirty="0"/>
          </a:p>
        </p:txBody>
      </p:sp>
      <p:sp>
        <p:nvSpPr>
          <p:cNvPr id="15" name="s64-text-13"/>
          <p:cNvSpPr txBox="1"/>
          <p:nvPr/>
        </p:nvSpPr>
        <p:spPr>
          <a:xfrm>
            <a:off x="4577588" y="3215686"/>
            <a:ext cx="6611112" cy="916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3410"/>
              </a:lnSpc>
              <a:buNone/>
            </a:pPr>
            <a:r>
              <a:rPr lang="ar-SA" altLang="en-US" sz="22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مع باقة المراقبة المنزلية من نظرة ثمانية تحصل على نظام مراقبة متكامل من</a:t>
            </a:r>
            <a:endParaRPr lang="ar-SA" sz="2200" dirty="0"/>
          </a:p>
          <a:p>
            <a:pPr rtl="1" algn="r" indent="0" marL="0">
              <a:lnSpc>
                <a:spcPts val="3410"/>
              </a:lnSpc>
              <a:buNone/>
            </a:pPr>
            <a:r>
              <a:rPr lang="ar-SA" altLang="en-US" sz="22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جهة واحدة من التوريد إلى التركيب والبرمجة</a:t>
            </a:r>
            <a:endParaRPr lang="ar-SA" sz="2200" dirty="0"/>
          </a:p>
        </p:txBody>
      </p:sp>
      <p:pic>
        <p:nvPicPr>
          <p:cNvPr id="16" name="s64-snap-14" descr="s64-snap-14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400" y="1771650"/>
            <a:ext cx="4013200" cy="4489450"/>
          </a:xfrm>
          <a:prstGeom prst="rect">
            <a:avLst/>
          </a:prstGeom>
        </p:spPr>
      </p:pic>
      <p:pic>
        <p:nvPicPr>
          <p:cNvPr id="17" name="s64-snap-15" descr="s64-snap-15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98900" y="1987550"/>
            <a:ext cx="520700" cy="520700"/>
          </a:xfrm>
          <a:prstGeom prst="rect">
            <a:avLst/>
          </a:prstGeom>
        </p:spPr>
      </p:pic>
      <p:sp>
        <p:nvSpPr>
          <p:cNvPr id="18" name="s64-text-16"/>
          <p:cNvSpPr txBox="1"/>
          <p:nvPr/>
        </p:nvSpPr>
        <p:spPr>
          <a:xfrm>
            <a:off x="2952651" y="2049278"/>
            <a:ext cx="882749" cy="326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70"/>
              </a:lnSpc>
              <a:buNone/>
            </a:pPr>
            <a:r>
              <a:rPr lang="ar-SA" altLang="en-US" sz="1550" b="1" dirty="0">
                <a:solidFill>
                  <a:srgbClr val="F6C342"/>
                </a:solidFill>
                <a:latin typeface="Sakkal Saad TN Trial Light"/>
                <a:cs typeface="Sakkal Saad TN Trial Light"/>
              </a:rPr>
              <a:t>سهولة الطلب</a:t>
            </a:r>
            <a:endParaRPr lang="ar-SA" sz="1550" dirty="0"/>
          </a:p>
        </p:txBody>
      </p:sp>
      <p:pic>
        <p:nvPicPr>
          <p:cNvPr id="19" name="s64-snap-17" descr="s64-snap-17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11600" y="2559050"/>
            <a:ext cx="508000" cy="508000"/>
          </a:xfrm>
          <a:prstGeom prst="rect">
            <a:avLst/>
          </a:prstGeom>
        </p:spPr>
      </p:pic>
      <p:sp>
        <p:nvSpPr>
          <p:cNvPr id="20" name="s64-text-18"/>
          <p:cNvSpPr txBox="1"/>
          <p:nvPr/>
        </p:nvSpPr>
        <p:spPr>
          <a:xfrm>
            <a:off x="1274524" y="2601614"/>
            <a:ext cx="2548176" cy="344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310"/>
              </a:lnSpc>
              <a:buNone/>
            </a:pPr>
            <a:r>
              <a:rPr lang="ar-SA" altLang="en-US" sz="1650" dirty="0">
                <a:solidFill>
                  <a:srgbClr val="FFFFFF"/>
                </a:solidFill>
                <a:latin typeface="Sakkal Saad TN Trial Light"/>
                <a:cs typeface="Sakkal Saad TN Trial Light"/>
              </a:rPr>
              <a:t>4 كاميرات Hikvision بدقة 8MP / 4K</a:t>
            </a:r>
            <a:endParaRPr lang="ar-SA" sz="1650" dirty="0"/>
          </a:p>
        </p:txBody>
      </p:sp>
      <p:pic>
        <p:nvPicPr>
          <p:cNvPr id="21" name="s64-snap-19" descr="s64-snap-19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11600" y="3155950"/>
            <a:ext cx="508000" cy="508000"/>
          </a:xfrm>
          <a:prstGeom prst="rect">
            <a:avLst/>
          </a:prstGeom>
        </p:spPr>
      </p:pic>
      <p:sp>
        <p:nvSpPr>
          <p:cNvPr id="22" name="s64-text-20"/>
          <p:cNvSpPr txBox="1"/>
          <p:nvPr/>
        </p:nvSpPr>
        <p:spPr>
          <a:xfrm>
            <a:off x="3053060" y="3198514"/>
            <a:ext cx="769640" cy="344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310"/>
              </a:lnSpc>
              <a:buNone/>
            </a:pPr>
            <a:r>
              <a:rPr lang="ar-SA" altLang="en-US" sz="1650" dirty="0">
                <a:solidFill>
                  <a:srgbClr val="FFFFFF"/>
                </a:solidFill>
                <a:latin typeface="Sakkal Saad TN Trial Light"/>
                <a:cs typeface="Sakkal Saad TN Trial Light"/>
              </a:rPr>
              <a:t>جهاز DVR</a:t>
            </a:r>
            <a:endParaRPr lang="ar-SA" sz="1650" dirty="0"/>
          </a:p>
        </p:txBody>
      </p:sp>
      <p:pic>
        <p:nvPicPr>
          <p:cNvPr id="23" name="s64-snap-21" descr="s64-snap-21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11600" y="3752850"/>
            <a:ext cx="508000" cy="508000"/>
          </a:xfrm>
          <a:prstGeom prst="rect">
            <a:avLst/>
          </a:prstGeom>
        </p:spPr>
      </p:pic>
      <p:sp>
        <p:nvSpPr>
          <p:cNvPr id="24" name="s64-text-22"/>
          <p:cNvSpPr txBox="1"/>
          <p:nvPr/>
        </p:nvSpPr>
        <p:spPr>
          <a:xfrm>
            <a:off x="2855714" y="3795414"/>
            <a:ext cx="966986" cy="344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310"/>
              </a:lnSpc>
              <a:buNone/>
            </a:pPr>
            <a:r>
              <a:rPr lang="ar-SA" altLang="en-US" sz="1650" dirty="0">
                <a:solidFill>
                  <a:srgbClr val="FFFFFF"/>
                </a:solidFill>
                <a:latin typeface="Sakkal Saad TN Trial Light"/>
                <a:cs typeface="Sakkal Saad TN Trial Light"/>
              </a:rPr>
              <a:t>هاردسك 1TB</a:t>
            </a:r>
            <a:endParaRPr lang="ar-SA" sz="1650" dirty="0"/>
          </a:p>
        </p:txBody>
      </p:sp>
      <p:pic>
        <p:nvPicPr>
          <p:cNvPr id="25" name="s64-snap-23" descr="s64-snap-23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11600" y="4349750"/>
            <a:ext cx="508000" cy="508000"/>
          </a:xfrm>
          <a:prstGeom prst="rect">
            <a:avLst/>
          </a:prstGeom>
        </p:spPr>
      </p:pic>
      <p:sp>
        <p:nvSpPr>
          <p:cNvPr id="26" name="s64-text-24"/>
          <p:cNvSpPr txBox="1"/>
          <p:nvPr/>
        </p:nvSpPr>
        <p:spPr>
          <a:xfrm>
            <a:off x="2635151" y="4392314"/>
            <a:ext cx="1187549" cy="344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310"/>
              </a:lnSpc>
              <a:buNone/>
            </a:pPr>
            <a:r>
              <a:rPr lang="ar-SA" altLang="en-US" sz="1650" dirty="0">
                <a:solidFill>
                  <a:srgbClr val="FFFFFF"/>
                </a:solidFill>
                <a:latin typeface="Sakkal Saad TN Trial Light"/>
                <a:cs typeface="Sakkal Saad TN Trial Light"/>
              </a:rPr>
              <a:t>تمديد حتى 80 متر</a:t>
            </a:r>
            <a:endParaRPr lang="ar-SA" sz="1650" dirty="0"/>
          </a:p>
        </p:txBody>
      </p:sp>
      <p:pic>
        <p:nvPicPr>
          <p:cNvPr id="27" name="s64-snap-25" descr="s64-snap-25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911600" y="4946650"/>
            <a:ext cx="508000" cy="508000"/>
          </a:xfrm>
          <a:prstGeom prst="rect">
            <a:avLst/>
          </a:prstGeom>
        </p:spPr>
      </p:pic>
      <p:sp>
        <p:nvSpPr>
          <p:cNvPr id="28" name="s64-text-26"/>
          <p:cNvSpPr txBox="1"/>
          <p:nvPr/>
        </p:nvSpPr>
        <p:spPr>
          <a:xfrm>
            <a:off x="2520553" y="4989214"/>
            <a:ext cx="1302147" cy="344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310"/>
              </a:lnSpc>
              <a:buNone/>
            </a:pPr>
            <a:r>
              <a:rPr lang="ar-SA" altLang="en-US" sz="1650" dirty="0">
                <a:solidFill>
                  <a:srgbClr val="FFFFFF"/>
                </a:solidFill>
                <a:latin typeface="Sakkal Saad TN Trial Light"/>
                <a:cs typeface="Sakkal Saad TN Trial Light"/>
              </a:rPr>
              <a:t>تركيب وبرمجة كاملة</a:t>
            </a:r>
            <a:endParaRPr lang="ar-SA" sz="1650" dirty="0"/>
          </a:p>
        </p:txBody>
      </p:sp>
      <p:sp>
        <p:nvSpPr>
          <p:cNvPr id="29" name="s64-shape-27"/>
          <p:cNvSpPr/>
          <p:nvPr/>
        </p:nvSpPr>
        <p:spPr>
          <a:xfrm>
            <a:off x="4762500" y="5619750"/>
            <a:ext cx="6731000" cy="603250"/>
          </a:xfrm>
          <a:prstGeom prst="roundRect">
            <a:avLst>
              <a:gd name="adj" fmla="val 42105"/>
            </a:avLst>
          </a:prstGeom>
          <a:solidFill>
            <a:srgbClr val="FF8D26"/>
          </a:solidFill>
          <a:ln/>
        </p:spPr>
      </p:sp>
      <p:pic>
        <p:nvPicPr>
          <p:cNvPr id="30" name="s64-snap-28" descr="s64-snap-28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858500" y="5680075"/>
            <a:ext cx="482600" cy="482600"/>
          </a:xfrm>
          <a:prstGeom prst="rect">
            <a:avLst/>
          </a:prstGeom>
        </p:spPr>
      </p:pic>
      <p:sp>
        <p:nvSpPr>
          <p:cNvPr id="31" name="s64-text-29"/>
          <p:cNvSpPr txBox="1"/>
          <p:nvPr/>
        </p:nvSpPr>
        <p:spPr>
          <a:xfrm>
            <a:off x="8058225" y="5687543"/>
            <a:ext cx="2711375" cy="370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520"/>
              </a:lnSpc>
              <a:buNone/>
            </a:pPr>
            <a:r>
              <a:rPr lang="ar-SA" altLang="en-US" sz="1800" b="1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راسلنا على واتساب واطلب الباقة الآن</a:t>
            </a:r>
            <a:endParaRPr lang="ar-SA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3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4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0" dur="489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7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7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5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75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75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75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75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75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75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75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75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75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75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75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75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75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75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75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75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75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75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75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75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75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103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750" fill="hold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750" fill="hold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103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750" fill="hold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750" fill="hold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42" presetClass="entr" presetSubtype="0" fill="hold" grpId="0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750" fill="hold" decel="10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750" fill="hold" decel="10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750" fill="hold" decel="100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750" fill="hold" decel="100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53" presetClass="entr" presetSubtype="16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27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6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6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53" presetClass="entr" presetSubtype="16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27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6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6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53" presetClass="entr" presetSubtype="16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27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6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6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/>
      <p:bldP spid="11" grpId="0" animBg="1"/>
      <p:bldP spid="12" grpId="0"/>
      <p:bldP spid="13" grpId="0" animBg="1"/>
      <p:bldP spid="14" grpId="0"/>
      <p:bldP spid="15" grpId="0"/>
      <p:bldP spid="18" grpId="0"/>
      <p:bldP spid="20" grpId="0"/>
      <p:bldP spid="22" grpId="0"/>
      <p:bldP spid="24" grpId="0"/>
      <p:bldP spid="26" grpId="0"/>
      <p:bldP spid="28" grpId="0"/>
      <p:bldP spid="29" grpId="0" animBg="1"/>
      <p:bldP spid="31" grpId="0"/>
    </p:bldLst>
  </p:timing>
</p:sld>
</file>

<file path=ppt/slides/slide65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6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lens"/>
          <p:cNvSpPr/>
          <p:nvPr/>
        </p:nvSpPr>
        <p:spPr>
          <a:xfrm>
            <a:off x="-635000" y="-127000"/>
            <a:ext cx="7112000" cy="7112000"/>
          </a:xfrm>
          <a:prstGeom prst="ellipse">
            <a:avLst/>
          </a:prstGeom>
          <a:solidFill>
            <a:srgbClr val="FFFFFF">
              <a:alpha val="7000"/>
            </a:srgbClr>
          </a:solidFill>
          <a:ln/>
        </p:spPr>
      </p:sp>
      <p:pic>
        <p:nvPicPr>
          <p:cNvPr id="3" name="!!mt" descr="شعار نظرة ثمانية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2306538" y="2151658"/>
            <a:ext cx="2635250" cy="2597150"/>
          </a:xfrm>
          <a:prstGeom prst="rect">
            <a:avLst/>
          </a:prstGeom>
        </p:spPr>
      </p:pic>
      <p:pic>
        <p:nvPicPr>
          <p:cNvPr id="4" name="!!mb" descr="شعار نظرة ثمانية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900658" y="2110978"/>
            <a:ext cx="2565400" cy="2527300"/>
          </a:xfrm>
          <a:prstGeom prst="rect">
            <a:avLst/>
          </a:prstGeom>
        </p:spPr>
      </p:pic>
      <p:pic>
        <p:nvPicPr>
          <p:cNvPr id="5" name="!!ma" descr="شعار نظرة ثمانية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3595291" y="3417143"/>
            <a:ext cx="463550" cy="412750"/>
          </a:xfrm>
          <a:prstGeom prst="rect">
            <a:avLst/>
          </a:prstGeom>
        </p:spPr>
      </p:pic>
      <p:pic>
        <p:nvPicPr>
          <p:cNvPr id="6" name="!!hud" descr="!!hud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7800" y="177800"/>
            <a:ext cx="11836400" cy="6502400"/>
          </a:xfrm>
          <a:prstGeom prst="rect">
            <a:avLst/>
          </a:prstGeom>
        </p:spPr>
      </p:pic>
      <p:sp>
        <p:nvSpPr>
          <p:cNvPr id="7" name="!!rec"/>
          <p:cNvSpPr/>
          <p:nvPr/>
        </p:nvSpPr>
        <p:spPr>
          <a:xfrm>
            <a:off x="635000" y="6337300"/>
            <a:ext cx="101600" cy="101600"/>
          </a:xfrm>
          <a:prstGeom prst="ellipse">
            <a:avLst/>
          </a:prstGeom>
          <a:solidFill>
            <a:srgbClr val="FF8D26"/>
          </a:solidFill>
          <a:ln/>
        </p:spPr>
      </p:sp>
      <p:sp>
        <p:nvSpPr>
          <p:cNvPr id="8" name="!!num"/>
          <p:cNvSpPr txBox="1"/>
          <p:nvPr/>
        </p:nvSpPr>
        <p:spPr>
          <a:xfrm>
            <a:off x="825500" y="6281750"/>
            <a:ext cx="693341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altLang="en-US" sz="1200" dirty="0">
                <a:solidFill>
                  <a:srgbClr val="D9E0DB"/>
                </a:solidFill>
                <a:latin typeface="Sakkal Saad TN Trial Light"/>
                <a:cs typeface="Sakkal Saad TN Trial Light"/>
              </a:rPr>
              <a:t>REC · 65</a:t>
            </a:r>
            <a:endParaRPr lang="en-US" sz="1200" dirty="0"/>
          </a:p>
        </p:txBody>
      </p:sp>
      <p:pic>
        <p:nvPicPr>
          <p:cNvPr id="9" name="s65-snap-8" descr="s65-snap-8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3809" y="1041400"/>
            <a:ext cx="1880791" cy="1981200"/>
          </a:xfrm>
          <a:prstGeom prst="rect">
            <a:avLst/>
          </a:prstGeom>
        </p:spPr>
      </p:pic>
      <p:pic>
        <p:nvPicPr>
          <p:cNvPr id="10" name="s65-snap-9" descr="s65-snap-9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78400" y="3263900"/>
            <a:ext cx="6426200" cy="121404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3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4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53" presetClass="entr" presetSubtype="3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9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1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9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1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9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5" dur="63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66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lens"/>
          <p:cNvSpPr/>
          <p:nvPr/>
        </p:nvSpPr>
        <p:spPr>
          <a:xfrm>
            <a:off x="368300" y="127000"/>
            <a:ext cx="1206500" cy="1206500"/>
          </a:xfrm>
          <a:prstGeom prst="ellipse">
            <a:avLst/>
          </a:prstGeom>
          <a:solidFill>
            <a:srgbClr val="EEF2EF"/>
          </a:solidFill>
          <a:ln/>
        </p:spPr>
      </p:sp>
      <p:pic>
        <p:nvPicPr>
          <p:cNvPr id="3" name="!!mt" descr="شعار نظرة ثماني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5400000">
            <a:off x="833735" y="467668"/>
            <a:ext cx="546100" cy="533400"/>
          </a:xfrm>
          <a:prstGeom prst="rect">
            <a:avLst/>
          </a:prstGeom>
        </p:spPr>
      </p:pic>
      <p:pic>
        <p:nvPicPr>
          <p:cNvPr id="4" name="!!mb" descr="شعار نظرة ثمانية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546050" y="458688"/>
            <a:ext cx="527050" cy="520700"/>
          </a:xfrm>
          <a:prstGeom prst="rect">
            <a:avLst/>
          </a:prstGeom>
        </p:spPr>
      </p:pic>
      <p:pic>
        <p:nvPicPr>
          <p:cNvPr id="5" name="!!ma" descr="شعار نظرة ثمانية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101328" y="728911"/>
            <a:ext cx="95250" cy="82550"/>
          </a:xfrm>
          <a:prstGeom prst="rect">
            <a:avLst/>
          </a:prstGeom>
        </p:spPr>
      </p:pic>
      <p:pic>
        <p:nvPicPr>
          <p:cNvPr id="6" name="!!hud" descr="!!hu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800" y="177800"/>
            <a:ext cx="11836400" cy="6502400"/>
          </a:xfrm>
          <a:prstGeom prst="rect">
            <a:avLst/>
          </a:prstGeom>
        </p:spPr>
      </p:pic>
      <p:sp>
        <p:nvSpPr>
          <p:cNvPr id="7" name="!!rec"/>
          <p:cNvSpPr/>
          <p:nvPr/>
        </p:nvSpPr>
        <p:spPr>
          <a:xfrm>
            <a:off x="635000" y="6337300"/>
            <a:ext cx="101600" cy="101600"/>
          </a:xfrm>
          <a:prstGeom prst="ellipse">
            <a:avLst/>
          </a:prstGeom>
          <a:solidFill>
            <a:srgbClr val="FF8D26"/>
          </a:solidFill>
          <a:ln/>
        </p:spPr>
      </p:sp>
      <p:sp>
        <p:nvSpPr>
          <p:cNvPr id="8" name="!!num"/>
          <p:cNvSpPr txBox="1"/>
          <p:nvPr/>
        </p:nvSpPr>
        <p:spPr>
          <a:xfrm>
            <a:off x="825500" y="6281750"/>
            <a:ext cx="696813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altLang="en-US" sz="1200" dirty="0">
                <a:solidFill>
                  <a:srgbClr val="5E6D7C"/>
                </a:solidFill>
                <a:latin typeface="Sakkal Saad TN Trial Light"/>
                <a:cs typeface="Sakkal Saad TN Trial Light"/>
              </a:rPr>
              <a:t>REC · 66</a:t>
            </a:r>
            <a:endParaRPr lang="en-US" sz="1200" dirty="0"/>
          </a:p>
        </p:txBody>
      </p:sp>
      <p:sp>
        <p:nvSpPr>
          <p:cNvPr id="9" name="!!kick"/>
          <p:cNvSpPr txBox="1"/>
          <p:nvPr/>
        </p:nvSpPr>
        <p:spPr>
          <a:xfrm>
            <a:off x="10209014" y="318834"/>
            <a:ext cx="1347986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ar-SA" altLang="en-US" sz="1500" b="1" dirty="0">
                <a:solidFill>
                  <a:srgbClr val="43644B"/>
                </a:solidFill>
                <a:latin typeface="Sakkal Saad TN Trial Light"/>
                <a:cs typeface="Sakkal Saad TN Trial Light"/>
              </a:rPr>
              <a:t>13</a:t>
            </a:r>
            <a:r>
              <a:rPr lang="ar-SA" altLang="en-US" sz="1500" dirty="0">
                <a:solidFill>
                  <a:srgbClr val="E9720C"/>
                </a:solidFill>
                <a:latin typeface="Sakkal Saad TN Trial Light"/>
                <a:cs typeface="Sakkal Saad TN Trial Light"/>
              </a:rPr>
              <a:t> التحليل والقياس</a:t>
            </a:r>
            <a:endParaRPr lang="ar-SA" sz="1500" dirty="0"/>
          </a:p>
        </p:txBody>
      </p:sp>
      <p:sp>
        <p:nvSpPr>
          <p:cNvPr id="10" name="s66-text-8"/>
          <p:cNvSpPr txBox="1"/>
          <p:nvPr/>
        </p:nvSpPr>
        <p:spPr>
          <a:xfrm>
            <a:off x="7062760" y="695134"/>
            <a:ext cx="4494240" cy="702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5130"/>
              </a:lnSpc>
              <a:buNone/>
            </a:pPr>
            <a:r>
              <a:rPr lang="ar-SA" altLang="en-US" sz="3800" b="1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مؤشرات الأداء الرئيسية KPIs</a:t>
            </a:r>
            <a:endParaRPr lang="ar-SA" sz="3800" dirty="0"/>
          </a:p>
        </p:txBody>
      </p:sp>
      <p:pic>
        <p:nvPicPr>
          <p:cNvPr id="11" name="s66-snap-9" descr="s66-snap-9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98200" y="1663700"/>
            <a:ext cx="533400" cy="533400"/>
          </a:xfrm>
          <a:prstGeom prst="rect">
            <a:avLst/>
          </a:prstGeom>
        </p:spPr>
      </p:pic>
      <p:sp>
        <p:nvSpPr>
          <p:cNvPr id="12" name="s66-text-10"/>
          <p:cNvSpPr txBox="1"/>
          <p:nvPr/>
        </p:nvSpPr>
        <p:spPr>
          <a:xfrm>
            <a:off x="8866692" y="1696568"/>
            <a:ext cx="2068008" cy="370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520"/>
              </a:lnSpc>
              <a:buNone/>
            </a:pPr>
            <a:r>
              <a:rPr lang="ar-SA" altLang="en-US" sz="1800" dirty="0">
                <a:solidFill>
                  <a:srgbClr val="E9720C"/>
                </a:solidFill>
                <a:latin typeface="Sakkal Saad TN Trial Light"/>
                <a:cs typeface="Sakkal Saad TN Trial Light"/>
              </a:rPr>
              <a:t>مؤشرات الأداء المتوقع قياسها</a:t>
            </a:r>
            <a:endParaRPr lang="ar-SA" sz="1800" dirty="0"/>
          </a:p>
        </p:txBody>
      </p:sp>
      <p:sp>
        <p:nvSpPr>
          <p:cNvPr id="13" name="s66-shape-11"/>
          <p:cNvSpPr/>
          <p:nvPr/>
        </p:nvSpPr>
        <p:spPr>
          <a:xfrm>
            <a:off x="8921750" y="2413000"/>
            <a:ext cx="2571750" cy="1174750"/>
          </a:xfrm>
          <a:prstGeom prst="roundRect">
            <a:avLst>
              <a:gd name="adj" fmla="val 21622"/>
            </a:avLst>
          </a:prstGeom>
          <a:solidFill>
            <a:srgbClr val="43644B"/>
          </a:solidFill>
          <a:ln/>
        </p:spPr>
      </p:sp>
      <p:pic>
        <p:nvPicPr>
          <p:cNvPr id="14" name="s66-snap-12" descr="s66-snap-12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69600" y="2708275"/>
            <a:ext cx="584200" cy="584200"/>
          </a:xfrm>
          <a:prstGeom prst="rect">
            <a:avLst/>
          </a:prstGeom>
        </p:spPr>
      </p:pic>
      <p:sp>
        <p:nvSpPr>
          <p:cNvPr id="15" name="s66-text-13"/>
          <p:cNvSpPr txBox="1"/>
          <p:nvPr/>
        </p:nvSpPr>
        <p:spPr>
          <a:xfrm>
            <a:off x="10081816" y="2657666"/>
            <a:ext cx="598884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400"/>
              </a:lnSpc>
              <a:buNone/>
            </a:pPr>
            <a:r>
              <a:rPr lang="en-US" altLang="en-US" sz="2000" b="1" dirty="0">
                <a:solidFill>
                  <a:srgbClr val="F6C342"/>
                </a:solidFill>
                <a:latin typeface="Sakkal Saad TN Trial Light"/>
                <a:cs typeface="Sakkal Saad TN Trial Light"/>
              </a:rPr>
              <a:t>Reach</a:t>
            </a:r>
            <a:endParaRPr lang="en-US" sz="2000" dirty="0"/>
          </a:p>
        </p:txBody>
      </p:sp>
      <p:sp>
        <p:nvSpPr>
          <p:cNvPr id="16" name="s66-text-14"/>
          <p:cNvSpPr txBox="1"/>
          <p:nvPr/>
        </p:nvSpPr>
        <p:spPr>
          <a:xfrm>
            <a:off x="10081816" y="2963704"/>
            <a:ext cx="598884" cy="307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025"/>
              </a:lnSpc>
              <a:buNone/>
            </a:pPr>
            <a:r>
              <a:rPr lang="ar-SA" altLang="en-US" sz="1500" dirty="0">
                <a:solidFill>
                  <a:srgbClr val="FFFFFF"/>
                </a:solidFill>
                <a:latin typeface="Sakkal Saad TN Trial Light"/>
                <a:cs typeface="Sakkal Saad TN Trial Light"/>
              </a:rPr>
              <a:t>الوصول</a:t>
            </a:r>
            <a:endParaRPr lang="ar-SA" sz="1500" dirty="0"/>
          </a:p>
        </p:txBody>
      </p:sp>
      <p:sp>
        <p:nvSpPr>
          <p:cNvPr id="17" name="s66-shape-15"/>
          <p:cNvSpPr/>
          <p:nvPr/>
        </p:nvSpPr>
        <p:spPr>
          <a:xfrm>
            <a:off x="6191250" y="2413000"/>
            <a:ext cx="2571750" cy="1174750"/>
          </a:xfrm>
          <a:prstGeom prst="roundRect">
            <a:avLst>
              <a:gd name="adj" fmla="val 216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0" dist="76200" dir="5400000">
              <a:srgbClr val="1E2A36">
                <a:alpha val="10000"/>
              </a:srgbClr>
            </a:outerShdw>
          </a:effectLst>
        </p:spPr>
      </p:sp>
      <p:pic>
        <p:nvPicPr>
          <p:cNvPr id="18" name="s66-snap-16" descr="s66-snap-16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39100" y="2708275"/>
            <a:ext cx="584200" cy="584200"/>
          </a:xfrm>
          <a:prstGeom prst="rect">
            <a:avLst/>
          </a:prstGeom>
        </p:spPr>
      </p:pic>
      <p:sp>
        <p:nvSpPr>
          <p:cNvPr id="19" name="s66-text-17"/>
          <p:cNvSpPr txBox="1"/>
          <p:nvPr/>
        </p:nvSpPr>
        <p:spPr>
          <a:xfrm>
            <a:off x="6819503" y="2657666"/>
            <a:ext cx="1130697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400"/>
              </a:lnSpc>
              <a:buNone/>
            </a:pPr>
            <a:r>
              <a:rPr lang="en-US" altLang="en-US" sz="2000" b="1" dirty="0">
                <a:solidFill>
                  <a:srgbClr val="43644B"/>
                </a:solidFill>
                <a:latin typeface="Sakkal Saad TN Trial Light"/>
                <a:cs typeface="Sakkal Saad TN Trial Light"/>
              </a:rPr>
              <a:t>Impressions</a:t>
            </a:r>
            <a:endParaRPr lang="en-US" sz="2000" dirty="0"/>
          </a:p>
        </p:txBody>
      </p:sp>
      <p:sp>
        <p:nvSpPr>
          <p:cNvPr id="20" name="s66-text-18"/>
          <p:cNvSpPr txBox="1"/>
          <p:nvPr/>
        </p:nvSpPr>
        <p:spPr>
          <a:xfrm>
            <a:off x="6819503" y="2963704"/>
            <a:ext cx="1130697" cy="307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025"/>
              </a:lnSpc>
              <a:buNone/>
            </a:pPr>
            <a:r>
              <a:rPr lang="ar-SA" altLang="en-US" sz="15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مرات الظهور</a:t>
            </a:r>
            <a:endParaRPr lang="ar-SA" sz="1500" dirty="0"/>
          </a:p>
        </p:txBody>
      </p:sp>
      <p:sp>
        <p:nvSpPr>
          <p:cNvPr id="21" name="s66-shape-19"/>
          <p:cNvSpPr/>
          <p:nvPr/>
        </p:nvSpPr>
        <p:spPr>
          <a:xfrm>
            <a:off x="3460750" y="2413000"/>
            <a:ext cx="2571750" cy="1174750"/>
          </a:xfrm>
          <a:prstGeom prst="roundRect">
            <a:avLst>
              <a:gd name="adj" fmla="val 216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0" dist="76200" dir="5400000">
              <a:srgbClr val="1E2A36">
                <a:alpha val="10000"/>
              </a:srgbClr>
            </a:outerShdw>
          </a:effectLst>
        </p:spPr>
      </p:sp>
      <p:pic>
        <p:nvPicPr>
          <p:cNvPr id="22" name="s66-snap-20" descr="s66-snap-20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08600" y="2708275"/>
            <a:ext cx="584200" cy="584200"/>
          </a:xfrm>
          <a:prstGeom prst="rect">
            <a:avLst/>
          </a:prstGeom>
        </p:spPr>
      </p:pic>
      <p:sp>
        <p:nvSpPr>
          <p:cNvPr id="23" name="s66-text-21"/>
          <p:cNvSpPr txBox="1"/>
          <p:nvPr/>
        </p:nvSpPr>
        <p:spPr>
          <a:xfrm>
            <a:off x="4523879" y="2657666"/>
            <a:ext cx="695821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400"/>
              </a:lnSpc>
              <a:buNone/>
            </a:pPr>
            <a:r>
              <a:rPr lang="en-US" altLang="en-US" sz="2000" b="1" dirty="0">
                <a:solidFill>
                  <a:srgbClr val="43644B"/>
                </a:solidFill>
                <a:latin typeface="Sakkal Saad TN Trial Light"/>
                <a:cs typeface="Sakkal Saad TN Trial Light"/>
              </a:rPr>
              <a:t>CTR</a:t>
            </a:r>
            <a:endParaRPr lang="en-US" sz="2000" dirty="0"/>
          </a:p>
        </p:txBody>
      </p:sp>
      <p:sp>
        <p:nvSpPr>
          <p:cNvPr id="24" name="s66-text-22"/>
          <p:cNvSpPr txBox="1"/>
          <p:nvPr/>
        </p:nvSpPr>
        <p:spPr>
          <a:xfrm>
            <a:off x="4523879" y="2963704"/>
            <a:ext cx="695821" cy="307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025"/>
              </a:lnSpc>
              <a:buNone/>
            </a:pPr>
            <a:r>
              <a:rPr lang="ar-SA" altLang="en-US" sz="15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نسبة النقر</a:t>
            </a:r>
            <a:endParaRPr lang="ar-SA" sz="1500" dirty="0"/>
          </a:p>
        </p:txBody>
      </p:sp>
      <p:sp>
        <p:nvSpPr>
          <p:cNvPr id="25" name="s66-shape-23"/>
          <p:cNvSpPr/>
          <p:nvPr/>
        </p:nvSpPr>
        <p:spPr>
          <a:xfrm>
            <a:off x="730250" y="2413000"/>
            <a:ext cx="2571750" cy="1174750"/>
          </a:xfrm>
          <a:prstGeom prst="roundRect">
            <a:avLst>
              <a:gd name="adj" fmla="val 216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0" dist="76200" dir="5400000">
              <a:srgbClr val="1E2A36">
                <a:alpha val="10000"/>
              </a:srgbClr>
            </a:outerShdw>
          </a:effectLst>
        </p:spPr>
      </p:sp>
      <p:pic>
        <p:nvPicPr>
          <p:cNvPr id="26" name="s66-snap-24" descr="s66-snap-24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78100" y="2708275"/>
            <a:ext cx="584200" cy="584200"/>
          </a:xfrm>
          <a:prstGeom prst="rect">
            <a:avLst/>
          </a:prstGeom>
        </p:spPr>
      </p:pic>
      <p:sp>
        <p:nvSpPr>
          <p:cNvPr id="27" name="s66-text-25"/>
          <p:cNvSpPr txBox="1"/>
          <p:nvPr/>
        </p:nvSpPr>
        <p:spPr>
          <a:xfrm>
            <a:off x="1739900" y="2657666"/>
            <a:ext cx="749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400"/>
              </a:lnSpc>
              <a:buNone/>
            </a:pPr>
            <a:r>
              <a:rPr lang="en-US" altLang="en-US" sz="2000" b="1" dirty="0">
                <a:solidFill>
                  <a:srgbClr val="43644B"/>
                </a:solidFill>
                <a:latin typeface="Sakkal Saad TN Trial Light"/>
                <a:cs typeface="Sakkal Saad TN Trial Light"/>
              </a:rPr>
              <a:t>CPC</a:t>
            </a:r>
            <a:endParaRPr lang="en-US" sz="2000" dirty="0"/>
          </a:p>
        </p:txBody>
      </p:sp>
      <p:sp>
        <p:nvSpPr>
          <p:cNvPr id="28" name="s66-text-26"/>
          <p:cNvSpPr txBox="1"/>
          <p:nvPr/>
        </p:nvSpPr>
        <p:spPr>
          <a:xfrm>
            <a:off x="1739900" y="2963704"/>
            <a:ext cx="749300" cy="307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025"/>
              </a:lnSpc>
              <a:buNone/>
            </a:pPr>
            <a:r>
              <a:rPr lang="ar-SA" altLang="en-US" sz="15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تكلفة النقرة</a:t>
            </a:r>
            <a:endParaRPr lang="ar-SA" sz="1500" dirty="0"/>
          </a:p>
        </p:txBody>
      </p:sp>
      <p:sp>
        <p:nvSpPr>
          <p:cNvPr id="29" name="s66-shape-27"/>
          <p:cNvSpPr/>
          <p:nvPr/>
        </p:nvSpPr>
        <p:spPr>
          <a:xfrm>
            <a:off x="8921750" y="3714750"/>
            <a:ext cx="2571750" cy="1174750"/>
          </a:xfrm>
          <a:prstGeom prst="roundRect">
            <a:avLst>
              <a:gd name="adj" fmla="val 216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0" dist="76200" dir="5400000">
              <a:srgbClr val="1E2A36">
                <a:alpha val="10000"/>
              </a:srgbClr>
            </a:outerShdw>
          </a:effectLst>
        </p:spPr>
      </p:sp>
      <p:pic>
        <p:nvPicPr>
          <p:cNvPr id="30" name="s66-snap-28" descr="s66-snap-28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769600" y="4010025"/>
            <a:ext cx="584200" cy="584200"/>
          </a:xfrm>
          <a:prstGeom prst="rect">
            <a:avLst/>
          </a:prstGeom>
        </p:spPr>
      </p:pic>
      <p:sp>
        <p:nvSpPr>
          <p:cNvPr id="31" name="s66-text-29"/>
          <p:cNvSpPr txBox="1"/>
          <p:nvPr/>
        </p:nvSpPr>
        <p:spPr>
          <a:xfrm>
            <a:off x="9110539" y="4027715"/>
            <a:ext cx="157016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620"/>
              </a:lnSpc>
              <a:buNone/>
            </a:pPr>
            <a:r>
              <a:rPr lang="en-US" altLang="en-US" sz="1350" b="1" dirty="0">
                <a:solidFill>
                  <a:srgbClr val="43644B"/>
                </a:solidFill>
                <a:latin typeface="Sakkal Saad TN Trial Light"/>
                <a:cs typeface="Sakkal Saad TN Trial Light"/>
              </a:rPr>
              <a:t>WhatsApp Conversations</a:t>
            </a:r>
            <a:endParaRPr lang="en-US" sz="1350" dirty="0"/>
          </a:p>
        </p:txBody>
      </p:sp>
      <p:sp>
        <p:nvSpPr>
          <p:cNvPr id="32" name="s66-text-30"/>
          <p:cNvSpPr txBox="1"/>
          <p:nvPr/>
        </p:nvSpPr>
        <p:spPr>
          <a:xfrm>
            <a:off x="9110539" y="4215844"/>
            <a:ext cx="1570161" cy="307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025"/>
              </a:lnSpc>
              <a:buNone/>
            </a:pPr>
            <a:r>
              <a:rPr lang="ar-SA" altLang="en-US" sz="15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محادثات WhatsApp</a:t>
            </a:r>
            <a:endParaRPr lang="ar-SA" sz="1500" dirty="0"/>
          </a:p>
        </p:txBody>
      </p:sp>
      <p:sp>
        <p:nvSpPr>
          <p:cNvPr id="33" name="s66-shape-31"/>
          <p:cNvSpPr/>
          <p:nvPr/>
        </p:nvSpPr>
        <p:spPr>
          <a:xfrm>
            <a:off x="6191250" y="3714750"/>
            <a:ext cx="2571750" cy="1174750"/>
          </a:xfrm>
          <a:prstGeom prst="roundRect">
            <a:avLst>
              <a:gd name="adj" fmla="val 216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0" dist="76200" dir="5400000">
              <a:srgbClr val="1E2A36">
                <a:alpha val="10000"/>
              </a:srgbClr>
            </a:outerShdw>
          </a:effectLst>
        </p:spPr>
      </p:sp>
      <p:pic>
        <p:nvPicPr>
          <p:cNvPr id="34" name="s66-snap-32" descr="s66-snap-32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39100" y="4010025"/>
            <a:ext cx="584200" cy="584200"/>
          </a:xfrm>
          <a:prstGeom prst="rect">
            <a:avLst/>
          </a:prstGeom>
        </p:spPr>
      </p:pic>
      <p:sp>
        <p:nvSpPr>
          <p:cNvPr id="35" name="s66-text-33"/>
          <p:cNvSpPr txBox="1"/>
          <p:nvPr/>
        </p:nvSpPr>
        <p:spPr>
          <a:xfrm>
            <a:off x="6898382" y="3959415"/>
            <a:ext cx="1051818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400"/>
              </a:lnSpc>
              <a:buNone/>
            </a:pPr>
            <a:r>
              <a:rPr lang="en-US" altLang="en-US" sz="2000" b="1" dirty="0">
                <a:solidFill>
                  <a:srgbClr val="43644B"/>
                </a:solidFill>
                <a:latin typeface="Sakkal Saad TN Trial Light"/>
                <a:cs typeface="Sakkal Saad TN Trial Light"/>
              </a:rPr>
              <a:t>Leads</a:t>
            </a:r>
            <a:endParaRPr lang="en-US" sz="2000" dirty="0"/>
          </a:p>
        </p:txBody>
      </p:sp>
      <p:sp>
        <p:nvSpPr>
          <p:cNvPr id="36" name="s66-text-34"/>
          <p:cNvSpPr txBox="1"/>
          <p:nvPr/>
        </p:nvSpPr>
        <p:spPr>
          <a:xfrm>
            <a:off x="6898382" y="4265454"/>
            <a:ext cx="1051818" cy="307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025"/>
              </a:lnSpc>
              <a:buNone/>
            </a:pPr>
            <a:r>
              <a:rPr lang="ar-SA" altLang="en-US" sz="15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العملاء المحتملون</a:t>
            </a:r>
            <a:endParaRPr lang="ar-SA" sz="1500" dirty="0"/>
          </a:p>
        </p:txBody>
      </p:sp>
      <p:sp>
        <p:nvSpPr>
          <p:cNvPr id="37" name="s66-shape-35"/>
          <p:cNvSpPr/>
          <p:nvPr/>
        </p:nvSpPr>
        <p:spPr>
          <a:xfrm>
            <a:off x="3460750" y="3714750"/>
            <a:ext cx="2571750" cy="1174750"/>
          </a:xfrm>
          <a:prstGeom prst="roundRect">
            <a:avLst>
              <a:gd name="adj" fmla="val 216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0" dist="76200" dir="5400000">
              <a:srgbClr val="1E2A36">
                <a:alpha val="10000"/>
              </a:srgbClr>
            </a:outerShdw>
          </a:effectLst>
        </p:spPr>
      </p:sp>
      <p:pic>
        <p:nvPicPr>
          <p:cNvPr id="38" name="s66-snap-36" descr="s66-snap-36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308600" y="4010025"/>
            <a:ext cx="584200" cy="584200"/>
          </a:xfrm>
          <a:prstGeom prst="rect">
            <a:avLst/>
          </a:prstGeom>
        </p:spPr>
      </p:pic>
      <p:sp>
        <p:nvSpPr>
          <p:cNvPr id="39" name="s66-text-37"/>
          <p:cNvSpPr txBox="1"/>
          <p:nvPr/>
        </p:nvSpPr>
        <p:spPr>
          <a:xfrm>
            <a:off x="3693474" y="4097599"/>
            <a:ext cx="1526226" cy="3336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228"/>
              </a:lnSpc>
              <a:buNone/>
            </a:pPr>
            <a:r>
              <a:rPr lang="ar-SA" altLang="en-US" sz="16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طلبات عروض الأسعار</a:t>
            </a:r>
            <a:endParaRPr lang="ar-SA" sz="1650" dirty="0"/>
          </a:p>
        </p:txBody>
      </p:sp>
      <p:sp>
        <p:nvSpPr>
          <p:cNvPr id="40" name="s66-shape-38"/>
          <p:cNvSpPr/>
          <p:nvPr/>
        </p:nvSpPr>
        <p:spPr>
          <a:xfrm>
            <a:off x="730250" y="3714750"/>
            <a:ext cx="2571750" cy="1174750"/>
          </a:xfrm>
          <a:prstGeom prst="roundRect">
            <a:avLst>
              <a:gd name="adj" fmla="val 216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0" dist="76200" dir="5400000">
              <a:srgbClr val="1E2A36">
                <a:alpha val="10000"/>
              </a:srgbClr>
            </a:outerShdw>
          </a:effectLst>
        </p:spPr>
      </p:sp>
      <p:pic>
        <p:nvPicPr>
          <p:cNvPr id="41" name="s66-snap-39" descr="s66-snap-39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578100" y="4010025"/>
            <a:ext cx="584200" cy="584200"/>
          </a:xfrm>
          <a:prstGeom prst="rect">
            <a:avLst/>
          </a:prstGeom>
        </p:spPr>
      </p:pic>
      <p:sp>
        <p:nvSpPr>
          <p:cNvPr id="42" name="s66-text-40"/>
          <p:cNvSpPr txBox="1"/>
          <p:nvPr/>
        </p:nvSpPr>
        <p:spPr>
          <a:xfrm>
            <a:off x="1453654" y="4027715"/>
            <a:ext cx="1035546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620"/>
              </a:lnSpc>
              <a:buNone/>
            </a:pPr>
            <a:r>
              <a:rPr lang="en-US" altLang="en-US" sz="1350" b="1" dirty="0">
                <a:solidFill>
                  <a:srgbClr val="43644B"/>
                </a:solidFill>
                <a:latin typeface="Sakkal Saad TN Trial Light"/>
                <a:cs typeface="Sakkal Saad TN Trial Light"/>
              </a:rPr>
              <a:t>Conversion Rate</a:t>
            </a:r>
            <a:endParaRPr lang="en-US" sz="1350" dirty="0"/>
          </a:p>
        </p:txBody>
      </p:sp>
      <p:sp>
        <p:nvSpPr>
          <p:cNvPr id="43" name="s66-text-41"/>
          <p:cNvSpPr txBox="1"/>
          <p:nvPr/>
        </p:nvSpPr>
        <p:spPr>
          <a:xfrm>
            <a:off x="1453654" y="4215844"/>
            <a:ext cx="1035546" cy="307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025"/>
              </a:lnSpc>
              <a:buNone/>
            </a:pPr>
            <a:r>
              <a:rPr lang="ar-SA" altLang="en-US" sz="15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معدل التحويل</a:t>
            </a:r>
            <a:endParaRPr lang="ar-SA" sz="1500" dirty="0"/>
          </a:p>
        </p:txBody>
      </p:sp>
      <p:sp>
        <p:nvSpPr>
          <p:cNvPr id="44" name="s66-shape-42"/>
          <p:cNvSpPr/>
          <p:nvPr/>
        </p:nvSpPr>
        <p:spPr>
          <a:xfrm>
            <a:off x="8921750" y="5016500"/>
            <a:ext cx="2571750" cy="1174750"/>
          </a:xfrm>
          <a:prstGeom prst="roundRect">
            <a:avLst>
              <a:gd name="adj" fmla="val 216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0" dist="76200" dir="5400000">
              <a:srgbClr val="1E2A36">
                <a:alpha val="10000"/>
              </a:srgbClr>
            </a:outerShdw>
          </a:effectLst>
        </p:spPr>
      </p:sp>
      <p:pic>
        <p:nvPicPr>
          <p:cNvPr id="45" name="s66-snap-43" descr="s66-snap-43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769600" y="5311775"/>
            <a:ext cx="584200" cy="584200"/>
          </a:xfrm>
          <a:prstGeom prst="rect">
            <a:avLst/>
          </a:prstGeom>
        </p:spPr>
      </p:pic>
      <p:sp>
        <p:nvSpPr>
          <p:cNvPr id="46" name="s66-text-44"/>
          <p:cNvSpPr txBox="1"/>
          <p:nvPr/>
        </p:nvSpPr>
        <p:spPr>
          <a:xfrm>
            <a:off x="9146865" y="5261166"/>
            <a:ext cx="1533835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400"/>
              </a:lnSpc>
              <a:buNone/>
            </a:pPr>
            <a:r>
              <a:rPr lang="en-US" altLang="en-US" sz="2000" b="1" dirty="0">
                <a:solidFill>
                  <a:srgbClr val="43644B"/>
                </a:solidFill>
                <a:latin typeface="Sakkal Saad TN Trial Light"/>
                <a:cs typeface="Sakkal Saad TN Trial Light"/>
              </a:rPr>
              <a:t>CPA</a:t>
            </a:r>
            <a:endParaRPr lang="en-US" sz="2000" dirty="0"/>
          </a:p>
        </p:txBody>
      </p:sp>
      <p:sp>
        <p:nvSpPr>
          <p:cNvPr id="47" name="s66-text-45"/>
          <p:cNvSpPr txBox="1"/>
          <p:nvPr/>
        </p:nvSpPr>
        <p:spPr>
          <a:xfrm>
            <a:off x="9146865" y="5567204"/>
            <a:ext cx="1533835" cy="307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025"/>
              </a:lnSpc>
              <a:buNone/>
            </a:pPr>
            <a:r>
              <a:rPr lang="ar-SA" altLang="en-US" sz="15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تكلفة الحصول على عميل</a:t>
            </a:r>
            <a:endParaRPr lang="ar-SA" sz="1500" dirty="0"/>
          </a:p>
        </p:txBody>
      </p:sp>
      <p:sp>
        <p:nvSpPr>
          <p:cNvPr id="48" name="s66-shape-46"/>
          <p:cNvSpPr/>
          <p:nvPr/>
        </p:nvSpPr>
        <p:spPr>
          <a:xfrm>
            <a:off x="6191250" y="5016500"/>
            <a:ext cx="2571750" cy="1174750"/>
          </a:xfrm>
          <a:prstGeom prst="roundRect">
            <a:avLst>
              <a:gd name="adj" fmla="val 216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0" dist="76200" dir="5400000">
              <a:srgbClr val="1E2A36">
                <a:alpha val="10000"/>
              </a:srgbClr>
            </a:outerShdw>
          </a:effectLst>
        </p:spPr>
      </p:sp>
      <p:pic>
        <p:nvPicPr>
          <p:cNvPr id="49" name="s66-snap-47" descr="s66-snap-47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039100" y="5311775"/>
            <a:ext cx="584200" cy="584200"/>
          </a:xfrm>
          <a:prstGeom prst="rect">
            <a:avLst/>
          </a:prstGeom>
        </p:spPr>
      </p:pic>
      <p:sp>
        <p:nvSpPr>
          <p:cNvPr id="50" name="s66-text-48"/>
          <p:cNvSpPr txBox="1"/>
          <p:nvPr/>
        </p:nvSpPr>
        <p:spPr>
          <a:xfrm>
            <a:off x="7063581" y="5399349"/>
            <a:ext cx="886619" cy="3336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228"/>
              </a:lnSpc>
              <a:buNone/>
            </a:pPr>
            <a:r>
              <a:rPr lang="ar-SA" altLang="en-US" sz="165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عدد المبيعات</a:t>
            </a:r>
            <a:endParaRPr lang="ar-SA" sz="1650" dirty="0"/>
          </a:p>
        </p:txBody>
      </p:sp>
      <p:sp>
        <p:nvSpPr>
          <p:cNvPr id="51" name="s66-shape-49"/>
          <p:cNvSpPr/>
          <p:nvPr/>
        </p:nvSpPr>
        <p:spPr>
          <a:xfrm>
            <a:off x="3460750" y="5016500"/>
            <a:ext cx="2571750" cy="1174750"/>
          </a:xfrm>
          <a:prstGeom prst="roundRect">
            <a:avLst>
              <a:gd name="adj" fmla="val 21622"/>
            </a:avLst>
          </a:prstGeom>
          <a:solidFill>
            <a:srgbClr val="FF8D26"/>
          </a:solidFill>
          <a:ln/>
        </p:spPr>
      </p:sp>
      <p:pic>
        <p:nvPicPr>
          <p:cNvPr id="52" name="s66-snap-50" descr="s66-snap-50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308600" y="5311775"/>
            <a:ext cx="584200" cy="584200"/>
          </a:xfrm>
          <a:prstGeom prst="rect">
            <a:avLst/>
          </a:prstGeom>
        </p:spPr>
      </p:pic>
      <p:sp>
        <p:nvSpPr>
          <p:cNvPr id="53" name="s66-text-51"/>
          <p:cNvSpPr txBox="1"/>
          <p:nvPr/>
        </p:nvSpPr>
        <p:spPr>
          <a:xfrm>
            <a:off x="3607213" y="5261166"/>
            <a:ext cx="1612487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400"/>
              </a:lnSpc>
              <a:buNone/>
            </a:pPr>
            <a:r>
              <a:rPr lang="en-US" altLang="en-US" sz="2000" b="1" dirty="0">
                <a:solidFill>
                  <a:srgbClr val="FFFFFF"/>
                </a:solidFill>
                <a:latin typeface="Sakkal Saad TN Trial Light"/>
                <a:cs typeface="Sakkal Saad TN Trial Light"/>
              </a:rPr>
              <a:t>ROAS</a:t>
            </a:r>
            <a:endParaRPr lang="en-US" sz="2000" dirty="0"/>
          </a:p>
        </p:txBody>
      </p:sp>
      <p:sp>
        <p:nvSpPr>
          <p:cNvPr id="54" name="s66-text-52"/>
          <p:cNvSpPr txBox="1"/>
          <p:nvPr/>
        </p:nvSpPr>
        <p:spPr>
          <a:xfrm>
            <a:off x="3607213" y="5567204"/>
            <a:ext cx="1612487" cy="307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025"/>
              </a:lnSpc>
              <a:buNone/>
            </a:pPr>
            <a:r>
              <a:rPr lang="ar-SA" altLang="en-US" sz="1500" dirty="0">
                <a:solidFill>
                  <a:srgbClr val="1E2A36"/>
                </a:solidFill>
                <a:latin typeface="Sakkal Saad TN Trial Light"/>
                <a:cs typeface="Sakkal Saad TN Trial Light"/>
              </a:rPr>
              <a:t>العائد على الإنفاق الإعلاني</a:t>
            </a:r>
            <a:endParaRPr lang="ar-SA" sz="15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3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4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0" dur="489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75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75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75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5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75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75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75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75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75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75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75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75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75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53" presetClass="entr" presetSubtype="16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7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75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75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75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75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75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75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53" presetClass="entr" presetSubtype="16" fill="hold" grpId="0" nodeType="withEffect">
                                  <p:stCondLst>
                                    <p:cond delay="53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27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750" fill="hold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750" fill="hold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750" fill="hold" decel="10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750" fill="hold" decel="10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750" fill="hold" decel="100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750" fill="hold" decel="100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53" presetClass="entr" presetSubtype="16" fill="hold" grpId="0" nodeType="withEffect">
                                  <p:stCondLst>
                                    <p:cond delay="61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27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6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6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62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750" fill="hold" decel="100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750" fill="hold" decel="100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grpId="0" nodeType="withEffect">
                                  <p:stCondLst>
                                    <p:cond delay="62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750" fill="hold" decel="100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750" fill="hold" decel="100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42" presetClass="entr" presetSubtype="0" fill="hold" grpId="0" nodeType="withEffect">
                                  <p:stCondLst>
                                    <p:cond delay="62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750" fill="hold" decel="100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750" fill="hold" decel="100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53" presetClass="entr" presetSubtype="16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27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6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6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9" dur="750" fill="hold" decel="1000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750" fill="hold" decel="1000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750" fill="hold" decel="1000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750" fill="hold" decel="1000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6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9" dur="750" fill="hold" decel="100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750" fill="hold" decel="100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53" presetClass="entr" presetSubtype="16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27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4" dur="6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6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6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9" dur="750" fill="hold" decel="100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750" fill="hold" decel="100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6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4" dur="750" fill="hold" decel="100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750" fill="hold" decel="100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6" presetID="53" presetClass="entr" presetSubtype="16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27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9" dur="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1" presetID="42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6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4" dur="750" fill="hold" decel="100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750" fill="hold" decel="100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6" presetID="42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6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9" dur="750" fill="hold" decel="1000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750" fill="hold" decel="1000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1" presetID="42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6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4" dur="750" fill="hold" decel="1000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750" fill="hold" decel="1000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6" presetID="53" presetClass="entr" presetSubtype="16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27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9" dur="6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6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1" presetID="42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6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4" dur="750" fill="hold" decel="1000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750" fill="hold" decel="1000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6" presetID="42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6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9" dur="750" fill="hold" decel="1000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0" dur="750" fill="hold" decel="1000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1" presetID="42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6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4" dur="750" fill="hold" decel="1000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5" dur="750" fill="hold" decel="1000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6" presetID="53" presetClass="entr" presetSubtype="16" fill="hold" grpId="0" nodeType="withEffect">
                                  <p:stCondLst>
                                    <p:cond delay="101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27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9" dur="6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6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1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6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4" dur="750" fill="hold" decel="1000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5" dur="750" fill="hold" decel="1000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6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6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9" dur="750" fill="hold" decel="1000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0" dur="750" fill="hold" decel="1000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1" presetID="53" presetClass="entr" presetSubtype="16" fill="hold" grpId="0" nodeType="withEffect">
                                  <p:stCondLst>
                                    <p:cond delay="109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3" dur="27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4" dur="6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5" dur="6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6" presetID="42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6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9" dur="750" fill="hold" decel="1000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0" dur="750" fill="hold" decel="1000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1" presetID="42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6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4" dur="750" fill="hold" decel="10000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5" dur="750" fill="hold" decel="10000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6" presetID="42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8" dur="6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9" dur="750" fill="hold" decel="1000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0" dur="750" fill="hold" decel="1000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1" presetID="53" presetClass="entr" presetSubtype="16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3" dur="27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4" dur="6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5" dur="6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6" presetID="53" presetClass="entr" presetSubtype="16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8" dur="27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9" dur="6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0" dur="6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/>
      <p:bldP spid="12" grpId="0"/>
      <p:bldP spid="13" grpId="0" animBg="1"/>
      <p:bldP spid="15" grpId="0"/>
      <p:bldP spid="16" grpId="0"/>
      <p:bldP spid="17" grpId="0" animBg="1"/>
      <p:bldP spid="19" grpId="0"/>
      <p:bldP spid="20" grpId="0"/>
      <p:bldP spid="21" grpId="0" animBg="1"/>
      <p:bldP spid="23" grpId="0"/>
      <p:bldP spid="24" grpId="0"/>
      <p:bldP spid="25" grpId="0" animBg="1"/>
      <p:bldP spid="27" grpId="0"/>
      <p:bldP spid="28" grpId="0"/>
      <p:bldP spid="29" grpId="0" animBg="1"/>
      <p:bldP spid="31" grpId="0"/>
      <p:bldP spid="32" grpId="0"/>
      <p:bldP spid="33" grpId="0" animBg="1"/>
      <p:bldP spid="35" grpId="0"/>
      <p:bldP spid="36" grpId="0"/>
      <p:bldP spid="37" grpId="0" animBg="1"/>
      <p:bldP spid="39" grpId="0"/>
      <p:bldP spid="40" grpId="0" animBg="1"/>
      <p:bldP spid="42" grpId="0"/>
      <p:bldP spid="43" grpId="0"/>
      <p:bldP spid="44" grpId="0" animBg="1"/>
      <p:bldP spid="46" grpId="0"/>
      <p:bldP spid="47" grpId="0"/>
      <p:bldP spid="48" grpId="0" animBg="1"/>
      <p:bldP spid="50" grpId="0"/>
      <p:bldP spid="51" grpId="0" animBg="1"/>
      <p:bldP spid="53" grpId="0"/>
      <p:bldP spid="54" grpId="0"/>
    </p:bldLst>
  </p:timing>
</p:sld>
</file>

<file path=ppt/slides/slide67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6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lens"/>
          <p:cNvSpPr/>
          <p:nvPr/>
        </p:nvSpPr>
        <p:spPr>
          <a:xfrm>
            <a:off x="-1905000" y="-1333500"/>
            <a:ext cx="9017000" cy="901700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3" name="!!lens2"/>
          <p:cNvSpPr/>
          <p:nvPr/>
        </p:nvSpPr>
        <p:spPr>
          <a:xfrm>
            <a:off x="254000" y="762000"/>
            <a:ext cx="5334000" cy="533400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pic>
        <p:nvPicPr>
          <p:cNvPr id="4" name="!!mt" descr="شعار نظرة ثمانية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2215" y="1366490"/>
            <a:ext cx="2717800" cy="2673350"/>
          </a:xfrm>
          <a:prstGeom prst="rect">
            <a:avLst/>
          </a:prstGeom>
        </p:spPr>
      </p:pic>
      <p:pic>
        <p:nvPicPr>
          <p:cNvPr id="5" name="!!mb" descr="شعار نظرة ثمانية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9998" y="2887911"/>
            <a:ext cx="2647950" cy="2603500"/>
          </a:xfrm>
          <a:prstGeom prst="rect">
            <a:avLst/>
          </a:prstGeom>
        </p:spPr>
      </p:pic>
      <p:pic>
        <p:nvPicPr>
          <p:cNvPr id="6" name="!!ma" descr="شعار نظرة ثمانية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9153" y="2281535"/>
            <a:ext cx="482600" cy="425450"/>
          </a:xfrm>
          <a:prstGeom prst="rect">
            <a:avLst/>
          </a:prstGeom>
        </p:spPr>
      </p:pic>
      <p:sp>
        <p:nvSpPr>
          <p:cNvPr id="7" name="!!dot"/>
          <p:cNvSpPr/>
          <p:nvPr/>
        </p:nvSpPr>
        <p:spPr>
          <a:xfrm>
            <a:off x="4826000" y="1206500"/>
            <a:ext cx="393700" cy="393700"/>
          </a:xfrm>
          <a:prstGeom prst="ellipse">
            <a:avLst/>
          </a:prstGeom>
          <a:solidFill>
            <a:srgbClr val="F6C342"/>
          </a:solidFill>
          <a:ln/>
        </p:spPr>
      </p:sp>
      <p:pic>
        <p:nvPicPr>
          <p:cNvPr id="8" name="!!hud" descr="!!hud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7800" y="177800"/>
            <a:ext cx="11836400" cy="6502400"/>
          </a:xfrm>
          <a:prstGeom prst="rect">
            <a:avLst/>
          </a:prstGeom>
        </p:spPr>
      </p:pic>
      <p:sp>
        <p:nvSpPr>
          <p:cNvPr id="9" name="!!rec"/>
          <p:cNvSpPr/>
          <p:nvPr/>
        </p:nvSpPr>
        <p:spPr>
          <a:xfrm>
            <a:off x="635000" y="6337300"/>
            <a:ext cx="101600" cy="101600"/>
          </a:xfrm>
          <a:prstGeom prst="ellipse">
            <a:avLst/>
          </a:prstGeom>
          <a:solidFill>
            <a:srgbClr val="FF8D26"/>
          </a:solidFill>
          <a:ln/>
        </p:spPr>
      </p:sp>
      <p:sp>
        <p:nvSpPr>
          <p:cNvPr id="10" name="!!num"/>
          <p:cNvSpPr txBox="1"/>
          <p:nvPr/>
        </p:nvSpPr>
        <p:spPr>
          <a:xfrm>
            <a:off x="825500" y="6281750"/>
            <a:ext cx="686891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altLang="en-US" sz="1200" dirty="0">
                <a:solidFill>
                  <a:srgbClr val="D9E0DB"/>
                </a:solidFill>
                <a:latin typeface="Sakkal Saad TN Trial Light"/>
                <a:cs typeface="Sakkal Saad TN Trial Light"/>
              </a:rPr>
              <a:t>REC · 67</a:t>
            </a:r>
            <a:endParaRPr lang="en-US" sz="1200" dirty="0"/>
          </a:p>
        </p:txBody>
      </p:sp>
      <p:pic>
        <p:nvPicPr>
          <p:cNvPr id="11" name="s67-asset-10" descr="شعار نظرة ثمانية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91896" y="1333500"/>
            <a:ext cx="3702050" cy="1397000"/>
          </a:xfrm>
          <a:prstGeom prst="rect">
            <a:avLst/>
          </a:prstGeom>
        </p:spPr>
      </p:pic>
      <p:pic>
        <p:nvPicPr>
          <p:cNvPr id="12" name="s67-snap-11" descr="s67-snap-11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05400" y="2946400"/>
            <a:ext cx="6426200" cy="1028700"/>
          </a:xfrm>
          <a:prstGeom prst="rect">
            <a:avLst/>
          </a:prstGeom>
        </p:spPr>
      </p:pic>
      <p:sp>
        <p:nvSpPr>
          <p:cNvPr id="13" name="s67-text-12"/>
          <p:cNvSpPr txBox="1"/>
          <p:nvPr/>
        </p:nvSpPr>
        <p:spPr>
          <a:xfrm>
            <a:off x="4635500" y="3819271"/>
            <a:ext cx="68580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4200"/>
              </a:lnSpc>
              <a:buNone/>
            </a:pPr>
            <a:r>
              <a:rPr lang="ar-SA" altLang="en-US" sz="3000" dirty="0">
                <a:solidFill>
                  <a:srgbClr val="FFFFFF"/>
                </a:solidFill>
                <a:latin typeface="Sakkal Saad TN Trial Light"/>
                <a:cs typeface="Sakkal Saad TN Trial Light"/>
              </a:rPr>
              <a:t>لمشروع </a:t>
            </a:r>
            <a:r>
              <a:rPr lang="ar-SA" altLang="en-US" sz="3000" b="1" dirty="0">
                <a:solidFill>
                  <a:srgbClr val="F6C342"/>
                </a:solidFill>
                <a:latin typeface="Sakkal Saad TN Trial Light"/>
                <a:cs typeface="Sakkal Saad TN Trial Light"/>
              </a:rPr>
              <a:t>نظرة ثمانية</a:t>
            </a:r>
            <a:r>
              <a:rPr lang="ar-SA" altLang="en-US" sz="3000" dirty="0">
                <a:solidFill>
                  <a:srgbClr val="FFFFFF"/>
                </a:solidFill>
                <a:latin typeface="Sakkal Saad TN Trial Light"/>
                <a:cs typeface="Sakkal Saad TN Trial Light"/>
              </a:rPr>
              <a:t> – Eightlook</a:t>
            </a:r>
            <a:endParaRPr lang="ar-SA" sz="3000" dirty="0"/>
          </a:p>
        </p:txBody>
      </p:sp>
      <p:pic>
        <p:nvPicPr>
          <p:cNvPr id="14" name="s67-snap-13" descr="s67-snap-13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22000" y="5251450"/>
            <a:ext cx="609600" cy="609600"/>
          </a:xfrm>
          <a:prstGeom prst="rect">
            <a:avLst/>
          </a:prstGeom>
        </p:spPr>
      </p:pic>
      <p:sp>
        <p:nvSpPr>
          <p:cNvPr id="15" name="s67-text-14"/>
          <p:cNvSpPr txBox="1"/>
          <p:nvPr/>
        </p:nvSpPr>
        <p:spPr>
          <a:xfrm>
            <a:off x="9202555" y="5208575"/>
            <a:ext cx="1617845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960"/>
              </a:lnSpc>
              <a:buNone/>
            </a:pPr>
            <a:r>
              <a:rPr lang="ar-SA" altLang="en-US" sz="1400" dirty="0">
                <a:solidFill>
                  <a:srgbClr val="D0D8D2"/>
                </a:solidFill>
                <a:latin typeface="Sakkal Saad TN Trial Light"/>
                <a:cs typeface="Sakkal Saad TN Trial Light"/>
              </a:rPr>
              <a:t>إعداد المتدربة</a:t>
            </a:r>
            <a:endParaRPr lang="ar-SA" sz="1400" dirty="0"/>
          </a:p>
        </p:txBody>
      </p:sp>
      <p:sp>
        <p:nvSpPr>
          <p:cNvPr id="16" name="s67-text-15"/>
          <p:cNvSpPr txBox="1"/>
          <p:nvPr/>
        </p:nvSpPr>
        <p:spPr>
          <a:xfrm>
            <a:off x="9202555" y="5433428"/>
            <a:ext cx="1617845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660"/>
              </a:lnSpc>
              <a:buNone/>
            </a:pPr>
            <a:r>
              <a:rPr lang="ar-SA" altLang="en-US" sz="1900" dirty="0">
                <a:solidFill>
                  <a:srgbClr val="FFFFFF"/>
                </a:solidFill>
                <a:latin typeface="Sakkal Saad TN Trial Light"/>
                <a:cs typeface="Sakkal Saad TN Trial Light"/>
              </a:rPr>
              <a:t>زينب عبدالله الشراعي</a:t>
            </a:r>
            <a:endParaRPr lang="ar-SA" sz="1900" dirty="0"/>
          </a:p>
        </p:txBody>
      </p:sp>
      <p:pic>
        <p:nvPicPr>
          <p:cNvPr id="17" name="s67-asset-16" descr="شعار بصمة وعي للتدريب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47498" y="444500"/>
            <a:ext cx="1746250" cy="4699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3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2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4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7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90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90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2" presetClass="entr" presetSubtype="2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9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5" dur="63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75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75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5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75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75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75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3" grpId="0"/>
      <p:bldP spid="15" grpId="0"/>
      <p:bldP spid="16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akkal Saad TN Trial Light"/>
        <a:ea typeface=""/>
        <a:cs typeface="Sakkal Saad TN Trial Light"/>
        <a:font script="Jpan" typeface="游ゴシック Light"/>
        <a:font script="Hang" typeface="맑은 고딕"/>
        <a:font script="Hans" typeface="等线 Light"/>
        <a:font script="Hant" typeface="新細明體"/>
        <a:font script="Arab" typeface="Sakkal Saad TN Trial Light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akkal Saad TN Trial Light"/>
        <a:ea typeface=""/>
        <a:cs typeface="Sakkal Saad TN Trial Light"/>
        <a:font script="Jpan" typeface="游ゴシック"/>
        <a:font script="Hang" typeface="맑은 고딕"/>
        <a:font script="Hans" typeface="等线"/>
        <a:font script="Hant" typeface="新細明體"/>
        <a:font script="Arab" typeface="Sakkal Saad TN Trial Light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67</Slides>
  <Notes>67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67</vt:i4>
      </vt:variant>
    </vt:vector>
  </HeadingPairs>
  <TitlesOfParts>
    <vt:vector size="7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الخطة التسويقية لمشروع نظرة ثمانية – Eightlook</dc:title>
  <dc:subject>PptxGenJS Presentation</dc:subject>
  <dc:creator>زينب عبدالله الشراعي</dc:creator>
  <cp:lastModifiedBy>زينب عبدالله الشراعي</cp:lastModifiedBy>
  <cp:revision>1</cp:revision>
  <dcterms:created xsi:type="dcterms:W3CDTF">2026-10-02T00:24:49Z</dcterms:created>
  <dcterms:modified xsi:type="dcterms:W3CDTF">2026-10-02T00:24:49Z</dcterms:modified>
</cp:coreProperties>
</file>