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توزيع المحتوى خلال الشهر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804C"/>
              </a:solidFill>
              <a:ln w="508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5B86E"/>
              </a:solidFill>
              <a:ln w="508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CC4BC"/>
              </a:solidFill>
              <a:ln w="508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3E36B"/>
              </a:solidFill>
              <a:ln w="508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A6142"/>
              </a:solidFill>
              <a:ln w="508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محتوى تعليمي وتوعوي</c:v>
                </c:pt>
                <c:pt idx="1">
                  <c:v>محتوى منتجات ومواصفات</c:v>
                </c:pt>
                <c:pt idx="2">
                  <c:v>محتوى بناء الثقة والاستعراض</c:v>
                </c:pt>
                <c:pt idx="3">
                  <c:v>محتوى تفاعلي</c:v>
                </c:pt>
                <c:pt idx="4">
                  <c:v>محتوى بيعي وعروض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-5.png"/><Relationship Id="rId6" Type="http://schemas.openxmlformats.org/officeDocument/2006/relationships/image" Target="../media/image-10-3.png"/><Relationship Id="rId7" Type="http://schemas.openxmlformats.org/officeDocument/2006/relationships/image" Target="../media/image-10-4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6-5.png"/><Relationship Id="rId6" Type="http://schemas.openxmlformats.org/officeDocument/2006/relationships/image" Target="../media/image-6-10.png"/><Relationship Id="rId7" Type="http://schemas.openxmlformats.org/officeDocument/2006/relationships/image" Target="../media/image-6-7.png"/><Relationship Id="rId8" Type="http://schemas.openxmlformats.org/officeDocument/2006/relationships/image" Target="../media/image-6-10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0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-4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3-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5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png"/><Relationship Id="rId13" Type="http://schemas.openxmlformats.org/officeDocument/2006/relationships/image" Target="../media/image-3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15-11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image" Target="../media/image-10-3.png"/><Relationship Id="rId7" Type="http://schemas.openxmlformats.org/officeDocument/2006/relationships/image" Target="../media/image-1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10-3.png"/><Relationship Id="rId8" Type="http://schemas.openxmlformats.org/officeDocument/2006/relationships/image" Target="../media/image-10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7-5.png"/><Relationship Id="rId6" Type="http://schemas.openxmlformats.org/officeDocument/2006/relationships/image" Target="../media/image-50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5-5.png"/><Relationship Id="rId6" Type="http://schemas.openxmlformats.org/officeDocument/2006/relationships/image" Target="../media/image-51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image" Target="../media/image-5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6.png"/><Relationship Id="rId8" Type="http://schemas.openxmlformats.org/officeDocument/2006/relationships/image" Target="../media/image-54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8-5.png"/><Relationship Id="rId6" Type="http://schemas.openxmlformats.org/officeDocument/2006/relationships/image" Target="../media/image-55-6.png"/><Relationship Id="rId7" Type="http://schemas.openxmlformats.org/officeDocument/2006/relationships/image" Target="../media/image-4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image" Target="../media/image-58-7.png"/><Relationship Id="rId8" Type="http://schemas.openxmlformats.org/officeDocument/2006/relationships/image" Target="../media/image-58-8.png"/><Relationship Id="rId9" Type="http://schemas.openxmlformats.org/officeDocument/2006/relationships/image" Target="../media/image-58-9.png"/><Relationship Id="rId10" Type="http://schemas.openxmlformats.org/officeDocument/2006/relationships/image" Target="../media/image-58-10.png"/><Relationship Id="rId11" Type="http://schemas.openxmlformats.org/officeDocument/2006/relationships/image" Target="../media/image-14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59-5.png"/><Relationship Id="rId6" Type="http://schemas.openxmlformats.org/officeDocument/2006/relationships/image" Target="../media/image-30-3.png"/><Relationship Id="rId7" Type="http://schemas.openxmlformats.org/officeDocument/2006/relationships/image" Target="../media/image-3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61-5.png"/><Relationship Id="rId6" Type="http://schemas.openxmlformats.org/officeDocument/2006/relationships/image" Target="../media/image-61-5.png"/><Relationship Id="rId7" Type="http://schemas.openxmlformats.org/officeDocument/2006/relationships/image" Target="../media/image-61-5.png"/><Relationship Id="rId8" Type="http://schemas.openxmlformats.org/officeDocument/2006/relationships/image" Target="../media/image-61-5.png"/><Relationship Id="rId9" Type="http://schemas.openxmlformats.org/officeDocument/2006/relationships/image" Target="../media/image-10-3.png"/><Relationship Id="rId10" Type="http://schemas.openxmlformats.org/officeDocument/2006/relationships/image" Target="../media/image-10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4900" y="-1562100"/>
            <a:ext cx="18288000" cy="10287000"/>
          </a:xfrm>
          <a:prstGeom prst="rect">
            <a:avLst/>
          </a:prstGeom>
        </p:spPr>
      </p:pic>
      <p:sp>
        <p:nvSpPr>
          <p:cNvPr id="3" name="!!halo"/>
          <p:cNvSpPr/>
          <p:nvPr/>
        </p:nvSpPr>
        <p:spPr>
          <a:xfrm>
            <a:off x="952500" y="1206500"/>
            <a:ext cx="4064000" cy="4064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!!ring" descr="/home/user/flan777/ard-albasatin-presentation/source/pptx_build/img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977900"/>
            <a:ext cx="4521200" cy="4521200"/>
          </a:xfrm>
          <a:prstGeom prst="rect">
            <a:avLst/>
          </a:prstGeom>
        </p:spPr>
      </p:pic>
      <p:pic>
        <p:nvPicPr>
          <p:cNvPr id="5" name="!!logo" descr="شعار أرض البساتي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651000"/>
            <a:ext cx="3149600" cy="3175000"/>
          </a:xfrm>
          <a:prstGeom prst="rect">
            <a:avLst/>
          </a:prstGeom>
        </p:spPr>
      </p:pic>
      <p:sp>
        <p:nvSpPr>
          <p:cNvPr id="6" name="s1-text-5"/>
          <p:cNvSpPr txBox="1"/>
          <p:nvPr/>
        </p:nvSpPr>
        <p:spPr>
          <a:xfrm>
            <a:off x="5321300" y="701167"/>
            <a:ext cx="61722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C3E36B"/>
                </a:solidFill>
                <a:latin typeface="Alexandria Medium"/>
                <a:cs typeface="Alexandria Medium"/>
              </a:rPr>
              <a:t>اسم المشروع</a:t>
            </a:r>
            <a:endParaRPr lang="ar-SA" sz="1600" dirty="0"/>
          </a:p>
        </p:txBody>
      </p:sp>
      <p:sp>
        <p:nvSpPr>
          <p:cNvPr id="7" name="!!t1"/>
          <p:cNvSpPr txBox="1"/>
          <p:nvPr/>
        </p:nvSpPr>
        <p:spPr>
          <a:xfrm>
            <a:off x="4673600" y="15240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4000"/>
              </a:lnSpc>
              <a:buNone/>
            </a:pPr>
            <a:r>
              <a:rPr lang="ar-SA" altLang="en-US" sz="12500" dirty="0">
                <a:solidFill>
                  <a:srgbClr val="FFFFFF"/>
                </a:solidFill>
                <a:latin typeface="Alexandria Black"/>
                <a:cs typeface="Alexandria Black"/>
              </a:rPr>
              <a:t>أرض</a:t>
            </a:r>
            <a:endParaRPr lang="ar-SA" sz="12500" dirty="0"/>
          </a:p>
        </p:txBody>
      </p:sp>
      <p:sp>
        <p:nvSpPr>
          <p:cNvPr id="8" name="!!t2"/>
          <p:cNvSpPr txBox="1"/>
          <p:nvPr/>
        </p:nvSpPr>
        <p:spPr>
          <a:xfrm>
            <a:off x="4673600" y="3302000"/>
            <a:ext cx="6858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1000"/>
              </a:lnSpc>
              <a:buNone/>
            </a:pPr>
            <a:r>
              <a:rPr lang="ar-SA" altLang="en-US" sz="10000" dirty="0">
                <a:solidFill>
                  <a:srgbClr val="C3E36B"/>
                </a:solidFill>
                <a:latin typeface="Alexandria Thin"/>
                <a:cs typeface="Alexandria Thin"/>
              </a:rPr>
              <a:t>البساتين</a:t>
            </a:r>
            <a:endParaRPr lang="ar-SA" sz="10000" dirty="0"/>
          </a:p>
        </p:txBody>
      </p:sp>
      <p:sp>
        <p:nvSpPr>
          <p:cNvPr id="9" name="s1-text-8"/>
          <p:cNvSpPr txBox="1"/>
          <p:nvPr/>
        </p:nvSpPr>
        <p:spPr>
          <a:xfrm>
            <a:off x="7927340" y="5389118"/>
            <a:ext cx="35661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lexandria"/>
                <a:cs typeface="Alexandria"/>
              </a:rPr>
              <a:t>اسم المتدرب</a:t>
            </a:r>
            <a:endParaRPr lang="ar-SA" sz="1400" dirty="0"/>
          </a:p>
        </p:txBody>
      </p:sp>
      <p:sp>
        <p:nvSpPr>
          <p:cNvPr id="10" name="s1-text-9"/>
          <p:cNvSpPr txBox="1"/>
          <p:nvPr/>
        </p:nvSpPr>
        <p:spPr>
          <a:xfrm>
            <a:off x="7927340" y="5647563"/>
            <a:ext cx="35661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65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lexandria"/>
                <a:cs typeface="Alexandria"/>
              </a:rPr>
              <a:t>حمير بشبر علي غالب زايد</a:t>
            </a:r>
            <a:endParaRPr lang="ar-SA" sz="1900" dirty="0"/>
          </a:p>
        </p:txBody>
      </p:sp>
      <p:sp>
        <p:nvSpPr>
          <p:cNvPr id="11" name="s1-shape-10"/>
          <p:cNvSpPr/>
          <p:nvPr/>
        </p:nvSpPr>
        <p:spPr>
          <a:xfrm>
            <a:off x="7937500" y="5410200"/>
            <a:ext cx="12700" cy="584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1-text-11"/>
          <p:cNvSpPr txBox="1"/>
          <p:nvPr/>
        </p:nvSpPr>
        <p:spPr>
          <a:xfrm>
            <a:off x="4307840" y="5389118"/>
            <a:ext cx="35661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lexandria"/>
                <a:cs typeface="Alexandria"/>
              </a:rPr>
              <a:t>اسم الدبلوم</a:t>
            </a:r>
            <a:endParaRPr lang="ar-SA" sz="1400" dirty="0"/>
          </a:p>
        </p:txBody>
      </p:sp>
      <p:sp>
        <p:nvSpPr>
          <p:cNvPr id="13" name="s1-text-12"/>
          <p:cNvSpPr txBox="1"/>
          <p:nvPr/>
        </p:nvSpPr>
        <p:spPr>
          <a:xfrm>
            <a:off x="4307840" y="5647563"/>
            <a:ext cx="35661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65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lexandria"/>
                <a:cs typeface="Alexandria"/>
              </a:rPr>
              <a:t>التسويق الرقمي</a:t>
            </a:r>
            <a:endParaRPr lang="ar-SA" sz="1900" dirty="0"/>
          </a:p>
        </p:txBody>
      </p:sp>
      <p:sp>
        <p:nvSpPr>
          <p:cNvPr id="14" name="s1-shape-13"/>
          <p:cNvSpPr/>
          <p:nvPr/>
        </p:nvSpPr>
        <p:spPr>
          <a:xfrm>
            <a:off x="4318000" y="5410200"/>
            <a:ext cx="12700" cy="584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5" name="s1-text-14"/>
          <p:cNvSpPr txBox="1"/>
          <p:nvPr/>
        </p:nvSpPr>
        <p:spPr>
          <a:xfrm>
            <a:off x="825500" y="5389118"/>
            <a:ext cx="34290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lexandria"/>
                <a:cs typeface="Alexandria"/>
              </a:rPr>
              <a:t>الجهة المنفذة</a:t>
            </a:r>
            <a:endParaRPr lang="ar-SA" sz="1400" dirty="0"/>
          </a:p>
        </p:txBody>
      </p:sp>
      <p:sp>
        <p:nvSpPr>
          <p:cNvPr id="16" name="s1-text-15"/>
          <p:cNvSpPr txBox="1"/>
          <p:nvPr/>
        </p:nvSpPr>
        <p:spPr>
          <a:xfrm>
            <a:off x="825500" y="5647563"/>
            <a:ext cx="342900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65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lexandria"/>
                <a:cs typeface="Alexandria"/>
              </a:rPr>
              <a:t>بصمة وعي</a:t>
            </a:r>
            <a:endParaRPr lang="ar-SA" sz="1900" dirty="0"/>
          </a:p>
        </p:txBody>
      </p:sp>
      <p:pic>
        <p:nvPicPr>
          <p:cNvPr id="17" name="!!drip" descr="/home/user/flan777/ard-albasatin-presentation/source/pptx_build/img/s1_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324600"/>
            <a:ext cx="10972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21600000">
                                      <p:cBhvr>
                                        <p:cTn id="11" dur="6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4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4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4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3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" dur="6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5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0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  <p:bldP spid="9" grpId="0"/>
      <p:bldP spid="10" grpId="0"/>
      <p:bldP spid="11" grpId="0" animBg="1"/>
      <p:bldP spid="14" grpId="0" animBg="1"/>
      <p:bldP spid="12" grpId="0"/>
      <p:bldP spid="13" grpId="0"/>
      <p:bldP spid="15" grpId="0"/>
      <p:bldP spid="16" grpId="0"/>
    </p:bldLst>
  </p:timing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8300" y="-13271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646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02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6" name="s2-text-5"/>
          <p:cNvSpPr txBox="1"/>
          <p:nvPr/>
        </p:nvSpPr>
        <p:spPr>
          <a:xfrm>
            <a:off x="8509413" y="817372"/>
            <a:ext cx="2984087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المحتويات</a:t>
            </a:r>
            <a:endParaRPr lang="ar-SA" sz="4200" dirty="0"/>
          </a:p>
        </p:txBody>
      </p:sp>
      <p:pic>
        <p:nvPicPr>
          <p:cNvPr id="7" name="s2-snap-6" descr="/home/user/flan777/ard-albasatin-presentation/source/pptx_build/img/s2_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0" y="2006600"/>
            <a:ext cx="177800" cy="3733800"/>
          </a:xfrm>
          <a:prstGeom prst="rect">
            <a:avLst/>
          </a:prstGeom>
        </p:spPr>
      </p:pic>
      <p:sp>
        <p:nvSpPr>
          <p:cNvPr id="8" name="s2-shape-7"/>
          <p:cNvSpPr/>
          <p:nvPr/>
        </p:nvSpPr>
        <p:spPr>
          <a:xfrm>
            <a:off x="11258550" y="20955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9" name="s2-text-8"/>
          <p:cNvSpPr txBox="1"/>
          <p:nvPr/>
        </p:nvSpPr>
        <p:spPr>
          <a:xfrm>
            <a:off x="10375900" y="19814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02</a:t>
            </a:r>
            <a:endParaRPr lang="ar-SA" sz="2200" dirty="0"/>
          </a:p>
        </p:txBody>
      </p:sp>
      <p:sp>
        <p:nvSpPr>
          <p:cNvPr id="10" name="s2-text-9"/>
          <p:cNvSpPr txBox="1"/>
          <p:nvPr/>
        </p:nvSpPr>
        <p:spPr>
          <a:xfrm>
            <a:off x="6088380" y="20054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توضيح فكرة المشروع وأهميته وأهدافه</a:t>
            </a:r>
            <a:endParaRPr lang="ar-SA" sz="1600" dirty="0"/>
          </a:p>
        </p:txBody>
      </p:sp>
      <p:sp>
        <p:nvSpPr>
          <p:cNvPr id="11" name="s2-shape-10"/>
          <p:cNvSpPr/>
          <p:nvPr/>
        </p:nvSpPr>
        <p:spPr>
          <a:xfrm>
            <a:off x="11258550" y="27813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12" name="s2-text-11"/>
          <p:cNvSpPr txBox="1"/>
          <p:nvPr/>
        </p:nvSpPr>
        <p:spPr>
          <a:xfrm>
            <a:off x="10375900" y="26672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03</a:t>
            </a:r>
            <a:endParaRPr lang="ar-SA" sz="2200" dirty="0"/>
          </a:p>
        </p:txBody>
      </p:sp>
      <p:sp>
        <p:nvSpPr>
          <p:cNvPr id="13" name="s2-text-12"/>
          <p:cNvSpPr txBox="1"/>
          <p:nvPr/>
        </p:nvSpPr>
        <p:spPr>
          <a:xfrm>
            <a:off x="6088380" y="26912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معلومات عن المشروع</a:t>
            </a:r>
            <a:endParaRPr lang="ar-SA" sz="1600" dirty="0"/>
          </a:p>
        </p:txBody>
      </p:sp>
      <p:sp>
        <p:nvSpPr>
          <p:cNvPr id="14" name="s2-shape-13"/>
          <p:cNvSpPr/>
          <p:nvPr/>
        </p:nvSpPr>
        <p:spPr>
          <a:xfrm>
            <a:off x="11258550" y="34671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15" name="s2-text-14"/>
          <p:cNvSpPr txBox="1"/>
          <p:nvPr/>
        </p:nvSpPr>
        <p:spPr>
          <a:xfrm>
            <a:off x="10375900" y="33530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04</a:t>
            </a:r>
            <a:endParaRPr lang="ar-SA" sz="2200" dirty="0"/>
          </a:p>
        </p:txBody>
      </p:sp>
      <p:sp>
        <p:nvSpPr>
          <p:cNvPr id="16" name="s2-text-15"/>
          <p:cNvSpPr txBox="1"/>
          <p:nvPr/>
        </p:nvSpPr>
        <p:spPr>
          <a:xfrm>
            <a:off x="6088380" y="33770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دراسة المشروع</a:t>
            </a:r>
            <a:endParaRPr lang="ar-SA" sz="1600" dirty="0"/>
          </a:p>
        </p:txBody>
      </p:sp>
      <p:sp>
        <p:nvSpPr>
          <p:cNvPr id="17" name="s2-shape-16"/>
          <p:cNvSpPr/>
          <p:nvPr/>
        </p:nvSpPr>
        <p:spPr>
          <a:xfrm>
            <a:off x="11258550" y="41529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18" name="s2-text-17"/>
          <p:cNvSpPr txBox="1"/>
          <p:nvPr/>
        </p:nvSpPr>
        <p:spPr>
          <a:xfrm>
            <a:off x="10375900" y="40388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05</a:t>
            </a:r>
            <a:endParaRPr lang="ar-SA" sz="2200" dirty="0"/>
          </a:p>
        </p:txBody>
      </p:sp>
      <p:sp>
        <p:nvSpPr>
          <p:cNvPr id="19" name="s2-text-18"/>
          <p:cNvSpPr txBox="1"/>
          <p:nvPr/>
        </p:nvSpPr>
        <p:spPr>
          <a:xfrm>
            <a:off x="6088380" y="40628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تحليل الجمهور المستهدف</a:t>
            </a:r>
            <a:endParaRPr lang="ar-SA" sz="1600" dirty="0"/>
          </a:p>
        </p:txBody>
      </p:sp>
      <p:sp>
        <p:nvSpPr>
          <p:cNvPr id="20" name="s2-shape-19"/>
          <p:cNvSpPr/>
          <p:nvPr/>
        </p:nvSpPr>
        <p:spPr>
          <a:xfrm>
            <a:off x="11258550" y="48387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21" name="s2-text-20"/>
          <p:cNvSpPr txBox="1"/>
          <p:nvPr/>
        </p:nvSpPr>
        <p:spPr>
          <a:xfrm>
            <a:off x="10375900" y="47246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06</a:t>
            </a:r>
            <a:endParaRPr lang="ar-SA" sz="2200" dirty="0"/>
          </a:p>
        </p:txBody>
      </p:sp>
      <p:sp>
        <p:nvSpPr>
          <p:cNvPr id="22" name="s2-text-21"/>
          <p:cNvSpPr txBox="1"/>
          <p:nvPr/>
        </p:nvSpPr>
        <p:spPr>
          <a:xfrm>
            <a:off x="6088380" y="47486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تحليل المنافسين</a:t>
            </a:r>
            <a:endParaRPr lang="ar-SA" sz="1600" dirty="0"/>
          </a:p>
        </p:txBody>
      </p:sp>
      <p:sp>
        <p:nvSpPr>
          <p:cNvPr id="23" name="s2-shape-22"/>
          <p:cNvSpPr/>
          <p:nvPr/>
        </p:nvSpPr>
        <p:spPr>
          <a:xfrm>
            <a:off x="11258550" y="55245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24" name="s2-text-23"/>
          <p:cNvSpPr txBox="1"/>
          <p:nvPr/>
        </p:nvSpPr>
        <p:spPr>
          <a:xfrm>
            <a:off x="10375900" y="54104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07</a:t>
            </a:r>
            <a:endParaRPr lang="ar-SA" sz="2200" dirty="0"/>
          </a:p>
        </p:txBody>
      </p:sp>
      <p:sp>
        <p:nvSpPr>
          <p:cNvPr id="25" name="s2-text-24"/>
          <p:cNvSpPr txBox="1"/>
          <p:nvPr/>
        </p:nvSpPr>
        <p:spPr>
          <a:xfrm>
            <a:off x="6088380" y="54344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تحليل SWOT لمشروع أرض البساتين</a:t>
            </a:r>
            <a:endParaRPr lang="ar-SA" sz="1600" dirty="0"/>
          </a:p>
        </p:txBody>
      </p:sp>
      <p:pic>
        <p:nvPicPr>
          <p:cNvPr id="26" name="s2-snap-25" descr="/home/user/flan777/ard-albasatin-presentation/source/pptx_build/img/s2_2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2006600"/>
            <a:ext cx="177800" cy="3048000"/>
          </a:xfrm>
          <a:prstGeom prst="rect">
            <a:avLst/>
          </a:prstGeom>
        </p:spPr>
      </p:pic>
      <p:sp>
        <p:nvSpPr>
          <p:cNvPr id="27" name="s2-shape-26"/>
          <p:cNvSpPr/>
          <p:nvPr/>
        </p:nvSpPr>
        <p:spPr>
          <a:xfrm>
            <a:off x="5734050" y="20955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28" name="s2-text-27"/>
          <p:cNvSpPr txBox="1"/>
          <p:nvPr/>
        </p:nvSpPr>
        <p:spPr>
          <a:xfrm>
            <a:off x="4851400" y="19814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08</a:t>
            </a:r>
            <a:endParaRPr lang="ar-SA" sz="2200" dirty="0"/>
          </a:p>
        </p:txBody>
      </p:sp>
      <p:sp>
        <p:nvSpPr>
          <p:cNvPr id="29" name="s2-text-28"/>
          <p:cNvSpPr txBox="1"/>
          <p:nvPr/>
        </p:nvSpPr>
        <p:spPr>
          <a:xfrm>
            <a:off x="563880" y="20054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استراتيجية التسويق</a:t>
            </a:r>
            <a:endParaRPr lang="ar-SA" sz="1600" dirty="0"/>
          </a:p>
        </p:txBody>
      </p:sp>
      <p:sp>
        <p:nvSpPr>
          <p:cNvPr id="30" name="s2-shape-29"/>
          <p:cNvSpPr/>
          <p:nvPr/>
        </p:nvSpPr>
        <p:spPr>
          <a:xfrm>
            <a:off x="5734050" y="2781300"/>
            <a:ext cx="190500" cy="1905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31" name="s2-text-30"/>
          <p:cNvSpPr txBox="1"/>
          <p:nvPr/>
        </p:nvSpPr>
        <p:spPr>
          <a:xfrm>
            <a:off x="4851400" y="2667254"/>
            <a:ext cx="8001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09</a:t>
            </a:r>
            <a:endParaRPr lang="ar-SA" sz="2200" dirty="0"/>
          </a:p>
        </p:txBody>
      </p:sp>
      <p:sp>
        <p:nvSpPr>
          <p:cNvPr id="32" name="s2-text-31"/>
          <p:cNvSpPr txBox="1"/>
          <p:nvPr/>
        </p:nvSpPr>
        <p:spPr>
          <a:xfrm>
            <a:off x="563880" y="26912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خطة المحتوى التسويقي</a:t>
            </a:r>
            <a:endParaRPr lang="ar-SA" sz="1600" dirty="0"/>
          </a:p>
        </p:txBody>
      </p:sp>
      <p:sp>
        <p:nvSpPr>
          <p:cNvPr id="33" name="s2-shape-32"/>
          <p:cNvSpPr/>
          <p:nvPr/>
        </p:nvSpPr>
        <p:spPr>
          <a:xfrm>
            <a:off x="5734050" y="3467100"/>
            <a:ext cx="190500" cy="190500"/>
          </a:xfrm>
          <a:prstGeom prst="ellipse">
            <a:avLst/>
          </a:prstGeom>
          <a:solidFill>
            <a:srgbClr val="C29A74"/>
          </a:solidFill>
          <a:ln/>
        </p:spPr>
      </p:sp>
      <p:sp>
        <p:nvSpPr>
          <p:cNvPr id="34" name="s2-text-34"/>
          <p:cNvSpPr txBox="1"/>
          <p:nvPr/>
        </p:nvSpPr>
        <p:spPr>
          <a:xfrm>
            <a:off x="1198880" y="33770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أمثلة على المحتوى التسويقي</a:t>
            </a:r>
            <a:endParaRPr lang="ar-SA" sz="1600" dirty="0"/>
          </a:p>
        </p:txBody>
      </p:sp>
      <p:sp>
        <p:nvSpPr>
          <p:cNvPr id="35" name="s2-shape-35"/>
          <p:cNvSpPr/>
          <p:nvPr/>
        </p:nvSpPr>
        <p:spPr>
          <a:xfrm>
            <a:off x="5734050" y="4152900"/>
            <a:ext cx="190500" cy="190500"/>
          </a:xfrm>
          <a:prstGeom prst="ellipse">
            <a:avLst/>
          </a:prstGeom>
          <a:solidFill>
            <a:srgbClr val="C29A74"/>
          </a:solidFill>
          <a:ln/>
        </p:spPr>
      </p:sp>
      <p:sp>
        <p:nvSpPr>
          <p:cNvPr id="36" name="s2-text-37"/>
          <p:cNvSpPr txBox="1"/>
          <p:nvPr/>
        </p:nvSpPr>
        <p:spPr>
          <a:xfrm>
            <a:off x="1198880" y="40628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PAS – إعلان الأنابيب</a:t>
            </a:r>
            <a:endParaRPr lang="ar-SA" sz="1600" dirty="0"/>
          </a:p>
        </p:txBody>
      </p:sp>
      <p:sp>
        <p:nvSpPr>
          <p:cNvPr id="37" name="s2-shape-38"/>
          <p:cNvSpPr/>
          <p:nvPr/>
        </p:nvSpPr>
        <p:spPr>
          <a:xfrm>
            <a:off x="5734050" y="4838700"/>
            <a:ext cx="190500" cy="190500"/>
          </a:xfrm>
          <a:prstGeom prst="ellipse">
            <a:avLst/>
          </a:prstGeom>
          <a:solidFill>
            <a:srgbClr val="C29A74"/>
          </a:solidFill>
          <a:ln/>
        </p:spPr>
      </p:sp>
      <p:sp>
        <p:nvSpPr>
          <p:cNvPr id="38" name="s2-text-40"/>
          <p:cNvSpPr txBox="1"/>
          <p:nvPr/>
        </p:nvSpPr>
        <p:spPr>
          <a:xfrm>
            <a:off x="1198880" y="4748657"/>
            <a:ext cx="43891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6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 SemiBold"/>
                <a:cs typeface="Alexandria SemiBold"/>
              </a:rPr>
              <a:t>Buyer Persona – شخصية المشتري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92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</p:bldLst>
  </p:timing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1000" y="-9842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6367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03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02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توضيح فكرة المشروع</a:t>
            </a:r>
            <a:endParaRPr lang="ar-SA" sz="4400" dirty="0"/>
          </a:p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وأهميته وأهدافه</a:t>
            </a:r>
            <a:endParaRPr lang="ar-SA" sz="4400" dirty="0"/>
          </a:p>
        </p:txBody>
      </p:sp>
      <p:pic>
        <p:nvPicPr>
          <p:cNvPr id="8" name="s3-snap-7" descr="/home/user/flan777/ard-albasatin-presentation/source/pptx_build/img/s3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9350" y="-6159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048212" y="381381"/>
            <a:ext cx="344528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02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توضيح فكرة المشروع وأهميته وأهدافه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387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04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-text-6"/>
          <p:cNvSpPr txBox="1"/>
          <p:nvPr/>
        </p:nvSpPr>
        <p:spPr>
          <a:xfrm>
            <a:off x="7686131" y="817372"/>
            <a:ext cx="380736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فكرة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المشروع</a:t>
            </a:r>
            <a:endParaRPr lang="ar-SA" sz="4200" dirty="0"/>
          </a:p>
        </p:txBody>
      </p:sp>
      <p:sp>
        <p:nvSpPr>
          <p:cNvPr id="8" name="s4-text-7"/>
          <p:cNvSpPr txBox="1"/>
          <p:nvPr/>
        </p:nvSpPr>
        <p:spPr>
          <a:xfrm>
            <a:off x="4635500" y="2027047"/>
            <a:ext cx="6858000" cy="277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مشروع أرض البساتين </a:t>
            </a: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هو مشروع تسويقي يهدف إلى</a:t>
            </a:r>
            <a:endParaRPr lang="ar-SA" sz="2100" dirty="0"/>
          </a:p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تعزيز حضور متجر أرض البساتين كعلامة متخصصة في</a:t>
            </a:r>
            <a:endParaRPr lang="ar-SA" sz="2100" dirty="0"/>
          </a:p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توفير وتسويق المنتجات والمستلزمات الزراعية، من خلال</a:t>
            </a:r>
            <a:endParaRPr lang="ar-SA" sz="2100" dirty="0"/>
          </a:p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توظيف أدوات واستراتيجيات التسويق الرقمي للوصول إلى</a:t>
            </a:r>
            <a:endParaRPr lang="ar-SA" sz="2100" dirty="0"/>
          </a:p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المزارعين وأصحاب المزارع والمشاريع الزراعية والتجار</a:t>
            </a:r>
            <a:endParaRPr lang="ar-SA" sz="2100" dirty="0"/>
          </a:p>
          <a:p>
            <a:pPr rtl="1" algn="r" indent="0" marL="0">
              <a:lnSpc>
                <a:spcPts val="357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والموزعين والمنظمات.</a:t>
            </a:r>
            <a:endParaRPr lang="ar-SA" sz="2100" dirty="0"/>
          </a:p>
        </p:txBody>
      </p:sp>
      <p:sp>
        <p:nvSpPr>
          <p:cNvPr id="9" name="s4-shape-8"/>
          <p:cNvSpPr/>
          <p:nvPr/>
        </p:nvSpPr>
        <p:spPr>
          <a:xfrm>
            <a:off x="1397000" y="2476500"/>
            <a:ext cx="3175000" cy="3175000"/>
          </a:xfrm>
          <a:prstGeom prst="ellipse">
            <a:avLst/>
          </a:prstGeom>
          <a:solidFill>
            <a:srgbClr val="E3F3E9"/>
          </a:solidFill>
          <a:ln/>
        </p:spPr>
      </p:sp>
      <p:pic>
        <p:nvPicPr>
          <p:cNvPr id="10" name="s4-snap-9" descr="/home/user/flan777/ard-albasatin-presentation/source/pptx_build/img/s4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70100"/>
            <a:ext cx="3987800" cy="3987800"/>
          </a:xfrm>
          <a:prstGeom prst="rect">
            <a:avLst/>
          </a:prstGeom>
        </p:spPr>
      </p:pic>
      <p:pic>
        <p:nvPicPr>
          <p:cNvPr id="11" name="s4-asset-10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1713855" y="3206750"/>
            <a:ext cx="2584450" cy="1460500"/>
          </a:xfrm>
          <a:prstGeom prst="rect">
            <a:avLst/>
          </a:prstGeom>
        </p:spPr>
      </p:pic>
      <p:pic>
        <p:nvPicPr>
          <p:cNvPr id="12" name="s4-asset-11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40000">
            <a:off x="1713855" y="3206750"/>
            <a:ext cx="2584450" cy="1460500"/>
          </a:xfrm>
          <a:prstGeom prst="rect">
            <a:avLst/>
          </a:prstGeom>
        </p:spPr>
      </p:pic>
      <p:sp>
        <p:nvSpPr>
          <p:cNvPr id="13" name="s4-shape-12"/>
          <p:cNvSpPr/>
          <p:nvPr/>
        </p:nvSpPr>
        <p:spPr>
          <a:xfrm>
            <a:off x="2628900" y="1803400"/>
            <a:ext cx="711200" cy="711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4" name="s4-snap-13" descr="/home/user/flan777/ard-albasatin-presentation/source/pptx_build/img/s4_1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9550" y="1924050"/>
            <a:ext cx="469900" cy="469900"/>
          </a:xfrm>
          <a:prstGeom prst="rect">
            <a:avLst/>
          </a:prstGeom>
        </p:spPr>
      </p:pic>
      <p:sp>
        <p:nvSpPr>
          <p:cNvPr id="15" name="s4-shape-14"/>
          <p:cNvSpPr/>
          <p:nvPr/>
        </p:nvSpPr>
        <p:spPr>
          <a:xfrm>
            <a:off x="4440634" y="3119636"/>
            <a:ext cx="711200" cy="711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6" name="s4-snap-15" descr="/home/user/flan777/ard-albasatin-presentation/source/pptx_build/img/s4_1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1185" y="3240385"/>
            <a:ext cx="469900" cy="469900"/>
          </a:xfrm>
          <a:prstGeom prst="rect">
            <a:avLst/>
          </a:prstGeom>
        </p:spPr>
      </p:pic>
      <p:sp>
        <p:nvSpPr>
          <p:cNvPr id="17" name="s4-shape-16"/>
          <p:cNvSpPr/>
          <p:nvPr/>
        </p:nvSpPr>
        <p:spPr>
          <a:xfrm>
            <a:off x="3748584" y="5249565"/>
            <a:ext cx="711200" cy="711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8" name="s4-snap-17" descr="/home/user/flan777/ard-albasatin-presentation/source/pptx_build/img/s4_17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9035" y="5370116"/>
            <a:ext cx="469900" cy="469900"/>
          </a:xfrm>
          <a:prstGeom prst="rect">
            <a:avLst/>
          </a:prstGeom>
        </p:spPr>
      </p:pic>
      <p:sp>
        <p:nvSpPr>
          <p:cNvPr id="19" name="s4-shape-18"/>
          <p:cNvSpPr/>
          <p:nvPr/>
        </p:nvSpPr>
        <p:spPr>
          <a:xfrm>
            <a:off x="1509117" y="5249565"/>
            <a:ext cx="711200" cy="711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0" name="s4-snap-19" descr="/home/user/flan777/ard-albasatin-presentation/source/pptx_build/img/s4_19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9966" y="5370116"/>
            <a:ext cx="469900" cy="469900"/>
          </a:xfrm>
          <a:prstGeom prst="rect">
            <a:avLst/>
          </a:prstGeom>
        </p:spPr>
      </p:pic>
      <p:sp>
        <p:nvSpPr>
          <p:cNvPr id="21" name="s4-shape-20"/>
          <p:cNvSpPr/>
          <p:nvPr/>
        </p:nvSpPr>
        <p:spPr>
          <a:xfrm>
            <a:off x="817066" y="3119636"/>
            <a:ext cx="711200" cy="711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2" name="s4-snap-21" descr="/home/user/flan777/ard-albasatin-presentation/source/pptx_build/img/s4_2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816" y="3240385"/>
            <a:ext cx="469900" cy="469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4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4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4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2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2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8" grpId="0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7500" y="-2984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048212" y="381381"/>
            <a:ext cx="344528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02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توضيح فكرة المشروع وأهميته وأهدافه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645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05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-text-6"/>
          <p:cNvSpPr txBox="1"/>
          <p:nvPr/>
        </p:nvSpPr>
        <p:spPr>
          <a:xfrm>
            <a:off x="7686131" y="817372"/>
            <a:ext cx="380736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فكرة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المشروع</a:t>
            </a:r>
            <a:endParaRPr lang="ar-SA" sz="4200" dirty="0"/>
          </a:p>
        </p:txBody>
      </p:sp>
      <p:sp>
        <p:nvSpPr>
          <p:cNvPr id="8" name="s5-text-7"/>
          <p:cNvSpPr txBox="1"/>
          <p:nvPr/>
        </p:nvSpPr>
        <p:spPr>
          <a:xfrm>
            <a:off x="-165100" y="1851406"/>
            <a:ext cx="11658600" cy="1182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7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ويقدم المتجر مجموعة متنوعة من المنتجات الزراعية التي تلبي احتياجات المزارعين، وتشمل منتجات الحماية</a:t>
            </a:r>
            <a:endParaRPr lang="ar-SA" sz="1800" dirty="0"/>
          </a:p>
          <a:p>
            <a:pPr rtl="1" algn="r" indent="0" marL="0">
              <a:lnSpc>
                <a:spcPts val="297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الزراعية، مستلزمات الري بالتقطير، الأنابيب الرئيسية، أنابيب التقطير، والأغطية الزراعية، وغيرها من المنتجات</a:t>
            </a:r>
            <a:endParaRPr lang="ar-SA" sz="1800" dirty="0"/>
          </a:p>
          <a:p>
            <a:pPr rtl="1" algn="r" indent="0" marL="0">
              <a:lnSpc>
                <a:spcPts val="297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والمستلزمات الزراعية.</a:t>
            </a:r>
            <a:endParaRPr lang="ar-SA" sz="1800" dirty="0"/>
          </a:p>
        </p:txBody>
      </p:sp>
      <p:sp>
        <p:nvSpPr>
          <p:cNvPr id="9" name="s5-shape-8"/>
          <p:cNvSpPr/>
          <p:nvPr/>
        </p:nvSpPr>
        <p:spPr>
          <a:xfrm>
            <a:off x="9423400" y="3143250"/>
            <a:ext cx="2070100" cy="1460500"/>
          </a:xfrm>
          <a:prstGeom prst="round2DiagRect">
            <a:avLst>
              <a:gd name="adj1" fmla="val 31304"/>
              <a:gd name="adj2" fmla="val 4348"/>
            </a:avLst>
          </a:prstGeom>
          <a:solidFill>
            <a:srgbClr val="F2F9F5"/>
          </a:solidFill>
          <a:ln/>
        </p:spPr>
      </p:sp>
      <p:sp>
        <p:nvSpPr>
          <p:cNvPr id="10" name="s5-shape-9"/>
          <p:cNvSpPr/>
          <p:nvPr/>
        </p:nvSpPr>
        <p:spPr>
          <a:xfrm>
            <a:off x="10693400" y="3302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1" name="s5-snap-10" descr="/home/user/flan777/ard-albasatin-presentation/source/pptx_build/img/s5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1825" y="3400425"/>
            <a:ext cx="412750" cy="412750"/>
          </a:xfrm>
          <a:prstGeom prst="rect">
            <a:avLst/>
          </a:prstGeom>
        </p:spPr>
      </p:pic>
      <p:sp>
        <p:nvSpPr>
          <p:cNvPr id="12" name="s5-text-11"/>
          <p:cNvSpPr txBox="1"/>
          <p:nvPr/>
        </p:nvSpPr>
        <p:spPr>
          <a:xfrm>
            <a:off x="9494520" y="4000754"/>
            <a:ext cx="1783080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منتجات الحماية</a:t>
            </a:r>
            <a:endParaRPr lang="ar-SA" sz="14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</a:t>
            </a:r>
            <a:endParaRPr lang="ar-SA" sz="1450" dirty="0"/>
          </a:p>
        </p:txBody>
      </p:sp>
      <p:sp>
        <p:nvSpPr>
          <p:cNvPr id="13" name="s5-shape-12"/>
          <p:cNvSpPr/>
          <p:nvPr/>
        </p:nvSpPr>
        <p:spPr>
          <a:xfrm>
            <a:off x="7226300" y="3143250"/>
            <a:ext cx="2070100" cy="1460500"/>
          </a:xfrm>
          <a:prstGeom prst="round2DiagRect">
            <a:avLst>
              <a:gd name="adj1" fmla="val 31304"/>
              <a:gd name="adj2" fmla="val 4348"/>
            </a:avLst>
          </a:prstGeom>
          <a:solidFill>
            <a:srgbClr val="F2F9F5"/>
          </a:solidFill>
          <a:ln/>
        </p:spPr>
      </p:sp>
      <p:sp>
        <p:nvSpPr>
          <p:cNvPr id="14" name="s5-shape-13"/>
          <p:cNvSpPr/>
          <p:nvPr/>
        </p:nvSpPr>
        <p:spPr>
          <a:xfrm>
            <a:off x="8496300" y="3302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5" name="s5-snap-14" descr="/home/user/flan777/ard-albasatin-presentation/source/pptx_build/img/s5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725" y="3400425"/>
            <a:ext cx="412750" cy="412750"/>
          </a:xfrm>
          <a:prstGeom prst="rect">
            <a:avLst/>
          </a:prstGeom>
        </p:spPr>
      </p:pic>
      <p:sp>
        <p:nvSpPr>
          <p:cNvPr id="16" name="s5-text-15"/>
          <p:cNvSpPr txBox="1"/>
          <p:nvPr/>
        </p:nvSpPr>
        <p:spPr>
          <a:xfrm>
            <a:off x="7297420" y="4000754"/>
            <a:ext cx="1783080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مستلزمات الري</a:t>
            </a:r>
            <a:endParaRPr lang="ar-SA" sz="14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بالتقطير</a:t>
            </a:r>
            <a:endParaRPr lang="ar-SA" sz="1450" dirty="0"/>
          </a:p>
        </p:txBody>
      </p:sp>
      <p:sp>
        <p:nvSpPr>
          <p:cNvPr id="17" name="s5-shape-16"/>
          <p:cNvSpPr/>
          <p:nvPr/>
        </p:nvSpPr>
        <p:spPr>
          <a:xfrm>
            <a:off x="5029200" y="3143250"/>
            <a:ext cx="2070100" cy="1460500"/>
          </a:xfrm>
          <a:prstGeom prst="round2DiagRect">
            <a:avLst>
              <a:gd name="adj1" fmla="val 31304"/>
              <a:gd name="adj2" fmla="val 4348"/>
            </a:avLst>
          </a:prstGeom>
          <a:solidFill>
            <a:srgbClr val="F2F9F5"/>
          </a:solidFill>
          <a:ln/>
        </p:spPr>
      </p:sp>
      <p:sp>
        <p:nvSpPr>
          <p:cNvPr id="18" name="s5-shape-17"/>
          <p:cNvSpPr/>
          <p:nvPr/>
        </p:nvSpPr>
        <p:spPr>
          <a:xfrm>
            <a:off x="6299200" y="3302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9" name="s5-snap-18" descr="/home/user/flan777/ard-albasatin-presentation/source/pptx_build/img/s5_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625" y="3400425"/>
            <a:ext cx="412750" cy="412750"/>
          </a:xfrm>
          <a:prstGeom prst="rect">
            <a:avLst/>
          </a:prstGeom>
        </p:spPr>
      </p:pic>
      <p:sp>
        <p:nvSpPr>
          <p:cNvPr id="20" name="s5-text-19"/>
          <p:cNvSpPr txBox="1"/>
          <p:nvPr/>
        </p:nvSpPr>
        <p:spPr>
          <a:xfrm>
            <a:off x="5100320" y="4000754"/>
            <a:ext cx="1783080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الأنابيب الرئيسية</a:t>
            </a:r>
            <a:endParaRPr lang="ar-SA" sz="1450" dirty="0"/>
          </a:p>
        </p:txBody>
      </p:sp>
      <p:sp>
        <p:nvSpPr>
          <p:cNvPr id="21" name="s5-shape-20"/>
          <p:cNvSpPr/>
          <p:nvPr/>
        </p:nvSpPr>
        <p:spPr>
          <a:xfrm>
            <a:off x="2832100" y="3143250"/>
            <a:ext cx="2070100" cy="1460500"/>
          </a:xfrm>
          <a:prstGeom prst="round2DiagRect">
            <a:avLst>
              <a:gd name="adj1" fmla="val 31304"/>
              <a:gd name="adj2" fmla="val 4348"/>
            </a:avLst>
          </a:prstGeom>
          <a:solidFill>
            <a:srgbClr val="F2F9F5"/>
          </a:solidFill>
          <a:ln/>
        </p:spPr>
      </p:sp>
      <p:sp>
        <p:nvSpPr>
          <p:cNvPr id="22" name="s5-shape-21"/>
          <p:cNvSpPr/>
          <p:nvPr/>
        </p:nvSpPr>
        <p:spPr>
          <a:xfrm>
            <a:off x="4102100" y="3302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3" name="s5-snap-22" descr="/home/user/flan777/ard-albasatin-presentation/source/pptx_build/img/s5_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0525" y="3400425"/>
            <a:ext cx="412750" cy="412750"/>
          </a:xfrm>
          <a:prstGeom prst="rect">
            <a:avLst/>
          </a:prstGeom>
        </p:spPr>
      </p:pic>
      <p:sp>
        <p:nvSpPr>
          <p:cNvPr id="24" name="s5-text-23"/>
          <p:cNvSpPr txBox="1"/>
          <p:nvPr/>
        </p:nvSpPr>
        <p:spPr>
          <a:xfrm>
            <a:off x="2903220" y="4000754"/>
            <a:ext cx="1783080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أنابيب التقطير</a:t>
            </a:r>
            <a:endParaRPr lang="ar-SA" sz="1450" dirty="0"/>
          </a:p>
        </p:txBody>
      </p:sp>
      <p:sp>
        <p:nvSpPr>
          <p:cNvPr id="25" name="s5-shape-24"/>
          <p:cNvSpPr/>
          <p:nvPr/>
        </p:nvSpPr>
        <p:spPr>
          <a:xfrm>
            <a:off x="635000" y="3143250"/>
            <a:ext cx="2070100" cy="1460500"/>
          </a:xfrm>
          <a:prstGeom prst="round2DiagRect">
            <a:avLst>
              <a:gd name="adj1" fmla="val 31304"/>
              <a:gd name="adj2" fmla="val 4348"/>
            </a:avLst>
          </a:prstGeom>
          <a:solidFill>
            <a:srgbClr val="F2F9F5"/>
          </a:solidFill>
          <a:ln/>
        </p:spPr>
      </p:sp>
      <p:sp>
        <p:nvSpPr>
          <p:cNvPr id="26" name="s5-shape-25"/>
          <p:cNvSpPr/>
          <p:nvPr/>
        </p:nvSpPr>
        <p:spPr>
          <a:xfrm>
            <a:off x="1905000" y="3302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7" name="s5-snap-26" descr="/home/user/flan777/ard-albasatin-presentation/source/pptx_build/img/s5_2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3425" y="3400425"/>
            <a:ext cx="412750" cy="412750"/>
          </a:xfrm>
          <a:prstGeom prst="rect">
            <a:avLst/>
          </a:prstGeom>
        </p:spPr>
      </p:pic>
      <p:sp>
        <p:nvSpPr>
          <p:cNvPr id="28" name="s5-text-27"/>
          <p:cNvSpPr txBox="1"/>
          <p:nvPr/>
        </p:nvSpPr>
        <p:spPr>
          <a:xfrm>
            <a:off x="706120" y="4000754"/>
            <a:ext cx="1783080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الأغطية الزراعية</a:t>
            </a:r>
            <a:endParaRPr lang="ar-SA" sz="1450" dirty="0"/>
          </a:p>
        </p:txBody>
      </p:sp>
      <p:sp>
        <p:nvSpPr>
          <p:cNvPr id="29" name="s5-shape-28"/>
          <p:cNvSpPr/>
          <p:nvPr/>
        </p:nvSpPr>
        <p:spPr>
          <a:xfrm>
            <a:off x="698500" y="4857750"/>
            <a:ext cx="10795000" cy="1397000"/>
          </a:xfrm>
          <a:prstGeom prst="round2DiagRect">
            <a:avLst>
              <a:gd name="adj1" fmla="val 32727"/>
              <a:gd name="adj2" fmla="val 4545"/>
            </a:avLst>
          </a:prstGeom>
          <a:solidFill>
            <a:srgbClr val="015256"/>
          </a:solidFill>
          <a:ln/>
        </p:spPr>
      </p:sp>
      <p:sp>
        <p:nvSpPr>
          <p:cNvPr id="30" name="s5-shape-29"/>
          <p:cNvSpPr/>
          <p:nvPr/>
        </p:nvSpPr>
        <p:spPr>
          <a:xfrm>
            <a:off x="10414000" y="5187950"/>
            <a:ext cx="736600" cy="736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1" name="s5-snap-30" descr="/home/user/flan777/ard-albasatin-presentation/source/pptx_build/img/s5_3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0" y="5314950"/>
            <a:ext cx="482600" cy="482600"/>
          </a:xfrm>
          <a:prstGeom prst="rect">
            <a:avLst/>
          </a:prstGeom>
        </p:spPr>
      </p:pic>
      <p:sp>
        <p:nvSpPr>
          <p:cNvPr id="32" name="s5-text-31"/>
          <p:cNvSpPr txBox="1"/>
          <p:nvPr/>
        </p:nvSpPr>
        <p:spPr>
          <a:xfrm>
            <a:off x="1160780" y="5069396"/>
            <a:ext cx="91897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كما يستفيد المشروع من امتلاك </a:t>
            </a:r>
            <a:r>
              <a:rPr lang="ar-SA" altLang="en-US" sz="1650" dirty="0">
                <a:solidFill>
                  <a:srgbClr val="C3E36B"/>
                </a:solidFill>
                <a:latin typeface="Alexandria ExtraBold"/>
                <a:cs typeface="Alexandria ExtraBold"/>
              </a:rPr>
              <a:t>مصنع دريب أكوا</a:t>
            </a: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، الذي يقوم بتصنيع بعض منتجات الري</a:t>
            </a:r>
            <a:endParaRPr lang="ar-SA" sz="1650" dirty="0"/>
          </a:p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والأنابيب، مما يتيح للمتجر توفير منتجات مصنّعة محليًا وفق مواصفات وجودة يتم الاهتمام</a:t>
            </a:r>
            <a:endParaRPr lang="ar-SA" sz="1650" dirty="0"/>
          </a:p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بها أثناء مراحل التصنيع.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8" dur="63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3" grpId="0" animBg="1"/>
      <p:bldP spid="10" grpId="0" animBg="1"/>
      <p:bldP spid="12" grpId="0"/>
      <p:bldP spid="17" grpId="0" animBg="1"/>
      <p:bldP spid="14" grpId="0" animBg="1"/>
      <p:bldP spid="16" grpId="0"/>
      <p:bldP spid="21" grpId="0" animBg="1"/>
      <p:bldP spid="18" grpId="0" animBg="1"/>
      <p:bldP spid="20" grpId="0"/>
      <p:bldP spid="25" grpId="0" animBg="1"/>
      <p:bldP spid="22" grpId="0" animBg="1"/>
      <p:bldP spid="24" grpId="0"/>
      <p:bldP spid="26" grpId="0" animBg="1"/>
      <p:bldP spid="28" grpId="0"/>
      <p:bldP spid="29" grpId="0" animBg="1"/>
      <p:bldP spid="32" grpId="0"/>
      <p:bldP spid="30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3900" y="-1016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048212" y="381381"/>
            <a:ext cx="344528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02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توضيح فكرة المشروع وأهميته وأهدافه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585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06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6-text-6"/>
          <p:cNvSpPr txBox="1"/>
          <p:nvPr/>
        </p:nvSpPr>
        <p:spPr>
          <a:xfrm>
            <a:off x="7339909" y="817372"/>
            <a:ext cx="4153591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أهمية </a:t>
            </a: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المشروع</a:t>
            </a:r>
            <a:endParaRPr lang="ar-SA" sz="4200" dirty="0"/>
          </a:p>
        </p:txBody>
      </p:sp>
      <p:sp>
        <p:nvSpPr>
          <p:cNvPr id="8" name="s6-text-7"/>
          <p:cNvSpPr txBox="1"/>
          <p:nvPr/>
        </p:nvSpPr>
        <p:spPr>
          <a:xfrm>
            <a:off x="4361180" y="1972056"/>
            <a:ext cx="7132320" cy="186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تنبع أهمية مشروع أرض البساتين من حاجة المزارعين إلى</a:t>
            </a:r>
            <a:endParaRPr lang="ar-SA" sz="2200" dirty="0"/>
          </a:p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متجر يوفر لهم منتجات زراعية متنوعة وموثوقة، ويسهّل</a:t>
            </a:r>
            <a:endParaRPr lang="ar-SA" sz="2200" dirty="0"/>
          </a:p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عليهم الوصول إلى المستلزمات التي يحتاجونها لمزارعهم</a:t>
            </a:r>
            <a:endParaRPr lang="ar-SA" sz="2200" dirty="0"/>
          </a:p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ومشاريعهم الزراعية.</a:t>
            </a:r>
            <a:endParaRPr lang="ar-SA" sz="2200" dirty="0"/>
          </a:p>
        </p:txBody>
      </p:sp>
      <p:sp>
        <p:nvSpPr>
          <p:cNvPr id="9" name="s6-shape-8"/>
          <p:cNvSpPr/>
          <p:nvPr/>
        </p:nvSpPr>
        <p:spPr>
          <a:xfrm>
            <a:off x="4889500" y="4445000"/>
            <a:ext cx="6604000" cy="1809750"/>
          </a:xfrm>
          <a:prstGeom prst="round2DiagRect">
            <a:avLst>
              <a:gd name="adj1" fmla="val 25263"/>
              <a:gd name="adj2" fmla="val 350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6-text-9"/>
          <p:cNvSpPr txBox="1"/>
          <p:nvPr/>
        </p:nvSpPr>
        <p:spPr>
          <a:xfrm>
            <a:off x="4729480" y="4624769"/>
            <a:ext cx="6446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كما يسعى المشروع إلى بناء حضور رقمي قوي يساعد على التعريف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بالمتجر ومنتجاته، توضيح استخدامات المنتجات ومواصفاتها، الوصول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إلى العملاء المستهدفين، زيادة الثقة، وتحويل الاهتمام الرقمي إلى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استفسارات وطلبات ومبيعات.</a:t>
            </a:r>
            <a:endParaRPr lang="ar-SA" sz="1550" dirty="0"/>
          </a:p>
        </p:txBody>
      </p:sp>
      <p:sp>
        <p:nvSpPr>
          <p:cNvPr id="11" name="s6-shape-10"/>
          <p:cNvSpPr/>
          <p:nvPr/>
        </p:nvSpPr>
        <p:spPr>
          <a:xfrm>
            <a:off x="2095500" y="1905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2" name="s6-snap-11" descr="/home/user/flan777/ard-albasatin-presentation/source/pptx_build/img/s6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975" y="2022475"/>
            <a:ext cx="463550" cy="463550"/>
          </a:xfrm>
          <a:prstGeom prst="rect">
            <a:avLst/>
          </a:prstGeom>
        </p:spPr>
      </p:pic>
      <p:pic>
        <p:nvPicPr>
          <p:cNvPr id="13" name="s6-snap-12" descr="/home/user/flan777/ard-albasatin-presentation/source/pptx_build/img/s6_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2578100"/>
            <a:ext cx="139700" cy="241300"/>
          </a:xfrm>
          <a:prstGeom prst="rect">
            <a:avLst/>
          </a:prstGeom>
        </p:spPr>
      </p:pic>
      <p:sp>
        <p:nvSpPr>
          <p:cNvPr id="14" name="s6-shape-13"/>
          <p:cNvSpPr/>
          <p:nvPr/>
        </p:nvSpPr>
        <p:spPr>
          <a:xfrm>
            <a:off x="2095500" y="2794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5" name="s6-snap-14" descr="/home/user/flan777/ard-albasatin-presentation/source/pptx_build/img/s6_1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975" y="2911475"/>
            <a:ext cx="463550" cy="463550"/>
          </a:xfrm>
          <a:prstGeom prst="rect">
            <a:avLst/>
          </a:prstGeom>
        </p:spPr>
      </p:pic>
      <p:pic>
        <p:nvPicPr>
          <p:cNvPr id="16" name="s6-snap-15" descr="/home/user/flan777/ard-albasatin-presentation/source/pptx_build/img/s6_1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900" y="3467100"/>
            <a:ext cx="139700" cy="241300"/>
          </a:xfrm>
          <a:prstGeom prst="rect">
            <a:avLst/>
          </a:prstGeom>
        </p:spPr>
      </p:pic>
      <p:sp>
        <p:nvSpPr>
          <p:cNvPr id="17" name="s6-shape-16"/>
          <p:cNvSpPr/>
          <p:nvPr/>
        </p:nvSpPr>
        <p:spPr>
          <a:xfrm>
            <a:off x="2095500" y="3683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8" name="s6-snap-17" descr="/home/user/flan777/ard-albasatin-presentation/source/pptx_build/img/s6_1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2975" y="3800475"/>
            <a:ext cx="463550" cy="463550"/>
          </a:xfrm>
          <a:prstGeom prst="rect">
            <a:avLst/>
          </a:prstGeom>
        </p:spPr>
      </p:pic>
      <p:pic>
        <p:nvPicPr>
          <p:cNvPr id="19" name="s6-snap-18" descr="/home/user/flan777/ard-albasatin-presentation/source/pptx_build/img/s6_1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4900" y="4356100"/>
            <a:ext cx="139700" cy="241300"/>
          </a:xfrm>
          <a:prstGeom prst="rect">
            <a:avLst/>
          </a:prstGeom>
        </p:spPr>
      </p:pic>
      <p:sp>
        <p:nvSpPr>
          <p:cNvPr id="20" name="s6-shape-19"/>
          <p:cNvSpPr/>
          <p:nvPr/>
        </p:nvSpPr>
        <p:spPr>
          <a:xfrm>
            <a:off x="2095500" y="4572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1" name="s6-snap-20" descr="/home/user/flan777/ard-albasatin-presentation/source/pptx_build/img/s6_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2975" y="4689475"/>
            <a:ext cx="463550" cy="463550"/>
          </a:xfrm>
          <a:prstGeom prst="rect">
            <a:avLst/>
          </a:prstGeom>
        </p:spPr>
      </p:pic>
      <p:pic>
        <p:nvPicPr>
          <p:cNvPr id="22" name="s6-snap-21" descr="/home/user/flan777/ard-albasatin-presentation/source/pptx_build/img/s6_2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4900" y="5245100"/>
            <a:ext cx="139700" cy="241300"/>
          </a:xfrm>
          <a:prstGeom prst="rect">
            <a:avLst/>
          </a:prstGeom>
        </p:spPr>
      </p:pic>
      <p:sp>
        <p:nvSpPr>
          <p:cNvPr id="23" name="s6-shape-22"/>
          <p:cNvSpPr/>
          <p:nvPr/>
        </p:nvSpPr>
        <p:spPr>
          <a:xfrm>
            <a:off x="2095500" y="5461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4" name="s6-snap-23" descr="/home/user/flan777/ard-albasatin-presentation/source/pptx_build/img/s6_2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2975" y="5578475"/>
            <a:ext cx="463550" cy="463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 animBg="1"/>
      <p:bldP spid="14" grpId="0" animBg="1"/>
      <p:bldP spid="17" grpId="0" animBg="1"/>
      <p:bldP spid="20" grpId="0" animBg="1"/>
      <p:bldP spid="23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-698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048212" y="381381"/>
            <a:ext cx="344528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02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توضيح فكرة المشروع وأهميته وأهدافه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169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07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7-text-6"/>
          <p:cNvSpPr txBox="1"/>
          <p:nvPr/>
        </p:nvSpPr>
        <p:spPr>
          <a:xfrm>
            <a:off x="7269615" y="817372"/>
            <a:ext cx="422388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أهداف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المشروع</a:t>
            </a:r>
            <a:endParaRPr lang="ar-SA" sz="4200" dirty="0"/>
          </a:p>
        </p:txBody>
      </p:sp>
      <p:sp>
        <p:nvSpPr>
          <p:cNvPr id="8" name="s7-text-7"/>
          <p:cNvSpPr txBox="1"/>
          <p:nvPr/>
        </p:nvSpPr>
        <p:spPr>
          <a:xfrm>
            <a:off x="10807700" y="18550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01</a:t>
            </a:r>
            <a:endParaRPr lang="ar-SA" sz="2150" dirty="0"/>
          </a:p>
        </p:txBody>
      </p:sp>
      <p:sp>
        <p:nvSpPr>
          <p:cNvPr id="9" name="s7-text-8"/>
          <p:cNvSpPr txBox="1"/>
          <p:nvPr/>
        </p:nvSpPr>
        <p:spPr>
          <a:xfrm>
            <a:off x="5989320" y="18681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زيادة الوعي بعلامة أرض البساتين.</a:t>
            </a:r>
            <a:endParaRPr lang="ar-SA" sz="1500" dirty="0"/>
          </a:p>
        </p:txBody>
      </p:sp>
      <p:sp>
        <p:nvSpPr>
          <p:cNvPr id="10" name="s7-shape-9"/>
          <p:cNvSpPr/>
          <p:nvPr/>
        </p:nvSpPr>
        <p:spPr>
          <a:xfrm>
            <a:off x="6350000" y="25273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1" name="s7-text-10"/>
          <p:cNvSpPr txBox="1"/>
          <p:nvPr/>
        </p:nvSpPr>
        <p:spPr>
          <a:xfrm>
            <a:off x="10807700" y="25789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02</a:t>
            </a:r>
            <a:endParaRPr lang="ar-SA" sz="2150" dirty="0"/>
          </a:p>
        </p:txBody>
      </p:sp>
      <p:sp>
        <p:nvSpPr>
          <p:cNvPr id="12" name="s7-text-11"/>
          <p:cNvSpPr txBox="1"/>
          <p:nvPr/>
        </p:nvSpPr>
        <p:spPr>
          <a:xfrm>
            <a:off x="5989320" y="25920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بناء هوية تجارية واضحة للمتجر.</a:t>
            </a:r>
            <a:endParaRPr lang="ar-SA" sz="1500" dirty="0"/>
          </a:p>
        </p:txBody>
      </p:sp>
      <p:sp>
        <p:nvSpPr>
          <p:cNvPr id="13" name="s7-shape-12"/>
          <p:cNvSpPr/>
          <p:nvPr/>
        </p:nvSpPr>
        <p:spPr>
          <a:xfrm>
            <a:off x="6350000" y="32512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4" name="s7-text-13"/>
          <p:cNvSpPr txBox="1"/>
          <p:nvPr/>
        </p:nvSpPr>
        <p:spPr>
          <a:xfrm>
            <a:off x="10807700" y="3302826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03</a:t>
            </a:r>
            <a:endParaRPr lang="ar-SA" sz="2150" dirty="0"/>
          </a:p>
        </p:txBody>
      </p:sp>
      <p:sp>
        <p:nvSpPr>
          <p:cNvPr id="15" name="s7-text-14"/>
          <p:cNvSpPr txBox="1"/>
          <p:nvPr/>
        </p:nvSpPr>
        <p:spPr>
          <a:xfrm>
            <a:off x="5989320" y="33159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التعريف بالمنتجات والمستلزمات الزراعية المتوفرة.</a:t>
            </a:r>
            <a:endParaRPr lang="ar-SA" sz="1500" dirty="0"/>
          </a:p>
        </p:txBody>
      </p:sp>
      <p:sp>
        <p:nvSpPr>
          <p:cNvPr id="16" name="s7-shape-15"/>
          <p:cNvSpPr/>
          <p:nvPr/>
        </p:nvSpPr>
        <p:spPr>
          <a:xfrm>
            <a:off x="6350000" y="39751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7" name="s7-text-16"/>
          <p:cNvSpPr txBox="1"/>
          <p:nvPr/>
        </p:nvSpPr>
        <p:spPr>
          <a:xfrm>
            <a:off x="10807700" y="40267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04</a:t>
            </a:r>
            <a:endParaRPr lang="ar-SA" sz="2150" dirty="0"/>
          </a:p>
        </p:txBody>
      </p:sp>
      <p:sp>
        <p:nvSpPr>
          <p:cNvPr id="18" name="s7-text-17"/>
          <p:cNvSpPr txBox="1"/>
          <p:nvPr/>
        </p:nvSpPr>
        <p:spPr>
          <a:xfrm>
            <a:off x="5989320" y="4039870"/>
            <a:ext cx="486918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الوصول إلى المزارعين وأصحاب المزارع والمشاريع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الزراعية.</a:t>
            </a:r>
            <a:endParaRPr lang="ar-SA" sz="1500" dirty="0"/>
          </a:p>
        </p:txBody>
      </p:sp>
      <p:sp>
        <p:nvSpPr>
          <p:cNvPr id="19" name="s7-shape-18"/>
          <p:cNvSpPr/>
          <p:nvPr/>
        </p:nvSpPr>
        <p:spPr>
          <a:xfrm>
            <a:off x="6350000" y="46990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0" name="s7-text-19"/>
          <p:cNvSpPr txBox="1"/>
          <p:nvPr/>
        </p:nvSpPr>
        <p:spPr>
          <a:xfrm>
            <a:off x="10807700" y="4750626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05</a:t>
            </a:r>
            <a:endParaRPr lang="ar-SA" sz="2150" dirty="0"/>
          </a:p>
        </p:txBody>
      </p:sp>
      <p:sp>
        <p:nvSpPr>
          <p:cNvPr id="21" name="s7-text-20"/>
          <p:cNvSpPr txBox="1"/>
          <p:nvPr/>
        </p:nvSpPr>
        <p:spPr>
          <a:xfrm>
            <a:off x="5989320" y="4763770"/>
            <a:ext cx="486918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الوصول إلى التجار والموزعين والمنظمات والمشاريع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الزراعية.</a:t>
            </a:r>
            <a:endParaRPr lang="ar-SA" sz="1500" dirty="0"/>
          </a:p>
        </p:txBody>
      </p:sp>
      <p:sp>
        <p:nvSpPr>
          <p:cNvPr id="22" name="s7-shape-21"/>
          <p:cNvSpPr/>
          <p:nvPr/>
        </p:nvSpPr>
        <p:spPr>
          <a:xfrm>
            <a:off x="6350000" y="54229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3" name="s7-text-22"/>
          <p:cNvSpPr txBox="1"/>
          <p:nvPr/>
        </p:nvSpPr>
        <p:spPr>
          <a:xfrm>
            <a:off x="10807700" y="5474526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06</a:t>
            </a:r>
            <a:endParaRPr lang="ar-SA" sz="2150" dirty="0"/>
          </a:p>
        </p:txBody>
      </p:sp>
      <p:sp>
        <p:nvSpPr>
          <p:cNvPr id="24" name="s7-text-23"/>
          <p:cNvSpPr txBox="1"/>
          <p:nvPr/>
        </p:nvSpPr>
        <p:spPr>
          <a:xfrm>
            <a:off x="5989320" y="54876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إبراز جودة المنتجات ومواصفاتها ومجالات استخدامها.</a:t>
            </a:r>
            <a:endParaRPr lang="ar-SA" sz="1500" dirty="0"/>
          </a:p>
        </p:txBody>
      </p:sp>
      <p:sp>
        <p:nvSpPr>
          <p:cNvPr id="25" name="s7-text-24"/>
          <p:cNvSpPr txBox="1"/>
          <p:nvPr/>
        </p:nvSpPr>
        <p:spPr>
          <a:xfrm>
            <a:off x="5156200" y="18550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07</a:t>
            </a:r>
            <a:endParaRPr lang="ar-SA" sz="2150" dirty="0"/>
          </a:p>
        </p:txBody>
      </p:sp>
      <p:sp>
        <p:nvSpPr>
          <p:cNvPr id="26" name="s7-text-25"/>
          <p:cNvSpPr txBox="1"/>
          <p:nvPr/>
        </p:nvSpPr>
        <p:spPr>
          <a:xfrm>
            <a:off x="337820" y="1868170"/>
            <a:ext cx="486918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الاستفادة من مصنع دريب أكوا في توفير بعض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منتجات الري والأنابيب المصنّعة محليًا.</a:t>
            </a:r>
            <a:endParaRPr lang="ar-SA" sz="1500" dirty="0"/>
          </a:p>
        </p:txBody>
      </p:sp>
      <p:sp>
        <p:nvSpPr>
          <p:cNvPr id="27" name="s7-shape-26"/>
          <p:cNvSpPr/>
          <p:nvPr/>
        </p:nvSpPr>
        <p:spPr>
          <a:xfrm>
            <a:off x="698500" y="25273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8" name="s7-text-27"/>
          <p:cNvSpPr txBox="1"/>
          <p:nvPr/>
        </p:nvSpPr>
        <p:spPr>
          <a:xfrm>
            <a:off x="5156200" y="25789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08</a:t>
            </a:r>
            <a:endParaRPr lang="ar-SA" sz="2150" dirty="0"/>
          </a:p>
        </p:txBody>
      </p:sp>
      <p:sp>
        <p:nvSpPr>
          <p:cNvPr id="29" name="s7-text-28"/>
          <p:cNvSpPr txBox="1"/>
          <p:nvPr/>
        </p:nvSpPr>
        <p:spPr>
          <a:xfrm>
            <a:off x="337820" y="25920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زيادة التفاعل والاستفسارات عبر القنوات الرقمية.</a:t>
            </a:r>
            <a:endParaRPr lang="ar-SA" sz="1500" dirty="0"/>
          </a:p>
        </p:txBody>
      </p:sp>
      <p:sp>
        <p:nvSpPr>
          <p:cNvPr id="30" name="s7-shape-29"/>
          <p:cNvSpPr/>
          <p:nvPr/>
        </p:nvSpPr>
        <p:spPr>
          <a:xfrm>
            <a:off x="698500" y="32512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1" name="s7-text-30"/>
          <p:cNvSpPr txBox="1"/>
          <p:nvPr/>
        </p:nvSpPr>
        <p:spPr>
          <a:xfrm>
            <a:off x="5156200" y="3302826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09</a:t>
            </a:r>
            <a:endParaRPr lang="ar-SA" sz="2150" dirty="0"/>
          </a:p>
        </p:txBody>
      </p:sp>
      <p:sp>
        <p:nvSpPr>
          <p:cNvPr id="32" name="s7-text-31"/>
          <p:cNvSpPr txBox="1"/>
          <p:nvPr/>
        </p:nvSpPr>
        <p:spPr>
          <a:xfrm>
            <a:off x="337820" y="33159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تحويل الاستفسارات إلى طلبات ومبيعات.</a:t>
            </a:r>
            <a:endParaRPr lang="ar-SA" sz="1500" dirty="0"/>
          </a:p>
        </p:txBody>
      </p:sp>
      <p:sp>
        <p:nvSpPr>
          <p:cNvPr id="33" name="s7-shape-32"/>
          <p:cNvSpPr/>
          <p:nvPr/>
        </p:nvSpPr>
        <p:spPr>
          <a:xfrm>
            <a:off x="698500" y="39751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4" name="s7-text-33"/>
          <p:cNvSpPr txBox="1"/>
          <p:nvPr/>
        </p:nvSpPr>
        <p:spPr>
          <a:xfrm>
            <a:off x="5156200" y="40267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10</a:t>
            </a:r>
            <a:endParaRPr lang="ar-SA" sz="2150" dirty="0"/>
          </a:p>
        </p:txBody>
      </p:sp>
      <p:sp>
        <p:nvSpPr>
          <p:cNvPr id="35" name="s7-text-34"/>
          <p:cNvSpPr txBox="1"/>
          <p:nvPr/>
        </p:nvSpPr>
        <p:spPr>
          <a:xfrm>
            <a:off x="337820" y="40398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بناء ثقة طويلة المدى مع العملاء.</a:t>
            </a:r>
            <a:endParaRPr lang="ar-SA" sz="1500" dirty="0"/>
          </a:p>
        </p:txBody>
      </p:sp>
      <p:sp>
        <p:nvSpPr>
          <p:cNvPr id="36" name="s7-shape-35"/>
          <p:cNvSpPr/>
          <p:nvPr/>
        </p:nvSpPr>
        <p:spPr>
          <a:xfrm>
            <a:off x="698500" y="46990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7" name="s7-text-36"/>
          <p:cNvSpPr txBox="1"/>
          <p:nvPr/>
        </p:nvSpPr>
        <p:spPr>
          <a:xfrm>
            <a:off x="5156200" y="4750626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11</a:t>
            </a:r>
            <a:endParaRPr lang="ar-SA" sz="2150" dirty="0"/>
          </a:p>
        </p:txBody>
      </p:sp>
      <p:sp>
        <p:nvSpPr>
          <p:cNvPr id="38" name="s7-text-37"/>
          <p:cNvSpPr txBox="1"/>
          <p:nvPr/>
        </p:nvSpPr>
        <p:spPr>
          <a:xfrm>
            <a:off x="337820" y="47637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التوسع في الأسواق الزراعية والمناطق المستهدفة.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1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5" dur="6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9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3" dur="6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7" dur="6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6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2" presetClass="entr" presetSubtype="2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5" dur="63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2" presetClass="entr" presetSubtype="2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9" dur="63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9" grpId="0"/>
      <p:bldP spid="11" grpId="0"/>
      <p:bldP spid="13" grpId="0" animBg="1"/>
      <p:bldP spid="12" grpId="0"/>
      <p:bldP spid="14" grpId="0"/>
      <p:bldP spid="16" grpId="0" animBg="1"/>
      <p:bldP spid="15" grpId="0"/>
      <p:bldP spid="17" grpId="0"/>
      <p:bldP spid="19" grpId="0" animBg="1"/>
      <p:bldP spid="18" grpId="0"/>
      <p:bldP spid="20" grpId="0"/>
      <p:bldP spid="22" grpId="0" animBg="1"/>
      <p:bldP spid="21" grpId="0"/>
      <p:bldP spid="23" grpId="0"/>
      <p:bldP spid="24" grpId="0"/>
      <p:bldP spid="25" grpId="0"/>
      <p:bldP spid="27" grpId="0" animBg="1"/>
      <p:bldP spid="26" grpId="0"/>
      <p:bldP spid="28" grpId="0"/>
      <p:bldP spid="30" grpId="0" animBg="1"/>
      <p:bldP spid="29" grpId="0"/>
      <p:bldP spid="31" grpId="0"/>
      <p:bldP spid="33" grpId="0" animBg="1"/>
      <p:bldP spid="32" grpId="0"/>
      <p:bldP spid="34" grpId="0"/>
      <p:bldP spid="36" grpId="0" animBg="1"/>
      <p:bldP spid="35" grpId="0"/>
      <p:bldP spid="37" grpId="0"/>
      <p:bldP spid="38" grpId="0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0" y="-2095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661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08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03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معلومات عن المشروع</a:t>
            </a:r>
            <a:endParaRPr lang="ar-SA" sz="4400" dirty="0"/>
          </a:p>
        </p:txBody>
      </p:sp>
      <p:pic>
        <p:nvPicPr>
          <p:cNvPr id="8" name="s8-snap-7" descr="/home/user/flan777/ard-albasatin-presentation/source/pptx_build/img/s8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850" y="-4889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373949" y="381381"/>
            <a:ext cx="21195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03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معلومات عن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565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09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9-shape-6"/>
          <p:cNvSpPr/>
          <p:nvPr/>
        </p:nvSpPr>
        <p:spPr>
          <a:xfrm>
            <a:off x="698500" y="889000"/>
            <a:ext cx="3810000" cy="5334000"/>
          </a:xfrm>
          <a:prstGeom prst="round2DiagRect">
            <a:avLst>
              <a:gd name="adj1" fmla="val 12000"/>
              <a:gd name="adj2" fmla="val 1667"/>
            </a:avLst>
          </a:prstGeom>
          <a:solidFill>
            <a:srgbClr val="015256"/>
          </a:solidFill>
          <a:ln/>
        </p:spPr>
      </p:sp>
      <p:pic>
        <p:nvPicPr>
          <p:cNvPr id="8" name="!!logo" descr="شعار أرض البساتين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663" y="1397000"/>
            <a:ext cx="1955800" cy="1968500"/>
          </a:xfrm>
          <a:prstGeom prst="rect">
            <a:avLst/>
          </a:prstGeom>
        </p:spPr>
      </p:pic>
      <p:sp>
        <p:nvSpPr>
          <p:cNvPr id="9" name="s9-text-8"/>
          <p:cNvSpPr txBox="1"/>
          <p:nvPr/>
        </p:nvSpPr>
        <p:spPr>
          <a:xfrm>
            <a:off x="957580" y="3738880"/>
            <a:ext cx="329184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 Medium"/>
                <a:cs typeface="Alexandria Medium"/>
              </a:rPr>
              <a:t>اسم المشروع</a:t>
            </a:r>
            <a:endParaRPr lang="ar-SA" sz="1500" dirty="0"/>
          </a:p>
        </p:txBody>
      </p:sp>
      <p:sp>
        <p:nvSpPr>
          <p:cNvPr id="10" name="s9-text-9"/>
          <p:cNvSpPr txBox="1"/>
          <p:nvPr/>
        </p:nvSpPr>
        <p:spPr>
          <a:xfrm>
            <a:off x="683260" y="4046347"/>
            <a:ext cx="38404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4030"/>
              </a:lnSpc>
              <a:buNone/>
            </a:pPr>
            <a:r>
              <a:rPr lang="ar-SA" altLang="en-US" sz="3100" dirty="0">
                <a:solidFill>
                  <a:srgbClr val="FFFFFF"/>
                </a:solidFill>
                <a:latin typeface="Alexandria Black"/>
                <a:cs typeface="Alexandria Black"/>
              </a:rPr>
              <a:t>أرض البساتين</a:t>
            </a:r>
            <a:endParaRPr lang="ar-SA" sz="3100" dirty="0"/>
          </a:p>
        </p:txBody>
      </p:sp>
      <p:pic>
        <p:nvPicPr>
          <p:cNvPr id="11" name="s9-snap-10" descr="/home/user/flan777/ard-albasatin-presentation/source/pptx_build/img/s9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991100"/>
            <a:ext cx="3098800" cy="177800"/>
          </a:xfrm>
          <a:prstGeom prst="rect">
            <a:avLst/>
          </a:prstGeom>
        </p:spPr>
      </p:pic>
      <p:sp>
        <p:nvSpPr>
          <p:cNvPr id="12" name="s9-shape-11"/>
          <p:cNvSpPr/>
          <p:nvPr/>
        </p:nvSpPr>
        <p:spPr>
          <a:xfrm>
            <a:off x="2317750" y="53340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3" name="s9-snap-12" descr="/home/user/flan777/ard-albasatin-presentation/source/pptx_build/img/s9_1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6175" y="5432425"/>
            <a:ext cx="412750" cy="412750"/>
          </a:xfrm>
          <a:prstGeom prst="rect">
            <a:avLst/>
          </a:prstGeom>
        </p:spPr>
      </p:pic>
      <p:sp>
        <p:nvSpPr>
          <p:cNvPr id="14" name="s9-text-13"/>
          <p:cNvSpPr txBox="1"/>
          <p:nvPr/>
        </p:nvSpPr>
        <p:spPr>
          <a:xfrm>
            <a:off x="4566920" y="944880"/>
            <a:ext cx="69265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نوع النشاط</a:t>
            </a:r>
            <a:endParaRPr lang="ar-SA" sz="1500" dirty="0"/>
          </a:p>
        </p:txBody>
      </p:sp>
      <p:sp>
        <p:nvSpPr>
          <p:cNvPr id="15" name="s9-text-14"/>
          <p:cNvSpPr txBox="1"/>
          <p:nvPr/>
        </p:nvSpPr>
        <p:spPr>
          <a:xfrm>
            <a:off x="4566920" y="1205865"/>
            <a:ext cx="6926580" cy="182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486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متجر وعلامة تجارية متخصصة في بيع وتسويق المنتجات</a:t>
            </a:r>
            <a:endParaRPr lang="ar-SA" sz="2100" dirty="0"/>
          </a:p>
          <a:p>
            <a:pPr rtl="1" algn="r" indent="0" marL="0">
              <a:lnSpc>
                <a:spcPts val="3486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والمستلزمات الزراعية، وتشمل المنتجات مستلزمات الري</a:t>
            </a:r>
            <a:endParaRPr lang="ar-SA" sz="2100" dirty="0"/>
          </a:p>
          <a:p>
            <a:pPr rtl="1" algn="r" indent="0" marL="0">
              <a:lnSpc>
                <a:spcPts val="3486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والحماية الزراعية والأنابيب وأنابيب التقطير وغيرها من</a:t>
            </a:r>
            <a:endParaRPr lang="ar-SA" sz="2100" dirty="0"/>
          </a:p>
          <a:p>
            <a:pPr rtl="1" algn="r" indent="0" marL="0">
              <a:lnSpc>
                <a:spcPts val="3486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Light"/>
                <a:cs typeface="Alexandria Light"/>
              </a:rPr>
              <a:t>المنتجات التي تخدم المزارعين وأصحاب المشاريع الزراعية.</a:t>
            </a:r>
            <a:endParaRPr lang="ar-SA" sz="2100" dirty="0"/>
          </a:p>
        </p:txBody>
      </p:sp>
      <p:sp>
        <p:nvSpPr>
          <p:cNvPr id="16" name="s9-shape-15"/>
          <p:cNvSpPr/>
          <p:nvPr/>
        </p:nvSpPr>
        <p:spPr>
          <a:xfrm>
            <a:off x="5080000" y="4254500"/>
            <a:ext cx="6413500" cy="1968500"/>
          </a:xfrm>
          <a:prstGeom prst="round2DiagRect">
            <a:avLst>
              <a:gd name="adj1" fmla="val 23226"/>
              <a:gd name="adj2" fmla="val 3226"/>
            </a:avLst>
          </a:prstGeom>
          <a:solidFill>
            <a:srgbClr val="E3F3E9"/>
          </a:solidFill>
          <a:ln/>
        </p:spPr>
      </p:sp>
      <p:sp>
        <p:nvSpPr>
          <p:cNvPr id="17" name="s9-shape-16"/>
          <p:cNvSpPr/>
          <p:nvPr/>
        </p:nvSpPr>
        <p:spPr>
          <a:xfrm>
            <a:off x="10541000" y="45402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8" name="s9-snap-17" descr="/home/user/flan777/ard-albasatin-presentation/source/pptx_build/img/s9_1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600" y="4641850"/>
            <a:ext cx="431800" cy="431800"/>
          </a:xfrm>
          <a:prstGeom prst="rect">
            <a:avLst/>
          </a:prstGeom>
        </p:spPr>
      </p:pic>
      <p:sp>
        <p:nvSpPr>
          <p:cNvPr id="19" name="s9-text-18"/>
          <p:cNvSpPr txBox="1"/>
          <p:nvPr/>
        </p:nvSpPr>
        <p:spPr>
          <a:xfrm>
            <a:off x="4922520" y="4474654"/>
            <a:ext cx="5554980" cy="106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ويُعد </a:t>
            </a:r>
            <a:r>
              <a:rPr lang="ar-SA" altLang="en-US" sz="1650" dirty="0">
                <a:solidFill>
                  <a:srgbClr val="01804C"/>
                </a:solidFill>
                <a:latin typeface="Alexandria ExtraBold"/>
                <a:cs typeface="Alexandria ExtraBold"/>
              </a:rPr>
              <a:t>مصنع دريب أكوا </a:t>
            </a: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أحد مصادر المنتجات التابعة</a:t>
            </a:r>
            <a:endParaRPr lang="ar-SA" sz="1650" dirty="0"/>
          </a:p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للمشروع، حيث يتم تصنيع بعض منتجات الري والأنابيب</a:t>
            </a:r>
            <a:endParaRPr lang="ar-SA" sz="1650" dirty="0"/>
          </a:p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محليًا في المصنع.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3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  <p:bldP spid="9" grpId="0"/>
      <p:bldP spid="10" grpId="0"/>
      <p:bldP spid="16" grpId="0" animBg="1"/>
      <p:bldP spid="19" grpId="0"/>
      <p:bldP spid="17" grpId="0" animBg="1"/>
      <p:bldP spid="12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3350" y="-8445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373949" y="381381"/>
            <a:ext cx="21195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03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معلومات عن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3261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10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0-text-6"/>
          <p:cNvSpPr txBox="1"/>
          <p:nvPr/>
        </p:nvSpPr>
        <p:spPr>
          <a:xfrm>
            <a:off x="6771981" y="817372"/>
            <a:ext cx="472151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الفئة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المستهدفة</a:t>
            </a:r>
            <a:endParaRPr lang="ar-SA" sz="4200" dirty="0"/>
          </a:p>
        </p:txBody>
      </p:sp>
      <p:sp>
        <p:nvSpPr>
          <p:cNvPr id="8" name="s10-shape-7"/>
          <p:cNvSpPr/>
          <p:nvPr/>
        </p:nvSpPr>
        <p:spPr>
          <a:xfrm>
            <a:off x="8890000" y="196850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F2F9F5"/>
          </a:solidFill>
          <a:ln/>
        </p:spPr>
      </p:sp>
      <p:sp>
        <p:nvSpPr>
          <p:cNvPr id="9" name="s10-shape-8"/>
          <p:cNvSpPr/>
          <p:nvPr/>
        </p:nvSpPr>
        <p:spPr>
          <a:xfrm>
            <a:off x="10604500" y="219710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0" name="s10-snap-9" descr="/home/user/flan777/ard-albasatin-presentation/source/pptx_build/img/s10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100" y="2298700"/>
            <a:ext cx="431800" cy="431800"/>
          </a:xfrm>
          <a:prstGeom prst="rect">
            <a:avLst/>
          </a:prstGeom>
        </p:spPr>
      </p:pic>
      <p:sp>
        <p:nvSpPr>
          <p:cNvPr id="11" name="s10-text-10"/>
          <p:cNvSpPr txBox="1"/>
          <p:nvPr/>
        </p:nvSpPr>
        <p:spPr>
          <a:xfrm>
            <a:off x="8976360" y="2965514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المزارعون وأصحاب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المزارع.</a:t>
            </a:r>
            <a:endParaRPr lang="ar-SA" sz="1450" dirty="0"/>
          </a:p>
        </p:txBody>
      </p:sp>
      <p:sp>
        <p:nvSpPr>
          <p:cNvPr id="12" name="s10-shape-11"/>
          <p:cNvSpPr/>
          <p:nvPr/>
        </p:nvSpPr>
        <p:spPr>
          <a:xfrm>
            <a:off x="6159500" y="196850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E3F3E9"/>
          </a:solidFill>
          <a:ln/>
        </p:spPr>
      </p:sp>
      <p:sp>
        <p:nvSpPr>
          <p:cNvPr id="13" name="s10-shape-12"/>
          <p:cNvSpPr/>
          <p:nvPr/>
        </p:nvSpPr>
        <p:spPr>
          <a:xfrm>
            <a:off x="7874000" y="219710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4" name="s10-snap-13" descr="/home/user/flan777/ard-albasatin-presentation/source/pptx_build/img/s10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0" y="2298700"/>
            <a:ext cx="431800" cy="431800"/>
          </a:xfrm>
          <a:prstGeom prst="rect">
            <a:avLst/>
          </a:prstGeom>
        </p:spPr>
      </p:pic>
      <p:sp>
        <p:nvSpPr>
          <p:cNvPr id="15" name="s10-text-14"/>
          <p:cNvSpPr txBox="1"/>
          <p:nvPr/>
        </p:nvSpPr>
        <p:spPr>
          <a:xfrm>
            <a:off x="6245860" y="2965514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أصحاب المشاريع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الزراعية.</a:t>
            </a:r>
            <a:endParaRPr lang="ar-SA" sz="1450" dirty="0"/>
          </a:p>
        </p:txBody>
      </p:sp>
      <p:sp>
        <p:nvSpPr>
          <p:cNvPr id="16" name="s10-shape-15"/>
          <p:cNvSpPr/>
          <p:nvPr/>
        </p:nvSpPr>
        <p:spPr>
          <a:xfrm>
            <a:off x="3429000" y="196850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F2F9F5"/>
          </a:solidFill>
          <a:ln/>
        </p:spPr>
      </p:sp>
      <p:sp>
        <p:nvSpPr>
          <p:cNvPr id="17" name="s10-shape-16"/>
          <p:cNvSpPr/>
          <p:nvPr/>
        </p:nvSpPr>
        <p:spPr>
          <a:xfrm>
            <a:off x="5143500" y="219710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8" name="s10-snap-17" descr="/home/user/flan777/ard-albasatin-presentation/source/pptx_build/img/s10_1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100" y="2298700"/>
            <a:ext cx="431800" cy="431800"/>
          </a:xfrm>
          <a:prstGeom prst="rect">
            <a:avLst/>
          </a:prstGeom>
        </p:spPr>
      </p:pic>
      <p:sp>
        <p:nvSpPr>
          <p:cNvPr id="19" name="s10-text-18"/>
          <p:cNvSpPr txBox="1"/>
          <p:nvPr/>
        </p:nvSpPr>
        <p:spPr>
          <a:xfrm>
            <a:off x="3515360" y="2965514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تجار وموزعو المستلزمات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الزراعية.</a:t>
            </a:r>
            <a:endParaRPr lang="ar-SA" sz="1450" dirty="0"/>
          </a:p>
        </p:txBody>
      </p:sp>
      <p:sp>
        <p:nvSpPr>
          <p:cNvPr id="20" name="s10-shape-19"/>
          <p:cNvSpPr/>
          <p:nvPr/>
        </p:nvSpPr>
        <p:spPr>
          <a:xfrm>
            <a:off x="698500" y="196850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E3F3E9"/>
          </a:solidFill>
          <a:ln/>
        </p:spPr>
      </p:sp>
      <p:sp>
        <p:nvSpPr>
          <p:cNvPr id="21" name="s10-shape-20"/>
          <p:cNvSpPr/>
          <p:nvPr/>
        </p:nvSpPr>
        <p:spPr>
          <a:xfrm>
            <a:off x="2413000" y="219710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2" name="s10-snap-21" descr="/home/user/flan777/ard-albasatin-presentation/source/pptx_build/img/s10_2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298700"/>
            <a:ext cx="431800" cy="431800"/>
          </a:xfrm>
          <a:prstGeom prst="rect">
            <a:avLst/>
          </a:prstGeom>
        </p:spPr>
      </p:pic>
      <p:sp>
        <p:nvSpPr>
          <p:cNvPr id="23" name="s10-text-22"/>
          <p:cNvSpPr txBox="1"/>
          <p:nvPr/>
        </p:nvSpPr>
        <p:spPr>
          <a:xfrm>
            <a:off x="784860" y="2965514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المقاولون ومنفذو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شبكات الري.</a:t>
            </a:r>
            <a:endParaRPr lang="ar-SA" sz="1450" dirty="0"/>
          </a:p>
        </p:txBody>
      </p:sp>
      <p:sp>
        <p:nvSpPr>
          <p:cNvPr id="24" name="s10-shape-23"/>
          <p:cNvSpPr/>
          <p:nvPr/>
        </p:nvSpPr>
        <p:spPr>
          <a:xfrm>
            <a:off x="8890000" y="412115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E3F3E9"/>
          </a:solidFill>
          <a:ln/>
        </p:spPr>
      </p:sp>
      <p:sp>
        <p:nvSpPr>
          <p:cNvPr id="25" name="s10-shape-24"/>
          <p:cNvSpPr/>
          <p:nvPr/>
        </p:nvSpPr>
        <p:spPr>
          <a:xfrm>
            <a:off x="10604500" y="4349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6" name="s10-snap-25" descr="/home/user/flan777/ard-albasatin-presentation/source/pptx_build/img/s10_2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6100" y="4451350"/>
            <a:ext cx="431800" cy="431800"/>
          </a:xfrm>
          <a:prstGeom prst="rect">
            <a:avLst/>
          </a:prstGeom>
        </p:spPr>
      </p:pic>
      <p:sp>
        <p:nvSpPr>
          <p:cNvPr id="27" name="s10-text-26"/>
          <p:cNvSpPr txBox="1"/>
          <p:nvPr/>
        </p:nvSpPr>
        <p:spPr>
          <a:xfrm>
            <a:off x="8976360" y="5118163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الفنيون والعاملون في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المجال الزراعي.</a:t>
            </a:r>
            <a:endParaRPr lang="ar-SA" sz="1450" dirty="0"/>
          </a:p>
        </p:txBody>
      </p:sp>
      <p:sp>
        <p:nvSpPr>
          <p:cNvPr id="28" name="s10-shape-27"/>
          <p:cNvSpPr/>
          <p:nvPr/>
        </p:nvSpPr>
        <p:spPr>
          <a:xfrm>
            <a:off x="6159500" y="412115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F2F9F5"/>
          </a:solidFill>
          <a:ln/>
        </p:spPr>
      </p:sp>
      <p:sp>
        <p:nvSpPr>
          <p:cNvPr id="29" name="s10-shape-28"/>
          <p:cNvSpPr/>
          <p:nvPr/>
        </p:nvSpPr>
        <p:spPr>
          <a:xfrm>
            <a:off x="7874000" y="4349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0" name="s10-snap-29" descr="/home/user/flan777/ard-albasatin-presentation/source/pptx_build/img/s10_2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5600" y="4451350"/>
            <a:ext cx="431800" cy="431800"/>
          </a:xfrm>
          <a:prstGeom prst="rect">
            <a:avLst/>
          </a:prstGeom>
        </p:spPr>
      </p:pic>
      <p:sp>
        <p:nvSpPr>
          <p:cNvPr id="31" name="s10-text-30"/>
          <p:cNvSpPr txBox="1"/>
          <p:nvPr/>
        </p:nvSpPr>
        <p:spPr>
          <a:xfrm>
            <a:off x="6245860" y="5118163"/>
            <a:ext cx="2263140" cy="109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المنظمات والمؤسسات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العاملة في المجال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 والمشاريع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التنموية.</a:t>
            </a:r>
            <a:endParaRPr lang="ar-SA" sz="1450" dirty="0"/>
          </a:p>
        </p:txBody>
      </p:sp>
      <p:sp>
        <p:nvSpPr>
          <p:cNvPr id="32" name="s10-shape-31"/>
          <p:cNvSpPr/>
          <p:nvPr/>
        </p:nvSpPr>
        <p:spPr>
          <a:xfrm>
            <a:off x="3429000" y="412115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E3F3E9"/>
          </a:solidFill>
          <a:ln/>
        </p:spPr>
      </p:sp>
      <p:sp>
        <p:nvSpPr>
          <p:cNvPr id="33" name="s10-shape-32"/>
          <p:cNvSpPr/>
          <p:nvPr/>
        </p:nvSpPr>
        <p:spPr>
          <a:xfrm>
            <a:off x="5143500" y="4349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34" name="s10-snap-33" descr="/home/user/flan777/ard-albasatin-presentation/source/pptx_build/img/s10_3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5100" y="4451350"/>
            <a:ext cx="431800" cy="431800"/>
          </a:xfrm>
          <a:prstGeom prst="rect">
            <a:avLst/>
          </a:prstGeom>
        </p:spPr>
      </p:pic>
      <p:sp>
        <p:nvSpPr>
          <p:cNvPr id="35" name="s10-text-34"/>
          <p:cNvSpPr txBox="1"/>
          <p:nvPr/>
        </p:nvSpPr>
        <p:spPr>
          <a:xfrm>
            <a:off x="3515360" y="5118163"/>
            <a:ext cx="226314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الجمعيات والتعاونيات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الزراعية.</a:t>
            </a:r>
            <a:endParaRPr lang="ar-SA" sz="1450" dirty="0"/>
          </a:p>
        </p:txBody>
      </p:sp>
      <p:sp>
        <p:nvSpPr>
          <p:cNvPr id="36" name="s10-shape-35"/>
          <p:cNvSpPr/>
          <p:nvPr/>
        </p:nvSpPr>
        <p:spPr>
          <a:xfrm>
            <a:off x="698500" y="4121150"/>
            <a:ext cx="2603500" cy="2000250"/>
          </a:xfrm>
          <a:prstGeom prst="round2DiagRect">
            <a:avLst>
              <a:gd name="adj1" fmla="val 22857"/>
              <a:gd name="adj2" fmla="val 3175"/>
            </a:avLst>
          </a:prstGeom>
          <a:solidFill>
            <a:srgbClr val="F2F9F5"/>
          </a:solidFill>
          <a:ln/>
        </p:spPr>
      </p:sp>
      <p:sp>
        <p:nvSpPr>
          <p:cNvPr id="37" name="s10-shape-36"/>
          <p:cNvSpPr/>
          <p:nvPr/>
        </p:nvSpPr>
        <p:spPr>
          <a:xfrm>
            <a:off x="2413000" y="4349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8" name="s10-snap-37" descr="/home/user/flan777/ard-albasatin-presentation/source/pptx_build/img/s10_3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4451350"/>
            <a:ext cx="431800" cy="431800"/>
          </a:xfrm>
          <a:prstGeom prst="rect">
            <a:avLst/>
          </a:prstGeom>
        </p:spPr>
      </p:pic>
      <p:sp>
        <p:nvSpPr>
          <p:cNvPr id="39" name="s10-text-38"/>
          <p:cNvSpPr txBox="1"/>
          <p:nvPr/>
        </p:nvSpPr>
        <p:spPr>
          <a:xfrm>
            <a:off x="784860" y="5118163"/>
            <a:ext cx="2263140" cy="1096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الجهات والمشاريع التي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تنفذ مشاريع الري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واستصلاح الأراضي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9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92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 animBg="1"/>
      <p:bldP spid="11" grpId="0"/>
      <p:bldP spid="9" grpId="0" animBg="1"/>
      <p:bldP spid="16" grpId="0" animBg="1"/>
      <p:bldP spid="15" grpId="0"/>
      <p:bldP spid="13" grpId="0" animBg="1"/>
      <p:bldP spid="20" grpId="0" animBg="1"/>
      <p:bldP spid="19" grpId="0"/>
      <p:bldP spid="17" grpId="0" animBg="1"/>
      <p:bldP spid="24" grpId="0" animBg="1"/>
      <p:bldP spid="23" grpId="0"/>
      <p:bldP spid="21" grpId="0" animBg="1"/>
      <p:bldP spid="28" grpId="0" animBg="1"/>
      <p:bldP spid="27" grpId="0"/>
      <p:bldP spid="25" grpId="0" animBg="1"/>
      <p:bldP spid="32" grpId="0" animBg="1"/>
      <p:bldP spid="31" grpId="0"/>
      <p:bldP spid="29" grpId="0" animBg="1"/>
      <p:bldP spid="36" grpId="0" animBg="1"/>
      <p:bldP spid="35" grpId="0"/>
      <p:bldP spid="33" grpId="0" animBg="1"/>
      <p:bldP spid="39" grpId="0"/>
      <p:bldP spid="37" grpId="0" animBg="1"/>
    </p:bldLst>
  </p:timing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73300" y="-12065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373949" y="381381"/>
            <a:ext cx="21195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03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معلومات عن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58737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11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1-text-6"/>
          <p:cNvSpPr txBox="1"/>
          <p:nvPr/>
        </p:nvSpPr>
        <p:spPr>
          <a:xfrm>
            <a:off x="5111702" y="817372"/>
            <a:ext cx="6381798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المنصات الرقمية </a:t>
            </a: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المختارة</a:t>
            </a:r>
            <a:endParaRPr lang="ar-SA" sz="4200" dirty="0"/>
          </a:p>
        </p:txBody>
      </p:sp>
      <p:sp>
        <p:nvSpPr>
          <p:cNvPr id="8" name="s11-shape-7"/>
          <p:cNvSpPr/>
          <p:nvPr/>
        </p:nvSpPr>
        <p:spPr>
          <a:xfrm>
            <a:off x="9423400" y="2032000"/>
            <a:ext cx="2070100" cy="3810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11-shape-8"/>
          <p:cNvSpPr/>
          <p:nvPr/>
        </p:nvSpPr>
        <p:spPr>
          <a:xfrm>
            <a:off x="9626600" y="2286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0" name="s11-snap-9" descr="/home/user/flan777/ard-albasatin-presentation/source/pptx_build/img/s11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075" y="2403475"/>
            <a:ext cx="463550" cy="463550"/>
          </a:xfrm>
          <a:prstGeom prst="rect">
            <a:avLst/>
          </a:prstGeom>
        </p:spPr>
      </p:pic>
      <p:sp>
        <p:nvSpPr>
          <p:cNvPr id="11" name="s11-text-10"/>
          <p:cNvSpPr txBox="1"/>
          <p:nvPr/>
        </p:nvSpPr>
        <p:spPr>
          <a:xfrm>
            <a:off x="9453372" y="3227578"/>
            <a:ext cx="1824228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FFFFFF"/>
                </a:solidFill>
                <a:latin typeface="Alexandria ExtraBold"/>
                <a:cs typeface="Alexandria ExtraBold"/>
              </a:rPr>
              <a:t>فيسبوك</a:t>
            </a:r>
            <a:endParaRPr lang="ar-SA" sz="1900" dirty="0"/>
          </a:p>
        </p:txBody>
      </p:sp>
      <p:sp>
        <p:nvSpPr>
          <p:cNvPr id="12" name="s11-text-11"/>
          <p:cNvSpPr txBox="1"/>
          <p:nvPr/>
        </p:nvSpPr>
        <p:spPr>
          <a:xfrm>
            <a:off x="9453372" y="3647250"/>
            <a:ext cx="1824228" cy="1796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للوصول إلى المزارعين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والتجار وأصحاب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المشاريع والمنظمات،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ونشر المحتوى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التعريفي والتوعوي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والإعلاني.</a:t>
            </a:r>
            <a:endParaRPr lang="ar-SA" sz="1450" dirty="0"/>
          </a:p>
        </p:txBody>
      </p:sp>
      <p:sp>
        <p:nvSpPr>
          <p:cNvPr id="13" name="s11-shape-12"/>
          <p:cNvSpPr/>
          <p:nvPr/>
        </p:nvSpPr>
        <p:spPr>
          <a:xfrm>
            <a:off x="7245350" y="2032000"/>
            <a:ext cx="2070100" cy="3810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11-shape-13"/>
          <p:cNvSpPr/>
          <p:nvPr/>
        </p:nvSpPr>
        <p:spPr>
          <a:xfrm>
            <a:off x="7448550" y="2286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5" name="s11-snap-14" descr="/home/user/flan777/ard-albasatin-presentation/source/pptx_build/img/s11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025" y="2403475"/>
            <a:ext cx="463550" cy="463550"/>
          </a:xfrm>
          <a:prstGeom prst="rect">
            <a:avLst/>
          </a:prstGeom>
        </p:spPr>
      </p:pic>
      <p:sp>
        <p:nvSpPr>
          <p:cNvPr id="16" name="s11-text-15"/>
          <p:cNvSpPr txBox="1"/>
          <p:nvPr/>
        </p:nvSpPr>
        <p:spPr>
          <a:xfrm>
            <a:off x="7275322" y="3227578"/>
            <a:ext cx="1824228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FFFFFF"/>
                </a:solidFill>
                <a:latin typeface="Alexandria ExtraBold"/>
                <a:cs typeface="Alexandria ExtraBold"/>
              </a:rPr>
              <a:t>واتساب</a:t>
            </a:r>
            <a:endParaRPr lang="ar-SA" sz="1900" dirty="0"/>
          </a:p>
        </p:txBody>
      </p:sp>
      <p:sp>
        <p:nvSpPr>
          <p:cNvPr id="17" name="s11-text-16"/>
          <p:cNvSpPr txBox="1"/>
          <p:nvPr/>
        </p:nvSpPr>
        <p:spPr>
          <a:xfrm>
            <a:off x="7275322" y="3647250"/>
            <a:ext cx="1824228" cy="1796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للتواصل المباشر مع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العملاء، استقبال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الاستفسارات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والطلبات، وإرسال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الأسعار والمواصفات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والصور.</a:t>
            </a:r>
            <a:endParaRPr lang="ar-SA" sz="1450" dirty="0"/>
          </a:p>
        </p:txBody>
      </p:sp>
      <p:sp>
        <p:nvSpPr>
          <p:cNvPr id="18" name="s11-shape-17"/>
          <p:cNvSpPr/>
          <p:nvPr/>
        </p:nvSpPr>
        <p:spPr>
          <a:xfrm>
            <a:off x="5067300" y="2032000"/>
            <a:ext cx="2070100" cy="3810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11-shape-18"/>
          <p:cNvSpPr/>
          <p:nvPr/>
        </p:nvSpPr>
        <p:spPr>
          <a:xfrm>
            <a:off x="5270500" y="2286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0" name="s11-snap-19" descr="/home/user/flan777/ard-albasatin-presentation/source/pptx_build/img/s11_1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975" y="2403475"/>
            <a:ext cx="463550" cy="463550"/>
          </a:xfrm>
          <a:prstGeom prst="rect">
            <a:avLst/>
          </a:prstGeom>
        </p:spPr>
      </p:pic>
      <p:sp>
        <p:nvSpPr>
          <p:cNvPr id="21" name="s11-text-20"/>
          <p:cNvSpPr txBox="1"/>
          <p:nvPr/>
        </p:nvSpPr>
        <p:spPr>
          <a:xfrm>
            <a:off x="5097272" y="3227578"/>
            <a:ext cx="1824228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FFFFFF"/>
                </a:solidFill>
                <a:latin typeface="Alexandria ExtraBold"/>
                <a:cs typeface="Alexandria ExtraBold"/>
              </a:rPr>
              <a:t>تيك توك</a:t>
            </a:r>
            <a:endParaRPr lang="ar-SA" sz="1900" dirty="0"/>
          </a:p>
        </p:txBody>
      </p:sp>
      <p:sp>
        <p:nvSpPr>
          <p:cNvPr id="22" name="s11-text-21"/>
          <p:cNvSpPr txBox="1"/>
          <p:nvPr/>
        </p:nvSpPr>
        <p:spPr>
          <a:xfrm>
            <a:off x="5097272" y="3647250"/>
            <a:ext cx="1824228" cy="121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لعرض المنتجات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والمحتوى الزراعي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والفيديوهات القصيرة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بطريقة سهلة وجذابة.</a:t>
            </a:r>
            <a:endParaRPr lang="ar-SA" sz="1450" dirty="0"/>
          </a:p>
        </p:txBody>
      </p:sp>
      <p:sp>
        <p:nvSpPr>
          <p:cNvPr id="23" name="s11-shape-22"/>
          <p:cNvSpPr/>
          <p:nvPr/>
        </p:nvSpPr>
        <p:spPr>
          <a:xfrm>
            <a:off x="2889250" y="2032000"/>
            <a:ext cx="2070100" cy="3810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11-shape-23"/>
          <p:cNvSpPr/>
          <p:nvPr/>
        </p:nvSpPr>
        <p:spPr>
          <a:xfrm>
            <a:off x="3092450" y="2286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5" name="s11-snap-24" descr="/home/user/flan777/ard-albasatin-presentation/source/pptx_build/img/s11_2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925" y="2403475"/>
            <a:ext cx="463550" cy="463550"/>
          </a:xfrm>
          <a:prstGeom prst="rect">
            <a:avLst/>
          </a:prstGeom>
        </p:spPr>
      </p:pic>
      <p:sp>
        <p:nvSpPr>
          <p:cNvPr id="26" name="s11-text-25"/>
          <p:cNvSpPr txBox="1"/>
          <p:nvPr/>
        </p:nvSpPr>
        <p:spPr>
          <a:xfrm>
            <a:off x="2919222" y="3227578"/>
            <a:ext cx="1824228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FFFFFF"/>
                </a:solidFill>
                <a:latin typeface="Alexandria ExtraBold"/>
                <a:cs typeface="Alexandria ExtraBold"/>
              </a:rPr>
              <a:t>إنستغرام</a:t>
            </a:r>
            <a:endParaRPr lang="ar-SA" sz="1900" dirty="0"/>
          </a:p>
        </p:txBody>
      </p:sp>
      <p:sp>
        <p:nvSpPr>
          <p:cNvPr id="27" name="s11-text-26"/>
          <p:cNvSpPr txBox="1"/>
          <p:nvPr/>
        </p:nvSpPr>
        <p:spPr>
          <a:xfrm>
            <a:off x="2919222" y="3647250"/>
            <a:ext cx="1824228" cy="92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لعرض المنتجات بصريًا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وبناء الهوية التجارية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للمتجر.</a:t>
            </a:r>
            <a:endParaRPr lang="ar-SA" sz="1450" dirty="0"/>
          </a:p>
        </p:txBody>
      </p:sp>
      <p:sp>
        <p:nvSpPr>
          <p:cNvPr id="28" name="s11-shape-27"/>
          <p:cNvSpPr/>
          <p:nvPr/>
        </p:nvSpPr>
        <p:spPr>
          <a:xfrm>
            <a:off x="711200" y="2032000"/>
            <a:ext cx="2070100" cy="3810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11-shape-28"/>
          <p:cNvSpPr/>
          <p:nvPr/>
        </p:nvSpPr>
        <p:spPr>
          <a:xfrm>
            <a:off x="914400" y="22860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0" name="s11-snap-29" descr="/home/user/flan777/ard-albasatin-presentation/source/pptx_build/img/s11_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875" y="2403475"/>
            <a:ext cx="463550" cy="463550"/>
          </a:xfrm>
          <a:prstGeom prst="rect">
            <a:avLst/>
          </a:prstGeom>
        </p:spPr>
      </p:pic>
      <p:sp>
        <p:nvSpPr>
          <p:cNvPr id="31" name="s11-text-30"/>
          <p:cNvSpPr txBox="1"/>
          <p:nvPr/>
        </p:nvSpPr>
        <p:spPr>
          <a:xfrm>
            <a:off x="741172" y="3227578"/>
            <a:ext cx="1824228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Alexandria ExtraBold"/>
                <a:cs typeface="Alexandria ExtraBold"/>
              </a:rPr>
              <a:t>Google Maps</a:t>
            </a:r>
            <a:endParaRPr lang="en-US" sz="1900" dirty="0"/>
          </a:p>
        </p:txBody>
      </p:sp>
      <p:sp>
        <p:nvSpPr>
          <p:cNvPr id="32" name="s11-text-31"/>
          <p:cNvSpPr txBox="1"/>
          <p:nvPr/>
        </p:nvSpPr>
        <p:spPr>
          <a:xfrm>
            <a:off x="741172" y="3647250"/>
            <a:ext cx="1824228" cy="92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لتسهيل وصول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العملاء إلى المتجر</a:t>
            </a:r>
            <a:endParaRPr lang="ar-SA" sz="1450" dirty="0"/>
          </a:p>
          <a:p>
            <a:pPr rtl="1" algn="r" indent="0" marL="0">
              <a:lnSpc>
                <a:spcPts val="2291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ومركز البيع.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9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3" grpId="0" animBg="1"/>
      <p:bldP spid="11" grpId="0"/>
      <p:bldP spid="9" grpId="0" animBg="1"/>
      <p:bldP spid="12" grpId="0"/>
      <p:bldP spid="18" grpId="0" animBg="1"/>
      <p:bldP spid="16" grpId="0"/>
      <p:bldP spid="14" grpId="0" animBg="1"/>
      <p:bldP spid="17" grpId="0"/>
      <p:bldP spid="23" grpId="0" animBg="1"/>
      <p:bldP spid="21" grpId="0"/>
      <p:bldP spid="19" grpId="0" animBg="1"/>
      <p:bldP spid="22" grpId="0"/>
      <p:bldP spid="28" grpId="0" animBg="1"/>
      <p:bldP spid="26" grpId="0"/>
      <p:bldP spid="24" grpId="0" animBg="1"/>
      <p:bldP spid="27" grpId="0"/>
      <p:bldP spid="31" grpId="0"/>
      <p:bldP spid="29" grpId="0" animBg="1"/>
      <p:bldP spid="32" grpId="0"/>
    </p:bldLst>
  </p:timing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3850" y="-14922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1942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12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04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دراسة المشروع</a:t>
            </a:r>
            <a:endParaRPr lang="ar-SA" sz="4400" dirty="0"/>
          </a:p>
        </p:txBody>
      </p:sp>
      <p:pic>
        <p:nvPicPr>
          <p:cNvPr id="8" name="s12-snap-7" descr="/home/user/flan777/ard-albasatin-presentation/source/pptx_build/img/s12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2750" y="-16383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986026" y="381381"/>
            <a:ext cx="150747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04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دراسة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184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13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3-text-6"/>
          <p:cNvSpPr txBox="1"/>
          <p:nvPr/>
        </p:nvSpPr>
        <p:spPr>
          <a:xfrm>
            <a:off x="5601835" y="817372"/>
            <a:ext cx="589166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وصف مختصر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للمشروع</a:t>
            </a:r>
            <a:endParaRPr lang="ar-SA" sz="4200" dirty="0"/>
          </a:p>
        </p:txBody>
      </p:sp>
      <p:sp>
        <p:nvSpPr>
          <p:cNvPr id="8" name="s13-text-7"/>
          <p:cNvSpPr txBox="1"/>
          <p:nvPr/>
        </p:nvSpPr>
        <p:spPr>
          <a:xfrm>
            <a:off x="4224020" y="1850644"/>
            <a:ext cx="7269480" cy="168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17"/>
              </a:lnSpc>
              <a:buNone/>
            </a:pPr>
            <a:r>
              <a:rPr lang="ar-SA" altLang="en-US" sz="1950" dirty="0">
                <a:solidFill>
                  <a:srgbClr val="01804C"/>
                </a:solidFill>
                <a:latin typeface="Alexandria ExtraBold"/>
                <a:cs typeface="Alexandria ExtraBold"/>
              </a:rPr>
              <a:t>أرض البساتين </a:t>
            </a:r>
            <a:r>
              <a:rPr lang="ar-SA" altLang="en-US" sz="1950" dirty="0">
                <a:solidFill>
                  <a:srgbClr val="0E3A3C"/>
                </a:solidFill>
                <a:latin typeface="Alexandria Light"/>
                <a:cs typeface="Alexandria Light"/>
              </a:rPr>
              <a:t>هو متجر وعلامة تجارية متخصصة في توفير</a:t>
            </a:r>
            <a:endParaRPr lang="ar-SA" sz="1950" dirty="0"/>
          </a:p>
          <a:p>
            <a:pPr rtl="1" algn="r" indent="0" marL="0">
              <a:lnSpc>
                <a:spcPts val="3217"/>
              </a:lnSpc>
              <a:buNone/>
            </a:pPr>
            <a:r>
              <a:rPr lang="ar-SA" altLang="en-US" sz="1950" dirty="0">
                <a:solidFill>
                  <a:srgbClr val="0E3A3C"/>
                </a:solidFill>
                <a:latin typeface="Alexandria Light"/>
                <a:cs typeface="Alexandria Light"/>
              </a:rPr>
              <a:t>وتسويق المنتجات والمستلزمات الزراعية، بهدف تلبية احتياجات</a:t>
            </a:r>
            <a:endParaRPr lang="ar-SA" sz="1950" dirty="0"/>
          </a:p>
          <a:p>
            <a:pPr rtl="1" algn="r" indent="0" marL="0">
              <a:lnSpc>
                <a:spcPts val="3217"/>
              </a:lnSpc>
              <a:buNone/>
            </a:pPr>
            <a:r>
              <a:rPr lang="ar-SA" altLang="en-US" sz="1950" dirty="0">
                <a:solidFill>
                  <a:srgbClr val="0E3A3C"/>
                </a:solidFill>
                <a:latin typeface="Alexandria Light"/>
                <a:cs typeface="Alexandria Light"/>
              </a:rPr>
              <a:t>المزارعين وأصحاب المشاريع الزراعية من خلال توفير مجموعة</a:t>
            </a:r>
            <a:endParaRPr lang="ar-SA" sz="1950" dirty="0"/>
          </a:p>
          <a:p>
            <a:pPr rtl="1" algn="r" indent="0" marL="0">
              <a:lnSpc>
                <a:spcPts val="3217"/>
              </a:lnSpc>
              <a:buNone/>
            </a:pPr>
            <a:r>
              <a:rPr lang="ar-SA" altLang="en-US" sz="1950" dirty="0">
                <a:solidFill>
                  <a:srgbClr val="0E3A3C"/>
                </a:solidFill>
                <a:latin typeface="Alexandria Light"/>
                <a:cs typeface="Alexandria Light"/>
              </a:rPr>
              <a:t>متنوعة من المنتجات في مكان واحد.</a:t>
            </a:r>
            <a:endParaRPr lang="ar-SA" sz="1950" dirty="0"/>
          </a:p>
        </p:txBody>
      </p:sp>
      <p:sp>
        <p:nvSpPr>
          <p:cNvPr id="9" name="s13-shape-8"/>
          <p:cNvSpPr/>
          <p:nvPr/>
        </p:nvSpPr>
        <p:spPr>
          <a:xfrm>
            <a:off x="4762500" y="4127500"/>
            <a:ext cx="6731000" cy="2095500"/>
          </a:xfrm>
          <a:prstGeom prst="round2DiagRect">
            <a:avLst>
              <a:gd name="adj1" fmla="val 21818"/>
              <a:gd name="adj2" fmla="val 3030"/>
            </a:avLst>
          </a:prstGeom>
          <a:solidFill>
            <a:srgbClr val="F2F9F5"/>
          </a:solidFill>
          <a:ln/>
        </p:spPr>
      </p:sp>
      <p:sp>
        <p:nvSpPr>
          <p:cNvPr id="10" name="s13-text-9"/>
          <p:cNvSpPr txBox="1"/>
          <p:nvPr/>
        </p:nvSpPr>
        <p:spPr>
          <a:xfrm>
            <a:off x="4592320" y="4338193"/>
            <a:ext cx="6583680" cy="103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92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وتشمل منتجات المتجر مستلزمات الري بالتقطير، الأنابيب الرئيسية،</a:t>
            </a:r>
            <a:endParaRPr lang="ar-SA" sz="1600" dirty="0"/>
          </a:p>
          <a:p>
            <a:pPr rtl="1" algn="r" indent="0" marL="0">
              <a:lnSpc>
                <a:spcPts val="2592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أنابيب التقطير، الشاش الزراعي ومنتجات الحماية الزراعية وغيرها من</a:t>
            </a:r>
            <a:endParaRPr lang="ar-SA" sz="1600" dirty="0"/>
          </a:p>
          <a:p>
            <a:pPr rtl="1" algn="r" indent="0" marL="0">
              <a:lnSpc>
                <a:spcPts val="2592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المنتجات الزراعية.</a:t>
            </a:r>
            <a:endParaRPr lang="ar-SA" sz="1600" dirty="0"/>
          </a:p>
        </p:txBody>
      </p:sp>
      <p:sp>
        <p:nvSpPr>
          <p:cNvPr id="11" name="s13-shape-10"/>
          <p:cNvSpPr/>
          <p:nvPr/>
        </p:nvSpPr>
        <p:spPr>
          <a:xfrm>
            <a:off x="6667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2" name="s13-snap-11" descr="/home/user/flan777/ard-albasatin-presentation/source/pptx_build/img/s13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875" y="5635625"/>
            <a:ext cx="374650" cy="374650"/>
          </a:xfrm>
          <a:prstGeom prst="rect">
            <a:avLst/>
          </a:prstGeom>
        </p:spPr>
      </p:pic>
      <p:sp>
        <p:nvSpPr>
          <p:cNvPr id="13" name="s13-shape-12"/>
          <p:cNvSpPr/>
          <p:nvPr/>
        </p:nvSpPr>
        <p:spPr>
          <a:xfrm>
            <a:off x="7429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4" name="s13-snap-13" descr="/home/user/flan777/ard-albasatin-presentation/source/pptx_build/img/s13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875" y="5635625"/>
            <a:ext cx="374650" cy="374650"/>
          </a:xfrm>
          <a:prstGeom prst="rect">
            <a:avLst/>
          </a:prstGeom>
        </p:spPr>
      </p:pic>
      <p:sp>
        <p:nvSpPr>
          <p:cNvPr id="15" name="s13-shape-14"/>
          <p:cNvSpPr/>
          <p:nvPr/>
        </p:nvSpPr>
        <p:spPr>
          <a:xfrm>
            <a:off x="8191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6" name="s13-snap-15" descr="/home/user/flan777/ard-albasatin-presentation/source/pptx_build/img/s13_1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875" y="5635625"/>
            <a:ext cx="374650" cy="374650"/>
          </a:xfrm>
          <a:prstGeom prst="rect">
            <a:avLst/>
          </a:prstGeom>
        </p:spPr>
      </p:pic>
      <p:sp>
        <p:nvSpPr>
          <p:cNvPr id="17" name="s13-shape-16"/>
          <p:cNvSpPr/>
          <p:nvPr/>
        </p:nvSpPr>
        <p:spPr>
          <a:xfrm>
            <a:off x="8953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8" name="s13-snap-17" descr="/home/user/flan777/ard-albasatin-presentation/source/pptx_build/img/s13_1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2875" y="5635625"/>
            <a:ext cx="374650" cy="374650"/>
          </a:xfrm>
          <a:prstGeom prst="rect">
            <a:avLst/>
          </a:prstGeom>
        </p:spPr>
      </p:pic>
      <p:sp>
        <p:nvSpPr>
          <p:cNvPr id="19" name="s13-shape-18"/>
          <p:cNvSpPr/>
          <p:nvPr/>
        </p:nvSpPr>
        <p:spPr>
          <a:xfrm>
            <a:off x="9715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0" name="s13-snap-19" descr="/home/user/flan777/ard-albasatin-presentation/source/pptx_build/img/s13_1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4875" y="5635625"/>
            <a:ext cx="374650" cy="374650"/>
          </a:xfrm>
          <a:prstGeom prst="rect">
            <a:avLst/>
          </a:prstGeom>
        </p:spPr>
      </p:pic>
      <p:sp>
        <p:nvSpPr>
          <p:cNvPr id="21" name="s13-shape-20"/>
          <p:cNvSpPr/>
          <p:nvPr/>
        </p:nvSpPr>
        <p:spPr>
          <a:xfrm>
            <a:off x="10477500" y="5556250"/>
            <a:ext cx="533400" cy="5334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2" name="s13-snap-21" descr="/home/user/flan777/ard-albasatin-presentation/source/pptx_build/img/s13_2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6875" y="5635625"/>
            <a:ext cx="374650" cy="374650"/>
          </a:xfrm>
          <a:prstGeom prst="rect">
            <a:avLst/>
          </a:prstGeom>
        </p:spPr>
      </p:pic>
      <p:sp>
        <p:nvSpPr>
          <p:cNvPr id="23" name="s13-shape-22"/>
          <p:cNvSpPr/>
          <p:nvPr/>
        </p:nvSpPr>
        <p:spPr>
          <a:xfrm>
            <a:off x="698500" y="889000"/>
            <a:ext cx="3429000" cy="5334000"/>
          </a:xfrm>
          <a:prstGeom prst="round2DiagRect">
            <a:avLst>
              <a:gd name="adj1" fmla="val 13333"/>
              <a:gd name="adj2" fmla="val 1852"/>
            </a:avLst>
          </a:prstGeom>
          <a:solidFill>
            <a:srgbClr val="015256"/>
          </a:solidFill>
          <a:ln/>
        </p:spPr>
      </p:sp>
      <p:sp>
        <p:nvSpPr>
          <p:cNvPr id="24" name="s13-shape-23"/>
          <p:cNvSpPr/>
          <p:nvPr/>
        </p:nvSpPr>
        <p:spPr>
          <a:xfrm>
            <a:off x="952500" y="1206500"/>
            <a:ext cx="825500" cy="825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5" name="s13-snap-24" descr="/home/user/flan777/ard-albasatin-presentation/source/pptx_build/img/s13_2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550" y="1352550"/>
            <a:ext cx="533400" cy="533400"/>
          </a:xfrm>
          <a:prstGeom prst="rect">
            <a:avLst/>
          </a:prstGeom>
        </p:spPr>
      </p:pic>
      <p:sp>
        <p:nvSpPr>
          <p:cNvPr id="26" name="s13-text-25"/>
          <p:cNvSpPr txBox="1"/>
          <p:nvPr/>
        </p:nvSpPr>
        <p:spPr>
          <a:xfrm>
            <a:off x="718820" y="2245932"/>
            <a:ext cx="3154680" cy="260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ويمتلك المشروع </a:t>
            </a:r>
            <a:r>
              <a:rPr lang="ar-SA" altLang="en-US" sz="1550" dirty="0">
                <a:solidFill>
                  <a:srgbClr val="C3E36B"/>
                </a:solidFill>
                <a:latin typeface="Alexandria ExtraBold"/>
                <a:cs typeface="Alexandria ExtraBold"/>
              </a:rPr>
              <a:t>مصنع دريب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C3E36B"/>
                </a:solidFill>
                <a:latin typeface="Alexandria ExtraBold"/>
                <a:cs typeface="Alexandria ExtraBold"/>
              </a:rPr>
              <a:t>أكوا </a:t>
            </a: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الذي يساهم في تصنيع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بعض منتجات الري والأنابيب، مما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يمنح المشروع ميزة إضافية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تتمثل في الجمع بين البيع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والتسويق من جهة، والتصنيع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المحلي لبعض المنتجات من جهة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أخرى.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3" grpId="0" animBg="1"/>
      <p:bldP spid="9" grpId="0" animBg="1"/>
      <p:bldP spid="10" grpId="0"/>
      <p:bldP spid="24" grpId="0" animBg="1"/>
      <p:bldP spid="26" grpId="0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14600" y="-16192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986026" y="381381"/>
            <a:ext cx="150747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8A6142"/>
                </a:solidFill>
                <a:latin typeface="Alexandria Black"/>
                <a:cs typeface="Alexandria Black"/>
              </a:rPr>
              <a:t>04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دراسة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1862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14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so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so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4-text-6"/>
          <p:cNvSpPr txBox="1"/>
          <p:nvPr/>
        </p:nvSpPr>
        <p:spPr>
          <a:xfrm>
            <a:off x="6496590" y="817372"/>
            <a:ext cx="4996910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8A6142"/>
                </a:solidFill>
                <a:latin typeface="Alexandria ExtraLight"/>
                <a:cs typeface="Alexandria ExtraLight"/>
              </a:rPr>
              <a:t>المشكلة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التي يحلها</a:t>
            </a:r>
            <a:endParaRPr lang="ar-SA" sz="4200" dirty="0"/>
          </a:p>
        </p:txBody>
      </p:sp>
      <p:sp>
        <p:nvSpPr>
          <p:cNvPr id="8" name="s14-shape-7"/>
          <p:cNvSpPr/>
          <p:nvPr/>
        </p:nvSpPr>
        <p:spPr>
          <a:xfrm>
            <a:off x="6286500" y="1968500"/>
            <a:ext cx="5207000" cy="4254500"/>
          </a:xfrm>
          <a:prstGeom prst="round2DiagRect">
            <a:avLst>
              <a:gd name="adj1" fmla="val 10746"/>
              <a:gd name="adj2" fmla="val 1493"/>
            </a:avLst>
          </a:prstGeom>
          <a:solidFill>
            <a:srgbClr val="EADCC8"/>
          </a:solidFill>
          <a:ln/>
        </p:spPr>
      </p:sp>
      <p:sp>
        <p:nvSpPr>
          <p:cNvPr id="9" name="s14-shape-8"/>
          <p:cNvSpPr/>
          <p:nvPr/>
        </p:nvSpPr>
        <p:spPr>
          <a:xfrm>
            <a:off x="10541000" y="22225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0" name="s14-snap-9" descr="/home/user/flan777/ard-albasatin-presentation/source/pptx_build/img/s14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8475" y="2339975"/>
            <a:ext cx="463550" cy="463550"/>
          </a:xfrm>
          <a:prstGeom prst="rect">
            <a:avLst/>
          </a:prstGeom>
        </p:spPr>
      </p:pic>
      <p:sp>
        <p:nvSpPr>
          <p:cNvPr id="11" name="s14-text-10"/>
          <p:cNvSpPr txBox="1"/>
          <p:nvPr/>
        </p:nvSpPr>
        <p:spPr>
          <a:xfrm>
            <a:off x="6164580" y="3128264"/>
            <a:ext cx="5074920" cy="153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 Medium"/>
                <a:cs typeface="Alexandria Medium"/>
              </a:rPr>
              <a:t>يواجه المزارع أحيانًا صعوبة في العثور على</a:t>
            </a:r>
            <a:endParaRPr lang="ar-SA" sz="1800" dirty="0"/>
          </a:p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 Medium"/>
                <a:cs typeface="Alexandria Medium"/>
              </a:rPr>
              <a:t>منتجات زراعية متنوعة وموثوقة من مصدر</a:t>
            </a:r>
            <a:endParaRPr lang="ar-SA" sz="1800" dirty="0"/>
          </a:p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 Medium"/>
                <a:cs typeface="Alexandria Medium"/>
              </a:rPr>
              <a:t>واحد، كما قد يجد تفاوتًا في جودة المنتجات</a:t>
            </a:r>
            <a:endParaRPr lang="ar-SA" sz="1800" dirty="0"/>
          </a:p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 Medium"/>
                <a:cs typeface="Alexandria Medium"/>
              </a:rPr>
              <a:t>ومواصفاتها.</a:t>
            </a:r>
            <a:endParaRPr lang="ar-SA" sz="1800" dirty="0"/>
          </a:p>
        </p:txBody>
      </p:sp>
      <p:pic>
        <p:nvPicPr>
          <p:cNvPr id="12" name="s14-snap-11" descr="/home/user/flan777/ard-albasatin-presentation/source/pptx_build/img/s14_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006850"/>
            <a:ext cx="558800" cy="177800"/>
          </a:xfrm>
          <a:prstGeom prst="rect">
            <a:avLst/>
          </a:prstGeom>
        </p:spPr>
      </p:pic>
      <p:sp>
        <p:nvSpPr>
          <p:cNvPr id="13" name="s14-shape-12"/>
          <p:cNvSpPr/>
          <p:nvPr/>
        </p:nvSpPr>
        <p:spPr>
          <a:xfrm>
            <a:off x="698500" y="1968500"/>
            <a:ext cx="5207000" cy="4254500"/>
          </a:xfrm>
          <a:prstGeom prst="round2DiagRect">
            <a:avLst>
              <a:gd name="adj1" fmla="val 10746"/>
              <a:gd name="adj2" fmla="val 1493"/>
            </a:avLst>
          </a:prstGeom>
          <a:solidFill>
            <a:srgbClr val="01804C"/>
          </a:solidFill>
          <a:ln/>
        </p:spPr>
      </p:sp>
      <p:sp>
        <p:nvSpPr>
          <p:cNvPr id="14" name="s14-shape-13"/>
          <p:cNvSpPr/>
          <p:nvPr/>
        </p:nvSpPr>
        <p:spPr>
          <a:xfrm>
            <a:off x="4953000" y="222250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5" name="s14-snap-14" descr="/home/user/flan777/ard-albasatin-presentation/source/pptx_build/img/s14_1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475" y="2339975"/>
            <a:ext cx="463550" cy="463550"/>
          </a:xfrm>
          <a:prstGeom prst="rect">
            <a:avLst/>
          </a:prstGeom>
        </p:spPr>
      </p:pic>
      <p:sp>
        <p:nvSpPr>
          <p:cNvPr id="16" name="s14-text-15"/>
          <p:cNvSpPr txBox="1"/>
          <p:nvPr/>
        </p:nvSpPr>
        <p:spPr>
          <a:xfrm>
            <a:off x="576580" y="3069019"/>
            <a:ext cx="50749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ويعمل </a:t>
            </a:r>
            <a:r>
              <a:rPr lang="ar-SA" altLang="en-US" sz="1550" dirty="0">
                <a:solidFill>
                  <a:srgbClr val="C3E36B"/>
                </a:solidFill>
                <a:latin typeface="Alexandria ExtraBold"/>
                <a:cs typeface="Alexandria ExtraBold"/>
              </a:rPr>
              <a:t>أرض البساتين </a:t>
            </a: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على تقديم مجموعة من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المنتجات الزراعية مع توضيح مواصفاتها واستخداماتها،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ومساعدة العميل على اختيار المنتج المناسب لاحتياجه</a:t>
            </a:r>
            <a:endParaRPr lang="ar-SA" sz="155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"/>
                <a:cs typeface="Alexandria"/>
              </a:rPr>
              <a:t>ومشروعه.</a:t>
            </a:r>
            <a:endParaRPr lang="ar-SA" sz="1550" dirty="0"/>
          </a:p>
        </p:txBody>
      </p:sp>
      <p:sp>
        <p:nvSpPr>
          <p:cNvPr id="17" name="s14-shape-16"/>
          <p:cNvSpPr/>
          <p:nvPr/>
        </p:nvSpPr>
        <p:spPr>
          <a:xfrm>
            <a:off x="952500" y="4730750"/>
            <a:ext cx="4699000" cy="127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14-text-17"/>
          <p:cNvSpPr txBox="1"/>
          <p:nvPr/>
        </p:nvSpPr>
        <p:spPr>
          <a:xfrm>
            <a:off x="576580" y="4850066"/>
            <a:ext cx="5074920" cy="93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كما يستفيد المتجر من المنتجات التي يتم تصنيعها محليًا في</a:t>
            </a:r>
            <a:endParaRPr lang="ar-SA" sz="145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450" dirty="0">
                <a:solidFill>
                  <a:srgbClr val="C3E36B"/>
                </a:solidFill>
                <a:latin typeface="Alexandria ExtraBold"/>
                <a:cs typeface="Alexandria ExtraBold"/>
              </a:rPr>
              <a:t>مصنع دريب أكوا</a:t>
            </a: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، خاصة منتجات الأنابيب والري، مع</a:t>
            </a:r>
            <a:endParaRPr lang="ar-SA" sz="1450" dirty="0"/>
          </a:p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Light"/>
                <a:cs typeface="Alexandria Light"/>
              </a:rPr>
              <a:t>الاهتمام بجودة التصنيع والمواصفات.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2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6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1" grpId="0"/>
      <p:bldP spid="13" grpId="0" animBg="1"/>
      <p:bldP spid="14" grpId="0" animBg="1"/>
      <p:bldP spid="16" grpId="0"/>
      <p:bldP spid="17" grpId="0" animBg="1"/>
      <p:bldP spid="18" grpId="0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8150" y="-14287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986026" y="381381"/>
            <a:ext cx="150747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04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دراسة المشروع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2120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15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5-text-6"/>
          <p:cNvSpPr txBox="1"/>
          <p:nvPr/>
        </p:nvSpPr>
        <p:spPr>
          <a:xfrm>
            <a:off x="3885835" y="817372"/>
            <a:ext cx="760766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القيمة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التي يقدمها للعملاء</a:t>
            </a:r>
            <a:endParaRPr lang="ar-SA" sz="4200" dirty="0"/>
          </a:p>
        </p:txBody>
      </p:sp>
      <p:sp>
        <p:nvSpPr>
          <p:cNvPr id="8" name="s15-shape-7"/>
          <p:cNvSpPr/>
          <p:nvPr/>
        </p:nvSpPr>
        <p:spPr>
          <a:xfrm>
            <a:off x="7981950" y="19050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9" name="s15-shape-8"/>
          <p:cNvSpPr/>
          <p:nvPr/>
        </p:nvSpPr>
        <p:spPr>
          <a:xfrm>
            <a:off x="10769600" y="21018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0" name="s15-snap-9" descr="/home/user/flan777/ard-albasatin-presentation/source/pptx_build/img/s15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325" y="2187575"/>
            <a:ext cx="387350" cy="387350"/>
          </a:xfrm>
          <a:prstGeom prst="rect">
            <a:avLst/>
          </a:prstGeom>
        </p:spPr>
      </p:pic>
      <p:sp>
        <p:nvSpPr>
          <p:cNvPr id="11" name="s15-text-10"/>
          <p:cNvSpPr txBox="1"/>
          <p:nvPr/>
        </p:nvSpPr>
        <p:spPr>
          <a:xfrm>
            <a:off x="7934706" y="21125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توفير مجموعة متنوعة من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المنتجات الزراعية.</a:t>
            </a:r>
            <a:endParaRPr lang="ar-SA" sz="1400" dirty="0"/>
          </a:p>
        </p:txBody>
      </p:sp>
      <p:sp>
        <p:nvSpPr>
          <p:cNvPr id="12" name="s15-shape-11"/>
          <p:cNvSpPr/>
          <p:nvPr/>
        </p:nvSpPr>
        <p:spPr>
          <a:xfrm>
            <a:off x="4343400" y="19050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13" name="s15-shape-12"/>
          <p:cNvSpPr/>
          <p:nvPr/>
        </p:nvSpPr>
        <p:spPr>
          <a:xfrm>
            <a:off x="7131050" y="21018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4" name="s15-snap-13" descr="/home/user/flan777/ard-albasatin-presentation/source/pptx_build/img/s15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775" y="2187575"/>
            <a:ext cx="387350" cy="387350"/>
          </a:xfrm>
          <a:prstGeom prst="rect">
            <a:avLst/>
          </a:prstGeom>
        </p:spPr>
      </p:pic>
      <p:sp>
        <p:nvSpPr>
          <p:cNvPr id="15" name="s15-text-14"/>
          <p:cNvSpPr txBox="1"/>
          <p:nvPr/>
        </p:nvSpPr>
        <p:spPr>
          <a:xfrm>
            <a:off x="4296156" y="1988177"/>
            <a:ext cx="2695194" cy="79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تسهيل الحصول على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مستلزمات المزرعة من مصدر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واحد.</a:t>
            </a:r>
            <a:endParaRPr lang="ar-SA" sz="1400" dirty="0"/>
          </a:p>
        </p:txBody>
      </p:sp>
      <p:sp>
        <p:nvSpPr>
          <p:cNvPr id="16" name="s15-shape-15"/>
          <p:cNvSpPr/>
          <p:nvPr/>
        </p:nvSpPr>
        <p:spPr>
          <a:xfrm>
            <a:off x="704850" y="19050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17" name="s15-shape-16"/>
          <p:cNvSpPr/>
          <p:nvPr/>
        </p:nvSpPr>
        <p:spPr>
          <a:xfrm>
            <a:off x="3492500" y="21018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8" name="s15-snap-17" descr="/home/user/flan777/ard-albasatin-presentation/source/pptx_build/img/s15_1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8225" y="2187575"/>
            <a:ext cx="387350" cy="387350"/>
          </a:xfrm>
          <a:prstGeom prst="rect">
            <a:avLst/>
          </a:prstGeom>
        </p:spPr>
      </p:pic>
      <p:sp>
        <p:nvSpPr>
          <p:cNvPr id="19" name="s15-text-18"/>
          <p:cNvSpPr txBox="1"/>
          <p:nvPr/>
        </p:nvSpPr>
        <p:spPr>
          <a:xfrm>
            <a:off x="657606" y="21125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توضيح مواصفات المنتجات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واستخداماتها.</a:t>
            </a:r>
            <a:endParaRPr lang="ar-SA" sz="1400" dirty="0"/>
          </a:p>
        </p:txBody>
      </p:sp>
      <p:sp>
        <p:nvSpPr>
          <p:cNvPr id="20" name="s15-shape-19"/>
          <p:cNvSpPr/>
          <p:nvPr/>
        </p:nvSpPr>
        <p:spPr>
          <a:xfrm>
            <a:off x="7981950" y="29718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21" name="s15-shape-20"/>
          <p:cNvSpPr/>
          <p:nvPr/>
        </p:nvSpPr>
        <p:spPr>
          <a:xfrm>
            <a:off x="10769600" y="31686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2" name="s15-snap-21" descr="/home/user/flan777/ard-albasatin-presentation/source/pptx_build/img/s15_2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5325" y="3254375"/>
            <a:ext cx="387350" cy="387350"/>
          </a:xfrm>
          <a:prstGeom prst="rect">
            <a:avLst/>
          </a:prstGeom>
        </p:spPr>
      </p:pic>
      <p:sp>
        <p:nvSpPr>
          <p:cNvPr id="23" name="s15-text-22"/>
          <p:cNvSpPr txBox="1"/>
          <p:nvPr/>
        </p:nvSpPr>
        <p:spPr>
          <a:xfrm>
            <a:off x="7934706" y="31793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توفير منتجات حماية زراعية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مناسبة لاحتياجات المحاصيل.</a:t>
            </a:r>
            <a:endParaRPr lang="ar-SA" sz="1400" dirty="0"/>
          </a:p>
        </p:txBody>
      </p:sp>
      <p:sp>
        <p:nvSpPr>
          <p:cNvPr id="24" name="s15-shape-23"/>
          <p:cNvSpPr/>
          <p:nvPr/>
        </p:nvSpPr>
        <p:spPr>
          <a:xfrm>
            <a:off x="4343400" y="29718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25" name="s15-shape-24"/>
          <p:cNvSpPr/>
          <p:nvPr/>
        </p:nvSpPr>
        <p:spPr>
          <a:xfrm>
            <a:off x="7131050" y="31686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6" name="s15-snap-25" descr="/home/user/flan777/ard-albasatin-presentation/source/pptx_build/img/s15_2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6775" y="3254375"/>
            <a:ext cx="387350" cy="387350"/>
          </a:xfrm>
          <a:prstGeom prst="rect">
            <a:avLst/>
          </a:prstGeom>
        </p:spPr>
      </p:pic>
      <p:sp>
        <p:nvSpPr>
          <p:cNvPr id="27" name="s15-text-26"/>
          <p:cNvSpPr txBox="1"/>
          <p:nvPr/>
        </p:nvSpPr>
        <p:spPr>
          <a:xfrm>
            <a:off x="4296156" y="3303818"/>
            <a:ext cx="269519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توفير منتجات الري والأنابيب.</a:t>
            </a:r>
            <a:endParaRPr lang="ar-SA" sz="1400" dirty="0"/>
          </a:p>
        </p:txBody>
      </p:sp>
      <p:sp>
        <p:nvSpPr>
          <p:cNvPr id="28" name="s15-shape-27"/>
          <p:cNvSpPr/>
          <p:nvPr/>
        </p:nvSpPr>
        <p:spPr>
          <a:xfrm>
            <a:off x="704850" y="29718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015256"/>
          </a:solidFill>
          <a:ln/>
        </p:spPr>
      </p:sp>
      <p:sp>
        <p:nvSpPr>
          <p:cNvPr id="29" name="s15-shape-28"/>
          <p:cNvSpPr/>
          <p:nvPr/>
        </p:nvSpPr>
        <p:spPr>
          <a:xfrm>
            <a:off x="3492500" y="31686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0" name="s15-snap-29" descr="/home/user/flan777/ard-albasatin-presentation/source/pptx_build/img/s15_2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8225" y="3254375"/>
            <a:ext cx="387350" cy="387350"/>
          </a:xfrm>
          <a:prstGeom prst="rect">
            <a:avLst/>
          </a:prstGeom>
        </p:spPr>
      </p:pic>
      <p:sp>
        <p:nvSpPr>
          <p:cNvPr id="31" name="s15-text-30"/>
          <p:cNvSpPr txBox="1"/>
          <p:nvPr/>
        </p:nvSpPr>
        <p:spPr>
          <a:xfrm>
            <a:off x="657606" y="3054977"/>
            <a:ext cx="2695194" cy="79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lexandria"/>
                <a:cs typeface="Alexandria"/>
              </a:rPr>
              <a:t>توفير بعض المنتجات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lexandria"/>
                <a:cs typeface="Alexandria"/>
              </a:rPr>
              <a:t>المصنّعة محليًا في مصنع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lexandria"/>
                <a:cs typeface="Alexandria"/>
              </a:rPr>
              <a:t>دريب أكوا.</a:t>
            </a:r>
            <a:endParaRPr lang="ar-SA" sz="1400" dirty="0"/>
          </a:p>
        </p:txBody>
      </p:sp>
      <p:sp>
        <p:nvSpPr>
          <p:cNvPr id="32" name="s15-shape-31"/>
          <p:cNvSpPr/>
          <p:nvPr/>
        </p:nvSpPr>
        <p:spPr>
          <a:xfrm>
            <a:off x="7981950" y="40386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33" name="s15-shape-32"/>
          <p:cNvSpPr/>
          <p:nvPr/>
        </p:nvSpPr>
        <p:spPr>
          <a:xfrm>
            <a:off x="10769600" y="42354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34" name="s15-snap-33" descr="/home/user/flan777/ard-albasatin-presentation/source/pptx_build/img/s15_3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5325" y="4321175"/>
            <a:ext cx="387350" cy="387350"/>
          </a:xfrm>
          <a:prstGeom prst="rect">
            <a:avLst/>
          </a:prstGeom>
        </p:spPr>
      </p:pic>
      <p:sp>
        <p:nvSpPr>
          <p:cNvPr id="35" name="s15-text-34"/>
          <p:cNvSpPr txBox="1"/>
          <p:nvPr/>
        </p:nvSpPr>
        <p:spPr>
          <a:xfrm>
            <a:off x="7934706" y="42461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الاهتمام بجودة التصنيع في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المنتجات المحلية.</a:t>
            </a:r>
            <a:endParaRPr lang="ar-SA" sz="1400" dirty="0"/>
          </a:p>
        </p:txBody>
      </p:sp>
      <p:sp>
        <p:nvSpPr>
          <p:cNvPr id="36" name="s15-shape-35"/>
          <p:cNvSpPr/>
          <p:nvPr/>
        </p:nvSpPr>
        <p:spPr>
          <a:xfrm>
            <a:off x="4343400" y="40386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37" name="s15-shape-36"/>
          <p:cNvSpPr/>
          <p:nvPr/>
        </p:nvSpPr>
        <p:spPr>
          <a:xfrm>
            <a:off x="7131050" y="42354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38" name="s15-snap-37" descr="/home/user/flan777/ard-albasatin-presentation/source/pptx_build/img/s15_3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6775" y="4321175"/>
            <a:ext cx="387350" cy="387350"/>
          </a:xfrm>
          <a:prstGeom prst="rect">
            <a:avLst/>
          </a:prstGeom>
        </p:spPr>
      </p:pic>
      <p:sp>
        <p:nvSpPr>
          <p:cNvPr id="39" name="s15-text-38"/>
          <p:cNvSpPr txBox="1"/>
          <p:nvPr/>
        </p:nvSpPr>
        <p:spPr>
          <a:xfrm>
            <a:off x="4296156" y="42461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توفير خيارات متعددة تناسب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احتياجات ومشاريع مختلفة.</a:t>
            </a:r>
            <a:endParaRPr lang="ar-SA" sz="1400" dirty="0"/>
          </a:p>
        </p:txBody>
      </p:sp>
      <p:sp>
        <p:nvSpPr>
          <p:cNvPr id="40" name="s15-shape-39"/>
          <p:cNvSpPr/>
          <p:nvPr/>
        </p:nvSpPr>
        <p:spPr>
          <a:xfrm>
            <a:off x="704850" y="40386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41" name="s15-shape-40"/>
          <p:cNvSpPr/>
          <p:nvPr/>
        </p:nvSpPr>
        <p:spPr>
          <a:xfrm>
            <a:off x="3492500" y="42354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42" name="s15-snap-41" descr="/home/user/flan777/ard-albasatin-presentation/source/pptx_build/img/s15_4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8225" y="4321175"/>
            <a:ext cx="387350" cy="387350"/>
          </a:xfrm>
          <a:prstGeom prst="rect">
            <a:avLst/>
          </a:prstGeom>
        </p:spPr>
      </p:pic>
      <p:sp>
        <p:nvSpPr>
          <p:cNvPr id="43" name="s15-text-42"/>
          <p:cNvSpPr txBox="1"/>
          <p:nvPr/>
        </p:nvSpPr>
        <p:spPr>
          <a:xfrm>
            <a:off x="657606" y="42461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مساعدة العميل في اختيار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المنتج المناسب.</a:t>
            </a:r>
            <a:endParaRPr lang="ar-SA" sz="1400" dirty="0"/>
          </a:p>
        </p:txBody>
      </p:sp>
      <p:sp>
        <p:nvSpPr>
          <p:cNvPr id="44" name="s15-shape-43"/>
          <p:cNvSpPr/>
          <p:nvPr/>
        </p:nvSpPr>
        <p:spPr>
          <a:xfrm>
            <a:off x="7981950" y="51054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45" name="s15-shape-44"/>
          <p:cNvSpPr/>
          <p:nvPr/>
        </p:nvSpPr>
        <p:spPr>
          <a:xfrm>
            <a:off x="10769600" y="53022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46" name="s15-snap-45" descr="/home/user/flan777/ard-albasatin-presentation/source/pptx_build/img/s15_45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5325" y="5387975"/>
            <a:ext cx="387350" cy="387350"/>
          </a:xfrm>
          <a:prstGeom prst="rect">
            <a:avLst/>
          </a:prstGeom>
        </p:spPr>
      </p:pic>
      <p:sp>
        <p:nvSpPr>
          <p:cNvPr id="47" name="s15-text-46"/>
          <p:cNvSpPr txBox="1"/>
          <p:nvPr/>
        </p:nvSpPr>
        <p:spPr>
          <a:xfrm>
            <a:off x="7934706" y="53129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تقليل الوقت والجهد في البحث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عن المستلزمات الزراعية.</a:t>
            </a:r>
            <a:endParaRPr lang="ar-SA" sz="1400" dirty="0"/>
          </a:p>
        </p:txBody>
      </p:sp>
      <p:sp>
        <p:nvSpPr>
          <p:cNvPr id="48" name="s15-shape-47"/>
          <p:cNvSpPr/>
          <p:nvPr/>
        </p:nvSpPr>
        <p:spPr>
          <a:xfrm>
            <a:off x="4343400" y="51054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F2F9F5"/>
          </a:solidFill>
          <a:ln/>
        </p:spPr>
      </p:sp>
      <p:sp>
        <p:nvSpPr>
          <p:cNvPr id="49" name="s15-shape-48"/>
          <p:cNvSpPr/>
          <p:nvPr/>
        </p:nvSpPr>
        <p:spPr>
          <a:xfrm>
            <a:off x="7131050" y="530225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50" name="s15-snap-49" descr="/home/user/flan777/ard-albasatin-presentation/source/pptx_build/img/s15_49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6775" y="5387975"/>
            <a:ext cx="387350" cy="387350"/>
          </a:xfrm>
          <a:prstGeom prst="rect">
            <a:avLst/>
          </a:prstGeom>
        </p:spPr>
      </p:pic>
      <p:sp>
        <p:nvSpPr>
          <p:cNvPr id="51" name="s15-text-50"/>
          <p:cNvSpPr txBox="1"/>
          <p:nvPr/>
        </p:nvSpPr>
        <p:spPr>
          <a:xfrm>
            <a:off x="4296156" y="5312997"/>
            <a:ext cx="2695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توفير مصدر موثوق للتواصل</a:t>
            </a:r>
            <a:endParaRPr lang="ar-SA" sz="1400" dirty="0"/>
          </a:p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وطلب المنتجات.</a:t>
            </a:r>
            <a:endParaRPr lang="ar-SA" sz="1400" dirty="0"/>
          </a:p>
        </p:txBody>
      </p:sp>
      <p:sp>
        <p:nvSpPr>
          <p:cNvPr id="52" name="s15-shape-51"/>
          <p:cNvSpPr/>
          <p:nvPr/>
        </p:nvSpPr>
        <p:spPr>
          <a:xfrm>
            <a:off x="704850" y="5105400"/>
            <a:ext cx="3511550" cy="952500"/>
          </a:xfrm>
          <a:prstGeom prst="round2DiagRect">
            <a:avLst>
              <a:gd name="adj1" fmla="val 48000"/>
              <a:gd name="adj2" fmla="val 6667"/>
            </a:avLst>
          </a:prstGeom>
          <a:solidFill>
            <a:srgbClr val="C3E36B"/>
          </a:solidFill>
          <a:ln/>
        </p:spPr>
      </p:sp>
      <p:pic>
        <p:nvPicPr>
          <p:cNvPr id="53" name="s15-asset-52" descr="/home/user/flan777/ard-albasatin-presentation/source/pptx_build/img/asset_gen_leafL_d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2763" y="5245100"/>
            <a:ext cx="1193800" cy="673100"/>
          </a:xfrm>
          <a:prstGeom prst="rect">
            <a:avLst/>
          </a:prstGeom>
        </p:spPr>
      </p:pic>
      <p:pic>
        <p:nvPicPr>
          <p:cNvPr id="54" name="s15-asset-53" descr="/home/user/flan777/ard-albasatin-presentation/source/pptx_build/img/asset_gen_leafR_d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2763" y="5245100"/>
            <a:ext cx="1193800" cy="67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9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92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80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80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92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80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80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92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92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80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80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92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92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80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80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3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20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20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20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3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20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20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20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 animBg="1"/>
      <p:bldP spid="11" grpId="0"/>
      <p:bldP spid="9" grpId="0" animBg="1"/>
      <p:bldP spid="16" grpId="0" animBg="1"/>
      <p:bldP spid="15" grpId="0"/>
      <p:bldP spid="13" grpId="0" animBg="1"/>
      <p:bldP spid="20" grpId="0" animBg="1"/>
      <p:bldP spid="19" grpId="0"/>
      <p:bldP spid="17" grpId="0" animBg="1"/>
      <p:bldP spid="24" grpId="0" animBg="1"/>
      <p:bldP spid="23" grpId="0"/>
      <p:bldP spid="21" grpId="0" animBg="1"/>
      <p:bldP spid="28" grpId="0" animBg="1"/>
      <p:bldP spid="27" grpId="0"/>
      <p:bldP spid="25" grpId="0" animBg="1"/>
      <p:bldP spid="32" grpId="0" animBg="1"/>
      <p:bldP spid="31" grpId="0"/>
      <p:bldP spid="29" grpId="0" animBg="1"/>
      <p:bldP spid="36" grpId="0" animBg="1"/>
      <p:bldP spid="35" grpId="0"/>
      <p:bldP spid="33" grpId="0" animBg="1"/>
      <p:bldP spid="40" grpId="0" animBg="1"/>
      <p:bldP spid="39" grpId="0"/>
      <p:bldP spid="37" grpId="0" animBg="1"/>
      <p:bldP spid="44" grpId="0" animBg="1"/>
      <p:bldP spid="43" grpId="0"/>
      <p:bldP spid="41" grpId="0" animBg="1"/>
      <p:bldP spid="48" grpId="0" animBg="1"/>
      <p:bldP spid="47" grpId="0"/>
      <p:bldP spid="45" grpId="0" animBg="1"/>
      <p:bldP spid="51" grpId="0"/>
      <p:bldP spid="49" grpId="0" animBg="1"/>
      <p:bldP spid="52" grpId="0" animBg="1"/>
    </p:bldLst>
  </p:timing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850" y="-111760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2061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16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05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تحليل الجمهور</a:t>
            </a:r>
            <a:endParaRPr lang="ar-SA" sz="4400" dirty="0"/>
          </a:p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المستهدف</a:t>
            </a:r>
            <a:endParaRPr lang="ar-SA" sz="4400" dirty="0"/>
          </a:p>
        </p:txBody>
      </p:sp>
      <p:pic>
        <p:nvPicPr>
          <p:cNvPr id="8" name="s16-snap-7" descr="/home/user/flan777/ard-albasatin-presentation/source/pptx_build/img/s16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50" y="-7493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02951" y="381381"/>
            <a:ext cx="23905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05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الجمهور المستهدف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1644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7-text-6"/>
          <p:cNvSpPr txBox="1"/>
          <p:nvPr/>
        </p:nvSpPr>
        <p:spPr>
          <a:xfrm>
            <a:off x="11084719" y="805180"/>
            <a:ext cx="4087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أولًا</a:t>
            </a:r>
            <a:endParaRPr lang="ar-SA" sz="1500" dirty="0"/>
          </a:p>
        </p:txBody>
      </p:sp>
      <p:sp>
        <p:nvSpPr>
          <p:cNvPr id="8" name="s17-text-7"/>
          <p:cNvSpPr txBox="1"/>
          <p:nvPr/>
        </p:nvSpPr>
        <p:spPr>
          <a:xfrm>
            <a:off x="5396738" y="1096772"/>
            <a:ext cx="609676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الخصائص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الديموغرافية</a:t>
            </a:r>
            <a:endParaRPr lang="ar-SA" sz="4200" dirty="0"/>
          </a:p>
        </p:txBody>
      </p:sp>
      <p:pic>
        <p:nvPicPr>
          <p:cNvPr id="9" name="s17-snap-8" descr="/home/user/flan777/ard-albasatin-presentation/source/pptx_build/img/s17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2247900"/>
            <a:ext cx="4521200" cy="2654300"/>
          </a:xfrm>
          <a:prstGeom prst="rect">
            <a:avLst/>
          </a:prstGeom>
        </p:spPr>
      </p:pic>
      <p:pic>
        <p:nvPicPr>
          <p:cNvPr id="10" name="s17-snap-9" descr="/home/user/flan777/ard-albasatin-presentation/source/pptx_build/img/s17_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401" y="3287415"/>
            <a:ext cx="342900" cy="431800"/>
          </a:xfrm>
          <a:prstGeom prst="rect">
            <a:avLst/>
          </a:prstGeom>
        </p:spPr>
      </p:pic>
      <p:sp>
        <p:nvSpPr>
          <p:cNvPr id="11" name="s17-text-10"/>
          <p:cNvSpPr txBox="1"/>
          <p:nvPr/>
        </p:nvSpPr>
        <p:spPr>
          <a:xfrm>
            <a:off x="1304191" y="3291733"/>
            <a:ext cx="15087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b="1" dirty="0">
                <a:solidFill>
                  <a:srgbClr val="5E3F2A"/>
                </a:solidFill>
                <a:latin typeface="Alexandria"/>
                <a:cs typeface="Alexandria"/>
              </a:rPr>
              <a:t>صنعاء</a:t>
            </a:r>
            <a:endParaRPr lang="ar-SA" sz="1400" dirty="0"/>
          </a:p>
        </p:txBody>
      </p:sp>
      <p:pic>
        <p:nvPicPr>
          <p:cNvPr id="12" name="s17-snap-11" descr="/home/user/flan777/ard-albasatin-presentation/source/pptx_build/img/s17_1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64" y="3507383"/>
            <a:ext cx="342900" cy="431800"/>
          </a:xfrm>
          <a:prstGeom prst="rect">
            <a:avLst/>
          </a:prstGeom>
        </p:spPr>
      </p:pic>
      <p:sp>
        <p:nvSpPr>
          <p:cNvPr id="13" name="s17-text-12"/>
          <p:cNvSpPr txBox="1"/>
          <p:nvPr/>
        </p:nvSpPr>
        <p:spPr>
          <a:xfrm>
            <a:off x="483354" y="3930801"/>
            <a:ext cx="15087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b="1" dirty="0">
                <a:solidFill>
                  <a:srgbClr val="5E3F2A"/>
                </a:solidFill>
                <a:latin typeface="Alexandria"/>
                <a:cs typeface="Alexandria"/>
              </a:rPr>
              <a:t>الحديدة</a:t>
            </a:r>
            <a:endParaRPr lang="ar-SA" sz="1400" dirty="0"/>
          </a:p>
        </p:txBody>
      </p:sp>
      <p:pic>
        <p:nvPicPr>
          <p:cNvPr id="14" name="s17-snap-13" descr="/home/user/flan777/ard-albasatin-presentation/source/pptx_build/img/s17_1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418" y="3605510"/>
            <a:ext cx="342900" cy="431800"/>
          </a:xfrm>
          <a:prstGeom prst="rect">
            <a:avLst/>
          </a:prstGeom>
        </p:spPr>
      </p:pic>
      <p:sp>
        <p:nvSpPr>
          <p:cNvPr id="15" name="s17-text-14"/>
          <p:cNvSpPr txBox="1"/>
          <p:nvPr/>
        </p:nvSpPr>
        <p:spPr>
          <a:xfrm>
            <a:off x="1378208" y="3965428"/>
            <a:ext cx="15087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b="1" dirty="0">
                <a:solidFill>
                  <a:srgbClr val="5E3F2A"/>
                </a:solidFill>
                <a:latin typeface="Alexandria"/>
                <a:cs typeface="Alexandria"/>
              </a:rPr>
              <a:t>ذمار</a:t>
            </a:r>
            <a:endParaRPr lang="ar-SA" sz="1400" dirty="0"/>
          </a:p>
        </p:txBody>
      </p:sp>
      <p:sp>
        <p:nvSpPr>
          <p:cNvPr id="16" name="s17-text-15"/>
          <p:cNvSpPr txBox="1"/>
          <p:nvPr/>
        </p:nvSpPr>
        <p:spPr>
          <a:xfrm>
            <a:off x="9436100" y="1896618"/>
            <a:ext cx="20574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العمر</a:t>
            </a:r>
            <a:endParaRPr lang="ar-SA" sz="1400" dirty="0"/>
          </a:p>
        </p:txBody>
      </p:sp>
      <p:sp>
        <p:nvSpPr>
          <p:cNvPr id="17" name="s17-text-16"/>
          <p:cNvSpPr txBox="1"/>
          <p:nvPr/>
        </p:nvSpPr>
        <p:spPr>
          <a:xfrm>
            <a:off x="5321300" y="2150491"/>
            <a:ext cx="617220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560"/>
              </a:lnSpc>
              <a:buNone/>
            </a:pPr>
            <a:r>
              <a:rPr lang="ar-SA" altLang="en-US" sz="3800" dirty="0">
                <a:solidFill>
                  <a:srgbClr val="0E3A3C"/>
                </a:solidFill>
                <a:latin typeface="Alexandria Black"/>
                <a:cs typeface="Alexandria Black"/>
              </a:rPr>
              <a:t>25–60 </a:t>
            </a:r>
            <a:r>
              <a:rPr lang="ar-SA" altLang="en-US" sz="3800" dirty="0">
                <a:solidFill>
                  <a:srgbClr val="0E3A3C"/>
                </a:solidFill>
                <a:latin typeface="Alexandria Light"/>
                <a:cs typeface="Alexandria Light"/>
              </a:rPr>
              <a:t>عامًا.</a:t>
            </a:r>
            <a:endParaRPr lang="ar-SA" sz="3800" dirty="0"/>
          </a:p>
        </p:txBody>
      </p:sp>
      <p:sp>
        <p:nvSpPr>
          <p:cNvPr id="18" name="s17-shape-17"/>
          <p:cNvSpPr/>
          <p:nvPr/>
        </p:nvSpPr>
        <p:spPr>
          <a:xfrm>
            <a:off x="5588000" y="2895600"/>
            <a:ext cx="5905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9" name="s17-text-18"/>
          <p:cNvSpPr txBox="1"/>
          <p:nvPr/>
        </p:nvSpPr>
        <p:spPr>
          <a:xfrm>
            <a:off x="9779000" y="2962148"/>
            <a:ext cx="17145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الجنس</a:t>
            </a:r>
            <a:endParaRPr lang="ar-SA" sz="1400" dirty="0"/>
          </a:p>
        </p:txBody>
      </p:sp>
      <p:sp>
        <p:nvSpPr>
          <p:cNvPr id="20" name="s17-text-19"/>
          <p:cNvSpPr txBox="1"/>
          <p:nvPr/>
        </p:nvSpPr>
        <p:spPr>
          <a:xfrm>
            <a:off x="5252720" y="2961005"/>
            <a:ext cx="452628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رجال، مع التركيز على أصحاب المزارع والمشاريع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الزراعية.</a:t>
            </a:r>
            <a:endParaRPr lang="ar-SA" sz="1500" dirty="0"/>
          </a:p>
        </p:txBody>
      </p:sp>
      <p:sp>
        <p:nvSpPr>
          <p:cNvPr id="21" name="s17-shape-20"/>
          <p:cNvSpPr/>
          <p:nvPr/>
        </p:nvSpPr>
        <p:spPr>
          <a:xfrm>
            <a:off x="5588000" y="3721100"/>
            <a:ext cx="5905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2" name="s17-text-21"/>
          <p:cNvSpPr txBox="1"/>
          <p:nvPr/>
        </p:nvSpPr>
        <p:spPr>
          <a:xfrm>
            <a:off x="9779000" y="3787648"/>
            <a:ext cx="17145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الموقع</a:t>
            </a:r>
            <a:endParaRPr lang="ar-SA" sz="1400" dirty="0"/>
          </a:p>
        </p:txBody>
      </p:sp>
      <p:sp>
        <p:nvSpPr>
          <p:cNvPr id="23" name="s17-text-22"/>
          <p:cNvSpPr txBox="1"/>
          <p:nvPr/>
        </p:nvSpPr>
        <p:spPr>
          <a:xfrm>
            <a:off x="5252720" y="3786505"/>
            <a:ext cx="452628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اليمن، مع التركيز على صنعاء، الحديدة، ذمار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والمناطق الزراعية.</a:t>
            </a:r>
            <a:endParaRPr lang="ar-SA" sz="1500" dirty="0"/>
          </a:p>
        </p:txBody>
      </p:sp>
      <p:sp>
        <p:nvSpPr>
          <p:cNvPr id="24" name="s17-shape-23"/>
          <p:cNvSpPr/>
          <p:nvPr/>
        </p:nvSpPr>
        <p:spPr>
          <a:xfrm>
            <a:off x="5588000" y="4546600"/>
            <a:ext cx="5905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5" name="s17-text-24"/>
          <p:cNvSpPr txBox="1"/>
          <p:nvPr/>
        </p:nvSpPr>
        <p:spPr>
          <a:xfrm>
            <a:off x="9779000" y="4613148"/>
            <a:ext cx="17145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المهنة</a:t>
            </a:r>
            <a:endParaRPr lang="ar-SA" sz="1400" dirty="0"/>
          </a:p>
        </p:txBody>
      </p:sp>
      <p:sp>
        <p:nvSpPr>
          <p:cNvPr id="26" name="s17-text-25"/>
          <p:cNvSpPr txBox="1"/>
          <p:nvPr/>
        </p:nvSpPr>
        <p:spPr>
          <a:xfrm>
            <a:off x="5252720" y="4612005"/>
            <a:ext cx="452628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مزارعون، أصحاب مشاريع زراعية، تجار، موزعون،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مقاولون وفنيون، ومنظمات ومشاريع زراعية.</a:t>
            </a:r>
            <a:endParaRPr lang="ar-SA" sz="1500" dirty="0"/>
          </a:p>
        </p:txBody>
      </p:sp>
      <p:sp>
        <p:nvSpPr>
          <p:cNvPr id="27" name="s17-shape-26"/>
          <p:cNvSpPr/>
          <p:nvPr/>
        </p:nvSpPr>
        <p:spPr>
          <a:xfrm>
            <a:off x="5588000" y="5372100"/>
            <a:ext cx="5905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8" name="s17-text-27"/>
          <p:cNvSpPr txBox="1"/>
          <p:nvPr/>
        </p:nvSpPr>
        <p:spPr>
          <a:xfrm>
            <a:off x="9779000" y="5438648"/>
            <a:ext cx="1714500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المستوى</a:t>
            </a:r>
            <a:endParaRPr lang="ar-SA" sz="1400" dirty="0"/>
          </a:p>
          <a:p>
            <a:pPr rtl="1" algn="r" indent="0" marL="0">
              <a:lnSpc>
                <a:spcPts val="203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الاقتصادي</a:t>
            </a:r>
            <a:endParaRPr lang="ar-SA" sz="1400" dirty="0"/>
          </a:p>
        </p:txBody>
      </p:sp>
      <p:sp>
        <p:nvSpPr>
          <p:cNvPr id="29" name="s17-text-28"/>
          <p:cNvSpPr txBox="1"/>
          <p:nvPr/>
        </p:nvSpPr>
        <p:spPr>
          <a:xfrm>
            <a:off x="5252720" y="5437505"/>
            <a:ext cx="452628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متوسط إلى مرتفع، حسب حجم المشروع الزراعي.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3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0" dur="6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6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06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3" dur="6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1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06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1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06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11" grpId="0"/>
      <p:bldP spid="29" grpId="0"/>
      <p:bldP spid="13" grpId="0"/>
      <p:bldP spid="15" grpId="0"/>
    </p:bldLst>
  </p:timing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550" y="-4064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02951" y="381381"/>
            <a:ext cx="23905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05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تحليل الجمهور المستهدف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2091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18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8-text-6"/>
          <p:cNvSpPr txBox="1"/>
          <p:nvPr/>
        </p:nvSpPr>
        <p:spPr>
          <a:xfrm>
            <a:off x="11056342" y="805180"/>
            <a:ext cx="43715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 SemiBold"/>
                <a:cs typeface="Alexandria SemiBold"/>
              </a:rPr>
              <a:t>ثانيًا</a:t>
            </a:r>
            <a:endParaRPr lang="ar-SA" sz="1500" dirty="0"/>
          </a:p>
        </p:txBody>
      </p:sp>
      <p:sp>
        <p:nvSpPr>
          <p:cNvPr id="8" name="s18-text-7"/>
          <p:cNvSpPr txBox="1"/>
          <p:nvPr/>
        </p:nvSpPr>
        <p:spPr>
          <a:xfrm>
            <a:off x="8143581" y="1096772"/>
            <a:ext cx="334991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الاهتمامات</a:t>
            </a:r>
            <a:endParaRPr lang="ar-SA" sz="4200" dirty="0"/>
          </a:p>
        </p:txBody>
      </p:sp>
      <p:sp>
        <p:nvSpPr>
          <p:cNvPr id="9" name="s18-shape-8"/>
          <p:cNvSpPr/>
          <p:nvPr/>
        </p:nvSpPr>
        <p:spPr>
          <a:xfrm>
            <a:off x="9423400" y="20320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18-shape-9"/>
          <p:cNvSpPr/>
          <p:nvPr/>
        </p:nvSpPr>
        <p:spPr>
          <a:xfrm>
            <a:off x="10693400" y="22352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1" name="s18-snap-10" descr="/home/user/flan777/ard-albasatin-presentation/source/pptx_build/img/s18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1825" y="2333625"/>
            <a:ext cx="412750" cy="412750"/>
          </a:xfrm>
          <a:prstGeom prst="rect">
            <a:avLst/>
          </a:prstGeom>
        </p:spPr>
      </p:pic>
      <p:sp>
        <p:nvSpPr>
          <p:cNvPr id="12" name="s18-text-11"/>
          <p:cNvSpPr txBox="1"/>
          <p:nvPr/>
        </p:nvSpPr>
        <p:spPr>
          <a:xfrm>
            <a:off x="9451340" y="29655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الزراعة وتطوير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الإنتاج.</a:t>
            </a:r>
            <a:endParaRPr lang="ar-SA" sz="1450" dirty="0"/>
          </a:p>
        </p:txBody>
      </p:sp>
      <p:sp>
        <p:nvSpPr>
          <p:cNvPr id="13" name="s18-shape-12"/>
          <p:cNvSpPr/>
          <p:nvPr/>
        </p:nvSpPr>
        <p:spPr>
          <a:xfrm>
            <a:off x="7245350" y="20320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18-shape-13"/>
          <p:cNvSpPr/>
          <p:nvPr/>
        </p:nvSpPr>
        <p:spPr>
          <a:xfrm>
            <a:off x="8515350" y="22352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s18-snap-14" descr="/home/user/flan777/ard-albasatin-presentation/source/pptx_build/img/s18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775" y="2333625"/>
            <a:ext cx="412750" cy="412750"/>
          </a:xfrm>
          <a:prstGeom prst="rect">
            <a:avLst/>
          </a:prstGeom>
        </p:spPr>
      </p:pic>
      <p:sp>
        <p:nvSpPr>
          <p:cNvPr id="16" name="s18-text-15"/>
          <p:cNvSpPr txBox="1"/>
          <p:nvPr/>
        </p:nvSpPr>
        <p:spPr>
          <a:xfrm>
            <a:off x="7273290" y="29655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مستلزمات ومعدات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الزراعة.</a:t>
            </a:r>
            <a:endParaRPr lang="ar-SA" sz="1450" dirty="0"/>
          </a:p>
        </p:txBody>
      </p:sp>
      <p:sp>
        <p:nvSpPr>
          <p:cNvPr id="17" name="s18-shape-16"/>
          <p:cNvSpPr/>
          <p:nvPr/>
        </p:nvSpPr>
        <p:spPr>
          <a:xfrm>
            <a:off x="5067300" y="20320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18-shape-17"/>
          <p:cNvSpPr/>
          <p:nvPr/>
        </p:nvSpPr>
        <p:spPr>
          <a:xfrm>
            <a:off x="6337300" y="22352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s18-snap-18" descr="/home/user/flan777/ard-albasatin-presentation/source/pptx_build/img/s18_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725" y="2333625"/>
            <a:ext cx="412750" cy="412750"/>
          </a:xfrm>
          <a:prstGeom prst="rect">
            <a:avLst/>
          </a:prstGeom>
        </p:spPr>
      </p:pic>
      <p:sp>
        <p:nvSpPr>
          <p:cNvPr id="20" name="s18-text-19"/>
          <p:cNvSpPr txBox="1"/>
          <p:nvPr/>
        </p:nvSpPr>
        <p:spPr>
          <a:xfrm>
            <a:off x="5095240" y="29655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أنظمة الري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بالتقطير.</a:t>
            </a:r>
            <a:endParaRPr lang="ar-SA" sz="1450" dirty="0"/>
          </a:p>
        </p:txBody>
      </p:sp>
      <p:sp>
        <p:nvSpPr>
          <p:cNvPr id="21" name="s18-shape-20"/>
          <p:cNvSpPr/>
          <p:nvPr/>
        </p:nvSpPr>
        <p:spPr>
          <a:xfrm>
            <a:off x="2889250" y="20320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18-shape-21"/>
          <p:cNvSpPr/>
          <p:nvPr/>
        </p:nvSpPr>
        <p:spPr>
          <a:xfrm>
            <a:off x="4159250" y="22352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3" name="s18-snap-22" descr="/home/user/flan777/ard-albasatin-presentation/source/pptx_build/img/s18_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7675" y="2333625"/>
            <a:ext cx="412750" cy="412750"/>
          </a:xfrm>
          <a:prstGeom prst="rect">
            <a:avLst/>
          </a:prstGeom>
        </p:spPr>
      </p:pic>
      <p:sp>
        <p:nvSpPr>
          <p:cNvPr id="24" name="s18-text-23"/>
          <p:cNvSpPr txBox="1"/>
          <p:nvPr/>
        </p:nvSpPr>
        <p:spPr>
          <a:xfrm>
            <a:off x="2917190" y="29655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ترشيد استهلاك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المياه.</a:t>
            </a:r>
            <a:endParaRPr lang="ar-SA" sz="1450" dirty="0"/>
          </a:p>
        </p:txBody>
      </p:sp>
      <p:sp>
        <p:nvSpPr>
          <p:cNvPr id="25" name="s18-shape-24"/>
          <p:cNvSpPr/>
          <p:nvPr/>
        </p:nvSpPr>
        <p:spPr>
          <a:xfrm>
            <a:off x="711200" y="20320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18-shape-25"/>
          <p:cNvSpPr/>
          <p:nvPr/>
        </p:nvSpPr>
        <p:spPr>
          <a:xfrm>
            <a:off x="1981200" y="22352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7" name="s18-snap-26" descr="/home/user/flan777/ard-albasatin-presentation/source/pptx_build/img/s18_2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9625" y="2333625"/>
            <a:ext cx="412750" cy="412750"/>
          </a:xfrm>
          <a:prstGeom prst="rect">
            <a:avLst/>
          </a:prstGeom>
        </p:spPr>
      </p:pic>
      <p:sp>
        <p:nvSpPr>
          <p:cNvPr id="28" name="s18-text-27"/>
          <p:cNvSpPr txBox="1"/>
          <p:nvPr/>
        </p:nvSpPr>
        <p:spPr>
          <a:xfrm>
            <a:off x="739140" y="29655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حماية المحاصيل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من الظروف الجوية.</a:t>
            </a:r>
            <a:endParaRPr lang="ar-SA" sz="1450" dirty="0"/>
          </a:p>
        </p:txBody>
      </p:sp>
      <p:sp>
        <p:nvSpPr>
          <p:cNvPr id="29" name="s18-shape-28"/>
          <p:cNvSpPr/>
          <p:nvPr/>
        </p:nvSpPr>
        <p:spPr>
          <a:xfrm>
            <a:off x="9423400" y="41021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18-shape-29"/>
          <p:cNvSpPr/>
          <p:nvPr/>
        </p:nvSpPr>
        <p:spPr>
          <a:xfrm>
            <a:off x="10693400" y="43053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1" name="s18-snap-30" descr="/home/user/flan777/ard-albasatin-presentation/source/pptx_build/img/s18_3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1825" y="4403725"/>
            <a:ext cx="412750" cy="412750"/>
          </a:xfrm>
          <a:prstGeom prst="rect">
            <a:avLst/>
          </a:prstGeom>
        </p:spPr>
      </p:pic>
      <p:sp>
        <p:nvSpPr>
          <p:cNvPr id="32" name="s18-text-31"/>
          <p:cNvSpPr txBox="1"/>
          <p:nvPr/>
        </p:nvSpPr>
        <p:spPr>
          <a:xfrm>
            <a:off x="9451340" y="50356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منتجات الحماية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الزراعية.</a:t>
            </a:r>
            <a:endParaRPr lang="ar-SA" sz="1450" dirty="0"/>
          </a:p>
        </p:txBody>
      </p:sp>
      <p:sp>
        <p:nvSpPr>
          <p:cNvPr id="33" name="s18-shape-32"/>
          <p:cNvSpPr/>
          <p:nvPr/>
        </p:nvSpPr>
        <p:spPr>
          <a:xfrm>
            <a:off x="7245350" y="41021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18-shape-33"/>
          <p:cNvSpPr/>
          <p:nvPr/>
        </p:nvSpPr>
        <p:spPr>
          <a:xfrm>
            <a:off x="8515350" y="43053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5" name="s18-snap-34" descr="/home/user/flan777/ard-albasatin-presentation/source/pptx_build/img/s18_3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3775" y="4403725"/>
            <a:ext cx="412750" cy="412750"/>
          </a:xfrm>
          <a:prstGeom prst="rect">
            <a:avLst/>
          </a:prstGeom>
        </p:spPr>
      </p:pic>
      <p:sp>
        <p:nvSpPr>
          <p:cNvPr id="36" name="s18-text-35"/>
          <p:cNvSpPr txBox="1"/>
          <p:nvPr/>
        </p:nvSpPr>
        <p:spPr>
          <a:xfrm>
            <a:off x="7273290" y="50356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جودة ومتانة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المنتجات الزراعية.</a:t>
            </a:r>
            <a:endParaRPr lang="ar-SA" sz="1450" dirty="0"/>
          </a:p>
        </p:txBody>
      </p:sp>
      <p:sp>
        <p:nvSpPr>
          <p:cNvPr id="37" name="s18-shape-36"/>
          <p:cNvSpPr/>
          <p:nvPr/>
        </p:nvSpPr>
        <p:spPr>
          <a:xfrm>
            <a:off x="5067300" y="41021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" name="s18-shape-37"/>
          <p:cNvSpPr/>
          <p:nvPr/>
        </p:nvSpPr>
        <p:spPr>
          <a:xfrm>
            <a:off x="6337300" y="43053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9" name="s18-snap-38" descr="/home/user/flan777/ard-albasatin-presentation/source/pptx_build/img/s18_3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5725" y="4403725"/>
            <a:ext cx="412750" cy="412750"/>
          </a:xfrm>
          <a:prstGeom prst="rect">
            <a:avLst/>
          </a:prstGeom>
        </p:spPr>
      </p:pic>
      <p:sp>
        <p:nvSpPr>
          <p:cNvPr id="40" name="s18-text-39"/>
          <p:cNvSpPr txBox="1"/>
          <p:nvPr/>
        </p:nvSpPr>
        <p:spPr>
          <a:xfrm>
            <a:off x="5095240" y="50356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المشاريع الزراعية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والتنموية.</a:t>
            </a:r>
            <a:endParaRPr lang="ar-SA" sz="1450" dirty="0"/>
          </a:p>
        </p:txBody>
      </p:sp>
      <p:sp>
        <p:nvSpPr>
          <p:cNvPr id="41" name="s18-shape-40"/>
          <p:cNvSpPr/>
          <p:nvPr/>
        </p:nvSpPr>
        <p:spPr>
          <a:xfrm>
            <a:off x="2889250" y="41021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s18-shape-41"/>
          <p:cNvSpPr/>
          <p:nvPr/>
        </p:nvSpPr>
        <p:spPr>
          <a:xfrm>
            <a:off x="4159250" y="43053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43" name="s18-snap-42" descr="/home/user/flan777/ard-albasatin-presentation/source/pptx_build/img/s18_4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57675" y="4403725"/>
            <a:ext cx="412750" cy="412750"/>
          </a:xfrm>
          <a:prstGeom prst="rect">
            <a:avLst/>
          </a:prstGeom>
        </p:spPr>
      </p:pic>
      <p:sp>
        <p:nvSpPr>
          <p:cNvPr id="44" name="s18-text-43"/>
          <p:cNvSpPr txBox="1"/>
          <p:nvPr/>
        </p:nvSpPr>
        <p:spPr>
          <a:xfrm>
            <a:off x="2917190" y="5035614"/>
            <a:ext cx="1851660" cy="3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المنتجات المحلية.</a:t>
            </a:r>
            <a:endParaRPr lang="ar-SA" sz="1450" dirty="0"/>
          </a:p>
        </p:txBody>
      </p:sp>
      <p:sp>
        <p:nvSpPr>
          <p:cNvPr id="45" name="s18-shape-44"/>
          <p:cNvSpPr/>
          <p:nvPr/>
        </p:nvSpPr>
        <p:spPr>
          <a:xfrm>
            <a:off x="711200" y="4102100"/>
            <a:ext cx="2070100" cy="1905000"/>
          </a:xfrm>
          <a:prstGeom prst="round2DiagRect">
            <a:avLst>
              <a:gd name="adj1" fmla="val 24000"/>
              <a:gd name="adj2" fmla="val 3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s18-shape-45"/>
          <p:cNvSpPr/>
          <p:nvPr/>
        </p:nvSpPr>
        <p:spPr>
          <a:xfrm>
            <a:off x="1981200" y="430530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47" name="s18-snap-46" descr="/home/user/flan777/ard-albasatin-presentation/source/pptx_build/img/s18_46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9625" y="4403725"/>
            <a:ext cx="412750" cy="412750"/>
          </a:xfrm>
          <a:prstGeom prst="rect">
            <a:avLst/>
          </a:prstGeom>
        </p:spPr>
      </p:pic>
      <p:sp>
        <p:nvSpPr>
          <p:cNvPr id="48" name="s18-text-47"/>
          <p:cNvSpPr txBox="1"/>
          <p:nvPr/>
        </p:nvSpPr>
        <p:spPr>
          <a:xfrm>
            <a:off x="739140" y="5035614"/>
            <a:ext cx="18516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تطوير المزارع</a:t>
            </a:r>
            <a:endParaRPr lang="ar-SA" sz="1450" dirty="0"/>
          </a:p>
          <a:p>
            <a:pPr rtl="1" algn="r" indent="0" marL="0">
              <a:lnSpc>
                <a:spcPts val="2059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 SemiBold"/>
                <a:cs typeface="Alexandria SemiBold"/>
              </a:rPr>
              <a:t>وتحسين الإنتاج.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8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8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92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92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80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80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92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92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80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80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92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92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3" grpId="0" animBg="1"/>
      <p:bldP spid="12" grpId="0"/>
      <p:bldP spid="10" grpId="0" animBg="1"/>
      <p:bldP spid="17" grpId="0" animBg="1"/>
      <p:bldP spid="16" grpId="0"/>
      <p:bldP spid="14" grpId="0" animBg="1"/>
      <p:bldP spid="21" grpId="0" animBg="1"/>
      <p:bldP spid="20" grpId="0"/>
      <p:bldP spid="18" grpId="0" animBg="1"/>
      <p:bldP spid="25" grpId="0" animBg="1"/>
      <p:bldP spid="24" grpId="0"/>
      <p:bldP spid="22" grpId="0" animBg="1"/>
      <p:bldP spid="29" grpId="0" animBg="1"/>
      <p:bldP spid="28" grpId="0"/>
      <p:bldP spid="26" grpId="0" animBg="1"/>
      <p:bldP spid="33" grpId="0" animBg="1"/>
      <p:bldP spid="32" grpId="0"/>
      <p:bldP spid="30" grpId="0" animBg="1"/>
      <p:bldP spid="37" grpId="0" animBg="1"/>
      <p:bldP spid="36" grpId="0"/>
      <p:bldP spid="34" grpId="0" animBg="1"/>
      <p:bldP spid="41" grpId="0" animBg="1"/>
      <p:bldP spid="40" grpId="0"/>
      <p:bldP spid="38" grpId="0" animBg="1"/>
      <p:bldP spid="45" grpId="0" animBg="1"/>
      <p:bldP spid="44" grpId="0"/>
      <p:bldP spid="42" grpId="0" animBg="1"/>
      <p:bldP spid="48" grpId="0"/>
      <p:bldP spid="46" grpId="0" animBg="1"/>
    </p:bldLst>
  </p:timing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950" y="-1587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02951" y="381381"/>
            <a:ext cx="23905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8A6142"/>
                </a:solidFill>
                <a:latin typeface="Alexandria Black"/>
                <a:cs typeface="Alexandria Black"/>
              </a:rPr>
              <a:t>05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الجمهور المستهدف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2041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19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so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so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19-text-6"/>
          <p:cNvSpPr txBox="1"/>
          <p:nvPr/>
        </p:nvSpPr>
        <p:spPr>
          <a:xfrm>
            <a:off x="11060212" y="805180"/>
            <a:ext cx="43328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8A6142"/>
                </a:solidFill>
                <a:latin typeface="Alexandria SemiBold"/>
                <a:cs typeface="Alexandria SemiBold"/>
              </a:rPr>
              <a:t>ثالثًا</a:t>
            </a:r>
            <a:endParaRPr lang="ar-SA" sz="1500" dirty="0"/>
          </a:p>
        </p:txBody>
      </p:sp>
      <p:sp>
        <p:nvSpPr>
          <p:cNvPr id="8" name="s19-text-7"/>
          <p:cNvSpPr txBox="1"/>
          <p:nvPr/>
        </p:nvSpPr>
        <p:spPr>
          <a:xfrm>
            <a:off x="6095075" y="1096772"/>
            <a:ext cx="539842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8A6142"/>
                </a:solidFill>
                <a:latin typeface="Alexandria ExtraLight"/>
                <a:cs typeface="Alexandria ExtraLight"/>
              </a:rPr>
              <a:t>الاحتياجات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والمشاكل</a:t>
            </a:r>
            <a:endParaRPr lang="ar-SA" sz="4200" dirty="0"/>
          </a:p>
        </p:txBody>
      </p:sp>
      <p:sp>
        <p:nvSpPr>
          <p:cNvPr id="9" name="s19-shape-8"/>
          <p:cNvSpPr/>
          <p:nvPr/>
        </p:nvSpPr>
        <p:spPr>
          <a:xfrm>
            <a:off x="6159500" y="1968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10" name="s19-shape-9"/>
          <p:cNvSpPr/>
          <p:nvPr/>
        </p:nvSpPr>
        <p:spPr>
          <a:xfrm>
            <a:off x="10756900" y="2120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1" name="s19-snap-10" descr="/home/user/flan777/ard-albasatin-presentation/source/pptx_build/img/s19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8975" y="2212975"/>
            <a:ext cx="400050" cy="400050"/>
          </a:xfrm>
          <a:prstGeom prst="rect">
            <a:avLst/>
          </a:prstGeom>
        </p:spPr>
      </p:pic>
      <p:sp>
        <p:nvSpPr>
          <p:cNvPr id="12" name="s19-text-11"/>
          <p:cNvSpPr txBox="1"/>
          <p:nvPr/>
        </p:nvSpPr>
        <p:spPr>
          <a:xfrm>
            <a:off x="6009640" y="2253635"/>
            <a:ext cx="459486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الحصول على منتجات زراعية موثوقة.</a:t>
            </a:r>
            <a:endParaRPr lang="ar-SA" sz="1500" dirty="0"/>
          </a:p>
        </p:txBody>
      </p:sp>
      <p:sp>
        <p:nvSpPr>
          <p:cNvPr id="13" name="s19-shape-12"/>
          <p:cNvSpPr/>
          <p:nvPr/>
        </p:nvSpPr>
        <p:spPr>
          <a:xfrm>
            <a:off x="698500" y="1968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14" name="s19-shape-13"/>
          <p:cNvSpPr/>
          <p:nvPr/>
        </p:nvSpPr>
        <p:spPr>
          <a:xfrm>
            <a:off x="5295900" y="2120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5" name="s19-snap-14" descr="/home/user/flan777/ard-albasatin-presentation/source/pptx_build/img/s19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975" y="2212975"/>
            <a:ext cx="400050" cy="400050"/>
          </a:xfrm>
          <a:prstGeom prst="rect">
            <a:avLst/>
          </a:prstGeom>
        </p:spPr>
      </p:pic>
      <p:sp>
        <p:nvSpPr>
          <p:cNvPr id="16" name="s19-text-15"/>
          <p:cNvSpPr txBox="1"/>
          <p:nvPr/>
        </p:nvSpPr>
        <p:spPr>
          <a:xfrm>
            <a:off x="548640" y="2253635"/>
            <a:ext cx="459486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توفير مستلزمات المزرعة من مصدر واحد.</a:t>
            </a:r>
            <a:endParaRPr lang="ar-SA" sz="1500" dirty="0"/>
          </a:p>
        </p:txBody>
      </p:sp>
      <p:sp>
        <p:nvSpPr>
          <p:cNvPr id="17" name="s19-shape-16"/>
          <p:cNvSpPr/>
          <p:nvPr/>
        </p:nvSpPr>
        <p:spPr>
          <a:xfrm>
            <a:off x="6159500" y="2984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18" name="s19-shape-17"/>
          <p:cNvSpPr/>
          <p:nvPr/>
        </p:nvSpPr>
        <p:spPr>
          <a:xfrm>
            <a:off x="10756900" y="3136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9" name="s19-snap-18" descr="/home/user/flan777/ard-albasatin-presentation/source/pptx_build/img/s19_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8975" y="3228975"/>
            <a:ext cx="400050" cy="400050"/>
          </a:xfrm>
          <a:prstGeom prst="rect">
            <a:avLst/>
          </a:prstGeom>
        </p:spPr>
      </p:pic>
      <p:sp>
        <p:nvSpPr>
          <p:cNvPr id="20" name="s19-text-19"/>
          <p:cNvSpPr txBox="1"/>
          <p:nvPr/>
        </p:nvSpPr>
        <p:spPr>
          <a:xfrm>
            <a:off x="6009640" y="3134400"/>
            <a:ext cx="459486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الحصول على منتجات مناسبة للمحاصيل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والمشاريع المختلفة.</a:t>
            </a:r>
            <a:endParaRPr lang="ar-SA" sz="1500" dirty="0"/>
          </a:p>
        </p:txBody>
      </p:sp>
      <p:sp>
        <p:nvSpPr>
          <p:cNvPr id="21" name="s19-shape-20"/>
          <p:cNvSpPr/>
          <p:nvPr/>
        </p:nvSpPr>
        <p:spPr>
          <a:xfrm>
            <a:off x="698500" y="2984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22" name="s19-shape-21"/>
          <p:cNvSpPr/>
          <p:nvPr/>
        </p:nvSpPr>
        <p:spPr>
          <a:xfrm>
            <a:off x="5295900" y="3136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23" name="s19-snap-22" descr="/home/user/flan777/ard-albasatin-presentation/source/pptx_build/img/s19_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7975" y="3228975"/>
            <a:ext cx="400050" cy="400050"/>
          </a:xfrm>
          <a:prstGeom prst="rect">
            <a:avLst/>
          </a:prstGeom>
        </p:spPr>
      </p:pic>
      <p:sp>
        <p:nvSpPr>
          <p:cNvPr id="24" name="s19-text-23"/>
          <p:cNvSpPr txBox="1"/>
          <p:nvPr/>
        </p:nvSpPr>
        <p:spPr>
          <a:xfrm>
            <a:off x="548640" y="3134400"/>
            <a:ext cx="459486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معرفة المواصفات والاستخدام الصحيح لكل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منتج.</a:t>
            </a:r>
            <a:endParaRPr lang="ar-SA" sz="1500" dirty="0"/>
          </a:p>
        </p:txBody>
      </p:sp>
      <p:sp>
        <p:nvSpPr>
          <p:cNvPr id="25" name="s19-shape-24"/>
          <p:cNvSpPr/>
          <p:nvPr/>
        </p:nvSpPr>
        <p:spPr>
          <a:xfrm>
            <a:off x="6159500" y="4000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26" name="s19-shape-25"/>
          <p:cNvSpPr/>
          <p:nvPr/>
        </p:nvSpPr>
        <p:spPr>
          <a:xfrm>
            <a:off x="10756900" y="4152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27" name="s19-snap-26" descr="/home/user/flan777/ard-albasatin-presentation/source/pptx_build/img/s19_2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8975" y="4244975"/>
            <a:ext cx="400050" cy="400050"/>
          </a:xfrm>
          <a:prstGeom prst="rect">
            <a:avLst/>
          </a:prstGeom>
        </p:spPr>
      </p:pic>
      <p:sp>
        <p:nvSpPr>
          <p:cNvPr id="28" name="s19-text-27"/>
          <p:cNvSpPr txBox="1"/>
          <p:nvPr/>
        </p:nvSpPr>
        <p:spPr>
          <a:xfrm>
            <a:off x="6009640" y="4285635"/>
            <a:ext cx="459486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الحصول على منتجات ري ذات جودة تصنيع عالية.</a:t>
            </a:r>
            <a:endParaRPr lang="ar-SA" sz="1500" dirty="0"/>
          </a:p>
        </p:txBody>
      </p:sp>
      <p:sp>
        <p:nvSpPr>
          <p:cNvPr id="29" name="s19-shape-28"/>
          <p:cNvSpPr/>
          <p:nvPr/>
        </p:nvSpPr>
        <p:spPr>
          <a:xfrm>
            <a:off x="698500" y="4000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30" name="s19-shape-29"/>
          <p:cNvSpPr/>
          <p:nvPr/>
        </p:nvSpPr>
        <p:spPr>
          <a:xfrm>
            <a:off x="5295900" y="4152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31" name="s19-snap-30" descr="/home/user/flan777/ard-albasatin-presentation/source/pptx_build/img/s19_3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7975" y="4244975"/>
            <a:ext cx="400050" cy="400050"/>
          </a:xfrm>
          <a:prstGeom prst="rect">
            <a:avLst/>
          </a:prstGeom>
        </p:spPr>
      </p:pic>
      <p:sp>
        <p:nvSpPr>
          <p:cNvPr id="32" name="s19-text-31"/>
          <p:cNvSpPr txBox="1"/>
          <p:nvPr/>
        </p:nvSpPr>
        <p:spPr>
          <a:xfrm>
            <a:off x="548640" y="4285635"/>
            <a:ext cx="459486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تقليل الأعطال والاستبدال في منتجات الري.</a:t>
            </a:r>
            <a:endParaRPr lang="ar-SA" sz="1500" dirty="0"/>
          </a:p>
        </p:txBody>
      </p:sp>
      <p:sp>
        <p:nvSpPr>
          <p:cNvPr id="33" name="s19-shape-32"/>
          <p:cNvSpPr/>
          <p:nvPr/>
        </p:nvSpPr>
        <p:spPr>
          <a:xfrm>
            <a:off x="6159500" y="5016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34" name="s19-shape-33"/>
          <p:cNvSpPr/>
          <p:nvPr/>
        </p:nvSpPr>
        <p:spPr>
          <a:xfrm>
            <a:off x="10756900" y="5168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35" name="s19-snap-34" descr="/home/user/flan777/ard-albasatin-presentation/source/pptx_build/img/s19_3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8975" y="5260975"/>
            <a:ext cx="400050" cy="400050"/>
          </a:xfrm>
          <a:prstGeom prst="rect">
            <a:avLst/>
          </a:prstGeom>
        </p:spPr>
      </p:pic>
      <p:sp>
        <p:nvSpPr>
          <p:cNvPr id="36" name="s19-text-35"/>
          <p:cNvSpPr txBox="1"/>
          <p:nvPr/>
        </p:nvSpPr>
        <p:spPr>
          <a:xfrm>
            <a:off x="6009640" y="5166400"/>
            <a:ext cx="459486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الحصول على مورد قادر على توفير الكميات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المطلوبة.</a:t>
            </a:r>
            <a:endParaRPr lang="ar-SA" sz="1500" dirty="0"/>
          </a:p>
        </p:txBody>
      </p:sp>
      <p:sp>
        <p:nvSpPr>
          <p:cNvPr id="37" name="s19-shape-36"/>
          <p:cNvSpPr/>
          <p:nvPr/>
        </p:nvSpPr>
        <p:spPr>
          <a:xfrm>
            <a:off x="698500" y="5016500"/>
            <a:ext cx="5334000" cy="889000"/>
          </a:xfrm>
          <a:prstGeom prst="round2DiagRect">
            <a:avLst>
              <a:gd name="adj1" fmla="val 50000"/>
              <a:gd name="adj2" fmla="val 7143"/>
            </a:avLst>
          </a:prstGeom>
          <a:solidFill>
            <a:srgbClr val="FFFFFF"/>
          </a:solidFill>
          <a:ln/>
        </p:spPr>
      </p:sp>
      <p:sp>
        <p:nvSpPr>
          <p:cNvPr id="38" name="s19-shape-37"/>
          <p:cNvSpPr/>
          <p:nvPr/>
        </p:nvSpPr>
        <p:spPr>
          <a:xfrm>
            <a:off x="5295900" y="5168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39" name="s19-snap-38" descr="/home/user/flan777/ard-albasatin-presentation/source/pptx_build/img/s19_3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7975" y="5260975"/>
            <a:ext cx="400050" cy="400050"/>
          </a:xfrm>
          <a:prstGeom prst="rect">
            <a:avLst/>
          </a:prstGeom>
        </p:spPr>
      </p:pic>
      <p:sp>
        <p:nvSpPr>
          <p:cNvPr id="40" name="s19-text-39"/>
          <p:cNvSpPr txBox="1"/>
          <p:nvPr/>
        </p:nvSpPr>
        <p:spPr>
          <a:xfrm>
            <a:off x="548640" y="5301635"/>
            <a:ext cx="459486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 Medium"/>
                <a:cs typeface="Alexandria Medium"/>
              </a:rPr>
              <a:t>الحصول على معلومات واضحة قبل الشراء.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92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92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3" grpId="0" animBg="1"/>
      <p:bldP spid="10" grpId="0" animBg="1"/>
      <p:bldP spid="16" grpId="0"/>
      <p:bldP spid="17" grpId="0" animBg="1"/>
      <p:bldP spid="14" grpId="0" animBg="1"/>
      <p:bldP spid="20" grpId="0"/>
      <p:bldP spid="21" grpId="0" animBg="1"/>
      <p:bldP spid="18" grpId="0" animBg="1"/>
      <p:bldP spid="24" grpId="0"/>
      <p:bldP spid="25" grpId="0" animBg="1"/>
      <p:bldP spid="22" grpId="0" animBg="1"/>
      <p:bldP spid="28" grpId="0"/>
      <p:bldP spid="29" grpId="0" animBg="1"/>
      <p:bldP spid="26" grpId="0" animBg="1"/>
      <p:bldP spid="32" grpId="0"/>
      <p:bldP spid="33" grpId="0" animBg="1"/>
      <p:bldP spid="30" grpId="0" animBg="1"/>
      <p:bldP spid="36" grpId="0"/>
      <p:bldP spid="37" grpId="0" animBg="1"/>
      <p:bldP spid="34" grpId="0" animBg="1"/>
      <p:bldP spid="40" grpId="0"/>
      <p:bldP spid="38" grpId="0" animBg="1"/>
    </p:bldLst>
  </p:timing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2700" y="-635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02951" y="381381"/>
            <a:ext cx="23905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05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الجمهور المستهدف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46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20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0-text-6"/>
          <p:cNvSpPr txBox="1"/>
          <p:nvPr/>
        </p:nvSpPr>
        <p:spPr>
          <a:xfrm>
            <a:off x="11009511" y="805180"/>
            <a:ext cx="48398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رابعًا</a:t>
            </a:r>
            <a:endParaRPr lang="ar-SA" sz="1500" dirty="0"/>
          </a:p>
        </p:txBody>
      </p:sp>
      <p:sp>
        <p:nvSpPr>
          <p:cNvPr id="8" name="s20-text-7"/>
          <p:cNvSpPr txBox="1"/>
          <p:nvPr/>
        </p:nvSpPr>
        <p:spPr>
          <a:xfrm>
            <a:off x="9220823" y="1096772"/>
            <a:ext cx="2272677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السلوك</a:t>
            </a:r>
            <a:endParaRPr lang="ar-SA" sz="4200" dirty="0"/>
          </a:p>
        </p:txBody>
      </p:sp>
      <p:sp>
        <p:nvSpPr>
          <p:cNvPr id="9" name="s20-shape-8"/>
          <p:cNvSpPr/>
          <p:nvPr/>
        </p:nvSpPr>
        <p:spPr>
          <a:xfrm>
            <a:off x="698500" y="1905000"/>
            <a:ext cx="4826000" cy="4318000"/>
          </a:xfrm>
          <a:prstGeom prst="round2DiagRect">
            <a:avLst>
              <a:gd name="adj1" fmla="val 10588"/>
              <a:gd name="adj2" fmla="val 1471"/>
            </a:avLst>
          </a:prstGeom>
          <a:solidFill>
            <a:srgbClr val="015256"/>
          </a:solidFill>
          <a:ln/>
        </p:spPr>
      </p:sp>
      <p:sp>
        <p:nvSpPr>
          <p:cNvPr id="10" name="s20-shape-9"/>
          <p:cNvSpPr/>
          <p:nvPr/>
        </p:nvSpPr>
        <p:spPr>
          <a:xfrm>
            <a:off x="952500" y="21590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1" name="s20-snap-10" descr="/home/user/flan777/ard-albasatin-presentation/source/pptx_build/img/s20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75" y="2251075"/>
            <a:ext cx="400050" cy="400050"/>
          </a:xfrm>
          <a:prstGeom prst="rect">
            <a:avLst/>
          </a:prstGeom>
        </p:spPr>
      </p:pic>
      <p:sp>
        <p:nvSpPr>
          <p:cNvPr id="12" name="s20-text-11"/>
          <p:cNvSpPr txBox="1"/>
          <p:nvPr/>
        </p:nvSpPr>
        <p:spPr>
          <a:xfrm>
            <a:off x="1430020" y="2117090"/>
            <a:ext cx="384048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يبحث العميل عن الجودة والسعر</a:t>
            </a:r>
            <a:endParaRPr lang="ar-SA" sz="1500" dirty="0"/>
          </a:p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المناسب قبل اتخاذ قرار الشراء.</a:t>
            </a:r>
            <a:endParaRPr lang="ar-SA" sz="1500" dirty="0"/>
          </a:p>
        </p:txBody>
      </p:sp>
      <p:sp>
        <p:nvSpPr>
          <p:cNvPr id="13" name="s20-shape-12"/>
          <p:cNvSpPr/>
          <p:nvPr/>
        </p:nvSpPr>
        <p:spPr>
          <a:xfrm>
            <a:off x="952500" y="34925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4" name="s20-snap-13" descr="/home/user/flan777/ard-albasatin-presentation/source/pptx_build/img/s20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575" y="3584575"/>
            <a:ext cx="400050" cy="400050"/>
          </a:xfrm>
          <a:prstGeom prst="rect">
            <a:avLst/>
          </a:prstGeom>
        </p:spPr>
      </p:pic>
      <p:sp>
        <p:nvSpPr>
          <p:cNvPr id="15" name="s20-text-14"/>
          <p:cNvSpPr txBox="1"/>
          <p:nvPr/>
        </p:nvSpPr>
        <p:spPr>
          <a:xfrm>
            <a:off x="1430020" y="3450590"/>
            <a:ext cx="384048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يستخدم فيسبوك وواتساب للاستفسار</a:t>
            </a:r>
            <a:endParaRPr lang="ar-SA" sz="1500" dirty="0"/>
          </a:p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والشراء.</a:t>
            </a:r>
            <a:endParaRPr lang="ar-SA" sz="1500" dirty="0"/>
          </a:p>
        </p:txBody>
      </p:sp>
      <p:pic>
        <p:nvPicPr>
          <p:cNvPr id="16" name="s20-snap-15" descr="/home/user/flan777/ard-albasatin-presentation/source/pptx_build/img/s20_1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4038600"/>
            <a:ext cx="381000" cy="381000"/>
          </a:xfrm>
          <a:prstGeom prst="rect">
            <a:avLst/>
          </a:prstGeom>
        </p:spPr>
      </p:pic>
      <p:pic>
        <p:nvPicPr>
          <p:cNvPr id="17" name="s20-snap-16" descr="/home/user/flan777/ard-albasatin-presentation/source/pptx_build/img/s20_1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2800" y="4038600"/>
            <a:ext cx="381000" cy="381000"/>
          </a:xfrm>
          <a:prstGeom prst="rect">
            <a:avLst/>
          </a:prstGeom>
        </p:spPr>
      </p:pic>
      <p:sp>
        <p:nvSpPr>
          <p:cNvPr id="18" name="s20-shape-17"/>
          <p:cNvSpPr/>
          <p:nvPr/>
        </p:nvSpPr>
        <p:spPr>
          <a:xfrm>
            <a:off x="952500" y="48260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9" name="s20-snap-18" descr="/home/user/flan777/ard-albasatin-presentation/source/pptx_build/img/s20_1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575" y="4918075"/>
            <a:ext cx="400050" cy="400050"/>
          </a:xfrm>
          <a:prstGeom prst="rect">
            <a:avLst/>
          </a:prstGeom>
        </p:spPr>
      </p:pic>
      <p:sp>
        <p:nvSpPr>
          <p:cNvPr id="20" name="s20-text-19"/>
          <p:cNvSpPr txBox="1"/>
          <p:nvPr/>
        </p:nvSpPr>
        <p:spPr>
          <a:xfrm>
            <a:off x="1430020" y="4784090"/>
            <a:ext cx="3840480" cy="89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يميل إلى التعامل مع المتاجر التي توفر</a:t>
            </a:r>
            <a:endParaRPr lang="ar-SA" sz="1500" dirty="0"/>
          </a:p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الثقة، التنوع، الجودة والاستمرارية في</a:t>
            </a:r>
            <a:endParaRPr lang="ar-SA" sz="1500" dirty="0"/>
          </a:p>
          <a:p>
            <a:pPr rtl="1" algn="r" indent="0" marL="0">
              <a:lnSpc>
                <a:spcPts val="222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التوريد.</a:t>
            </a:r>
            <a:endParaRPr lang="ar-SA" sz="1500" dirty="0"/>
          </a:p>
        </p:txBody>
      </p:sp>
      <p:sp>
        <p:nvSpPr>
          <p:cNvPr id="21" name="s20-shape-20"/>
          <p:cNvSpPr/>
          <p:nvPr/>
        </p:nvSpPr>
        <p:spPr>
          <a:xfrm>
            <a:off x="11366500" y="2247900"/>
            <a:ext cx="127000" cy="1270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2" name="s20-text-21"/>
          <p:cNvSpPr txBox="1"/>
          <p:nvPr/>
        </p:nvSpPr>
        <p:spPr>
          <a:xfrm>
            <a:off x="5891276" y="2129028"/>
            <a:ext cx="5335524" cy="35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9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يعتمد على توصيات المزارعين والتجار وأصحاب الخبرة.</a:t>
            </a:r>
            <a:endParaRPr lang="ar-SA" sz="1650" dirty="0"/>
          </a:p>
        </p:txBody>
      </p:sp>
      <p:sp>
        <p:nvSpPr>
          <p:cNvPr id="23" name="s20-shape-22"/>
          <p:cNvSpPr/>
          <p:nvPr/>
        </p:nvSpPr>
        <p:spPr>
          <a:xfrm>
            <a:off x="6286500" y="2678708"/>
            <a:ext cx="5207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4" name="s20-shape-23"/>
          <p:cNvSpPr/>
          <p:nvPr/>
        </p:nvSpPr>
        <p:spPr>
          <a:xfrm>
            <a:off x="11366500" y="2997200"/>
            <a:ext cx="127000" cy="1270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5" name="s20-text-24"/>
          <p:cNvSpPr txBox="1"/>
          <p:nvPr/>
        </p:nvSpPr>
        <p:spPr>
          <a:xfrm>
            <a:off x="5891276" y="2877336"/>
            <a:ext cx="5335524" cy="35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9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يقارن بين المنتجات قبل الشراء.</a:t>
            </a:r>
            <a:endParaRPr lang="ar-SA" sz="1650" dirty="0"/>
          </a:p>
        </p:txBody>
      </p:sp>
      <p:sp>
        <p:nvSpPr>
          <p:cNvPr id="26" name="s20-shape-25"/>
          <p:cNvSpPr/>
          <p:nvPr/>
        </p:nvSpPr>
        <p:spPr>
          <a:xfrm>
            <a:off x="6286500" y="3427016"/>
            <a:ext cx="5207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7" name="s20-shape-26"/>
          <p:cNvSpPr/>
          <p:nvPr/>
        </p:nvSpPr>
        <p:spPr>
          <a:xfrm>
            <a:off x="11366500" y="3746500"/>
            <a:ext cx="127000" cy="1270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8" name="s20-text-27"/>
          <p:cNvSpPr txBox="1"/>
          <p:nvPr/>
        </p:nvSpPr>
        <p:spPr>
          <a:xfrm>
            <a:off x="5891276" y="3625644"/>
            <a:ext cx="5335524" cy="35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9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يهتم بتجارب العملاء ونتائج استخدام المنتج.</a:t>
            </a:r>
            <a:endParaRPr lang="ar-SA" sz="1650" dirty="0"/>
          </a:p>
        </p:txBody>
      </p:sp>
      <p:sp>
        <p:nvSpPr>
          <p:cNvPr id="29" name="s20-shape-28"/>
          <p:cNvSpPr/>
          <p:nvPr/>
        </p:nvSpPr>
        <p:spPr>
          <a:xfrm>
            <a:off x="6286500" y="4175423"/>
            <a:ext cx="5207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0" name="s20-shape-29"/>
          <p:cNvSpPr/>
          <p:nvPr/>
        </p:nvSpPr>
        <p:spPr>
          <a:xfrm>
            <a:off x="11366500" y="4489450"/>
            <a:ext cx="127000" cy="1270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1" name="s20-text-30"/>
          <p:cNvSpPr txBox="1"/>
          <p:nvPr/>
        </p:nvSpPr>
        <p:spPr>
          <a:xfrm>
            <a:off x="5891276" y="4374051"/>
            <a:ext cx="5335524" cy="658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9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يتواصل مباشرة مع المورد عند الحاجة إلى كميات</a:t>
            </a:r>
            <a:endParaRPr lang="ar-SA" sz="1650" dirty="0"/>
          </a:p>
          <a:p>
            <a:pPr rtl="1" algn="r" indent="0" marL="0">
              <a:lnSpc>
                <a:spcPts val="2393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"/>
                <a:cs typeface="Alexandria"/>
              </a:rPr>
              <a:t>كبيرة.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0" dur="6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4" dur="6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63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2" grpId="0"/>
      <p:bldP spid="13" grpId="0" animBg="1"/>
      <p:bldP spid="15" grpId="0"/>
      <p:bldP spid="18" grpId="0" animBg="1"/>
      <p:bldP spid="21" grpId="0" animBg="1"/>
      <p:bldP spid="23" grpId="0" animBg="1"/>
      <p:bldP spid="22" grpId="0"/>
      <p:bldP spid="20" grpId="0"/>
      <p:bldP spid="24" grpId="0" animBg="1"/>
      <p:bldP spid="26" grpId="0" animBg="1"/>
      <p:bldP spid="25" grpId="0"/>
      <p:bldP spid="27" grpId="0" animBg="1"/>
      <p:bldP spid="29" grpId="0" animBg="1"/>
      <p:bldP spid="28" grpId="0"/>
      <p:bldP spid="30" grpId="0" animBg="1"/>
      <p:bldP spid="31" grpId="0"/>
    </p:bldLst>
  </p:timing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5350" y="-13970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1942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21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06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تحليل المنافسين</a:t>
            </a:r>
            <a:endParaRPr lang="ar-SA" sz="4400" dirty="0"/>
          </a:p>
        </p:txBody>
      </p:sp>
      <p:pic>
        <p:nvPicPr>
          <p:cNvPr id="8" name="s21-snap-7" descr="/home/user/flan777/ard-albasatin-presentation/source/pptx_build/img/s21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06700" y="-3746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822184" y="381381"/>
            <a:ext cx="167131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06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المنافسين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14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22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2-text-6"/>
          <p:cNvSpPr txBox="1"/>
          <p:nvPr/>
        </p:nvSpPr>
        <p:spPr>
          <a:xfrm>
            <a:off x="11084719" y="805180"/>
            <a:ext cx="4087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أولًا</a:t>
            </a:r>
            <a:endParaRPr lang="ar-SA" sz="1500" dirty="0"/>
          </a:p>
        </p:txBody>
      </p:sp>
      <p:sp>
        <p:nvSpPr>
          <p:cNvPr id="8" name="s22-text-7"/>
          <p:cNvSpPr txBox="1"/>
          <p:nvPr/>
        </p:nvSpPr>
        <p:spPr>
          <a:xfrm>
            <a:off x="6877852" y="1096772"/>
            <a:ext cx="4615648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تحديد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المنافسين</a:t>
            </a:r>
            <a:endParaRPr lang="ar-SA" sz="4200" dirty="0"/>
          </a:p>
        </p:txBody>
      </p:sp>
      <p:sp>
        <p:nvSpPr>
          <p:cNvPr id="9" name="s22-shape-8"/>
          <p:cNvSpPr/>
          <p:nvPr/>
        </p:nvSpPr>
        <p:spPr>
          <a:xfrm>
            <a:off x="6223000" y="2095500"/>
            <a:ext cx="5270500" cy="4064000"/>
          </a:xfrm>
          <a:prstGeom prst="round2DiagRect">
            <a:avLst>
              <a:gd name="adj1" fmla="val 11250"/>
              <a:gd name="adj2" fmla="val 1563"/>
            </a:avLst>
          </a:prstGeom>
          <a:solidFill>
            <a:srgbClr val="E3F3E9"/>
          </a:solidFill>
          <a:ln/>
        </p:spPr>
      </p:sp>
      <p:sp>
        <p:nvSpPr>
          <p:cNvPr id="10" name="s22-text-9"/>
          <p:cNvSpPr txBox="1"/>
          <p:nvPr/>
        </p:nvSpPr>
        <p:spPr>
          <a:xfrm>
            <a:off x="9118600" y="2425700"/>
            <a:ext cx="2057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0000"/>
              </a:lnSpc>
              <a:buNone/>
            </a:pPr>
            <a:r>
              <a:rPr lang="ar-SA" altLang="en-US" sz="10000" dirty="0">
                <a:solidFill>
                  <a:srgbClr val="35B86E"/>
                </a:solidFill>
                <a:latin typeface="Alexandria Thin"/>
                <a:cs typeface="Alexandria Thin"/>
              </a:rPr>
              <a:t>1</a:t>
            </a:r>
            <a:endParaRPr lang="ar-SA" sz="10000" dirty="0"/>
          </a:p>
        </p:txBody>
      </p:sp>
      <p:sp>
        <p:nvSpPr>
          <p:cNvPr id="11" name="s22-shape-10"/>
          <p:cNvSpPr/>
          <p:nvPr/>
        </p:nvSpPr>
        <p:spPr>
          <a:xfrm>
            <a:off x="6604000" y="241300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2" name="s22-snap-11" descr="/home/user/flan777/ard-albasatin-presentation/source/pptx_build/img/s22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2571750"/>
            <a:ext cx="571500" cy="571500"/>
          </a:xfrm>
          <a:prstGeom prst="rect">
            <a:avLst/>
          </a:prstGeom>
        </p:spPr>
      </p:pic>
      <p:sp>
        <p:nvSpPr>
          <p:cNvPr id="13" name="s22-text-12"/>
          <p:cNvSpPr txBox="1"/>
          <p:nvPr/>
        </p:nvSpPr>
        <p:spPr>
          <a:xfrm>
            <a:off x="6169660" y="3914521"/>
            <a:ext cx="5006340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المتاجر الزراعية المحلية</a:t>
            </a:r>
            <a:endParaRPr lang="ar-SA" sz="2300" dirty="0"/>
          </a:p>
        </p:txBody>
      </p:sp>
      <p:sp>
        <p:nvSpPr>
          <p:cNvPr id="14" name="s22-text-13"/>
          <p:cNvSpPr txBox="1"/>
          <p:nvPr/>
        </p:nvSpPr>
        <p:spPr>
          <a:xfrm>
            <a:off x="6169660" y="4529646"/>
            <a:ext cx="500634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557274"/>
                </a:solidFill>
                <a:latin typeface="Alexandria"/>
                <a:cs typeface="Alexandria"/>
              </a:rPr>
              <a:t>المتاجر التي توفر مستلزمات ومنتجات زراعية</a:t>
            </a:r>
            <a:endParaRPr lang="ar-SA" sz="1650" dirty="0"/>
          </a:p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557274"/>
                </a:solidFill>
                <a:latin typeface="Alexandria"/>
                <a:cs typeface="Alexandria"/>
              </a:rPr>
              <a:t>للمزارعين وأصحاب المشاريع.</a:t>
            </a:r>
            <a:endParaRPr lang="ar-SA" sz="1650" dirty="0"/>
          </a:p>
        </p:txBody>
      </p:sp>
      <p:sp>
        <p:nvSpPr>
          <p:cNvPr id="15" name="s22-shape-14"/>
          <p:cNvSpPr/>
          <p:nvPr/>
        </p:nvSpPr>
        <p:spPr>
          <a:xfrm>
            <a:off x="698500" y="2095500"/>
            <a:ext cx="5270500" cy="4064000"/>
          </a:xfrm>
          <a:prstGeom prst="round2DiagRect">
            <a:avLst>
              <a:gd name="adj1" fmla="val 11250"/>
              <a:gd name="adj2" fmla="val 1563"/>
            </a:avLst>
          </a:prstGeom>
          <a:solidFill>
            <a:srgbClr val="F2F9F5"/>
          </a:solidFill>
          <a:ln/>
        </p:spPr>
      </p:sp>
      <p:sp>
        <p:nvSpPr>
          <p:cNvPr id="16" name="s22-text-15"/>
          <p:cNvSpPr txBox="1"/>
          <p:nvPr/>
        </p:nvSpPr>
        <p:spPr>
          <a:xfrm>
            <a:off x="3594100" y="2425700"/>
            <a:ext cx="2057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0000"/>
              </a:lnSpc>
              <a:buNone/>
            </a:pPr>
            <a:r>
              <a:rPr lang="ar-SA" altLang="en-US" sz="10000" dirty="0">
                <a:solidFill>
                  <a:srgbClr val="35B86E"/>
                </a:solidFill>
                <a:latin typeface="Alexandria Thin"/>
                <a:cs typeface="Alexandria Thin"/>
              </a:rPr>
              <a:t>2</a:t>
            </a:r>
            <a:endParaRPr lang="ar-SA" sz="10000" dirty="0"/>
          </a:p>
        </p:txBody>
      </p:sp>
      <p:sp>
        <p:nvSpPr>
          <p:cNvPr id="17" name="s22-shape-16"/>
          <p:cNvSpPr/>
          <p:nvPr/>
        </p:nvSpPr>
        <p:spPr>
          <a:xfrm>
            <a:off x="1079500" y="241300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8" name="s22-snap-17" descr="/home/user/flan777/ard-albasatin-presentation/source/pptx_build/img/s22_1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2571750"/>
            <a:ext cx="571500" cy="571500"/>
          </a:xfrm>
          <a:prstGeom prst="rect">
            <a:avLst/>
          </a:prstGeom>
        </p:spPr>
      </p:pic>
      <p:sp>
        <p:nvSpPr>
          <p:cNvPr id="19" name="s22-text-18"/>
          <p:cNvSpPr txBox="1"/>
          <p:nvPr/>
        </p:nvSpPr>
        <p:spPr>
          <a:xfrm>
            <a:off x="645160" y="3914521"/>
            <a:ext cx="5006340" cy="44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05"/>
              </a:lnSpc>
              <a:buNone/>
            </a:pPr>
            <a:r>
              <a:rPr lang="ar-SA" altLang="en-US" sz="23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الموردون والموزعون</a:t>
            </a:r>
            <a:endParaRPr lang="ar-SA" sz="2300" dirty="0"/>
          </a:p>
        </p:txBody>
      </p:sp>
      <p:sp>
        <p:nvSpPr>
          <p:cNvPr id="20" name="s22-text-19"/>
          <p:cNvSpPr txBox="1"/>
          <p:nvPr/>
        </p:nvSpPr>
        <p:spPr>
          <a:xfrm>
            <a:off x="645160" y="4529646"/>
            <a:ext cx="500634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557274"/>
                </a:solidFill>
                <a:latin typeface="Alexandria"/>
                <a:cs typeface="Alexandria"/>
              </a:rPr>
              <a:t>الجهات التي تقوم باستيراد أو توزيع المنتجات</a:t>
            </a:r>
            <a:endParaRPr lang="ar-SA" sz="1650" dirty="0"/>
          </a:p>
          <a:p>
            <a:pPr rtl="1" algn="r" indent="0" marL="0">
              <a:lnSpc>
                <a:spcPts val="2640"/>
              </a:lnSpc>
              <a:buNone/>
            </a:pPr>
            <a:r>
              <a:rPr lang="ar-SA" altLang="en-US" sz="1650" dirty="0">
                <a:solidFill>
                  <a:srgbClr val="557274"/>
                </a:solidFill>
                <a:latin typeface="Alexandria"/>
                <a:cs typeface="Alexandria"/>
              </a:rPr>
              <a:t>الزراعية والري.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3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3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3" grpId="0"/>
      <p:bldP spid="11" grpId="0" animBg="1"/>
      <p:bldP spid="14" grpId="0"/>
      <p:bldP spid="15" grpId="0" animBg="1"/>
      <p:bldP spid="16" grpId="0"/>
      <p:bldP spid="19" grpId="0"/>
      <p:bldP spid="17" grpId="0" animBg="1"/>
      <p:bldP spid="20" grpId="0"/>
    </p:bldLst>
  </p:timing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800" y="-7112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822184" y="381381"/>
            <a:ext cx="167131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06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المنافسين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047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23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3-shape-6"/>
          <p:cNvSpPr/>
          <p:nvPr/>
        </p:nvSpPr>
        <p:spPr>
          <a:xfrm>
            <a:off x="6286500" y="889000"/>
            <a:ext cx="5207000" cy="5334000"/>
          </a:xfrm>
          <a:prstGeom prst="round2DiagRect">
            <a:avLst>
              <a:gd name="adj1" fmla="val 8780"/>
              <a:gd name="adj2" fmla="val 1220"/>
            </a:avLst>
          </a:prstGeom>
          <a:solidFill>
            <a:srgbClr val="E3F3E9"/>
          </a:solidFill>
          <a:ln/>
        </p:spPr>
      </p:sp>
      <p:sp>
        <p:nvSpPr>
          <p:cNvPr id="8" name="s23-shape-7"/>
          <p:cNvSpPr/>
          <p:nvPr/>
        </p:nvSpPr>
        <p:spPr>
          <a:xfrm>
            <a:off x="6540500" y="111125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9" name="s23-snap-8" descr="/home/user/flan777/ard-albasatin-presentation/source/pptx_build/img/s23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1209675"/>
            <a:ext cx="412750" cy="412750"/>
          </a:xfrm>
          <a:prstGeom prst="rect">
            <a:avLst/>
          </a:prstGeom>
        </p:spPr>
      </p:pic>
      <p:sp>
        <p:nvSpPr>
          <p:cNvPr id="10" name="s23-text-9"/>
          <p:cNvSpPr txBox="1"/>
          <p:nvPr/>
        </p:nvSpPr>
        <p:spPr>
          <a:xfrm>
            <a:off x="7061200" y="1320927"/>
            <a:ext cx="4114800" cy="3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3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ExtraBold"/>
                <a:cs typeface="Alexandria ExtraBold"/>
              </a:rPr>
              <a:t>نقاط قوة المنافسين</a:t>
            </a:r>
            <a:endParaRPr lang="ar-SA" sz="2100" dirty="0"/>
          </a:p>
        </p:txBody>
      </p:sp>
      <p:sp>
        <p:nvSpPr>
          <p:cNvPr id="11" name="s23-text-10"/>
          <p:cNvSpPr txBox="1"/>
          <p:nvPr/>
        </p:nvSpPr>
        <p:spPr>
          <a:xfrm>
            <a:off x="7061200" y="10544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SemiBold"/>
                <a:cs typeface="Alexandria SemiBold"/>
              </a:rPr>
              <a:t>ثانيًا</a:t>
            </a:r>
            <a:endParaRPr lang="ar-SA" sz="1300" dirty="0"/>
          </a:p>
        </p:txBody>
      </p:sp>
      <p:sp>
        <p:nvSpPr>
          <p:cNvPr id="12" name="s23-shape-11"/>
          <p:cNvSpPr/>
          <p:nvPr/>
        </p:nvSpPr>
        <p:spPr>
          <a:xfrm>
            <a:off x="11055350" y="21844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13" name="s23-text-12"/>
          <p:cNvSpPr txBox="1"/>
          <p:nvPr/>
        </p:nvSpPr>
        <p:spPr>
          <a:xfrm>
            <a:off x="6259068" y="2067687"/>
            <a:ext cx="465658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توفر بعض المنتجات بشكل واسع.</a:t>
            </a:r>
            <a:endParaRPr lang="ar-SA" sz="1600" dirty="0"/>
          </a:p>
        </p:txBody>
      </p:sp>
      <p:sp>
        <p:nvSpPr>
          <p:cNvPr id="14" name="s23-shape-13"/>
          <p:cNvSpPr/>
          <p:nvPr/>
        </p:nvSpPr>
        <p:spPr>
          <a:xfrm>
            <a:off x="6604000" y="2574230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C9E5D3"/>
          </a:solidFill>
          <a:ln/>
        </p:spPr>
      </p:sp>
      <p:sp>
        <p:nvSpPr>
          <p:cNvPr id="15" name="s23-shape-14"/>
          <p:cNvSpPr/>
          <p:nvPr/>
        </p:nvSpPr>
        <p:spPr>
          <a:xfrm>
            <a:off x="11055350" y="28575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16" name="s23-text-15"/>
          <p:cNvSpPr txBox="1"/>
          <p:nvPr/>
        </p:nvSpPr>
        <p:spPr>
          <a:xfrm>
            <a:off x="6259068" y="2743267"/>
            <a:ext cx="465658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وجود شبكة من التجار والموزعين.</a:t>
            </a:r>
            <a:endParaRPr lang="ar-SA" sz="1600" dirty="0"/>
          </a:p>
        </p:txBody>
      </p:sp>
      <p:sp>
        <p:nvSpPr>
          <p:cNvPr id="17" name="s23-shape-16"/>
          <p:cNvSpPr/>
          <p:nvPr/>
        </p:nvSpPr>
        <p:spPr>
          <a:xfrm>
            <a:off x="6604000" y="3249910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C9E5D3"/>
          </a:solidFill>
          <a:ln/>
        </p:spPr>
      </p:sp>
      <p:sp>
        <p:nvSpPr>
          <p:cNvPr id="18" name="s23-shape-17"/>
          <p:cNvSpPr/>
          <p:nvPr/>
        </p:nvSpPr>
        <p:spPr>
          <a:xfrm>
            <a:off x="11055350" y="35306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19" name="s23-text-18"/>
          <p:cNvSpPr txBox="1"/>
          <p:nvPr/>
        </p:nvSpPr>
        <p:spPr>
          <a:xfrm>
            <a:off x="6259068" y="3418947"/>
            <a:ext cx="465658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قرب بعض المتاجر من الأسواق الزراعية.</a:t>
            </a:r>
            <a:endParaRPr lang="ar-SA" sz="1600" dirty="0"/>
          </a:p>
        </p:txBody>
      </p:sp>
      <p:sp>
        <p:nvSpPr>
          <p:cNvPr id="20" name="s23-shape-19"/>
          <p:cNvSpPr/>
          <p:nvPr/>
        </p:nvSpPr>
        <p:spPr>
          <a:xfrm>
            <a:off x="6604000" y="3925491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C9E5D3"/>
          </a:solidFill>
          <a:ln/>
        </p:spPr>
      </p:sp>
      <p:sp>
        <p:nvSpPr>
          <p:cNvPr id="21" name="s23-shape-20"/>
          <p:cNvSpPr/>
          <p:nvPr/>
        </p:nvSpPr>
        <p:spPr>
          <a:xfrm>
            <a:off x="11055350" y="421005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2" name="s23-text-21"/>
          <p:cNvSpPr txBox="1"/>
          <p:nvPr/>
        </p:nvSpPr>
        <p:spPr>
          <a:xfrm>
            <a:off x="6259068" y="4094528"/>
            <a:ext cx="465658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تنوع بعض المنتجات.</a:t>
            </a:r>
            <a:endParaRPr lang="ar-SA" sz="1600" dirty="0"/>
          </a:p>
        </p:txBody>
      </p:sp>
      <p:sp>
        <p:nvSpPr>
          <p:cNvPr id="23" name="s23-shape-22"/>
          <p:cNvSpPr/>
          <p:nvPr/>
        </p:nvSpPr>
        <p:spPr>
          <a:xfrm>
            <a:off x="698500" y="889000"/>
            <a:ext cx="5207000" cy="5334000"/>
          </a:xfrm>
          <a:prstGeom prst="round2DiagRect">
            <a:avLst>
              <a:gd name="adj1" fmla="val 8780"/>
              <a:gd name="adj2" fmla="val 1220"/>
            </a:avLst>
          </a:prstGeom>
          <a:solidFill>
            <a:srgbClr val="F6EFE6"/>
          </a:solidFill>
          <a:ln/>
        </p:spPr>
      </p:sp>
      <p:sp>
        <p:nvSpPr>
          <p:cNvPr id="24" name="s23-shape-23"/>
          <p:cNvSpPr/>
          <p:nvPr/>
        </p:nvSpPr>
        <p:spPr>
          <a:xfrm>
            <a:off x="952500" y="1111250"/>
            <a:ext cx="609600" cy="6096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5" name="s23-snap-24" descr="/home/user/flan777/ard-albasatin-presentation/source/pptx_build/img/s23_2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25" y="1209675"/>
            <a:ext cx="412750" cy="412750"/>
          </a:xfrm>
          <a:prstGeom prst="rect">
            <a:avLst/>
          </a:prstGeom>
        </p:spPr>
      </p:pic>
      <p:sp>
        <p:nvSpPr>
          <p:cNvPr id="26" name="s23-text-25"/>
          <p:cNvSpPr txBox="1"/>
          <p:nvPr/>
        </p:nvSpPr>
        <p:spPr>
          <a:xfrm>
            <a:off x="1198880" y="1322578"/>
            <a:ext cx="4389120" cy="3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70"/>
              </a:lnSpc>
              <a:buNone/>
            </a:pPr>
            <a:r>
              <a:rPr lang="ar-SA" altLang="en-US" sz="1900" dirty="0">
                <a:solidFill>
                  <a:srgbClr val="5E3F2A"/>
                </a:solidFill>
                <a:latin typeface="Alexandria ExtraBold"/>
                <a:cs typeface="Alexandria ExtraBold"/>
              </a:rPr>
              <a:t>بعض نقاط الضعف في السوق</a:t>
            </a:r>
            <a:endParaRPr lang="ar-SA" sz="1900" dirty="0"/>
          </a:p>
        </p:txBody>
      </p:sp>
      <p:sp>
        <p:nvSpPr>
          <p:cNvPr id="27" name="s23-text-26"/>
          <p:cNvSpPr txBox="1"/>
          <p:nvPr/>
        </p:nvSpPr>
        <p:spPr>
          <a:xfrm>
            <a:off x="1473200" y="10544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8A6142"/>
                </a:solidFill>
                <a:latin typeface="Alexandria SemiBold"/>
                <a:cs typeface="Alexandria SemiBold"/>
              </a:rPr>
              <a:t>ثالثًا</a:t>
            </a:r>
            <a:endParaRPr lang="ar-SA" sz="1300" dirty="0"/>
          </a:p>
        </p:txBody>
      </p:sp>
      <p:sp>
        <p:nvSpPr>
          <p:cNvPr id="28" name="s23-shape-27"/>
          <p:cNvSpPr/>
          <p:nvPr/>
        </p:nvSpPr>
        <p:spPr>
          <a:xfrm>
            <a:off x="5467350" y="217805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29" name="s23-text-28"/>
          <p:cNvSpPr txBox="1"/>
          <p:nvPr/>
        </p:nvSpPr>
        <p:spPr>
          <a:xfrm>
            <a:off x="671068" y="2069846"/>
            <a:ext cx="4656582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عدم توفر جميع المنتجات الزراعية في مكان واحد.</a:t>
            </a:r>
            <a:endParaRPr lang="ar-SA" sz="1550" dirty="0"/>
          </a:p>
        </p:txBody>
      </p:sp>
      <p:sp>
        <p:nvSpPr>
          <p:cNvPr id="30" name="s23-shape-29"/>
          <p:cNvSpPr/>
          <p:nvPr/>
        </p:nvSpPr>
        <p:spPr>
          <a:xfrm>
            <a:off x="1016000" y="2482453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E6D8C4"/>
          </a:solidFill>
          <a:ln/>
        </p:spPr>
      </p:sp>
      <p:sp>
        <p:nvSpPr>
          <p:cNvPr id="31" name="s23-shape-30"/>
          <p:cNvSpPr/>
          <p:nvPr/>
        </p:nvSpPr>
        <p:spPr>
          <a:xfrm>
            <a:off x="5467350" y="26797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2" name="s23-text-31"/>
          <p:cNvSpPr txBox="1"/>
          <p:nvPr/>
        </p:nvSpPr>
        <p:spPr>
          <a:xfrm>
            <a:off x="671068" y="2571099"/>
            <a:ext cx="4656582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ضعف توضيح مواصفات بعض المنتجات.</a:t>
            </a:r>
            <a:endParaRPr lang="ar-SA" sz="1550" dirty="0"/>
          </a:p>
        </p:txBody>
      </p:sp>
      <p:sp>
        <p:nvSpPr>
          <p:cNvPr id="33" name="s23-shape-32"/>
          <p:cNvSpPr/>
          <p:nvPr/>
        </p:nvSpPr>
        <p:spPr>
          <a:xfrm>
            <a:off x="1016000" y="2983805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E6D8C4"/>
          </a:solidFill>
          <a:ln/>
        </p:spPr>
      </p:sp>
      <p:sp>
        <p:nvSpPr>
          <p:cNvPr id="34" name="s23-shape-33"/>
          <p:cNvSpPr/>
          <p:nvPr/>
        </p:nvSpPr>
        <p:spPr>
          <a:xfrm>
            <a:off x="5467350" y="318135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5" name="s23-text-34"/>
          <p:cNvSpPr txBox="1"/>
          <p:nvPr/>
        </p:nvSpPr>
        <p:spPr>
          <a:xfrm>
            <a:off x="671068" y="3072451"/>
            <a:ext cx="4656582" cy="62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التركيز أحيانًا على السعر أكثر من شرح القيمة</a:t>
            </a:r>
            <a:endParaRPr lang="ar-SA" sz="15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والاستخدام.</a:t>
            </a:r>
            <a:endParaRPr lang="ar-SA" sz="1550" dirty="0"/>
          </a:p>
        </p:txBody>
      </p:sp>
      <p:sp>
        <p:nvSpPr>
          <p:cNvPr id="36" name="s23-shape-35"/>
          <p:cNvSpPr/>
          <p:nvPr/>
        </p:nvSpPr>
        <p:spPr>
          <a:xfrm>
            <a:off x="1016000" y="3770610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E6D8C4"/>
          </a:solidFill>
          <a:ln/>
        </p:spPr>
      </p:sp>
      <p:sp>
        <p:nvSpPr>
          <p:cNvPr id="37" name="s23-shape-36"/>
          <p:cNvSpPr/>
          <p:nvPr/>
        </p:nvSpPr>
        <p:spPr>
          <a:xfrm>
            <a:off x="5467350" y="396875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8" name="s23-text-37"/>
          <p:cNvSpPr txBox="1"/>
          <p:nvPr/>
        </p:nvSpPr>
        <p:spPr>
          <a:xfrm>
            <a:off x="671068" y="3859256"/>
            <a:ext cx="4656582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تفاوت جودة بعض المنتجات.</a:t>
            </a:r>
            <a:endParaRPr lang="ar-SA" sz="1550" dirty="0"/>
          </a:p>
        </p:txBody>
      </p:sp>
      <p:sp>
        <p:nvSpPr>
          <p:cNvPr id="39" name="s23-shape-38"/>
          <p:cNvSpPr/>
          <p:nvPr/>
        </p:nvSpPr>
        <p:spPr>
          <a:xfrm>
            <a:off x="1016000" y="4271963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E6D8C4"/>
          </a:solidFill>
          <a:ln/>
        </p:spPr>
      </p:sp>
      <p:sp>
        <p:nvSpPr>
          <p:cNvPr id="40" name="s23-shape-39"/>
          <p:cNvSpPr/>
          <p:nvPr/>
        </p:nvSpPr>
        <p:spPr>
          <a:xfrm>
            <a:off x="5467350" y="44704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41" name="s23-text-40"/>
          <p:cNvSpPr txBox="1"/>
          <p:nvPr/>
        </p:nvSpPr>
        <p:spPr>
          <a:xfrm>
            <a:off x="671068" y="4360608"/>
            <a:ext cx="4656582" cy="62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ضعف المحتوى التعليمي والتوعوي في بعض</a:t>
            </a:r>
            <a:endParaRPr lang="ar-SA" sz="15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المتاجر.</a:t>
            </a:r>
            <a:endParaRPr lang="ar-SA" sz="1550" dirty="0"/>
          </a:p>
        </p:txBody>
      </p:sp>
      <p:sp>
        <p:nvSpPr>
          <p:cNvPr id="42" name="s23-shape-41"/>
          <p:cNvSpPr/>
          <p:nvPr/>
        </p:nvSpPr>
        <p:spPr>
          <a:xfrm>
            <a:off x="1016000" y="5058668"/>
            <a:ext cx="4572000" cy="12700"/>
          </a:xfrm>
          <a:prstGeom prst="roundRect">
            <a:avLst>
              <a:gd name="adj" fmla="val 50000"/>
            </a:avLst>
          </a:prstGeom>
          <a:solidFill>
            <a:srgbClr val="E6D8C4"/>
          </a:solidFill>
          <a:ln/>
        </p:spPr>
      </p:sp>
      <p:sp>
        <p:nvSpPr>
          <p:cNvPr id="43" name="s23-shape-42"/>
          <p:cNvSpPr/>
          <p:nvPr/>
        </p:nvSpPr>
        <p:spPr>
          <a:xfrm>
            <a:off x="5467350" y="5257800"/>
            <a:ext cx="120650" cy="12065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44" name="s23-text-43"/>
          <p:cNvSpPr txBox="1"/>
          <p:nvPr/>
        </p:nvSpPr>
        <p:spPr>
          <a:xfrm>
            <a:off x="671068" y="5147314"/>
            <a:ext cx="4656582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"/>
                <a:cs typeface="Alexandria"/>
              </a:rPr>
              <a:t>محدودية الحضور الرقمي لبعض المنافسين.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5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6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5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6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63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7" dur="63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9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1" dur="63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92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9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5" dur="63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8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8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92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0" grpId="0"/>
      <p:bldP spid="8" grpId="0" animBg="1"/>
      <p:bldP spid="12" grpId="0" animBg="1"/>
      <p:bldP spid="14" grpId="0" animBg="1"/>
      <p:bldP spid="23" grpId="0" animBg="1"/>
      <p:bldP spid="13" grpId="0"/>
      <p:bldP spid="27" grpId="0"/>
      <p:bldP spid="15" grpId="0" animBg="1"/>
      <p:bldP spid="17" grpId="0" animBg="1"/>
      <p:bldP spid="16" grpId="0"/>
      <p:bldP spid="26" grpId="0"/>
      <p:bldP spid="24" grpId="0" animBg="1"/>
      <p:bldP spid="18" grpId="0" animBg="1"/>
      <p:bldP spid="20" grpId="0" animBg="1"/>
      <p:bldP spid="19" grpId="0"/>
      <p:bldP spid="28" grpId="0" animBg="1"/>
      <p:bldP spid="30" grpId="0" animBg="1"/>
      <p:bldP spid="21" grpId="0" animBg="1"/>
      <p:bldP spid="29" grpId="0"/>
      <p:bldP spid="22" grpId="0"/>
      <p:bldP spid="31" grpId="0" animBg="1"/>
      <p:bldP spid="33" grpId="0" animBg="1"/>
      <p:bldP spid="32" grpId="0"/>
      <p:bldP spid="34" grpId="0" animBg="1"/>
      <p:bldP spid="36" grpId="0" animBg="1"/>
      <p:bldP spid="35" grpId="0"/>
      <p:bldP spid="37" grpId="0" animBg="1"/>
      <p:bldP spid="39" grpId="0" animBg="1"/>
      <p:bldP spid="38" grpId="0"/>
      <p:bldP spid="40" grpId="0" animBg="1"/>
      <p:bldP spid="42" grpId="0" animBg="1"/>
      <p:bldP spid="41" grpId="0"/>
      <p:bldP spid="43" grpId="0" animBg="1"/>
      <p:bldP spid="44" grpId="0"/>
    </p:bldLst>
  </p:timing>
</p:sld>
</file>

<file path=ppt/slides/slide2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7150" y="-10795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822184" y="381381"/>
            <a:ext cx="167131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06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المنافسين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067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24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4-text-6"/>
          <p:cNvSpPr txBox="1"/>
          <p:nvPr/>
        </p:nvSpPr>
        <p:spPr>
          <a:xfrm>
            <a:off x="11009511" y="805180"/>
            <a:ext cx="48398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رابعًا</a:t>
            </a:r>
            <a:endParaRPr lang="ar-SA" sz="1500" dirty="0"/>
          </a:p>
        </p:txBody>
      </p:sp>
      <p:sp>
        <p:nvSpPr>
          <p:cNvPr id="8" name="s24-text-7"/>
          <p:cNvSpPr txBox="1"/>
          <p:nvPr/>
        </p:nvSpPr>
        <p:spPr>
          <a:xfrm>
            <a:off x="6496483" y="1096772"/>
            <a:ext cx="4997017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أسلوبهم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التسويقي</a:t>
            </a:r>
            <a:endParaRPr lang="ar-SA" sz="4200" dirty="0"/>
          </a:p>
        </p:txBody>
      </p:sp>
      <p:pic>
        <p:nvPicPr>
          <p:cNvPr id="9" name="s24-snap-8" descr="/home/user/flan777/ard-albasatin-presentation/source/pptx_build/img/s24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00350"/>
            <a:ext cx="10591800" cy="177800"/>
          </a:xfrm>
          <a:prstGeom prst="rect">
            <a:avLst/>
          </a:prstGeom>
        </p:spPr>
      </p:pic>
      <p:sp>
        <p:nvSpPr>
          <p:cNvPr id="10" name="s24-shape-9"/>
          <p:cNvSpPr/>
          <p:nvPr/>
        </p:nvSpPr>
        <p:spPr>
          <a:xfrm>
            <a:off x="10013950" y="244475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E3F3E9"/>
          </a:solidFill>
          <a:ln/>
        </p:spPr>
      </p:sp>
      <p:pic>
        <p:nvPicPr>
          <p:cNvPr id="11" name="s24-snap-10" descr="/home/user/flan777/ard-albasatin-presentation/source/pptx_build/img/s24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2603500"/>
            <a:ext cx="571500" cy="571500"/>
          </a:xfrm>
          <a:prstGeom prst="rect">
            <a:avLst/>
          </a:prstGeom>
        </p:spPr>
      </p:pic>
      <p:sp>
        <p:nvSpPr>
          <p:cNvPr id="12" name="s24-shape-11"/>
          <p:cNvSpPr/>
          <p:nvPr/>
        </p:nvSpPr>
        <p:spPr>
          <a:xfrm>
            <a:off x="9423400" y="3683000"/>
            <a:ext cx="2070100" cy="2413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2F9F5"/>
          </a:solidFill>
          <a:ln/>
        </p:spPr>
      </p:sp>
      <p:sp>
        <p:nvSpPr>
          <p:cNvPr id="13" name="s24-text-12"/>
          <p:cNvSpPr txBox="1"/>
          <p:nvPr/>
        </p:nvSpPr>
        <p:spPr>
          <a:xfrm>
            <a:off x="10756900" y="3872865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2000" dirty="0">
                <a:solidFill>
                  <a:srgbClr val="35B86E"/>
                </a:solidFill>
                <a:latin typeface="Alexandria ExtraLight"/>
                <a:cs typeface="Alexandria ExtraLight"/>
              </a:rPr>
              <a:t>01</a:t>
            </a:r>
            <a:endParaRPr lang="ar-SA" sz="2000" dirty="0"/>
          </a:p>
        </p:txBody>
      </p:sp>
      <p:sp>
        <p:nvSpPr>
          <p:cNvPr id="14" name="s24-text-13"/>
          <p:cNvSpPr txBox="1"/>
          <p:nvPr/>
        </p:nvSpPr>
        <p:spPr>
          <a:xfrm>
            <a:off x="9478772" y="4288854"/>
            <a:ext cx="182422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الاعتماد على البيع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المباشر.</a:t>
            </a:r>
            <a:endParaRPr lang="ar-SA" sz="1550" dirty="0"/>
          </a:p>
        </p:txBody>
      </p:sp>
      <p:sp>
        <p:nvSpPr>
          <p:cNvPr id="15" name="s24-shape-14"/>
          <p:cNvSpPr/>
          <p:nvPr/>
        </p:nvSpPr>
        <p:spPr>
          <a:xfrm>
            <a:off x="7835900" y="244475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E3F3E9"/>
          </a:solidFill>
          <a:ln/>
        </p:spPr>
      </p:sp>
      <p:pic>
        <p:nvPicPr>
          <p:cNvPr id="16" name="s24-snap-15" descr="/home/user/flan777/ard-albasatin-presentation/source/pptx_build/img/s24_1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650" y="2603500"/>
            <a:ext cx="571500" cy="571500"/>
          </a:xfrm>
          <a:prstGeom prst="rect">
            <a:avLst/>
          </a:prstGeom>
        </p:spPr>
      </p:pic>
      <p:sp>
        <p:nvSpPr>
          <p:cNvPr id="17" name="s24-shape-16"/>
          <p:cNvSpPr/>
          <p:nvPr/>
        </p:nvSpPr>
        <p:spPr>
          <a:xfrm>
            <a:off x="7245350" y="3683000"/>
            <a:ext cx="2070100" cy="2413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2F9F5"/>
          </a:solidFill>
          <a:ln/>
        </p:spPr>
      </p:sp>
      <p:sp>
        <p:nvSpPr>
          <p:cNvPr id="18" name="s24-text-17"/>
          <p:cNvSpPr txBox="1"/>
          <p:nvPr/>
        </p:nvSpPr>
        <p:spPr>
          <a:xfrm>
            <a:off x="8578850" y="3872865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2000" dirty="0">
                <a:solidFill>
                  <a:srgbClr val="35B86E"/>
                </a:solidFill>
                <a:latin typeface="Alexandria ExtraLight"/>
                <a:cs typeface="Alexandria ExtraLight"/>
              </a:rPr>
              <a:t>02</a:t>
            </a:r>
            <a:endParaRPr lang="ar-SA" sz="2000" dirty="0"/>
          </a:p>
        </p:txBody>
      </p:sp>
      <p:sp>
        <p:nvSpPr>
          <p:cNvPr id="19" name="s24-text-18"/>
          <p:cNvSpPr txBox="1"/>
          <p:nvPr/>
        </p:nvSpPr>
        <p:spPr>
          <a:xfrm>
            <a:off x="7300722" y="4288854"/>
            <a:ext cx="182422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الاعتماد على التجار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والموزعين.</a:t>
            </a:r>
            <a:endParaRPr lang="ar-SA" sz="1550" dirty="0"/>
          </a:p>
        </p:txBody>
      </p:sp>
      <p:sp>
        <p:nvSpPr>
          <p:cNvPr id="20" name="s24-shape-19"/>
          <p:cNvSpPr/>
          <p:nvPr/>
        </p:nvSpPr>
        <p:spPr>
          <a:xfrm>
            <a:off x="5657850" y="244475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E3F3E9"/>
          </a:solidFill>
          <a:ln/>
        </p:spPr>
      </p:sp>
      <p:pic>
        <p:nvPicPr>
          <p:cNvPr id="21" name="s24-snap-20" descr="/home/user/flan777/ard-albasatin-presentation/source/pptx_build/img/s24_2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6600" y="2603500"/>
            <a:ext cx="571500" cy="571500"/>
          </a:xfrm>
          <a:prstGeom prst="rect">
            <a:avLst/>
          </a:prstGeom>
        </p:spPr>
      </p:pic>
      <p:sp>
        <p:nvSpPr>
          <p:cNvPr id="22" name="s24-shape-21"/>
          <p:cNvSpPr/>
          <p:nvPr/>
        </p:nvSpPr>
        <p:spPr>
          <a:xfrm>
            <a:off x="5067300" y="3683000"/>
            <a:ext cx="2070100" cy="2413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2F9F5"/>
          </a:solidFill>
          <a:ln/>
        </p:spPr>
      </p:sp>
      <p:sp>
        <p:nvSpPr>
          <p:cNvPr id="23" name="s24-text-22"/>
          <p:cNvSpPr txBox="1"/>
          <p:nvPr/>
        </p:nvSpPr>
        <p:spPr>
          <a:xfrm>
            <a:off x="6400800" y="3872865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2000" dirty="0">
                <a:solidFill>
                  <a:srgbClr val="35B86E"/>
                </a:solidFill>
                <a:latin typeface="Alexandria ExtraLight"/>
                <a:cs typeface="Alexandria ExtraLight"/>
              </a:rPr>
              <a:t>03</a:t>
            </a:r>
            <a:endParaRPr lang="ar-SA" sz="2000" dirty="0"/>
          </a:p>
        </p:txBody>
      </p:sp>
      <p:sp>
        <p:nvSpPr>
          <p:cNvPr id="24" name="s24-text-23"/>
          <p:cNvSpPr txBox="1"/>
          <p:nvPr/>
        </p:nvSpPr>
        <p:spPr>
          <a:xfrm>
            <a:off x="5122672" y="4288854"/>
            <a:ext cx="182422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استخدام فيسبوك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وواتساب.</a:t>
            </a:r>
            <a:endParaRPr lang="ar-SA" sz="1550" dirty="0"/>
          </a:p>
        </p:txBody>
      </p:sp>
      <p:sp>
        <p:nvSpPr>
          <p:cNvPr id="25" name="s24-shape-24"/>
          <p:cNvSpPr/>
          <p:nvPr/>
        </p:nvSpPr>
        <p:spPr>
          <a:xfrm>
            <a:off x="3479800" y="244475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E3F3E9"/>
          </a:solidFill>
          <a:ln/>
        </p:spPr>
      </p:sp>
      <p:pic>
        <p:nvPicPr>
          <p:cNvPr id="26" name="s24-snap-25" descr="/home/user/flan777/ard-albasatin-presentation/source/pptx_build/img/s24_2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8550" y="2603500"/>
            <a:ext cx="571500" cy="571500"/>
          </a:xfrm>
          <a:prstGeom prst="rect">
            <a:avLst/>
          </a:prstGeom>
        </p:spPr>
      </p:pic>
      <p:sp>
        <p:nvSpPr>
          <p:cNvPr id="27" name="s24-shape-26"/>
          <p:cNvSpPr/>
          <p:nvPr/>
        </p:nvSpPr>
        <p:spPr>
          <a:xfrm>
            <a:off x="2889250" y="3683000"/>
            <a:ext cx="2070100" cy="2413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2F9F5"/>
          </a:solidFill>
          <a:ln/>
        </p:spPr>
      </p:sp>
      <p:sp>
        <p:nvSpPr>
          <p:cNvPr id="28" name="s24-text-27"/>
          <p:cNvSpPr txBox="1"/>
          <p:nvPr/>
        </p:nvSpPr>
        <p:spPr>
          <a:xfrm>
            <a:off x="4222750" y="3872865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2000" dirty="0">
                <a:solidFill>
                  <a:srgbClr val="35B86E"/>
                </a:solidFill>
                <a:latin typeface="Alexandria ExtraLight"/>
                <a:cs typeface="Alexandria ExtraLight"/>
              </a:rPr>
              <a:t>04</a:t>
            </a:r>
            <a:endParaRPr lang="ar-SA" sz="2000" dirty="0"/>
          </a:p>
        </p:txBody>
      </p:sp>
      <p:sp>
        <p:nvSpPr>
          <p:cNvPr id="29" name="s24-text-28"/>
          <p:cNvSpPr txBox="1"/>
          <p:nvPr/>
        </p:nvSpPr>
        <p:spPr>
          <a:xfrm>
            <a:off x="2944622" y="4288854"/>
            <a:ext cx="182422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التركيز على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العروض والأسعار.</a:t>
            </a:r>
            <a:endParaRPr lang="ar-SA" sz="1550" dirty="0"/>
          </a:p>
        </p:txBody>
      </p:sp>
      <p:sp>
        <p:nvSpPr>
          <p:cNvPr id="30" name="s24-shape-29"/>
          <p:cNvSpPr/>
          <p:nvPr/>
        </p:nvSpPr>
        <p:spPr>
          <a:xfrm>
            <a:off x="1301750" y="2444750"/>
            <a:ext cx="889000" cy="889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1" name="s24-snap-30" descr="/home/user/flan777/ard-albasatin-presentation/source/pptx_build/img/s24_3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0500" y="2603500"/>
            <a:ext cx="571500" cy="571500"/>
          </a:xfrm>
          <a:prstGeom prst="rect">
            <a:avLst/>
          </a:prstGeom>
        </p:spPr>
      </p:pic>
      <p:sp>
        <p:nvSpPr>
          <p:cNvPr id="32" name="s24-shape-31"/>
          <p:cNvSpPr/>
          <p:nvPr/>
        </p:nvSpPr>
        <p:spPr>
          <a:xfrm>
            <a:off x="711200" y="3683000"/>
            <a:ext cx="2070100" cy="2413000"/>
          </a:xfrm>
          <a:prstGeom prst="round2DiagRect">
            <a:avLst>
              <a:gd name="adj1" fmla="val 22086"/>
              <a:gd name="adj2" fmla="val 3067"/>
            </a:avLst>
          </a:prstGeom>
          <a:solidFill>
            <a:srgbClr val="F2F9F5"/>
          </a:solidFill>
          <a:ln/>
        </p:spPr>
      </p:sp>
      <p:sp>
        <p:nvSpPr>
          <p:cNvPr id="33" name="s24-text-32"/>
          <p:cNvSpPr txBox="1"/>
          <p:nvPr/>
        </p:nvSpPr>
        <p:spPr>
          <a:xfrm>
            <a:off x="2044700" y="3872865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2000" dirty="0">
                <a:solidFill>
                  <a:srgbClr val="35B86E"/>
                </a:solidFill>
                <a:latin typeface="Alexandria ExtraLight"/>
                <a:cs typeface="Alexandria ExtraLight"/>
              </a:rPr>
              <a:t>05</a:t>
            </a:r>
            <a:endParaRPr lang="ar-SA" sz="2000" dirty="0"/>
          </a:p>
        </p:txBody>
      </p:sp>
      <p:sp>
        <p:nvSpPr>
          <p:cNvPr id="34" name="s24-text-33"/>
          <p:cNvSpPr txBox="1"/>
          <p:nvPr/>
        </p:nvSpPr>
        <p:spPr>
          <a:xfrm>
            <a:off x="766572" y="4288854"/>
            <a:ext cx="1824228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عرض المنتجات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دون تقديم محتوى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تعليمي كافٍ في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Medium"/>
                <a:cs typeface="Alexandria Medium"/>
              </a:rPr>
              <a:t>بعض الحالات.</a:t>
            </a:r>
            <a:endParaRPr lang="ar-SA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2" grpId="0" animBg="1"/>
      <p:bldP spid="13" grpId="0"/>
      <p:bldP spid="14" grpId="0"/>
      <p:bldP spid="15" grpId="0" animBg="1"/>
      <p:bldP spid="17" grpId="0" animBg="1"/>
      <p:bldP spid="18" grpId="0"/>
      <p:bldP spid="19" grpId="0"/>
      <p:bldP spid="20" grpId="0" animBg="1"/>
      <p:bldP spid="22" grpId="0" animBg="1"/>
      <p:bldP spid="23" grpId="0"/>
      <p:bldP spid="24" grpId="0"/>
      <p:bldP spid="25" grpId="0" animBg="1"/>
      <p:bldP spid="27" grpId="0" animBg="1"/>
      <p:bldP spid="28" grpId="0"/>
      <p:bldP spid="29" grpId="0"/>
      <p:bldP spid="30" grpId="0" animBg="1"/>
      <p:bldP spid="32" grpId="0" animBg="1"/>
      <p:bldP spid="33" grpId="0"/>
      <p:bldP spid="34" grpId="0"/>
    </p:bldLst>
  </p:timing>
</p:sld>
</file>

<file path=ppt/slides/slide2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2450" y="-14033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822184" y="381381"/>
            <a:ext cx="167131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06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تحليل المنافسين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325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25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5-text-6"/>
          <p:cNvSpPr txBox="1"/>
          <p:nvPr/>
        </p:nvSpPr>
        <p:spPr>
          <a:xfrm>
            <a:off x="2410936" y="817372"/>
            <a:ext cx="9082564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الفرصة </a:t>
            </a: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التنافسية لأرض البساتين</a:t>
            </a:r>
            <a:endParaRPr lang="ar-SA" sz="4200" dirty="0"/>
          </a:p>
        </p:txBody>
      </p:sp>
      <p:sp>
        <p:nvSpPr>
          <p:cNvPr id="8" name="s25-text-7"/>
          <p:cNvSpPr txBox="1"/>
          <p:nvPr/>
        </p:nvSpPr>
        <p:spPr>
          <a:xfrm>
            <a:off x="-165100" y="1908556"/>
            <a:ext cx="11658600" cy="140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تتمثل الفرصة التنافسية لـ أرض البساتين في بناء متجر زراعي يجمع بين </a:t>
            </a: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تنوع المنتجات</a:t>
            </a: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،</a:t>
            </a:r>
            <a:endParaRPr lang="ar-SA" sz="2200" dirty="0"/>
          </a:p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المحتوى الزراعي المفيد</a:t>
            </a: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، </a:t>
            </a: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وضوح المواصفات</a:t>
            </a: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، </a:t>
            </a: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جودة اختيار المنتجات</a:t>
            </a: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، </a:t>
            </a: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وسهولة</a:t>
            </a:r>
            <a:endParaRPr lang="ar-SA" sz="2200" dirty="0"/>
          </a:p>
          <a:p>
            <a:pPr rtl="1" algn="r" indent="0" marL="0">
              <a:lnSpc>
                <a:spcPts val="3564"/>
              </a:lnSpc>
              <a:buNone/>
            </a:pPr>
            <a:r>
              <a:rPr lang="ar-SA" altLang="en-US" sz="2200" b="1" dirty="0">
                <a:solidFill>
                  <a:srgbClr val="C3E36B"/>
                </a:solidFill>
                <a:latin typeface="Alexandria"/>
                <a:cs typeface="Alexandria"/>
              </a:rPr>
              <a:t>التواصل والشراء</a:t>
            </a:r>
            <a:r>
              <a:rPr lang="ar-SA" altLang="en-US" sz="2200" dirty="0">
                <a:solidFill>
                  <a:srgbClr val="FFFFFF"/>
                </a:solidFill>
                <a:latin typeface="Alexandria Light"/>
                <a:cs typeface="Alexandria Light"/>
              </a:rPr>
              <a:t>.</a:t>
            </a:r>
            <a:endParaRPr lang="ar-SA" sz="2200" dirty="0"/>
          </a:p>
        </p:txBody>
      </p:sp>
      <p:sp>
        <p:nvSpPr>
          <p:cNvPr id="9" name="s25-shape-8"/>
          <p:cNvSpPr/>
          <p:nvPr/>
        </p:nvSpPr>
        <p:spPr>
          <a:xfrm>
            <a:off x="698500" y="4381500"/>
            <a:ext cx="10795000" cy="1841500"/>
          </a:xfrm>
          <a:prstGeom prst="round2DiagRect">
            <a:avLst>
              <a:gd name="adj1" fmla="val 24828"/>
              <a:gd name="adj2" fmla="val 344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25-shape-9"/>
          <p:cNvSpPr/>
          <p:nvPr/>
        </p:nvSpPr>
        <p:spPr>
          <a:xfrm>
            <a:off x="10350500" y="4889500"/>
            <a:ext cx="825500" cy="8255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1" name="s25-snap-10" descr="/home/user/flan777/ard-albasatin-presentation/source/pptx_build/img/s25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6550" y="5035550"/>
            <a:ext cx="533400" cy="533400"/>
          </a:xfrm>
          <a:prstGeom prst="rect">
            <a:avLst/>
          </a:prstGeom>
        </p:spPr>
      </p:pic>
      <p:sp>
        <p:nvSpPr>
          <p:cNvPr id="12" name="s25-text-11"/>
          <p:cNvSpPr txBox="1"/>
          <p:nvPr/>
        </p:nvSpPr>
        <p:spPr>
          <a:xfrm>
            <a:off x="358140" y="4588954"/>
            <a:ext cx="9738360" cy="106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كما يمثل امتلاك </a:t>
            </a:r>
            <a:r>
              <a:rPr lang="ar-SA" altLang="en-US" sz="1650" dirty="0">
                <a:solidFill>
                  <a:srgbClr val="C3E36B"/>
                </a:solidFill>
                <a:latin typeface="Alexandria ExtraBold"/>
                <a:cs typeface="Alexandria ExtraBold"/>
              </a:rPr>
              <a:t>مصنع دريب أكوا </a:t>
            </a: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ميزة مهمة، حيث يمكن تقديم بعض منتجات الري والأنابيب</a:t>
            </a:r>
            <a:endParaRPr lang="ar-SA" sz="1650" dirty="0"/>
          </a:p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المصنّعة محليًا، مع إبراز جودة التصنيع والمواصفات دون حصر هوية المتجر في منتجات الأنابيب</a:t>
            </a:r>
            <a:endParaRPr lang="ar-SA" sz="1650" dirty="0"/>
          </a:p>
          <a:p>
            <a:pPr rtl="1" algn="r" indent="0" marL="0">
              <a:lnSpc>
                <a:spcPts val="2673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"/>
                <a:cs typeface="Alexandria"/>
              </a:rPr>
              <a:t>فقط.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0" grpId="0" animBg="1"/>
    </p:bldLst>
  </p:timing>
</p:sld>
</file>

<file path=ppt/slides/slide2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9800" y="-16065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5266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26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07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تحليل SWOT لمشروع</a:t>
            </a:r>
            <a:endParaRPr lang="ar-SA" sz="4400" dirty="0"/>
          </a:p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4400" dirty="0"/>
          </a:p>
        </p:txBody>
      </p:sp>
      <p:pic>
        <p:nvPicPr>
          <p:cNvPr id="8" name="s26-snap-7" descr="/home/user/flan777/ard-albasatin-presentation/source/pptx_build/img/s26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050" y="-16446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373110" y="381381"/>
            <a:ext cx="312039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07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SWOT لمشروع أرض البساتين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849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7-shape-6"/>
          <p:cNvSpPr/>
          <p:nvPr/>
        </p:nvSpPr>
        <p:spPr>
          <a:xfrm>
            <a:off x="6223000" y="889000"/>
            <a:ext cx="5270500" cy="5334000"/>
          </a:xfrm>
          <a:prstGeom prst="round2DiagRect">
            <a:avLst>
              <a:gd name="adj1" fmla="val 8675"/>
              <a:gd name="adj2" fmla="val 1205"/>
            </a:avLst>
          </a:prstGeom>
          <a:solidFill>
            <a:srgbClr val="E3F3E9"/>
          </a:solidFill>
          <a:ln/>
        </p:spPr>
      </p:sp>
      <p:sp>
        <p:nvSpPr>
          <p:cNvPr id="8" name="s27-text-7"/>
          <p:cNvSpPr txBox="1"/>
          <p:nvPr/>
        </p:nvSpPr>
        <p:spPr>
          <a:xfrm>
            <a:off x="6413500" y="968375"/>
            <a:ext cx="20574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altLang="en-US" sz="15000" dirty="0">
                <a:solidFill>
                  <a:srgbClr val="01804C"/>
                </a:solidFill>
                <a:latin typeface="Alexandria Thin"/>
                <a:cs typeface="Alexandria Thin"/>
              </a:rPr>
              <a:t>S</a:t>
            </a:r>
            <a:endParaRPr lang="en-US" sz="15000" dirty="0"/>
          </a:p>
        </p:txBody>
      </p:sp>
      <p:sp>
        <p:nvSpPr>
          <p:cNvPr id="9" name="s27-text-8"/>
          <p:cNvSpPr txBox="1"/>
          <p:nvPr/>
        </p:nvSpPr>
        <p:spPr>
          <a:xfrm>
            <a:off x="7061200" y="10798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1804C"/>
                </a:solidFill>
                <a:latin typeface="Alexandria SemiBold"/>
                <a:cs typeface="Alexandria SemiBold"/>
              </a:rPr>
              <a:t>أولًا</a:t>
            </a:r>
            <a:endParaRPr lang="ar-SA" sz="1300" dirty="0"/>
          </a:p>
        </p:txBody>
      </p:sp>
      <p:sp>
        <p:nvSpPr>
          <p:cNvPr id="10" name="s27-text-9"/>
          <p:cNvSpPr txBox="1"/>
          <p:nvPr/>
        </p:nvSpPr>
        <p:spPr>
          <a:xfrm>
            <a:off x="6375400" y="1331214"/>
            <a:ext cx="4800600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6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ExtraBold"/>
                <a:cs typeface="Alexandria ExtraBold"/>
              </a:rPr>
              <a:t>نقاط القوة </a:t>
            </a:r>
            <a:r>
              <a:rPr lang="ar-SA" altLang="en-US" sz="1500" dirty="0">
                <a:solidFill>
                  <a:srgbClr val="01804C"/>
                </a:solidFill>
                <a:latin typeface="Alexandria Light"/>
                <a:cs typeface="Alexandria Light"/>
              </a:rPr>
              <a:t>(Strengths)</a:t>
            </a:r>
            <a:endParaRPr lang="ar-SA" sz="2200" dirty="0"/>
          </a:p>
        </p:txBody>
      </p:sp>
      <p:sp>
        <p:nvSpPr>
          <p:cNvPr id="11" name="s27-shape-10"/>
          <p:cNvSpPr/>
          <p:nvPr/>
        </p:nvSpPr>
        <p:spPr>
          <a:xfrm>
            <a:off x="11068050" y="21018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12" name="s27-text-11"/>
          <p:cNvSpPr txBox="1"/>
          <p:nvPr/>
        </p:nvSpPr>
        <p:spPr>
          <a:xfrm>
            <a:off x="6120892" y="1994789"/>
            <a:ext cx="480745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متجر متخصص في المنتجات والمستلزمات الزراعية.</a:t>
            </a:r>
            <a:endParaRPr lang="ar-SA" sz="1450" dirty="0"/>
          </a:p>
        </p:txBody>
      </p:sp>
      <p:sp>
        <p:nvSpPr>
          <p:cNvPr id="13" name="s27-shape-12"/>
          <p:cNvSpPr/>
          <p:nvPr/>
        </p:nvSpPr>
        <p:spPr>
          <a:xfrm>
            <a:off x="11068050" y="24828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14" name="s27-text-13"/>
          <p:cNvSpPr txBox="1"/>
          <p:nvPr/>
        </p:nvSpPr>
        <p:spPr>
          <a:xfrm>
            <a:off x="6120892" y="2376087"/>
            <a:ext cx="480745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تنوع المنتجات التي تلبي احتياجات المزارعين.</a:t>
            </a:r>
            <a:endParaRPr lang="ar-SA" sz="1450" dirty="0"/>
          </a:p>
        </p:txBody>
      </p:sp>
      <p:sp>
        <p:nvSpPr>
          <p:cNvPr id="15" name="s27-shape-14"/>
          <p:cNvSpPr/>
          <p:nvPr/>
        </p:nvSpPr>
        <p:spPr>
          <a:xfrm>
            <a:off x="11068050" y="28638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16" name="s27-text-15"/>
          <p:cNvSpPr txBox="1"/>
          <p:nvPr/>
        </p:nvSpPr>
        <p:spPr>
          <a:xfrm>
            <a:off x="6120892" y="2757384"/>
            <a:ext cx="4807458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b="1" dirty="0">
                <a:solidFill>
                  <a:srgbClr val="0E3A3C"/>
                </a:solidFill>
                <a:latin typeface="Alexandria"/>
                <a:cs typeface="Alexandria"/>
              </a:rPr>
              <a:t>وجود مصنع دريب أكوا كمصدر لبعض المنتجات</a:t>
            </a:r>
            <a:endParaRPr lang="ar-SA" sz="1450" dirty="0"/>
          </a:p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b="1" dirty="0">
                <a:solidFill>
                  <a:srgbClr val="0E3A3C"/>
                </a:solidFill>
                <a:latin typeface="Alexandria"/>
                <a:cs typeface="Alexandria"/>
              </a:rPr>
              <a:t>المصنّعة محليًا.</a:t>
            </a:r>
            <a:endParaRPr lang="ar-SA" sz="1450" dirty="0"/>
          </a:p>
        </p:txBody>
      </p:sp>
      <p:sp>
        <p:nvSpPr>
          <p:cNvPr id="17" name="s27-shape-16"/>
          <p:cNvSpPr/>
          <p:nvPr/>
        </p:nvSpPr>
        <p:spPr>
          <a:xfrm>
            <a:off x="11068050" y="35115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18" name="s27-text-17"/>
          <p:cNvSpPr txBox="1"/>
          <p:nvPr/>
        </p:nvSpPr>
        <p:spPr>
          <a:xfrm>
            <a:off x="6120892" y="3405680"/>
            <a:ext cx="4807458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إمكانية التحكم بشكل أفضل في جودة بعض المنتجات</a:t>
            </a:r>
            <a:endParaRPr lang="ar-SA" sz="1450" dirty="0"/>
          </a:p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المصنّعة.</a:t>
            </a:r>
            <a:endParaRPr lang="ar-SA" sz="1450" dirty="0"/>
          </a:p>
        </p:txBody>
      </p:sp>
      <p:sp>
        <p:nvSpPr>
          <p:cNvPr id="19" name="s27-shape-18"/>
          <p:cNvSpPr/>
          <p:nvPr/>
        </p:nvSpPr>
        <p:spPr>
          <a:xfrm>
            <a:off x="11068050" y="41592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20" name="s27-text-19"/>
          <p:cNvSpPr txBox="1"/>
          <p:nvPr/>
        </p:nvSpPr>
        <p:spPr>
          <a:xfrm>
            <a:off x="6120892" y="4054074"/>
            <a:ext cx="480745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توفير منتجات الري والأنابيب ومنتجات الحماية الزراعية.</a:t>
            </a:r>
            <a:endParaRPr lang="ar-SA" sz="1450" dirty="0"/>
          </a:p>
        </p:txBody>
      </p:sp>
      <p:sp>
        <p:nvSpPr>
          <p:cNvPr id="21" name="s27-shape-20"/>
          <p:cNvSpPr/>
          <p:nvPr/>
        </p:nvSpPr>
        <p:spPr>
          <a:xfrm>
            <a:off x="11068050" y="45402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22" name="s27-text-21"/>
          <p:cNvSpPr txBox="1"/>
          <p:nvPr/>
        </p:nvSpPr>
        <p:spPr>
          <a:xfrm>
            <a:off x="6120892" y="4435372"/>
            <a:ext cx="4807458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إمكانية توفير كميات للمزارعين والتجار والمنظمات</a:t>
            </a:r>
            <a:endParaRPr lang="ar-SA" sz="1450" dirty="0"/>
          </a:p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والمشاريع الزراعية.</a:t>
            </a:r>
            <a:endParaRPr lang="ar-SA" sz="1450" dirty="0"/>
          </a:p>
        </p:txBody>
      </p:sp>
      <p:sp>
        <p:nvSpPr>
          <p:cNvPr id="23" name="s27-shape-22"/>
          <p:cNvSpPr/>
          <p:nvPr/>
        </p:nvSpPr>
        <p:spPr>
          <a:xfrm>
            <a:off x="11068050" y="51879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24" name="s27-text-23"/>
          <p:cNvSpPr txBox="1"/>
          <p:nvPr/>
        </p:nvSpPr>
        <p:spPr>
          <a:xfrm>
            <a:off x="6120892" y="5083667"/>
            <a:ext cx="480745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سهولة التواصل المباشر مع العملاء.</a:t>
            </a:r>
            <a:endParaRPr lang="ar-SA" sz="1450" dirty="0"/>
          </a:p>
        </p:txBody>
      </p:sp>
      <p:sp>
        <p:nvSpPr>
          <p:cNvPr id="25" name="s27-shape-24"/>
          <p:cNvSpPr/>
          <p:nvPr/>
        </p:nvSpPr>
        <p:spPr>
          <a:xfrm>
            <a:off x="11068050" y="5568950"/>
            <a:ext cx="107950" cy="107950"/>
          </a:xfrm>
          <a:prstGeom prst="teardrop">
            <a:avLst>
              <a:gd name="adj" fmla="val 100000"/>
            </a:avLst>
          </a:prstGeom>
          <a:solidFill>
            <a:srgbClr val="01804C"/>
          </a:solidFill>
          <a:ln/>
        </p:spPr>
      </p:sp>
      <p:sp>
        <p:nvSpPr>
          <p:cNvPr id="26" name="s27-text-25"/>
          <p:cNvSpPr txBox="1"/>
          <p:nvPr/>
        </p:nvSpPr>
        <p:spPr>
          <a:xfrm>
            <a:off x="6120892" y="5465064"/>
            <a:ext cx="4807458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إمكانية بناء علامة تجارية متخصصة في القطاع الزراعي.</a:t>
            </a:r>
            <a:endParaRPr lang="ar-SA" sz="1450" dirty="0"/>
          </a:p>
        </p:txBody>
      </p:sp>
      <p:sp>
        <p:nvSpPr>
          <p:cNvPr id="27" name="s27-shape-26"/>
          <p:cNvSpPr/>
          <p:nvPr/>
        </p:nvSpPr>
        <p:spPr>
          <a:xfrm>
            <a:off x="698500" y="889000"/>
            <a:ext cx="5270500" cy="5334000"/>
          </a:xfrm>
          <a:prstGeom prst="round2DiagRect">
            <a:avLst>
              <a:gd name="adj1" fmla="val 8675"/>
              <a:gd name="adj2" fmla="val 1205"/>
            </a:avLst>
          </a:prstGeom>
          <a:solidFill>
            <a:srgbClr val="F6EFE6"/>
          </a:solidFill>
          <a:ln/>
        </p:spPr>
      </p:sp>
      <p:sp>
        <p:nvSpPr>
          <p:cNvPr id="28" name="s27-text-27"/>
          <p:cNvSpPr txBox="1"/>
          <p:nvPr/>
        </p:nvSpPr>
        <p:spPr>
          <a:xfrm>
            <a:off x="889000" y="968375"/>
            <a:ext cx="20574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altLang="en-US" sz="15000" dirty="0">
                <a:solidFill>
                  <a:srgbClr val="8A6142"/>
                </a:solidFill>
                <a:latin typeface="Alexandria Thin"/>
                <a:cs typeface="Alexandria Thin"/>
              </a:rPr>
              <a:t>W</a:t>
            </a:r>
            <a:endParaRPr lang="en-US" sz="15000" dirty="0"/>
          </a:p>
        </p:txBody>
      </p:sp>
      <p:sp>
        <p:nvSpPr>
          <p:cNvPr id="29" name="s27-text-28"/>
          <p:cNvSpPr txBox="1"/>
          <p:nvPr/>
        </p:nvSpPr>
        <p:spPr>
          <a:xfrm>
            <a:off x="1536700" y="10798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8A6142"/>
                </a:solidFill>
                <a:latin typeface="Alexandria SemiBold"/>
                <a:cs typeface="Alexandria SemiBold"/>
              </a:rPr>
              <a:t>ثانيًا</a:t>
            </a:r>
            <a:endParaRPr lang="ar-SA" sz="1300" dirty="0"/>
          </a:p>
        </p:txBody>
      </p:sp>
      <p:sp>
        <p:nvSpPr>
          <p:cNvPr id="30" name="s27-text-29"/>
          <p:cNvSpPr txBox="1"/>
          <p:nvPr/>
        </p:nvSpPr>
        <p:spPr>
          <a:xfrm>
            <a:off x="850900" y="1331214"/>
            <a:ext cx="4800600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60"/>
              </a:lnSpc>
              <a:buNone/>
            </a:pPr>
            <a:r>
              <a:rPr lang="ar-SA" altLang="en-US" sz="2200" dirty="0">
                <a:solidFill>
                  <a:srgbClr val="8A6142"/>
                </a:solidFill>
                <a:latin typeface="Alexandria ExtraBold"/>
                <a:cs typeface="Alexandria ExtraBold"/>
              </a:rPr>
              <a:t>نقاط الضعف </a:t>
            </a:r>
            <a:r>
              <a:rPr lang="ar-SA" altLang="en-US" sz="1500" dirty="0">
                <a:solidFill>
                  <a:srgbClr val="8A6142"/>
                </a:solidFill>
                <a:latin typeface="Alexandria Light"/>
                <a:cs typeface="Alexandria Light"/>
              </a:rPr>
              <a:t>(Weaknesses)</a:t>
            </a:r>
            <a:endParaRPr lang="ar-SA" sz="2200" dirty="0"/>
          </a:p>
        </p:txBody>
      </p:sp>
      <p:sp>
        <p:nvSpPr>
          <p:cNvPr id="31" name="s27-shape-30"/>
          <p:cNvSpPr/>
          <p:nvPr/>
        </p:nvSpPr>
        <p:spPr>
          <a:xfrm>
            <a:off x="5537200" y="21018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2" name="s27-text-31"/>
          <p:cNvSpPr txBox="1"/>
          <p:nvPr/>
        </p:nvSpPr>
        <p:spPr>
          <a:xfrm>
            <a:off x="596900" y="1995805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حاجة العلامة التجارية إلى زيادة الانتشار والوعي بها.</a:t>
            </a:r>
            <a:endParaRPr lang="ar-SA" sz="1500" dirty="0"/>
          </a:p>
        </p:txBody>
      </p:sp>
      <p:sp>
        <p:nvSpPr>
          <p:cNvPr id="33" name="s27-shape-32"/>
          <p:cNvSpPr/>
          <p:nvPr/>
        </p:nvSpPr>
        <p:spPr>
          <a:xfrm>
            <a:off x="5537200" y="26289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4" name="s27-text-33"/>
          <p:cNvSpPr txBox="1"/>
          <p:nvPr/>
        </p:nvSpPr>
        <p:spPr>
          <a:xfrm>
            <a:off x="596900" y="2526030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الحاجة إلى بناء حضور رقمي قوي ومستمر.</a:t>
            </a:r>
            <a:endParaRPr lang="ar-SA" sz="1500" dirty="0"/>
          </a:p>
        </p:txBody>
      </p:sp>
      <p:sp>
        <p:nvSpPr>
          <p:cNvPr id="35" name="s27-shape-34"/>
          <p:cNvSpPr/>
          <p:nvPr/>
        </p:nvSpPr>
        <p:spPr>
          <a:xfrm>
            <a:off x="5537200" y="31623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6" name="s27-text-35"/>
          <p:cNvSpPr txBox="1"/>
          <p:nvPr/>
        </p:nvSpPr>
        <p:spPr>
          <a:xfrm>
            <a:off x="596900" y="3056255"/>
            <a:ext cx="48006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تعدد المنتجات يتطلب تنظيمًا واضحًا في العرض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والتسويق.</a:t>
            </a:r>
            <a:endParaRPr lang="ar-SA" sz="1500" dirty="0"/>
          </a:p>
        </p:txBody>
      </p:sp>
      <p:sp>
        <p:nvSpPr>
          <p:cNvPr id="37" name="s27-shape-36"/>
          <p:cNvSpPr/>
          <p:nvPr/>
        </p:nvSpPr>
        <p:spPr>
          <a:xfrm>
            <a:off x="5537200" y="39687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38" name="s27-text-37"/>
          <p:cNvSpPr txBox="1"/>
          <p:nvPr/>
        </p:nvSpPr>
        <p:spPr>
          <a:xfrm>
            <a:off x="596900" y="3862705"/>
            <a:ext cx="48006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الحاجة إلى إنتاج محتوى مستمر لمختلف فئات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المنتجات.</a:t>
            </a:r>
            <a:endParaRPr lang="ar-SA" sz="1500" dirty="0"/>
          </a:p>
        </p:txBody>
      </p:sp>
      <p:sp>
        <p:nvSpPr>
          <p:cNvPr id="39" name="s27-shape-38"/>
          <p:cNvSpPr/>
          <p:nvPr/>
        </p:nvSpPr>
        <p:spPr>
          <a:xfrm>
            <a:off x="5537200" y="47752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8A6142"/>
          </a:solidFill>
          <a:ln/>
        </p:spPr>
      </p:sp>
      <p:sp>
        <p:nvSpPr>
          <p:cNvPr id="40" name="s27-text-39"/>
          <p:cNvSpPr txBox="1"/>
          <p:nvPr/>
        </p:nvSpPr>
        <p:spPr>
          <a:xfrm>
            <a:off x="596900" y="4669155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الاعتماد بدرجة كبيرة على السوق المحلي.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3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3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6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92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8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27" grpId="0" animBg="1"/>
      <p:bldP spid="16" grpId="0"/>
      <p:bldP spid="17" grpId="0" animBg="1"/>
      <p:bldP spid="18" grpId="0"/>
      <p:bldP spid="29" grpId="0"/>
      <p:bldP spid="28" grpId="0"/>
      <p:bldP spid="30" grpId="0"/>
      <p:bldP spid="19" grpId="0" animBg="1"/>
      <p:bldP spid="20" grpId="0"/>
      <p:bldP spid="21" grpId="0" animBg="1"/>
      <p:bldP spid="22" grpId="0"/>
      <p:bldP spid="31" grpId="0" animBg="1"/>
      <p:bldP spid="32" grpId="0"/>
      <p:bldP spid="23" grpId="0" animBg="1"/>
      <p:bldP spid="24" grpId="0"/>
      <p:bldP spid="33" grpId="0" animBg="1"/>
      <p:bldP spid="34" grpId="0"/>
      <p:bldP spid="25" grpId="0" animBg="1"/>
      <p:bldP spid="26" grpId="0"/>
      <p:bldP spid="35" grpId="0" animBg="1"/>
      <p:bldP spid="36" grpId="0"/>
      <p:bldP spid="37" grpId="0" animBg="1"/>
      <p:bldP spid="38" grpId="0"/>
      <p:bldP spid="39" grpId="0" animBg="1"/>
      <p:bldP spid="40" grpId="0"/>
    </p:bldLst>
  </p:timing>
</p:sld>
</file>

<file path=ppt/slides/slide2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0" y="-15176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373110" y="381381"/>
            <a:ext cx="312039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07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تحليل SWOT لمشروع أرض البساتين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95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28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28-shape-6"/>
          <p:cNvSpPr/>
          <p:nvPr/>
        </p:nvSpPr>
        <p:spPr>
          <a:xfrm>
            <a:off x="6223000" y="889000"/>
            <a:ext cx="5270500" cy="5334000"/>
          </a:xfrm>
          <a:prstGeom prst="round2DiagRect">
            <a:avLst>
              <a:gd name="adj1" fmla="val 8675"/>
              <a:gd name="adj2" fmla="val 1205"/>
            </a:avLst>
          </a:prstGeom>
          <a:solidFill>
            <a:srgbClr val="DDF0EE"/>
          </a:solidFill>
          <a:ln/>
        </p:spPr>
      </p:sp>
      <p:sp>
        <p:nvSpPr>
          <p:cNvPr id="8" name="s28-text-7"/>
          <p:cNvSpPr txBox="1"/>
          <p:nvPr/>
        </p:nvSpPr>
        <p:spPr>
          <a:xfrm>
            <a:off x="6413500" y="968375"/>
            <a:ext cx="20574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altLang="en-US" sz="15000" dirty="0">
                <a:solidFill>
                  <a:srgbClr val="015256"/>
                </a:solidFill>
                <a:latin typeface="Alexandria Thin"/>
                <a:cs typeface="Alexandria Thin"/>
              </a:rPr>
              <a:t>O</a:t>
            </a:r>
            <a:endParaRPr lang="en-US" sz="15000" dirty="0"/>
          </a:p>
        </p:txBody>
      </p:sp>
      <p:sp>
        <p:nvSpPr>
          <p:cNvPr id="9" name="s28-text-8"/>
          <p:cNvSpPr txBox="1"/>
          <p:nvPr/>
        </p:nvSpPr>
        <p:spPr>
          <a:xfrm>
            <a:off x="7061200" y="10798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15256"/>
                </a:solidFill>
                <a:latin typeface="Alexandria SemiBold"/>
                <a:cs typeface="Alexandria SemiBold"/>
              </a:rPr>
              <a:t>ثالثًا</a:t>
            </a:r>
            <a:endParaRPr lang="ar-SA" sz="1300" dirty="0"/>
          </a:p>
        </p:txBody>
      </p:sp>
      <p:sp>
        <p:nvSpPr>
          <p:cNvPr id="10" name="s28-text-9"/>
          <p:cNvSpPr txBox="1"/>
          <p:nvPr/>
        </p:nvSpPr>
        <p:spPr>
          <a:xfrm>
            <a:off x="6375400" y="1331214"/>
            <a:ext cx="4800600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60"/>
              </a:lnSpc>
              <a:buNone/>
            </a:pPr>
            <a:r>
              <a:rPr lang="ar-SA" altLang="en-US" sz="2200" dirty="0">
                <a:solidFill>
                  <a:srgbClr val="015256"/>
                </a:solidFill>
                <a:latin typeface="Alexandria ExtraBold"/>
                <a:cs typeface="Alexandria ExtraBold"/>
              </a:rPr>
              <a:t>الفرص </a:t>
            </a:r>
            <a:r>
              <a:rPr lang="ar-SA" altLang="en-US" sz="1500" dirty="0">
                <a:solidFill>
                  <a:srgbClr val="015256"/>
                </a:solidFill>
                <a:latin typeface="Alexandria Light"/>
                <a:cs typeface="Alexandria Light"/>
              </a:rPr>
              <a:t>(Opportunities)</a:t>
            </a:r>
            <a:endParaRPr lang="ar-SA" sz="2200" dirty="0"/>
          </a:p>
        </p:txBody>
      </p:sp>
      <p:sp>
        <p:nvSpPr>
          <p:cNvPr id="11" name="s28-shape-10"/>
          <p:cNvSpPr/>
          <p:nvPr/>
        </p:nvSpPr>
        <p:spPr>
          <a:xfrm>
            <a:off x="11074400" y="209550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12" name="s28-text-11"/>
          <p:cNvSpPr txBox="1"/>
          <p:nvPr/>
        </p:nvSpPr>
        <p:spPr>
          <a:xfrm>
            <a:off x="6120384" y="1999107"/>
            <a:ext cx="4814316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وجود عدد كبير من المزارعين والمشاريع الزراعية في اليمن.</a:t>
            </a:r>
            <a:endParaRPr lang="ar-SA" sz="1350" dirty="0"/>
          </a:p>
        </p:txBody>
      </p:sp>
      <p:sp>
        <p:nvSpPr>
          <p:cNvPr id="13" name="s28-shape-12"/>
          <p:cNvSpPr/>
          <p:nvPr/>
        </p:nvSpPr>
        <p:spPr>
          <a:xfrm>
            <a:off x="11074400" y="245745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14" name="s28-text-13"/>
          <p:cNvSpPr txBox="1"/>
          <p:nvPr/>
        </p:nvSpPr>
        <p:spPr>
          <a:xfrm>
            <a:off x="6120384" y="2361950"/>
            <a:ext cx="4814316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زيادة الاهتمام بترشيد المياه وأنظمة الري.</a:t>
            </a:r>
            <a:endParaRPr lang="ar-SA" sz="1350" dirty="0"/>
          </a:p>
        </p:txBody>
      </p:sp>
      <p:sp>
        <p:nvSpPr>
          <p:cNvPr id="15" name="s28-shape-14"/>
          <p:cNvSpPr/>
          <p:nvPr/>
        </p:nvSpPr>
        <p:spPr>
          <a:xfrm>
            <a:off x="11074400" y="281940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16" name="s28-text-15"/>
          <p:cNvSpPr txBox="1"/>
          <p:nvPr/>
        </p:nvSpPr>
        <p:spPr>
          <a:xfrm>
            <a:off x="6120384" y="2724892"/>
            <a:ext cx="4814316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الحاجة إلى منتجات حماية المحاصيل.</a:t>
            </a:r>
            <a:endParaRPr lang="ar-SA" sz="1350" dirty="0"/>
          </a:p>
        </p:txBody>
      </p:sp>
      <p:sp>
        <p:nvSpPr>
          <p:cNvPr id="17" name="s28-shape-16"/>
          <p:cNvSpPr/>
          <p:nvPr/>
        </p:nvSpPr>
        <p:spPr>
          <a:xfrm>
            <a:off x="11074400" y="318135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18" name="s28-text-17"/>
          <p:cNvSpPr txBox="1"/>
          <p:nvPr/>
        </p:nvSpPr>
        <p:spPr>
          <a:xfrm>
            <a:off x="6120384" y="3087735"/>
            <a:ext cx="4814316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إمكانية استهداف المنظمات والمشاريع الزراعية والتنموية.</a:t>
            </a:r>
            <a:endParaRPr lang="ar-SA" sz="1350" dirty="0"/>
          </a:p>
        </p:txBody>
      </p:sp>
      <p:sp>
        <p:nvSpPr>
          <p:cNvPr id="19" name="s28-shape-18"/>
          <p:cNvSpPr/>
          <p:nvPr/>
        </p:nvSpPr>
        <p:spPr>
          <a:xfrm>
            <a:off x="11074400" y="354330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20" name="s28-text-19"/>
          <p:cNvSpPr txBox="1"/>
          <p:nvPr/>
        </p:nvSpPr>
        <p:spPr>
          <a:xfrm>
            <a:off x="6120384" y="3450677"/>
            <a:ext cx="481431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التوسع في التسويق عبر فيسبوك وواتساب وتيك توك</a:t>
            </a:r>
            <a:endParaRPr lang="ar-SA" sz="13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وإنستغرام.</a:t>
            </a:r>
            <a:endParaRPr lang="ar-SA" sz="1350" dirty="0"/>
          </a:p>
        </p:txBody>
      </p:sp>
      <p:sp>
        <p:nvSpPr>
          <p:cNvPr id="21" name="s28-shape-20"/>
          <p:cNvSpPr/>
          <p:nvPr/>
        </p:nvSpPr>
        <p:spPr>
          <a:xfrm>
            <a:off x="11074400" y="415290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22" name="s28-text-21"/>
          <p:cNvSpPr txBox="1"/>
          <p:nvPr/>
        </p:nvSpPr>
        <p:spPr>
          <a:xfrm>
            <a:off x="6120384" y="4062162"/>
            <a:ext cx="481431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تقديم محتوى تعليمي يساعد المزارع على اختيار المنتجات</a:t>
            </a:r>
            <a:endParaRPr lang="ar-SA" sz="13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المناسبة.</a:t>
            </a:r>
            <a:endParaRPr lang="ar-SA" sz="1350" dirty="0"/>
          </a:p>
        </p:txBody>
      </p:sp>
      <p:sp>
        <p:nvSpPr>
          <p:cNvPr id="23" name="s28-shape-22"/>
          <p:cNvSpPr/>
          <p:nvPr/>
        </p:nvSpPr>
        <p:spPr>
          <a:xfrm>
            <a:off x="11074400" y="476885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24" name="s28-text-23"/>
          <p:cNvSpPr txBox="1"/>
          <p:nvPr/>
        </p:nvSpPr>
        <p:spPr>
          <a:xfrm>
            <a:off x="6120384" y="4673648"/>
            <a:ext cx="4814316" cy="5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الاستفادة من امتلاك مصنع دريب أكوا في دعم بعض</a:t>
            </a:r>
            <a:endParaRPr lang="ar-SA" sz="1350" dirty="0"/>
          </a:p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المنتجات المحلية.</a:t>
            </a:r>
            <a:endParaRPr lang="ar-SA" sz="1350" dirty="0"/>
          </a:p>
        </p:txBody>
      </p:sp>
      <p:sp>
        <p:nvSpPr>
          <p:cNvPr id="25" name="s28-shape-24"/>
          <p:cNvSpPr/>
          <p:nvPr/>
        </p:nvSpPr>
        <p:spPr>
          <a:xfrm>
            <a:off x="11074400" y="5378450"/>
            <a:ext cx="101600" cy="101600"/>
          </a:xfrm>
          <a:prstGeom prst="teardrop">
            <a:avLst>
              <a:gd name="adj" fmla="val 100000"/>
            </a:avLst>
          </a:prstGeom>
          <a:solidFill>
            <a:srgbClr val="015256"/>
          </a:solidFill>
          <a:ln/>
        </p:spPr>
      </p:sp>
      <p:sp>
        <p:nvSpPr>
          <p:cNvPr id="26" name="s28-text-25"/>
          <p:cNvSpPr txBox="1"/>
          <p:nvPr/>
        </p:nvSpPr>
        <p:spPr>
          <a:xfrm>
            <a:off x="6120384" y="5285232"/>
            <a:ext cx="4814316" cy="29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8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"/>
                <a:cs typeface="Alexandria"/>
              </a:rPr>
              <a:t>التوسع في المحافظات والأسواق الزراعية المختلفة.</a:t>
            </a:r>
            <a:endParaRPr lang="ar-SA" sz="1350" dirty="0"/>
          </a:p>
        </p:txBody>
      </p:sp>
      <p:sp>
        <p:nvSpPr>
          <p:cNvPr id="27" name="s28-shape-26"/>
          <p:cNvSpPr/>
          <p:nvPr/>
        </p:nvSpPr>
        <p:spPr>
          <a:xfrm>
            <a:off x="698500" y="889000"/>
            <a:ext cx="5270500" cy="5334000"/>
          </a:xfrm>
          <a:prstGeom prst="round2DiagRect">
            <a:avLst>
              <a:gd name="adj1" fmla="val 8675"/>
              <a:gd name="adj2" fmla="val 1205"/>
            </a:avLst>
          </a:prstGeom>
          <a:solidFill>
            <a:srgbClr val="EBDFCF"/>
          </a:solidFill>
          <a:ln/>
        </p:spPr>
      </p:sp>
      <p:sp>
        <p:nvSpPr>
          <p:cNvPr id="28" name="s28-text-27"/>
          <p:cNvSpPr txBox="1"/>
          <p:nvPr/>
        </p:nvSpPr>
        <p:spPr>
          <a:xfrm>
            <a:off x="889000" y="968375"/>
            <a:ext cx="20574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altLang="en-US" sz="15000" dirty="0">
                <a:solidFill>
                  <a:srgbClr val="5E3F2A"/>
                </a:solidFill>
                <a:latin typeface="Alexandria Thin"/>
                <a:cs typeface="Alexandria Thin"/>
              </a:rPr>
              <a:t>T</a:t>
            </a:r>
            <a:endParaRPr lang="en-US" sz="15000" dirty="0"/>
          </a:p>
        </p:txBody>
      </p:sp>
      <p:sp>
        <p:nvSpPr>
          <p:cNvPr id="29" name="s28-text-28"/>
          <p:cNvSpPr txBox="1"/>
          <p:nvPr/>
        </p:nvSpPr>
        <p:spPr>
          <a:xfrm>
            <a:off x="1536700" y="1079881"/>
            <a:ext cx="4114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E3F2A"/>
                </a:solidFill>
                <a:latin typeface="Alexandria SemiBold"/>
                <a:cs typeface="Alexandria SemiBold"/>
              </a:rPr>
              <a:t>رابعًا</a:t>
            </a:r>
            <a:endParaRPr lang="ar-SA" sz="1300" dirty="0"/>
          </a:p>
        </p:txBody>
      </p:sp>
      <p:sp>
        <p:nvSpPr>
          <p:cNvPr id="30" name="s28-text-29"/>
          <p:cNvSpPr txBox="1"/>
          <p:nvPr/>
        </p:nvSpPr>
        <p:spPr>
          <a:xfrm>
            <a:off x="850900" y="1331214"/>
            <a:ext cx="4800600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60"/>
              </a:lnSpc>
              <a:buNone/>
            </a:pPr>
            <a:r>
              <a:rPr lang="ar-SA" altLang="en-US" sz="2200" dirty="0">
                <a:solidFill>
                  <a:srgbClr val="5E3F2A"/>
                </a:solidFill>
                <a:latin typeface="Alexandria ExtraBold"/>
                <a:cs typeface="Alexandria ExtraBold"/>
              </a:rPr>
              <a:t>التحديات </a:t>
            </a:r>
            <a:r>
              <a:rPr lang="ar-SA" altLang="en-US" sz="1500" dirty="0">
                <a:solidFill>
                  <a:srgbClr val="5E3F2A"/>
                </a:solidFill>
                <a:latin typeface="Alexandria Light"/>
                <a:cs typeface="Alexandria Light"/>
              </a:rPr>
              <a:t>(Threats)</a:t>
            </a:r>
            <a:endParaRPr lang="ar-SA" sz="2200" dirty="0"/>
          </a:p>
        </p:txBody>
      </p:sp>
      <p:sp>
        <p:nvSpPr>
          <p:cNvPr id="31" name="s28-shape-30"/>
          <p:cNvSpPr/>
          <p:nvPr/>
        </p:nvSpPr>
        <p:spPr>
          <a:xfrm>
            <a:off x="5537200" y="21018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32" name="s28-text-31"/>
          <p:cNvSpPr txBox="1"/>
          <p:nvPr/>
        </p:nvSpPr>
        <p:spPr>
          <a:xfrm>
            <a:off x="596900" y="1995805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المنافسة من المتاجر والموردين المحليين.</a:t>
            </a:r>
            <a:endParaRPr lang="ar-SA" sz="1500" dirty="0"/>
          </a:p>
        </p:txBody>
      </p:sp>
      <p:sp>
        <p:nvSpPr>
          <p:cNvPr id="33" name="s28-shape-32"/>
          <p:cNvSpPr/>
          <p:nvPr/>
        </p:nvSpPr>
        <p:spPr>
          <a:xfrm>
            <a:off x="5537200" y="25273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34" name="s28-text-33"/>
          <p:cNvSpPr txBox="1"/>
          <p:nvPr/>
        </p:nvSpPr>
        <p:spPr>
          <a:xfrm>
            <a:off x="596900" y="2424430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المنتجات المستوردة والعلامات التجارية المعروفة.</a:t>
            </a:r>
            <a:endParaRPr lang="ar-SA" sz="1500" dirty="0"/>
          </a:p>
        </p:txBody>
      </p:sp>
      <p:sp>
        <p:nvSpPr>
          <p:cNvPr id="35" name="s28-shape-34"/>
          <p:cNvSpPr/>
          <p:nvPr/>
        </p:nvSpPr>
        <p:spPr>
          <a:xfrm>
            <a:off x="5537200" y="29591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36" name="s28-text-35"/>
          <p:cNvSpPr txBox="1"/>
          <p:nvPr/>
        </p:nvSpPr>
        <p:spPr>
          <a:xfrm>
            <a:off x="596900" y="2853055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المنافسة السعرية.</a:t>
            </a:r>
            <a:endParaRPr lang="ar-SA" sz="1500" dirty="0"/>
          </a:p>
        </p:txBody>
      </p:sp>
      <p:sp>
        <p:nvSpPr>
          <p:cNvPr id="37" name="s28-shape-36"/>
          <p:cNvSpPr/>
          <p:nvPr/>
        </p:nvSpPr>
        <p:spPr>
          <a:xfrm>
            <a:off x="5537200" y="33845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38" name="s28-text-37"/>
          <p:cNvSpPr txBox="1"/>
          <p:nvPr/>
        </p:nvSpPr>
        <p:spPr>
          <a:xfrm>
            <a:off x="596900" y="3281680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تغير أسعار المنتجات والمواد الخام.</a:t>
            </a:r>
            <a:endParaRPr lang="ar-SA" sz="1500" dirty="0"/>
          </a:p>
        </p:txBody>
      </p:sp>
      <p:sp>
        <p:nvSpPr>
          <p:cNvPr id="39" name="s28-shape-38"/>
          <p:cNvSpPr/>
          <p:nvPr/>
        </p:nvSpPr>
        <p:spPr>
          <a:xfrm>
            <a:off x="5537200" y="38163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40" name="s28-text-39"/>
          <p:cNvSpPr txBox="1"/>
          <p:nvPr/>
        </p:nvSpPr>
        <p:spPr>
          <a:xfrm>
            <a:off x="596900" y="3710305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تغير القدرة الشرائية للعملاء.</a:t>
            </a:r>
            <a:endParaRPr lang="ar-SA" sz="1500" dirty="0"/>
          </a:p>
        </p:txBody>
      </p:sp>
      <p:sp>
        <p:nvSpPr>
          <p:cNvPr id="41" name="s28-shape-40"/>
          <p:cNvSpPr/>
          <p:nvPr/>
        </p:nvSpPr>
        <p:spPr>
          <a:xfrm>
            <a:off x="5537200" y="42418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42" name="s28-text-41"/>
          <p:cNvSpPr txBox="1"/>
          <p:nvPr/>
        </p:nvSpPr>
        <p:spPr>
          <a:xfrm>
            <a:off x="596900" y="4138930"/>
            <a:ext cx="48006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انتشار المنتجات منخفضة الجودة بأسعار رخيصة.</a:t>
            </a:r>
            <a:endParaRPr lang="ar-SA" sz="1500" dirty="0"/>
          </a:p>
        </p:txBody>
      </p:sp>
      <p:sp>
        <p:nvSpPr>
          <p:cNvPr id="43" name="s28-shape-42"/>
          <p:cNvSpPr/>
          <p:nvPr/>
        </p:nvSpPr>
        <p:spPr>
          <a:xfrm>
            <a:off x="5537200" y="46736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5E3F2A"/>
          </a:solidFill>
          <a:ln/>
        </p:spPr>
      </p:sp>
      <p:sp>
        <p:nvSpPr>
          <p:cNvPr id="44" name="s28-text-43"/>
          <p:cNvSpPr txBox="1"/>
          <p:nvPr/>
        </p:nvSpPr>
        <p:spPr>
          <a:xfrm>
            <a:off x="596900" y="4567555"/>
            <a:ext cx="48006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حاجة السوق إلى توعية مستمرة بأهمية اختيار المنتج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5E3F2A"/>
                </a:solidFill>
                <a:latin typeface="Alexandria"/>
                <a:cs typeface="Alexandria"/>
              </a:rPr>
              <a:t>المناسب.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3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3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6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92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92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8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27" grpId="0" animBg="1"/>
      <p:bldP spid="16" grpId="0"/>
      <p:bldP spid="17" grpId="0" animBg="1"/>
      <p:bldP spid="18" grpId="0"/>
      <p:bldP spid="29" grpId="0"/>
      <p:bldP spid="28" grpId="0"/>
      <p:bldP spid="30" grpId="0"/>
      <p:bldP spid="19" grpId="0" animBg="1"/>
      <p:bldP spid="20" grpId="0"/>
      <p:bldP spid="21" grpId="0" animBg="1"/>
      <p:bldP spid="22" grpId="0"/>
      <p:bldP spid="31" grpId="0" animBg="1"/>
      <p:bldP spid="32" grpId="0"/>
      <p:bldP spid="23" grpId="0" animBg="1"/>
      <p:bldP spid="24" grpId="0"/>
      <p:bldP spid="33" grpId="0" animBg="1"/>
      <p:bldP spid="34" grpId="0"/>
      <p:bldP spid="25" grpId="0" animBg="1"/>
      <p:bldP spid="26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</p:bldLst>
  </p:timing>
</p:sld>
</file>

<file path=ppt/slides/slide2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6400" y="-124460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5246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29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08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استراتيجية التسويق</a:t>
            </a:r>
            <a:endParaRPr lang="ar-SA" sz="4400" dirty="0"/>
          </a:p>
        </p:txBody>
      </p:sp>
      <p:pic>
        <p:nvPicPr>
          <p:cNvPr id="8" name="s29-snap-7" descr="/home/user/flan777/ard-albasatin-presentation/source/pptx_build/img/s29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2050" y="-8890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367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30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0-text-6"/>
          <p:cNvSpPr txBox="1"/>
          <p:nvPr/>
        </p:nvSpPr>
        <p:spPr>
          <a:xfrm>
            <a:off x="11084719" y="805180"/>
            <a:ext cx="4087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 SemiBold"/>
                <a:cs typeface="Alexandria SemiBold"/>
              </a:rPr>
              <a:t>أولًا</a:t>
            </a:r>
            <a:endParaRPr lang="ar-SA" sz="1500" dirty="0"/>
          </a:p>
        </p:txBody>
      </p:sp>
      <p:sp>
        <p:nvSpPr>
          <p:cNvPr id="8" name="s30-text-7"/>
          <p:cNvSpPr txBox="1"/>
          <p:nvPr/>
        </p:nvSpPr>
        <p:spPr>
          <a:xfrm>
            <a:off x="6514378" y="1096772"/>
            <a:ext cx="497912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الهدف العام </a:t>
            </a: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للحملة</a:t>
            </a:r>
            <a:endParaRPr lang="ar-SA" sz="4200" dirty="0"/>
          </a:p>
        </p:txBody>
      </p:sp>
      <p:sp>
        <p:nvSpPr>
          <p:cNvPr id="9" name="s30-text-8"/>
          <p:cNvSpPr txBox="1"/>
          <p:nvPr/>
        </p:nvSpPr>
        <p:spPr>
          <a:xfrm>
            <a:off x="2989580" y="2026920"/>
            <a:ext cx="8503920" cy="247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818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ExtraBold"/>
                <a:cs typeface="Alexandria ExtraBold"/>
              </a:rPr>
              <a:t>بناء حضور رقمي قوي </a:t>
            </a: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لعلامة أرض البساتين، وتعزيز مكانتها</a:t>
            </a:r>
            <a:endParaRPr lang="ar-SA" sz="2300" dirty="0"/>
          </a:p>
          <a:p>
            <a:pPr rtl="1" algn="r" indent="0" marL="0">
              <a:lnSpc>
                <a:spcPts val="3818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كمتجر متخصص في المنتجات والمستلزمات الزراعية، وزيادة</a:t>
            </a:r>
            <a:endParaRPr lang="ar-SA" sz="2300" dirty="0"/>
          </a:p>
          <a:p>
            <a:pPr rtl="1" algn="r" indent="0" marL="0">
              <a:lnSpc>
                <a:spcPts val="3818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الوعي بالمنتجات المتوفرة، مع إبراز جودة المنتجات ومواصفاتها</a:t>
            </a:r>
            <a:endParaRPr lang="ar-SA" sz="2300" dirty="0"/>
          </a:p>
          <a:p>
            <a:pPr rtl="1" algn="r" indent="0" marL="0">
              <a:lnSpc>
                <a:spcPts val="3818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واستخداماتها، </a:t>
            </a:r>
            <a:r>
              <a:rPr lang="ar-SA" altLang="en-US" sz="2300" dirty="0">
                <a:solidFill>
                  <a:srgbClr val="C3E36B"/>
                </a:solidFill>
                <a:latin typeface="Alexandria ExtraBold"/>
                <a:cs typeface="Alexandria ExtraBold"/>
              </a:rPr>
              <a:t>وتحويل الاهتمام الرقمي إلى استفسارات</a:t>
            </a:r>
            <a:endParaRPr lang="ar-SA" sz="2300" dirty="0"/>
          </a:p>
          <a:p>
            <a:pPr rtl="1" algn="r" indent="0" marL="0">
              <a:lnSpc>
                <a:spcPts val="3818"/>
              </a:lnSpc>
              <a:buNone/>
            </a:pPr>
            <a:r>
              <a:rPr lang="ar-SA" altLang="en-US" sz="2300" dirty="0">
                <a:solidFill>
                  <a:srgbClr val="C3E36B"/>
                </a:solidFill>
                <a:latin typeface="Alexandria ExtraBold"/>
                <a:cs typeface="Alexandria ExtraBold"/>
              </a:rPr>
              <a:t>وطلبات ومبيعات</a:t>
            </a: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.</a:t>
            </a:r>
            <a:endParaRPr lang="ar-SA" sz="2300" dirty="0"/>
          </a:p>
        </p:txBody>
      </p:sp>
      <p:sp>
        <p:nvSpPr>
          <p:cNvPr id="10" name="s30-shape-9"/>
          <p:cNvSpPr/>
          <p:nvPr/>
        </p:nvSpPr>
        <p:spPr>
          <a:xfrm>
            <a:off x="444500" y="2603500"/>
            <a:ext cx="2921000" cy="2921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30-shape-10"/>
          <p:cNvSpPr/>
          <p:nvPr/>
        </p:nvSpPr>
        <p:spPr>
          <a:xfrm>
            <a:off x="857250" y="3016250"/>
            <a:ext cx="2095500" cy="209550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s30-shape-11"/>
          <p:cNvSpPr/>
          <p:nvPr/>
        </p:nvSpPr>
        <p:spPr>
          <a:xfrm>
            <a:off x="1270000" y="3429000"/>
            <a:ext cx="1270000" cy="1270000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30-shape-12"/>
          <p:cNvSpPr/>
          <p:nvPr/>
        </p:nvSpPr>
        <p:spPr>
          <a:xfrm>
            <a:off x="1524000" y="3683000"/>
            <a:ext cx="762000" cy="762000"/>
          </a:xfrm>
          <a:prstGeom prst="ellipse">
            <a:avLst/>
          </a:prstGeom>
          <a:solidFill>
            <a:srgbClr val="C3E36B"/>
          </a:solidFill>
          <a:ln/>
        </p:spPr>
      </p:sp>
      <p:pic>
        <p:nvPicPr>
          <p:cNvPr id="14" name="s30-snap-13" descr="/home/user/flan777/ard-albasatin-presentation/source/pptx_build/img/s30_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75" y="3813175"/>
            <a:ext cx="501650" cy="501650"/>
          </a:xfrm>
          <a:prstGeom prst="rect">
            <a:avLst/>
          </a:prstGeom>
        </p:spPr>
      </p:pic>
      <p:pic>
        <p:nvPicPr>
          <p:cNvPr id="15" name="s30-snap-14" descr="/home/user/flan777/ard-albasatin-presentation/source/pptx_build/img/s30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400" y="2565400"/>
            <a:ext cx="774700" cy="996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06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1050" y="-5270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184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31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1-text-6"/>
          <p:cNvSpPr txBox="1"/>
          <p:nvPr/>
        </p:nvSpPr>
        <p:spPr>
          <a:xfrm>
            <a:off x="11056342" y="805180"/>
            <a:ext cx="43715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ثانيًا</a:t>
            </a:r>
            <a:endParaRPr lang="ar-SA" sz="1500" dirty="0"/>
          </a:p>
        </p:txBody>
      </p:sp>
      <p:sp>
        <p:nvSpPr>
          <p:cNvPr id="8" name="s31-text-7"/>
          <p:cNvSpPr txBox="1"/>
          <p:nvPr/>
        </p:nvSpPr>
        <p:spPr>
          <a:xfrm>
            <a:off x="6413008" y="1096772"/>
            <a:ext cx="508049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الأهداف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التفصيلية</a:t>
            </a:r>
            <a:endParaRPr lang="ar-SA" sz="4200" dirty="0"/>
          </a:p>
        </p:txBody>
      </p:sp>
      <p:sp>
        <p:nvSpPr>
          <p:cNvPr id="9" name="s31-text-8"/>
          <p:cNvSpPr txBox="1"/>
          <p:nvPr/>
        </p:nvSpPr>
        <p:spPr>
          <a:xfrm>
            <a:off x="10807700" y="19820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01</a:t>
            </a:r>
            <a:endParaRPr lang="ar-SA" sz="2150" dirty="0"/>
          </a:p>
        </p:txBody>
      </p:sp>
      <p:sp>
        <p:nvSpPr>
          <p:cNvPr id="10" name="s31-text-9"/>
          <p:cNvSpPr txBox="1"/>
          <p:nvPr/>
        </p:nvSpPr>
        <p:spPr>
          <a:xfrm>
            <a:off x="5989320" y="19951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زيادة الوعي بعلامة أرض البساتين.</a:t>
            </a:r>
            <a:endParaRPr lang="ar-SA" sz="1500" dirty="0"/>
          </a:p>
        </p:txBody>
      </p:sp>
      <p:sp>
        <p:nvSpPr>
          <p:cNvPr id="11" name="s31-shape-10"/>
          <p:cNvSpPr/>
          <p:nvPr/>
        </p:nvSpPr>
        <p:spPr>
          <a:xfrm>
            <a:off x="6350000" y="26416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2" name="s31-text-11"/>
          <p:cNvSpPr txBox="1"/>
          <p:nvPr/>
        </p:nvSpPr>
        <p:spPr>
          <a:xfrm>
            <a:off x="10807700" y="26932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02</a:t>
            </a:r>
            <a:endParaRPr lang="ar-SA" sz="2150" dirty="0"/>
          </a:p>
        </p:txBody>
      </p:sp>
      <p:sp>
        <p:nvSpPr>
          <p:cNvPr id="13" name="s31-text-12"/>
          <p:cNvSpPr txBox="1"/>
          <p:nvPr/>
        </p:nvSpPr>
        <p:spPr>
          <a:xfrm>
            <a:off x="5989320" y="27063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تعريف العملاء بتنوع المنتجات الزراعية المتوفرة.</a:t>
            </a:r>
            <a:endParaRPr lang="ar-SA" sz="1500" dirty="0"/>
          </a:p>
        </p:txBody>
      </p:sp>
      <p:sp>
        <p:nvSpPr>
          <p:cNvPr id="14" name="s31-shape-13"/>
          <p:cNvSpPr/>
          <p:nvPr/>
        </p:nvSpPr>
        <p:spPr>
          <a:xfrm>
            <a:off x="6350000" y="33528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5" name="s31-text-14"/>
          <p:cNvSpPr txBox="1"/>
          <p:nvPr/>
        </p:nvSpPr>
        <p:spPr>
          <a:xfrm>
            <a:off x="10807700" y="34044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03</a:t>
            </a:r>
            <a:endParaRPr lang="ar-SA" sz="2150" dirty="0"/>
          </a:p>
        </p:txBody>
      </p:sp>
      <p:sp>
        <p:nvSpPr>
          <p:cNvPr id="16" name="s31-text-15"/>
          <p:cNvSpPr txBox="1"/>
          <p:nvPr/>
        </p:nvSpPr>
        <p:spPr>
          <a:xfrm>
            <a:off x="5989320" y="34175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إبراز المنتجات ومواصفاتها واستخداماتها.</a:t>
            </a:r>
            <a:endParaRPr lang="ar-SA" sz="1500" dirty="0"/>
          </a:p>
        </p:txBody>
      </p:sp>
      <p:sp>
        <p:nvSpPr>
          <p:cNvPr id="17" name="s31-shape-16"/>
          <p:cNvSpPr/>
          <p:nvPr/>
        </p:nvSpPr>
        <p:spPr>
          <a:xfrm>
            <a:off x="6350000" y="40640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8" name="s31-text-17"/>
          <p:cNvSpPr txBox="1"/>
          <p:nvPr/>
        </p:nvSpPr>
        <p:spPr>
          <a:xfrm>
            <a:off x="10807700" y="41156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04</a:t>
            </a:r>
            <a:endParaRPr lang="ar-SA" sz="2150" dirty="0"/>
          </a:p>
        </p:txBody>
      </p:sp>
      <p:sp>
        <p:nvSpPr>
          <p:cNvPr id="19" name="s31-text-18"/>
          <p:cNvSpPr txBox="1"/>
          <p:nvPr/>
        </p:nvSpPr>
        <p:spPr>
          <a:xfrm>
            <a:off x="5989320" y="41287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تقديم محتوى تعليمي وتوعوي للمزارعين.</a:t>
            </a:r>
            <a:endParaRPr lang="ar-SA" sz="1500" dirty="0"/>
          </a:p>
        </p:txBody>
      </p:sp>
      <p:sp>
        <p:nvSpPr>
          <p:cNvPr id="20" name="s31-shape-19"/>
          <p:cNvSpPr/>
          <p:nvPr/>
        </p:nvSpPr>
        <p:spPr>
          <a:xfrm>
            <a:off x="6350000" y="47752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1" name="s31-text-20"/>
          <p:cNvSpPr txBox="1"/>
          <p:nvPr/>
        </p:nvSpPr>
        <p:spPr>
          <a:xfrm>
            <a:off x="10807700" y="48268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05</a:t>
            </a:r>
            <a:endParaRPr lang="ar-SA" sz="2150" dirty="0"/>
          </a:p>
        </p:txBody>
      </p:sp>
      <p:sp>
        <p:nvSpPr>
          <p:cNvPr id="22" name="s31-text-21"/>
          <p:cNvSpPr txBox="1"/>
          <p:nvPr/>
        </p:nvSpPr>
        <p:spPr>
          <a:xfrm>
            <a:off x="5989320" y="4839970"/>
            <a:ext cx="486918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إبراز جودة التصنيع في المنتجات التي يتم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تصنيعها في دريب أكوا.</a:t>
            </a:r>
            <a:endParaRPr lang="ar-SA" sz="1500" dirty="0"/>
          </a:p>
        </p:txBody>
      </p:sp>
      <p:sp>
        <p:nvSpPr>
          <p:cNvPr id="23" name="s31-shape-22"/>
          <p:cNvSpPr/>
          <p:nvPr/>
        </p:nvSpPr>
        <p:spPr>
          <a:xfrm>
            <a:off x="6350000" y="54864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4" name="s31-text-23"/>
          <p:cNvSpPr txBox="1"/>
          <p:nvPr/>
        </p:nvSpPr>
        <p:spPr>
          <a:xfrm>
            <a:off x="10807700" y="55380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06</a:t>
            </a:r>
            <a:endParaRPr lang="ar-SA" sz="2150" dirty="0"/>
          </a:p>
        </p:txBody>
      </p:sp>
      <p:sp>
        <p:nvSpPr>
          <p:cNvPr id="25" name="s31-text-24"/>
          <p:cNvSpPr txBox="1"/>
          <p:nvPr/>
        </p:nvSpPr>
        <p:spPr>
          <a:xfrm>
            <a:off x="5989320" y="55511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الوصول إلى المزارعين وأصحاب المشاريع الزراعية.</a:t>
            </a:r>
            <a:endParaRPr lang="ar-SA" sz="1500" dirty="0"/>
          </a:p>
        </p:txBody>
      </p:sp>
      <p:sp>
        <p:nvSpPr>
          <p:cNvPr id="26" name="s31-text-25"/>
          <p:cNvSpPr txBox="1"/>
          <p:nvPr/>
        </p:nvSpPr>
        <p:spPr>
          <a:xfrm>
            <a:off x="5156200" y="19820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07</a:t>
            </a:r>
            <a:endParaRPr lang="ar-SA" sz="2150" dirty="0"/>
          </a:p>
        </p:txBody>
      </p:sp>
      <p:sp>
        <p:nvSpPr>
          <p:cNvPr id="27" name="s31-text-26"/>
          <p:cNvSpPr txBox="1"/>
          <p:nvPr/>
        </p:nvSpPr>
        <p:spPr>
          <a:xfrm>
            <a:off x="337820" y="19951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الوصول إلى التجار والموزعين والمنظمات.</a:t>
            </a:r>
            <a:endParaRPr lang="ar-SA" sz="1500" dirty="0"/>
          </a:p>
        </p:txBody>
      </p:sp>
      <p:sp>
        <p:nvSpPr>
          <p:cNvPr id="28" name="s31-shape-27"/>
          <p:cNvSpPr/>
          <p:nvPr/>
        </p:nvSpPr>
        <p:spPr>
          <a:xfrm>
            <a:off x="698500" y="26416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9" name="s31-text-28"/>
          <p:cNvSpPr txBox="1"/>
          <p:nvPr/>
        </p:nvSpPr>
        <p:spPr>
          <a:xfrm>
            <a:off x="5156200" y="26932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08</a:t>
            </a:r>
            <a:endParaRPr lang="ar-SA" sz="2150" dirty="0"/>
          </a:p>
        </p:txBody>
      </p:sp>
      <p:sp>
        <p:nvSpPr>
          <p:cNvPr id="30" name="s31-text-29"/>
          <p:cNvSpPr txBox="1"/>
          <p:nvPr/>
        </p:nvSpPr>
        <p:spPr>
          <a:xfrm>
            <a:off x="337820" y="27063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زيادة الاستفسارات والتواصل عبر واتساب وفيسبوك.</a:t>
            </a:r>
            <a:endParaRPr lang="ar-SA" sz="1500" dirty="0"/>
          </a:p>
        </p:txBody>
      </p:sp>
      <p:sp>
        <p:nvSpPr>
          <p:cNvPr id="31" name="s31-shape-30"/>
          <p:cNvSpPr/>
          <p:nvPr/>
        </p:nvSpPr>
        <p:spPr>
          <a:xfrm>
            <a:off x="698500" y="33528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2" name="s31-text-31"/>
          <p:cNvSpPr txBox="1"/>
          <p:nvPr/>
        </p:nvSpPr>
        <p:spPr>
          <a:xfrm>
            <a:off x="5156200" y="34044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09</a:t>
            </a:r>
            <a:endParaRPr lang="ar-SA" sz="2150" dirty="0"/>
          </a:p>
        </p:txBody>
      </p:sp>
      <p:sp>
        <p:nvSpPr>
          <p:cNvPr id="33" name="s31-text-32"/>
          <p:cNvSpPr txBox="1"/>
          <p:nvPr/>
        </p:nvSpPr>
        <p:spPr>
          <a:xfrm>
            <a:off x="337820" y="3417570"/>
            <a:ext cx="4869180" cy="5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بناء الثقة من خلال عرض المنتجات ومراحل التصنيع</a:t>
            </a:r>
            <a:endParaRPr lang="ar-SA" sz="1500" dirty="0"/>
          </a:p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وتجارب الاستخدام.</a:t>
            </a:r>
            <a:endParaRPr lang="ar-SA" sz="1500" dirty="0"/>
          </a:p>
        </p:txBody>
      </p:sp>
      <p:sp>
        <p:nvSpPr>
          <p:cNvPr id="34" name="s31-shape-33"/>
          <p:cNvSpPr/>
          <p:nvPr/>
        </p:nvSpPr>
        <p:spPr>
          <a:xfrm>
            <a:off x="698500" y="40640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5" name="s31-text-34"/>
          <p:cNvSpPr txBox="1"/>
          <p:nvPr/>
        </p:nvSpPr>
        <p:spPr>
          <a:xfrm>
            <a:off x="5156200" y="41156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10</a:t>
            </a:r>
            <a:endParaRPr lang="ar-SA" sz="2150" dirty="0"/>
          </a:p>
        </p:txBody>
      </p:sp>
      <p:sp>
        <p:nvSpPr>
          <p:cNvPr id="36" name="s31-text-35"/>
          <p:cNvSpPr txBox="1"/>
          <p:nvPr/>
        </p:nvSpPr>
        <p:spPr>
          <a:xfrm>
            <a:off x="337820" y="41287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تحويل الاستفسارات إلى طلبات ومبيعات.</a:t>
            </a:r>
            <a:endParaRPr lang="ar-SA" sz="1500" dirty="0"/>
          </a:p>
        </p:txBody>
      </p:sp>
      <p:sp>
        <p:nvSpPr>
          <p:cNvPr id="37" name="s31-shape-36"/>
          <p:cNvSpPr/>
          <p:nvPr/>
        </p:nvSpPr>
        <p:spPr>
          <a:xfrm>
            <a:off x="698500" y="4775200"/>
            <a:ext cx="5143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38" name="s31-text-37"/>
          <p:cNvSpPr txBox="1"/>
          <p:nvPr/>
        </p:nvSpPr>
        <p:spPr>
          <a:xfrm>
            <a:off x="5156200" y="4826825"/>
            <a:ext cx="685800" cy="37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80"/>
              </a:lnSpc>
              <a:buNone/>
            </a:pPr>
            <a:r>
              <a:rPr lang="ar-SA" altLang="en-US" sz="2150" dirty="0">
                <a:solidFill>
                  <a:srgbClr val="35B86E"/>
                </a:solidFill>
                <a:latin typeface="Alexandria ExtraLight"/>
                <a:cs typeface="Alexandria ExtraLight"/>
              </a:rPr>
              <a:t>11</a:t>
            </a:r>
            <a:endParaRPr lang="ar-SA" sz="2150" dirty="0"/>
          </a:p>
        </p:txBody>
      </p:sp>
      <p:sp>
        <p:nvSpPr>
          <p:cNvPr id="39" name="s31-text-38"/>
          <p:cNvSpPr txBox="1"/>
          <p:nvPr/>
        </p:nvSpPr>
        <p:spPr>
          <a:xfrm>
            <a:off x="337820" y="4839970"/>
            <a:ext cx="486918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30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بناء علاقة مستمرة مع العملاء بعد الشراء.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4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2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6" dur="6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0" dur="6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63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2" presetClass="entr" presetSubtype="2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9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8" dur="63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2" presetClass="entr" presetSubtype="2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2" dur="63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10" grpId="0"/>
      <p:bldP spid="12" grpId="0"/>
      <p:bldP spid="14" grpId="0" animBg="1"/>
      <p:bldP spid="13" grpId="0"/>
      <p:bldP spid="15" grpId="0"/>
      <p:bldP spid="17" grpId="0" animBg="1"/>
      <p:bldP spid="16" grpId="0"/>
      <p:bldP spid="18" grpId="0"/>
      <p:bldP spid="20" grpId="0" animBg="1"/>
      <p:bldP spid="19" grpId="0"/>
      <p:bldP spid="21" grpId="0"/>
      <p:bldP spid="23" grpId="0" animBg="1"/>
      <p:bldP spid="22" grpId="0"/>
      <p:bldP spid="24" grpId="0"/>
      <p:bldP spid="25" grpId="0"/>
      <p:bldP spid="26" grpId="0"/>
      <p:bldP spid="28" grpId="0" animBg="1"/>
      <p:bldP spid="27" grpId="0"/>
      <p:bldP spid="29" grpId="0"/>
      <p:bldP spid="31" grpId="0" animBg="1"/>
      <p:bldP spid="30" grpId="0"/>
      <p:bldP spid="32" grpId="0"/>
      <p:bldP spid="34" grpId="0" animBg="1"/>
      <p:bldP spid="33" grpId="0"/>
      <p:bldP spid="35" grpId="0"/>
      <p:bldP spid="37" grpId="0" animBg="1"/>
      <p:bldP spid="36" grpId="0"/>
      <p:bldP spid="38" grpId="0"/>
      <p:bldP spid="39" grpId="0"/>
    </p:bldLst>
  </p:timing>
</p:sld>
</file>

<file path=ppt/slides/slide3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0" y="-2349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047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32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2-text-6"/>
          <p:cNvSpPr txBox="1"/>
          <p:nvPr/>
        </p:nvSpPr>
        <p:spPr>
          <a:xfrm>
            <a:off x="11060212" y="805180"/>
            <a:ext cx="43328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ثالثًا</a:t>
            </a:r>
            <a:endParaRPr lang="ar-SA" sz="1500" dirty="0"/>
          </a:p>
        </p:txBody>
      </p:sp>
      <p:sp>
        <p:nvSpPr>
          <p:cNvPr id="8" name="s32-text-7"/>
          <p:cNvSpPr txBox="1"/>
          <p:nvPr/>
        </p:nvSpPr>
        <p:spPr>
          <a:xfrm>
            <a:off x="5287331" y="1096772"/>
            <a:ext cx="620616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المنصات المختارة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ولماذا؟</a:t>
            </a:r>
            <a:endParaRPr lang="ar-SA" sz="4200" dirty="0"/>
          </a:p>
        </p:txBody>
      </p:sp>
      <p:sp>
        <p:nvSpPr>
          <p:cNvPr id="9" name="s32-text-8"/>
          <p:cNvSpPr txBox="1"/>
          <p:nvPr/>
        </p:nvSpPr>
        <p:spPr>
          <a:xfrm>
            <a:off x="8887460" y="1892681"/>
            <a:ext cx="26060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 SemiBold"/>
                <a:cs typeface="Alexandria SemiBold"/>
              </a:rPr>
              <a:t>المنصة</a:t>
            </a:r>
            <a:endParaRPr lang="ar-SA" sz="1300" dirty="0"/>
          </a:p>
        </p:txBody>
      </p:sp>
      <p:sp>
        <p:nvSpPr>
          <p:cNvPr id="10" name="s32-text-9"/>
          <p:cNvSpPr txBox="1"/>
          <p:nvPr/>
        </p:nvSpPr>
        <p:spPr>
          <a:xfrm>
            <a:off x="406400" y="1892681"/>
            <a:ext cx="82296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 SemiBold"/>
                <a:cs typeface="Alexandria SemiBold"/>
              </a:rPr>
              <a:t>سبب الاختيار</a:t>
            </a:r>
            <a:endParaRPr lang="ar-SA" sz="1300" dirty="0"/>
          </a:p>
        </p:txBody>
      </p:sp>
      <p:sp>
        <p:nvSpPr>
          <p:cNvPr id="11" name="s32-shape-10"/>
          <p:cNvSpPr/>
          <p:nvPr/>
        </p:nvSpPr>
        <p:spPr>
          <a:xfrm>
            <a:off x="698500" y="2222500"/>
            <a:ext cx="10795000" cy="749300"/>
          </a:xfrm>
          <a:prstGeom prst="round2DiagRect">
            <a:avLst>
              <a:gd name="adj1" fmla="val 50000"/>
              <a:gd name="adj2" fmla="val 8475"/>
            </a:avLst>
          </a:prstGeom>
          <a:solidFill>
            <a:srgbClr val="F2F9F5"/>
          </a:solidFill>
          <a:ln/>
        </p:spPr>
      </p:sp>
      <p:sp>
        <p:nvSpPr>
          <p:cNvPr id="12" name="s32-shape-11"/>
          <p:cNvSpPr/>
          <p:nvPr/>
        </p:nvSpPr>
        <p:spPr>
          <a:xfrm>
            <a:off x="10833100" y="2343150"/>
            <a:ext cx="508000" cy="508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3" name="s32-snap-12" descr="/home/user/flan777/ard-albasatin-presentation/source/pptx_build/img/s32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9300" y="2419350"/>
            <a:ext cx="355600" cy="355600"/>
          </a:xfrm>
          <a:prstGeom prst="rect">
            <a:avLst/>
          </a:prstGeom>
        </p:spPr>
      </p:pic>
      <p:sp>
        <p:nvSpPr>
          <p:cNvPr id="14" name="s32-text-13"/>
          <p:cNvSpPr txBox="1"/>
          <p:nvPr/>
        </p:nvSpPr>
        <p:spPr>
          <a:xfrm>
            <a:off x="8610600" y="2416429"/>
            <a:ext cx="205740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ExtraBold"/>
                <a:cs typeface="Alexandria ExtraBold"/>
              </a:rPr>
              <a:t>فيسبوك</a:t>
            </a:r>
            <a:endParaRPr lang="ar-SA" sz="1700" dirty="0"/>
          </a:p>
        </p:txBody>
      </p:sp>
      <p:sp>
        <p:nvSpPr>
          <p:cNvPr id="15" name="s32-text-14"/>
          <p:cNvSpPr txBox="1"/>
          <p:nvPr/>
        </p:nvSpPr>
        <p:spPr>
          <a:xfrm>
            <a:off x="337820" y="2297430"/>
            <a:ext cx="829818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مناسب للوصول إلى المزارعين والتجار وأصحاب المشاريع والمنظمات، ونشر المحتوى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والإعلانات والعروض.</a:t>
            </a:r>
            <a:endParaRPr lang="ar-SA" sz="1500" dirty="0"/>
          </a:p>
        </p:txBody>
      </p:sp>
      <p:sp>
        <p:nvSpPr>
          <p:cNvPr id="16" name="s32-shape-15"/>
          <p:cNvSpPr/>
          <p:nvPr/>
        </p:nvSpPr>
        <p:spPr>
          <a:xfrm>
            <a:off x="698500" y="3060700"/>
            <a:ext cx="10795000" cy="749300"/>
          </a:xfrm>
          <a:prstGeom prst="round2DiagRect">
            <a:avLst>
              <a:gd name="adj1" fmla="val 50000"/>
              <a:gd name="adj2" fmla="val 8475"/>
            </a:avLst>
          </a:prstGeom>
          <a:solidFill>
            <a:srgbClr val="E3F3E9"/>
          </a:solidFill>
          <a:ln/>
        </p:spPr>
      </p:sp>
      <p:sp>
        <p:nvSpPr>
          <p:cNvPr id="17" name="s32-shape-16"/>
          <p:cNvSpPr/>
          <p:nvPr/>
        </p:nvSpPr>
        <p:spPr>
          <a:xfrm>
            <a:off x="10833100" y="3181350"/>
            <a:ext cx="508000" cy="508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8" name="s32-snap-17" descr="/home/user/flan777/ard-albasatin-presentation/source/pptx_build/img/s32_1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9300" y="3257550"/>
            <a:ext cx="355600" cy="355600"/>
          </a:xfrm>
          <a:prstGeom prst="rect">
            <a:avLst/>
          </a:prstGeom>
        </p:spPr>
      </p:pic>
      <p:sp>
        <p:nvSpPr>
          <p:cNvPr id="19" name="s32-text-18"/>
          <p:cNvSpPr txBox="1"/>
          <p:nvPr/>
        </p:nvSpPr>
        <p:spPr>
          <a:xfrm>
            <a:off x="8610600" y="3254629"/>
            <a:ext cx="205740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ExtraBold"/>
                <a:cs typeface="Alexandria ExtraBold"/>
              </a:rPr>
              <a:t>واتساب</a:t>
            </a:r>
            <a:endParaRPr lang="ar-SA" sz="1700" dirty="0"/>
          </a:p>
        </p:txBody>
      </p:sp>
      <p:sp>
        <p:nvSpPr>
          <p:cNvPr id="20" name="s32-text-19"/>
          <p:cNvSpPr txBox="1"/>
          <p:nvPr/>
        </p:nvSpPr>
        <p:spPr>
          <a:xfrm>
            <a:off x="337820" y="3273742"/>
            <a:ext cx="829818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قناة مباشرة للاستفسارات وإرسال الأسعار والمواصفات واستقبال الطلبات ومتابعة العملاء.</a:t>
            </a:r>
            <a:endParaRPr lang="ar-SA" sz="1500" dirty="0"/>
          </a:p>
        </p:txBody>
      </p:sp>
      <p:sp>
        <p:nvSpPr>
          <p:cNvPr id="21" name="s32-shape-20"/>
          <p:cNvSpPr/>
          <p:nvPr/>
        </p:nvSpPr>
        <p:spPr>
          <a:xfrm>
            <a:off x="698500" y="3898900"/>
            <a:ext cx="10795000" cy="749300"/>
          </a:xfrm>
          <a:prstGeom prst="round2DiagRect">
            <a:avLst>
              <a:gd name="adj1" fmla="val 50000"/>
              <a:gd name="adj2" fmla="val 8475"/>
            </a:avLst>
          </a:prstGeom>
          <a:solidFill>
            <a:srgbClr val="F2F9F5"/>
          </a:solidFill>
          <a:ln/>
        </p:spPr>
      </p:sp>
      <p:sp>
        <p:nvSpPr>
          <p:cNvPr id="22" name="s32-shape-21"/>
          <p:cNvSpPr/>
          <p:nvPr/>
        </p:nvSpPr>
        <p:spPr>
          <a:xfrm>
            <a:off x="10833100" y="4019550"/>
            <a:ext cx="508000" cy="508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3" name="s32-snap-22" descr="/home/user/flan777/ard-albasatin-presentation/source/pptx_build/img/s32_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9300" y="4095750"/>
            <a:ext cx="355600" cy="355600"/>
          </a:xfrm>
          <a:prstGeom prst="rect">
            <a:avLst/>
          </a:prstGeom>
        </p:spPr>
      </p:pic>
      <p:sp>
        <p:nvSpPr>
          <p:cNvPr id="24" name="s32-text-23"/>
          <p:cNvSpPr txBox="1"/>
          <p:nvPr/>
        </p:nvSpPr>
        <p:spPr>
          <a:xfrm>
            <a:off x="8610600" y="4092829"/>
            <a:ext cx="205740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ExtraBold"/>
                <a:cs typeface="Alexandria ExtraBold"/>
              </a:rPr>
              <a:t>تيك توك</a:t>
            </a:r>
            <a:endParaRPr lang="ar-SA" sz="1700" dirty="0"/>
          </a:p>
        </p:txBody>
      </p:sp>
      <p:sp>
        <p:nvSpPr>
          <p:cNvPr id="25" name="s32-text-24"/>
          <p:cNvSpPr txBox="1"/>
          <p:nvPr/>
        </p:nvSpPr>
        <p:spPr>
          <a:xfrm>
            <a:off x="337820" y="3973830"/>
            <a:ext cx="829818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مناسب للفيديوهات القصيرة التي تعرض المنتجات والمعلومات الزراعية ومراحل التصنيع</a:t>
            </a:r>
            <a:endParaRPr lang="ar-SA" sz="1500" dirty="0"/>
          </a:p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بطريقة سهلة.</a:t>
            </a:r>
            <a:endParaRPr lang="ar-SA" sz="1500" dirty="0"/>
          </a:p>
        </p:txBody>
      </p:sp>
      <p:sp>
        <p:nvSpPr>
          <p:cNvPr id="26" name="s32-shape-25"/>
          <p:cNvSpPr/>
          <p:nvPr/>
        </p:nvSpPr>
        <p:spPr>
          <a:xfrm>
            <a:off x="698500" y="4737100"/>
            <a:ext cx="10795000" cy="749300"/>
          </a:xfrm>
          <a:prstGeom prst="round2DiagRect">
            <a:avLst>
              <a:gd name="adj1" fmla="val 50000"/>
              <a:gd name="adj2" fmla="val 8475"/>
            </a:avLst>
          </a:prstGeom>
          <a:solidFill>
            <a:srgbClr val="E3F3E9"/>
          </a:solidFill>
          <a:ln/>
        </p:spPr>
      </p:sp>
      <p:sp>
        <p:nvSpPr>
          <p:cNvPr id="27" name="s32-shape-26"/>
          <p:cNvSpPr/>
          <p:nvPr/>
        </p:nvSpPr>
        <p:spPr>
          <a:xfrm>
            <a:off x="10833100" y="4857750"/>
            <a:ext cx="508000" cy="508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8" name="s32-snap-27" descr="/home/user/flan777/ard-albasatin-presentation/source/pptx_build/img/s32_2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9300" y="4933950"/>
            <a:ext cx="355600" cy="355600"/>
          </a:xfrm>
          <a:prstGeom prst="rect">
            <a:avLst/>
          </a:prstGeom>
        </p:spPr>
      </p:pic>
      <p:sp>
        <p:nvSpPr>
          <p:cNvPr id="29" name="s32-text-28"/>
          <p:cNvSpPr txBox="1"/>
          <p:nvPr/>
        </p:nvSpPr>
        <p:spPr>
          <a:xfrm>
            <a:off x="8610600" y="4931029"/>
            <a:ext cx="205740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ExtraBold"/>
                <a:cs typeface="Alexandria ExtraBold"/>
              </a:rPr>
              <a:t>إنستغرام</a:t>
            </a:r>
            <a:endParaRPr lang="ar-SA" sz="1700" dirty="0"/>
          </a:p>
        </p:txBody>
      </p:sp>
      <p:sp>
        <p:nvSpPr>
          <p:cNvPr id="30" name="s32-text-29"/>
          <p:cNvSpPr txBox="1"/>
          <p:nvPr/>
        </p:nvSpPr>
        <p:spPr>
          <a:xfrm>
            <a:off x="337820" y="4950143"/>
            <a:ext cx="829818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مناسب لعرض المنتجات بصريًا وبناء الهوية التجارية للمتجر.</a:t>
            </a:r>
            <a:endParaRPr lang="ar-SA" sz="1500" dirty="0"/>
          </a:p>
        </p:txBody>
      </p:sp>
      <p:sp>
        <p:nvSpPr>
          <p:cNvPr id="31" name="s32-shape-30"/>
          <p:cNvSpPr/>
          <p:nvPr/>
        </p:nvSpPr>
        <p:spPr>
          <a:xfrm>
            <a:off x="698500" y="5575300"/>
            <a:ext cx="10795000" cy="749300"/>
          </a:xfrm>
          <a:prstGeom prst="round2DiagRect">
            <a:avLst>
              <a:gd name="adj1" fmla="val 50000"/>
              <a:gd name="adj2" fmla="val 8475"/>
            </a:avLst>
          </a:prstGeom>
          <a:solidFill>
            <a:srgbClr val="F2F9F5"/>
          </a:solidFill>
          <a:ln/>
        </p:spPr>
      </p:sp>
      <p:sp>
        <p:nvSpPr>
          <p:cNvPr id="32" name="s32-shape-31"/>
          <p:cNvSpPr/>
          <p:nvPr/>
        </p:nvSpPr>
        <p:spPr>
          <a:xfrm>
            <a:off x="10833100" y="5695950"/>
            <a:ext cx="508000" cy="508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3" name="s32-snap-32" descr="/home/user/flan777/ard-albasatin-presentation/source/pptx_build/img/s32_3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9300" y="5772150"/>
            <a:ext cx="355600" cy="355600"/>
          </a:xfrm>
          <a:prstGeom prst="rect">
            <a:avLst/>
          </a:prstGeom>
        </p:spPr>
      </p:pic>
      <p:sp>
        <p:nvSpPr>
          <p:cNvPr id="34" name="s32-text-33"/>
          <p:cNvSpPr txBox="1"/>
          <p:nvPr/>
        </p:nvSpPr>
        <p:spPr>
          <a:xfrm>
            <a:off x="8610600" y="5769229"/>
            <a:ext cx="205740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0E3A3C"/>
                </a:solidFill>
                <a:latin typeface="Alexandria ExtraBold"/>
                <a:cs typeface="Alexandria ExtraBold"/>
              </a:rPr>
              <a:t>Google Maps</a:t>
            </a:r>
            <a:endParaRPr lang="en-US" sz="1700" dirty="0"/>
          </a:p>
        </p:txBody>
      </p:sp>
      <p:sp>
        <p:nvSpPr>
          <p:cNvPr id="35" name="s32-text-34"/>
          <p:cNvSpPr txBox="1"/>
          <p:nvPr/>
        </p:nvSpPr>
        <p:spPr>
          <a:xfrm>
            <a:off x="337820" y="5788342"/>
            <a:ext cx="829818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يساعد العملاء على الوصول إلى المتجر ومركز البيع.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  <p:bldP spid="14" grpId="0"/>
      <p:bldP spid="12" grpId="0" animBg="1"/>
      <p:bldP spid="15" grpId="0"/>
      <p:bldP spid="16" grpId="0" animBg="1"/>
      <p:bldP spid="19" grpId="0"/>
      <p:bldP spid="17" grpId="0" animBg="1"/>
      <p:bldP spid="20" grpId="0"/>
      <p:bldP spid="21" grpId="0" animBg="1"/>
      <p:bldP spid="24" grpId="0"/>
      <p:bldP spid="22" grpId="0" animBg="1"/>
      <p:bldP spid="25" grpId="0"/>
      <p:bldP spid="26" grpId="0" animBg="1"/>
      <p:bldP spid="29" grpId="0"/>
      <p:bldP spid="27" grpId="0" animBg="1"/>
      <p:bldP spid="30" grpId="0"/>
      <p:bldP spid="31" grpId="0" animBg="1"/>
      <p:bldP spid="34" grpId="0"/>
      <p:bldP spid="32" grpId="0" animBg="1"/>
      <p:bldP spid="35" grpId="0"/>
    </p:bldLst>
  </p:timing>
</p:sld>
</file>

<file path=ppt/slides/slide3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84500" y="-762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948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33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3-text-6"/>
          <p:cNvSpPr txBox="1"/>
          <p:nvPr/>
        </p:nvSpPr>
        <p:spPr>
          <a:xfrm>
            <a:off x="11009511" y="805180"/>
            <a:ext cx="48398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رابعًا</a:t>
            </a:r>
            <a:endParaRPr lang="ar-SA" sz="1500" dirty="0"/>
          </a:p>
        </p:txBody>
      </p:sp>
      <p:sp>
        <p:nvSpPr>
          <p:cNvPr id="8" name="s33-text-7"/>
          <p:cNvSpPr txBox="1"/>
          <p:nvPr/>
        </p:nvSpPr>
        <p:spPr>
          <a:xfrm>
            <a:off x="4578171" y="1096772"/>
            <a:ext cx="691532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أسلوب المحتوى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المستخدم</a:t>
            </a:r>
            <a:endParaRPr lang="ar-SA" sz="4200" dirty="0"/>
          </a:p>
        </p:txBody>
      </p:sp>
      <p:sp>
        <p:nvSpPr>
          <p:cNvPr id="9" name="s33-text-8"/>
          <p:cNvSpPr txBox="1"/>
          <p:nvPr/>
        </p:nvSpPr>
        <p:spPr>
          <a:xfrm>
            <a:off x="-165100" y="2148459"/>
            <a:ext cx="11658600" cy="74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2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Light"/>
                <a:cs typeface="Alexandria Light"/>
              </a:rPr>
              <a:t>يعتمد المحتوى على </a:t>
            </a:r>
            <a:r>
              <a:rPr lang="ar-SA" altLang="en-US" sz="1700" dirty="0">
                <a:solidFill>
                  <a:srgbClr val="01804C"/>
                </a:solidFill>
                <a:latin typeface="Alexandria ExtraBold"/>
                <a:cs typeface="Alexandria ExtraBold"/>
              </a:rPr>
              <a:t>التسويق التعليمي + التوعوي + الاستعراضي + التفاعلي + البيعي</a:t>
            </a:r>
            <a:r>
              <a:rPr lang="ar-SA" altLang="en-US" sz="1700" dirty="0">
                <a:solidFill>
                  <a:srgbClr val="0E3A3C"/>
                </a:solidFill>
                <a:latin typeface="Alexandria Light"/>
                <a:cs typeface="Alexandria Light"/>
              </a:rPr>
              <a:t>، بحيث لا يقتصر</a:t>
            </a:r>
            <a:endParaRPr lang="ar-SA" sz="1700" dirty="0"/>
          </a:p>
          <a:p>
            <a:pPr rtl="1" algn="r" indent="0" marL="0">
              <a:lnSpc>
                <a:spcPts val="272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Light"/>
                <a:cs typeface="Alexandria Light"/>
              </a:rPr>
              <a:t>التسويق على عرض الأسعار والمنتجات فقط.</a:t>
            </a:r>
            <a:endParaRPr lang="ar-SA" sz="1700" dirty="0"/>
          </a:p>
        </p:txBody>
      </p:sp>
      <p:sp>
        <p:nvSpPr>
          <p:cNvPr id="10" name="s33-shape-9"/>
          <p:cNvSpPr/>
          <p:nvPr/>
        </p:nvSpPr>
        <p:spPr>
          <a:xfrm>
            <a:off x="7981950" y="3175000"/>
            <a:ext cx="3511550" cy="3048000"/>
          </a:xfrm>
          <a:prstGeom prst="round2DiagRect">
            <a:avLst>
              <a:gd name="adj1" fmla="val 15000"/>
              <a:gd name="adj2" fmla="val 2083"/>
            </a:avLst>
          </a:prstGeom>
          <a:solidFill>
            <a:srgbClr val="F2F9F5"/>
          </a:solidFill>
          <a:ln/>
        </p:spPr>
      </p:sp>
      <p:sp>
        <p:nvSpPr>
          <p:cNvPr id="11" name="s33-shape-10"/>
          <p:cNvSpPr/>
          <p:nvPr/>
        </p:nvSpPr>
        <p:spPr>
          <a:xfrm>
            <a:off x="10680700" y="3390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2" name="s33-snap-11" descr="/home/user/flan777/ard-albasatin-presentation/source/pptx_build/img/s33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775" y="3482975"/>
            <a:ext cx="400050" cy="400050"/>
          </a:xfrm>
          <a:prstGeom prst="rect">
            <a:avLst/>
          </a:prstGeom>
        </p:spPr>
      </p:pic>
      <p:sp>
        <p:nvSpPr>
          <p:cNvPr id="13" name="s33-text-12"/>
          <p:cNvSpPr txBox="1"/>
          <p:nvPr/>
        </p:nvSpPr>
        <p:spPr>
          <a:xfrm>
            <a:off x="8210550" y="342417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35B86E"/>
                </a:solidFill>
                <a:latin typeface="Alexandria Thin"/>
                <a:cs typeface="Alexandria Thin"/>
              </a:rPr>
              <a:t>1</a:t>
            </a:r>
            <a:endParaRPr lang="ar-SA" sz="4200" dirty="0"/>
          </a:p>
        </p:txBody>
      </p:sp>
      <p:sp>
        <p:nvSpPr>
          <p:cNvPr id="14" name="s33-text-13"/>
          <p:cNvSpPr txBox="1"/>
          <p:nvPr/>
        </p:nvSpPr>
        <p:spPr>
          <a:xfrm>
            <a:off x="7966202" y="4115816"/>
            <a:ext cx="329869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التعليمي</a:t>
            </a:r>
            <a:endParaRPr lang="ar-SA" sz="1800" dirty="0"/>
          </a:p>
        </p:txBody>
      </p:sp>
      <p:sp>
        <p:nvSpPr>
          <p:cNvPr id="15" name="s33-text-14"/>
          <p:cNvSpPr txBox="1"/>
          <p:nvPr/>
        </p:nvSpPr>
        <p:spPr>
          <a:xfrm>
            <a:off x="7966202" y="4527784"/>
            <a:ext cx="3298698" cy="90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شرح استخدام المنتجات الزراعية،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وأهمية اختيار المنتج المناسب،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وطريقة الاستفادة منه.</a:t>
            </a:r>
            <a:endParaRPr lang="ar-SA" sz="1450" dirty="0"/>
          </a:p>
        </p:txBody>
      </p:sp>
      <p:sp>
        <p:nvSpPr>
          <p:cNvPr id="16" name="s33-shape-15"/>
          <p:cNvSpPr/>
          <p:nvPr/>
        </p:nvSpPr>
        <p:spPr>
          <a:xfrm>
            <a:off x="4343400" y="3175000"/>
            <a:ext cx="3511550" cy="3048000"/>
          </a:xfrm>
          <a:prstGeom prst="round2DiagRect">
            <a:avLst>
              <a:gd name="adj1" fmla="val 15000"/>
              <a:gd name="adj2" fmla="val 2083"/>
            </a:avLst>
          </a:prstGeom>
          <a:solidFill>
            <a:srgbClr val="F2F9F5"/>
          </a:solidFill>
          <a:ln/>
        </p:spPr>
      </p:sp>
      <p:sp>
        <p:nvSpPr>
          <p:cNvPr id="17" name="s33-shape-16"/>
          <p:cNvSpPr/>
          <p:nvPr/>
        </p:nvSpPr>
        <p:spPr>
          <a:xfrm>
            <a:off x="7042150" y="3390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8" name="s33-snap-17" descr="/home/user/flan777/ard-albasatin-presentation/source/pptx_build/img/s33_1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225" y="3482975"/>
            <a:ext cx="400050" cy="400050"/>
          </a:xfrm>
          <a:prstGeom prst="rect">
            <a:avLst/>
          </a:prstGeom>
        </p:spPr>
      </p:pic>
      <p:sp>
        <p:nvSpPr>
          <p:cNvPr id="19" name="s33-text-18"/>
          <p:cNvSpPr txBox="1"/>
          <p:nvPr/>
        </p:nvSpPr>
        <p:spPr>
          <a:xfrm>
            <a:off x="4572000" y="342417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35B86E"/>
                </a:solidFill>
                <a:latin typeface="Alexandria Thin"/>
                <a:cs typeface="Alexandria Thin"/>
              </a:rPr>
              <a:t>2</a:t>
            </a:r>
            <a:endParaRPr lang="ar-SA" sz="4200" dirty="0"/>
          </a:p>
        </p:txBody>
      </p:sp>
      <p:sp>
        <p:nvSpPr>
          <p:cNvPr id="20" name="s33-text-19"/>
          <p:cNvSpPr txBox="1"/>
          <p:nvPr/>
        </p:nvSpPr>
        <p:spPr>
          <a:xfrm>
            <a:off x="4327652" y="4115816"/>
            <a:ext cx="329869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المنتجات</a:t>
            </a:r>
            <a:endParaRPr lang="ar-SA" sz="1800" dirty="0"/>
          </a:p>
        </p:txBody>
      </p:sp>
      <p:sp>
        <p:nvSpPr>
          <p:cNvPr id="21" name="s33-text-20"/>
          <p:cNvSpPr txBox="1"/>
          <p:nvPr/>
        </p:nvSpPr>
        <p:spPr>
          <a:xfrm>
            <a:off x="4327652" y="4527784"/>
            <a:ext cx="3298698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عرض المنتجات المتوفرة في المتجر،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ومواصفاتها، واستخداماتها،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والمنتجات المناسبة لكل نوع من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الاحتياجات الزراعية.</a:t>
            </a:r>
            <a:endParaRPr lang="ar-SA" sz="1450" dirty="0"/>
          </a:p>
        </p:txBody>
      </p:sp>
      <p:sp>
        <p:nvSpPr>
          <p:cNvPr id="22" name="s33-shape-21"/>
          <p:cNvSpPr/>
          <p:nvPr/>
        </p:nvSpPr>
        <p:spPr>
          <a:xfrm>
            <a:off x="704850" y="3175000"/>
            <a:ext cx="3511550" cy="3048000"/>
          </a:xfrm>
          <a:prstGeom prst="round2DiagRect">
            <a:avLst>
              <a:gd name="adj1" fmla="val 15000"/>
              <a:gd name="adj2" fmla="val 2083"/>
            </a:avLst>
          </a:prstGeom>
          <a:solidFill>
            <a:srgbClr val="015256"/>
          </a:solidFill>
          <a:ln/>
        </p:spPr>
      </p:sp>
      <p:sp>
        <p:nvSpPr>
          <p:cNvPr id="23" name="s33-shape-22"/>
          <p:cNvSpPr/>
          <p:nvPr/>
        </p:nvSpPr>
        <p:spPr>
          <a:xfrm>
            <a:off x="3403600" y="339090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4" name="s33-snap-23" descr="/home/user/flan777/ard-albasatin-presentation/source/pptx_build/img/s33_2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675" y="3482975"/>
            <a:ext cx="400050" cy="400050"/>
          </a:xfrm>
          <a:prstGeom prst="rect">
            <a:avLst/>
          </a:prstGeom>
        </p:spPr>
      </p:pic>
      <p:sp>
        <p:nvSpPr>
          <p:cNvPr id="25" name="s33-text-24"/>
          <p:cNvSpPr txBox="1"/>
          <p:nvPr/>
        </p:nvSpPr>
        <p:spPr>
          <a:xfrm>
            <a:off x="933450" y="342417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Thin"/>
                <a:cs typeface="Alexandria Thin"/>
              </a:rPr>
              <a:t>3</a:t>
            </a:r>
            <a:endParaRPr lang="ar-SA" sz="4200" dirty="0"/>
          </a:p>
        </p:txBody>
      </p:sp>
      <p:sp>
        <p:nvSpPr>
          <p:cNvPr id="26" name="s33-text-25"/>
          <p:cNvSpPr txBox="1"/>
          <p:nvPr/>
        </p:nvSpPr>
        <p:spPr>
          <a:xfrm>
            <a:off x="689102" y="4115816"/>
            <a:ext cx="329869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40"/>
              </a:lnSpc>
              <a:buNone/>
            </a:pPr>
            <a:r>
              <a:rPr lang="ar-SA" altLang="en-US" sz="1800" dirty="0">
                <a:solidFill>
                  <a:srgbClr val="FFFFFF"/>
                </a:solidFill>
                <a:latin typeface="Alexandria ExtraBold"/>
                <a:cs typeface="Alexandria ExtraBold"/>
              </a:rPr>
              <a:t>محتوى الثقة</a:t>
            </a:r>
            <a:endParaRPr lang="ar-SA" sz="1800" dirty="0"/>
          </a:p>
        </p:txBody>
      </p:sp>
      <p:sp>
        <p:nvSpPr>
          <p:cNvPr id="27" name="s33-text-26"/>
          <p:cNvSpPr txBox="1"/>
          <p:nvPr/>
        </p:nvSpPr>
        <p:spPr>
          <a:xfrm>
            <a:off x="689102" y="4527784"/>
            <a:ext cx="3298698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"/>
                <a:cs typeface="Alexandria"/>
              </a:rPr>
              <a:t>عرض مصادر المنتجات، ومراحل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"/>
                <a:cs typeface="Alexandria"/>
              </a:rPr>
              <a:t>تصنيع المنتجات التي يتم إنتاجها في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"/>
                <a:cs typeface="Alexandria"/>
              </a:rPr>
              <a:t>مصنع دريب أكوا، واختبارات الجودة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FFFFFF"/>
                </a:solidFill>
                <a:latin typeface="Alexandria"/>
                <a:cs typeface="Alexandria"/>
              </a:rPr>
              <a:t>والتصنيع.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3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32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9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32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8" dur="6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3" grpId="0"/>
      <p:bldP spid="14" grpId="0"/>
      <p:bldP spid="11" grpId="0" animBg="1"/>
      <p:bldP spid="16" grpId="0" animBg="1"/>
      <p:bldP spid="15" grpId="0"/>
      <p:bldP spid="19" grpId="0"/>
      <p:bldP spid="20" grpId="0"/>
      <p:bldP spid="17" grpId="0" animBg="1"/>
      <p:bldP spid="22" grpId="0" animBg="1"/>
      <p:bldP spid="21" grpId="0"/>
      <p:bldP spid="25" grpId="0"/>
      <p:bldP spid="26" grpId="0"/>
      <p:bldP spid="23" grpId="0" animBg="1"/>
      <p:bldP spid="27" grpId="0"/>
    </p:bldLst>
  </p:timing>
</p:sld>
</file>

<file path=ppt/slides/slide3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9700" y="-952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96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34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4-text-6"/>
          <p:cNvSpPr txBox="1"/>
          <p:nvPr/>
        </p:nvSpPr>
        <p:spPr>
          <a:xfrm>
            <a:off x="11009511" y="805180"/>
            <a:ext cx="48398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رابعًا</a:t>
            </a:r>
            <a:endParaRPr lang="ar-SA" sz="1500" dirty="0"/>
          </a:p>
        </p:txBody>
      </p:sp>
      <p:sp>
        <p:nvSpPr>
          <p:cNvPr id="8" name="s34-text-7"/>
          <p:cNvSpPr txBox="1"/>
          <p:nvPr/>
        </p:nvSpPr>
        <p:spPr>
          <a:xfrm>
            <a:off x="4578171" y="1096772"/>
            <a:ext cx="6915329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أسلوب المحتوى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المستخدم</a:t>
            </a:r>
            <a:endParaRPr lang="ar-SA" sz="4200" dirty="0"/>
          </a:p>
        </p:txBody>
      </p:sp>
      <p:sp>
        <p:nvSpPr>
          <p:cNvPr id="9" name="s34-shape-8"/>
          <p:cNvSpPr/>
          <p:nvPr/>
        </p:nvSpPr>
        <p:spPr>
          <a:xfrm>
            <a:off x="7981950" y="2190750"/>
            <a:ext cx="3511550" cy="4032250"/>
          </a:xfrm>
          <a:prstGeom prst="round2DiagRect">
            <a:avLst>
              <a:gd name="adj1" fmla="val 13020"/>
              <a:gd name="adj2" fmla="val 1808"/>
            </a:avLst>
          </a:prstGeom>
          <a:solidFill>
            <a:srgbClr val="F2F9F5"/>
          </a:solidFill>
          <a:ln/>
        </p:spPr>
      </p:sp>
      <p:sp>
        <p:nvSpPr>
          <p:cNvPr id="10" name="s34-shape-9"/>
          <p:cNvSpPr/>
          <p:nvPr/>
        </p:nvSpPr>
        <p:spPr>
          <a:xfrm>
            <a:off x="10680700" y="240665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1" name="s34-snap-10" descr="/home/user/flan777/ard-albasatin-presentation/source/pptx_build/img/s34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775" y="2498725"/>
            <a:ext cx="400050" cy="400050"/>
          </a:xfrm>
          <a:prstGeom prst="rect">
            <a:avLst/>
          </a:prstGeom>
        </p:spPr>
      </p:pic>
      <p:sp>
        <p:nvSpPr>
          <p:cNvPr id="12" name="s34-text-11"/>
          <p:cNvSpPr txBox="1"/>
          <p:nvPr/>
        </p:nvSpPr>
        <p:spPr>
          <a:xfrm>
            <a:off x="8210550" y="243992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35B86E"/>
                </a:solidFill>
                <a:latin typeface="Alexandria Thin"/>
                <a:cs typeface="Alexandria Thin"/>
              </a:rPr>
              <a:t>4</a:t>
            </a:r>
            <a:endParaRPr lang="ar-SA" sz="4200" dirty="0"/>
          </a:p>
        </p:txBody>
      </p:sp>
      <p:sp>
        <p:nvSpPr>
          <p:cNvPr id="13" name="s34-text-12"/>
          <p:cNvSpPr txBox="1"/>
          <p:nvPr/>
        </p:nvSpPr>
        <p:spPr>
          <a:xfrm>
            <a:off x="7966202" y="3130677"/>
            <a:ext cx="3298698" cy="3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3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المقارن</a:t>
            </a:r>
            <a:endParaRPr lang="ar-SA" sz="2100" dirty="0"/>
          </a:p>
        </p:txBody>
      </p:sp>
      <p:sp>
        <p:nvSpPr>
          <p:cNvPr id="14" name="s34-text-13"/>
          <p:cNvSpPr txBox="1"/>
          <p:nvPr/>
        </p:nvSpPr>
        <p:spPr>
          <a:xfrm>
            <a:off x="7966202" y="3594187"/>
            <a:ext cx="3298698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توضيح الفروقات بين المنتجات من</a:t>
            </a:r>
            <a:endParaRPr lang="ar-SA" sz="160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حيث الاستخدام والمواصفات</a:t>
            </a:r>
            <a:endParaRPr lang="ar-SA" sz="160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والقيمة، دون الإساءة للمنافسين.</a:t>
            </a:r>
            <a:endParaRPr lang="ar-SA" sz="1600" dirty="0"/>
          </a:p>
        </p:txBody>
      </p:sp>
      <p:sp>
        <p:nvSpPr>
          <p:cNvPr id="15" name="s34-shape-14"/>
          <p:cNvSpPr/>
          <p:nvPr/>
        </p:nvSpPr>
        <p:spPr>
          <a:xfrm>
            <a:off x="4343400" y="2190750"/>
            <a:ext cx="3511550" cy="4032250"/>
          </a:xfrm>
          <a:prstGeom prst="round2DiagRect">
            <a:avLst>
              <a:gd name="adj1" fmla="val 13020"/>
              <a:gd name="adj2" fmla="val 1808"/>
            </a:avLst>
          </a:prstGeom>
          <a:solidFill>
            <a:srgbClr val="F2F9F5"/>
          </a:solidFill>
          <a:ln/>
        </p:spPr>
      </p:sp>
      <p:sp>
        <p:nvSpPr>
          <p:cNvPr id="16" name="s34-shape-15"/>
          <p:cNvSpPr/>
          <p:nvPr/>
        </p:nvSpPr>
        <p:spPr>
          <a:xfrm>
            <a:off x="7042150" y="240665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7" name="s34-snap-16" descr="/home/user/flan777/ard-albasatin-presentation/source/pptx_build/img/s34_1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225" y="2498725"/>
            <a:ext cx="400050" cy="400050"/>
          </a:xfrm>
          <a:prstGeom prst="rect">
            <a:avLst/>
          </a:prstGeom>
        </p:spPr>
      </p:pic>
      <p:sp>
        <p:nvSpPr>
          <p:cNvPr id="18" name="s34-text-17"/>
          <p:cNvSpPr txBox="1"/>
          <p:nvPr/>
        </p:nvSpPr>
        <p:spPr>
          <a:xfrm>
            <a:off x="4572000" y="243992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35B86E"/>
                </a:solidFill>
                <a:latin typeface="Alexandria Thin"/>
                <a:cs typeface="Alexandria Thin"/>
              </a:rPr>
              <a:t>5</a:t>
            </a:r>
            <a:endParaRPr lang="ar-SA" sz="4200" dirty="0"/>
          </a:p>
        </p:txBody>
      </p:sp>
      <p:sp>
        <p:nvSpPr>
          <p:cNvPr id="19" name="s34-text-18"/>
          <p:cNvSpPr txBox="1"/>
          <p:nvPr/>
        </p:nvSpPr>
        <p:spPr>
          <a:xfrm>
            <a:off x="4327652" y="3130677"/>
            <a:ext cx="3298698" cy="3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30"/>
              </a:lnSpc>
              <a:buNone/>
            </a:pPr>
            <a:r>
              <a:rPr lang="ar-SA" altLang="en-US" sz="21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التفاعلي</a:t>
            </a:r>
            <a:endParaRPr lang="ar-SA" sz="2100" dirty="0"/>
          </a:p>
        </p:txBody>
      </p:sp>
      <p:sp>
        <p:nvSpPr>
          <p:cNvPr id="20" name="s34-text-19"/>
          <p:cNvSpPr txBox="1"/>
          <p:nvPr/>
        </p:nvSpPr>
        <p:spPr>
          <a:xfrm>
            <a:off x="4327652" y="3597997"/>
            <a:ext cx="329869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ar-SA" altLang="en-US" sz="1600" dirty="0">
                <a:solidFill>
                  <a:srgbClr val="0E3A3C"/>
                </a:solidFill>
                <a:latin typeface="Alexandria"/>
                <a:cs typeface="Alexandria"/>
              </a:rPr>
              <a:t>طرح أسئلة واستطلاعات مثل:</a:t>
            </a:r>
            <a:endParaRPr lang="ar-SA" sz="1600" dirty="0"/>
          </a:p>
        </p:txBody>
      </p:sp>
      <p:sp>
        <p:nvSpPr>
          <p:cNvPr id="21" name="s34-text-20"/>
          <p:cNvSpPr txBox="1"/>
          <p:nvPr/>
        </p:nvSpPr>
        <p:spPr>
          <a:xfrm>
            <a:off x="4327652" y="4019574"/>
            <a:ext cx="329869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«ما أكثر مشكلة تواجهك في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مزرعتك؟»</a:t>
            </a:r>
            <a:endParaRPr lang="ar-SA" sz="1550" dirty="0"/>
          </a:p>
        </p:txBody>
      </p:sp>
      <p:sp>
        <p:nvSpPr>
          <p:cNvPr id="22" name="s34-text-21"/>
          <p:cNvSpPr txBox="1"/>
          <p:nvPr/>
        </p:nvSpPr>
        <p:spPr>
          <a:xfrm>
            <a:off x="4327652" y="4686324"/>
            <a:ext cx="329869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«ما المنتج الزراعي الذي تبحث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عنه؟»</a:t>
            </a:r>
            <a:endParaRPr lang="ar-SA" sz="1550" dirty="0"/>
          </a:p>
        </p:txBody>
      </p:sp>
      <p:sp>
        <p:nvSpPr>
          <p:cNvPr id="23" name="s34-text-22"/>
          <p:cNvSpPr txBox="1"/>
          <p:nvPr/>
        </p:nvSpPr>
        <p:spPr>
          <a:xfrm>
            <a:off x="4327652" y="5353074"/>
            <a:ext cx="3298698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«أي منتج تريد أن نشرح طريقة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dirty="0">
                <a:solidFill>
                  <a:srgbClr val="01804C"/>
                </a:solidFill>
                <a:latin typeface="Alexandria SemiBold"/>
                <a:cs typeface="Alexandria SemiBold"/>
              </a:rPr>
              <a:t>استخدامه؟»</a:t>
            </a:r>
            <a:endParaRPr lang="ar-SA" sz="1550" dirty="0"/>
          </a:p>
        </p:txBody>
      </p:sp>
      <p:sp>
        <p:nvSpPr>
          <p:cNvPr id="24" name="s34-shape-23"/>
          <p:cNvSpPr/>
          <p:nvPr/>
        </p:nvSpPr>
        <p:spPr>
          <a:xfrm>
            <a:off x="704850" y="2190750"/>
            <a:ext cx="3511550" cy="4032250"/>
          </a:xfrm>
          <a:prstGeom prst="round2DiagRect">
            <a:avLst>
              <a:gd name="adj1" fmla="val 13020"/>
              <a:gd name="adj2" fmla="val 1808"/>
            </a:avLst>
          </a:prstGeom>
          <a:solidFill>
            <a:srgbClr val="015256"/>
          </a:solidFill>
          <a:ln/>
        </p:spPr>
      </p:sp>
      <p:sp>
        <p:nvSpPr>
          <p:cNvPr id="25" name="s34-shape-24"/>
          <p:cNvSpPr/>
          <p:nvPr/>
        </p:nvSpPr>
        <p:spPr>
          <a:xfrm>
            <a:off x="3403600" y="2406650"/>
            <a:ext cx="584200" cy="5842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26" name="s34-snap-25" descr="/home/user/flan777/ard-albasatin-presentation/source/pptx_build/img/s34_2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675" y="2498725"/>
            <a:ext cx="400050" cy="400050"/>
          </a:xfrm>
          <a:prstGeom prst="rect">
            <a:avLst/>
          </a:prstGeom>
        </p:spPr>
      </p:pic>
      <p:sp>
        <p:nvSpPr>
          <p:cNvPr id="27" name="s34-text-26"/>
          <p:cNvSpPr txBox="1"/>
          <p:nvPr/>
        </p:nvSpPr>
        <p:spPr>
          <a:xfrm>
            <a:off x="933450" y="2439924"/>
            <a:ext cx="86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lnSpc>
                <a:spcPts val="4200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Thin"/>
                <a:cs typeface="Alexandria Thin"/>
              </a:rPr>
              <a:t>6</a:t>
            </a:r>
            <a:endParaRPr lang="ar-SA" sz="4200" dirty="0"/>
          </a:p>
        </p:txBody>
      </p:sp>
      <p:sp>
        <p:nvSpPr>
          <p:cNvPr id="28" name="s34-text-27"/>
          <p:cNvSpPr txBox="1"/>
          <p:nvPr/>
        </p:nvSpPr>
        <p:spPr>
          <a:xfrm>
            <a:off x="689102" y="3130677"/>
            <a:ext cx="3298698" cy="3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30"/>
              </a:lnSpc>
              <a:buNone/>
            </a:pPr>
            <a:r>
              <a:rPr lang="ar-SA" altLang="en-US" sz="21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المحتوى البيعي</a:t>
            </a:r>
            <a:endParaRPr lang="ar-SA" sz="2100" dirty="0"/>
          </a:p>
        </p:txBody>
      </p:sp>
      <p:sp>
        <p:nvSpPr>
          <p:cNvPr id="29" name="s34-text-28"/>
          <p:cNvSpPr txBox="1"/>
          <p:nvPr/>
        </p:nvSpPr>
        <p:spPr>
          <a:xfrm>
            <a:off x="689102" y="3594187"/>
            <a:ext cx="3298698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Alexandria"/>
                <a:cs typeface="Alexandria"/>
              </a:rPr>
              <a:t>عرض المنتجات المتوفرة،</a:t>
            </a:r>
            <a:endParaRPr lang="ar-SA" sz="160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Alexandria"/>
                <a:cs typeface="Alexandria"/>
              </a:rPr>
              <a:t>والعروض، والكميات، ودعوة</a:t>
            </a:r>
            <a:endParaRPr lang="ar-SA" sz="1600" dirty="0"/>
          </a:p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FFFFFF"/>
                </a:solidFill>
                <a:latin typeface="Alexandria"/>
                <a:cs typeface="Alexandria"/>
              </a:rPr>
              <a:t>العميل للتواصل عبر واتساب.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3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32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7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32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6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  <p:bldP spid="10" grpId="0" animBg="1"/>
      <p:bldP spid="15" grpId="0" animBg="1"/>
      <p:bldP spid="14" grpId="0"/>
      <p:bldP spid="18" grpId="0"/>
      <p:bldP spid="19" grpId="0"/>
      <p:bldP spid="16" grpId="0" animBg="1"/>
      <p:bldP spid="24" grpId="0" animBg="1"/>
      <p:bldP spid="20" grpId="0"/>
      <p:bldP spid="21" grpId="0"/>
      <p:bldP spid="27" grpId="0"/>
      <p:bldP spid="28" grpId="0"/>
      <p:bldP spid="25" grpId="0" animBg="1"/>
      <p:bldP spid="22" grpId="0"/>
      <p:bldP spid="29" grpId="0"/>
      <p:bldP spid="23" grpId="0"/>
    </p:bldLst>
  </p:timing>
</p:sld>
</file>

<file path=ppt/slides/slide3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3100" y="-2730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663700" y="381381"/>
            <a:ext cx="18298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08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استراتيجية التسويق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26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35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5-text-6"/>
          <p:cNvSpPr txBox="1"/>
          <p:nvPr/>
        </p:nvSpPr>
        <p:spPr>
          <a:xfrm>
            <a:off x="10810081" y="805180"/>
            <a:ext cx="68341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 SemiBold"/>
                <a:cs typeface="Alexandria SemiBold"/>
              </a:rPr>
              <a:t>خامسًا</a:t>
            </a:r>
            <a:endParaRPr lang="ar-SA" sz="1500" dirty="0"/>
          </a:p>
        </p:txBody>
      </p:sp>
      <p:sp>
        <p:nvSpPr>
          <p:cNvPr id="8" name="s35-text-7"/>
          <p:cNvSpPr txBox="1"/>
          <p:nvPr/>
        </p:nvSpPr>
        <p:spPr>
          <a:xfrm>
            <a:off x="3641947" y="1103376"/>
            <a:ext cx="7851553" cy="63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08"/>
              </a:lnSpc>
              <a:buNone/>
            </a:pPr>
            <a:r>
              <a:rPr lang="ar-SA" altLang="en-US" sz="36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رحلة العميل </a:t>
            </a:r>
            <a:r>
              <a:rPr lang="ar-SA" altLang="en-US" sz="3600" dirty="0">
                <a:solidFill>
                  <a:srgbClr val="FFFFFF"/>
                </a:solidFill>
                <a:latin typeface="Alexandria ExtraBold"/>
                <a:cs typeface="Alexandria ExtraBold"/>
              </a:rPr>
              <a:t>من التعرف إلى الشراء</a:t>
            </a:r>
            <a:endParaRPr lang="ar-SA" sz="3600" dirty="0"/>
          </a:p>
        </p:txBody>
      </p:sp>
      <p:pic>
        <p:nvPicPr>
          <p:cNvPr id="9" name="s35-snap-8" descr="/home/user/flan777/ard-albasatin-presentation/source/pptx_build/img/s35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006600"/>
            <a:ext cx="10464800" cy="177800"/>
          </a:xfrm>
          <a:prstGeom prst="rect">
            <a:avLst/>
          </a:prstGeom>
        </p:spPr>
      </p:pic>
      <p:pic>
        <p:nvPicPr>
          <p:cNvPr id="10" name="s35-snap-9" descr="/home/user/flan777/ard-albasatin-presentation/source/pptx_build/img/s35_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44700"/>
            <a:ext cx="457200" cy="2298700"/>
          </a:xfrm>
          <a:prstGeom prst="rect">
            <a:avLst/>
          </a:prstGeom>
        </p:spPr>
      </p:pic>
      <p:pic>
        <p:nvPicPr>
          <p:cNvPr id="11" name="s35-snap-10" descr="/home/user/flan777/ard-albasatin-presentation/source/pptx_build/img/s35_1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4203700"/>
            <a:ext cx="10464800" cy="177800"/>
          </a:xfrm>
          <a:prstGeom prst="rect">
            <a:avLst/>
          </a:prstGeom>
        </p:spPr>
      </p:pic>
      <p:sp>
        <p:nvSpPr>
          <p:cNvPr id="12" name="s35-shape-11"/>
          <p:cNvSpPr/>
          <p:nvPr/>
        </p:nvSpPr>
        <p:spPr>
          <a:xfrm>
            <a:off x="10934700" y="1816100"/>
            <a:ext cx="558800" cy="558800"/>
          </a:xfrm>
          <a:prstGeom prst="ellipse">
            <a:avLst/>
          </a:prstGeom>
          <a:solidFill>
            <a:srgbClr val="C3E36B"/>
          </a:solidFill>
          <a:ln/>
        </p:spPr>
      </p:sp>
      <p:pic>
        <p:nvPicPr>
          <p:cNvPr id="13" name="s35-snap-12" descr="/home/user/flan777/ard-albasatin-presentation/source/pptx_build/img/s35_1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0425" y="1901825"/>
            <a:ext cx="387350" cy="387350"/>
          </a:xfrm>
          <a:prstGeom prst="rect">
            <a:avLst/>
          </a:prstGeom>
        </p:spPr>
      </p:pic>
      <p:sp>
        <p:nvSpPr>
          <p:cNvPr id="14" name="s35-text-13"/>
          <p:cNvSpPr txBox="1"/>
          <p:nvPr/>
        </p:nvSpPr>
        <p:spPr>
          <a:xfrm>
            <a:off x="7790180" y="24799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1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التعرف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Awareness</a:t>
            </a:r>
            <a:endParaRPr lang="ar-SA" sz="1700" dirty="0"/>
          </a:p>
        </p:txBody>
      </p:sp>
      <p:sp>
        <p:nvSpPr>
          <p:cNvPr id="15" name="s35-text-14"/>
          <p:cNvSpPr txBox="1"/>
          <p:nvPr/>
        </p:nvSpPr>
        <p:spPr>
          <a:xfrm>
            <a:off x="7790180" y="2803335"/>
            <a:ext cx="3703320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يشاهد العميل منشورًا أو فيديو على فيسبوك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أو تيك توك يتحدث عن مشكلة زراعية أو منتج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يمكن أن يساعد في حلها.</a:t>
            </a:r>
            <a:endParaRPr lang="ar-SA" sz="1350" dirty="0"/>
          </a:p>
        </p:txBody>
      </p:sp>
      <p:sp>
        <p:nvSpPr>
          <p:cNvPr id="16" name="s35-shape-15"/>
          <p:cNvSpPr/>
          <p:nvPr/>
        </p:nvSpPr>
        <p:spPr>
          <a:xfrm>
            <a:off x="7251700" y="1816100"/>
            <a:ext cx="558800" cy="558800"/>
          </a:xfrm>
          <a:prstGeom prst="ellipse">
            <a:avLst/>
          </a:prstGeom>
          <a:solidFill>
            <a:srgbClr val="0F6E6B"/>
          </a:solidFill>
          <a:ln/>
        </p:spPr>
      </p:sp>
      <p:pic>
        <p:nvPicPr>
          <p:cNvPr id="17" name="s35-snap-16" descr="/home/user/flan777/ard-albasatin-presentation/source/pptx_build/img/s35_1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7425" y="1901825"/>
            <a:ext cx="387350" cy="387350"/>
          </a:xfrm>
          <a:prstGeom prst="rect">
            <a:avLst/>
          </a:prstGeom>
        </p:spPr>
      </p:pic>
      <p:sp>
        <p:nvSpPr>
          <p:cNvPr id="18" name="s35-text-17"/>
          <p:cNvSpPr txBox="1"/>
          <p:nvPr/>
        </p:nvSpPr>
        <p:spPr>
          <a:xfrm>
            <a:off x="4107180" y="24799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2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الاهتمام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Interest</a:t>
            </a:r>
            <a:endParaRPr lang="ar-SA" sz="1700" dirty="0"/>
          </a:p>
        </p:txBody>
      </p:sp>
      <p:sp>
        <p:nvSpPr>
          <p:cNvPr id="19" name="s35-text-18"/>
          <p:cNvSpPr txBox="1"/>
          <p:nvPr/>
        </p:nvSpPr>
        <p:spPr>
          <a:xfrm>
            <a:off x="4107180" y="2803335"/>
            <a:ext cx="370332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ينتقل العميل إلى صفحة أرض البساتين ويتعرف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على المتجر والمنتجات المتوفرة.</a:t>
            </a:r>
            <a:endParaRPr lang="ar-SA" sz="1350" dirty="0"/>
          </a:p>
        </p:txBody>
      </p:sp>
      <p:sp>
        <p:nvSpPr>
          <p:cNvPr id="20" name="s35-shape-19"/>
          <p:cNvSpPr/>
          <p:nvPr/>
        </p:nvSpPr>
        <p:spPr>
          <a:xfrm>
            <a:off x="3568700" y="1816100"/>
            <a:ext cx="558800" cy="558800"/>
          </a:xfrm>
          <a:prstGeom prst="ellipse">
            <a:avLst/>
          </a:prstGeom>
          <a:solidFill>
            <a:srgbClr val="0F6E6B"/>
          </a:solidFill>
          <a:ln/>
        </p:spPr>
      </p:sp>
      <p:pic>
        <p:nvPicPr>
          <p:cNvPr id="21" name="s35-snap-20" descr="/home/user/flan777/ard-albasatin-presentation/source/pptx_build/img/s35_2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4425" y="1901825"/>
            <a:ext cx="387350" cy="387350"/>
          </a:xfrm>
          <a:prstGeom prst="rect">
            <a:avLst/>
          </a:prstGeom>
        </p:spPr>
      </p:pic>
      <p:sp>
        <p:nvSpPr>
          <p:cNvPr id="22" name="s35-text-21"/>
          <p:cNvSpPr txBox="1"/>
          <p:nvPr/>
        </p:nvSpPr>
        <p:spPr>
          <a:xfrm>
            <a:off x="424180" y="24799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3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التقييم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Consideration</a:t>
            </a:r>
            <a:endParaRPr lang="ar-SA" sz="1700" dirty="0"/>
          </a:p>
        </p:txBody>
      </p:sp>
      <p:sp>
        <p:nvSpPr>
          <p:cNvPr id="23" name="s35-text-22"/>
          <p:cNvSpPr txBox="1"/>
          <p:nvPr/>
        </p:nvSpPr>
        <p:spPr>
          <a:xfrm>
            <a:off x="424180" y="2803335"/>
            <a:ext cx="3703320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يقارن العميل بين المنتجات من حيث الجودة،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المواصفات، الاستخدام والسعر، ويشاهد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المحتوى التعليمي وتجارب الاستخدام.</a:t>
            </a:r>
            <a:endParaRPr lang="ar-SA" sz="1350" dirty="0"/>
          </a:p>
        </p:txBody>
      </p:sp>
      <p:sp>
        <p:nvSpPr>
          <p:cNvPr id="24" name="s35-shape-23"/>
          <p:cNvSpPr/>
          <p:nvPr/>
        </p:nvSpPr>
        <p:spPr>
          <a:xfrm>
            <a:off x="3568700" y="4013200"/>
            <a:ext cx="558800" cy="558800"/>
          </a:xfrm>
          <a:prstGeom prst="ellipse">
            <a:avLst/>
          </a:prstGeom>
          <a:solidFill>
            <a:srgbClr val="0F6E6B"/>
          </a:solidFill>
          <a:ln/>
        </p:spPr>
      </p:sp>
      <p:pic>
        <p:nvPicPr>
          <p:cNvPr id="25" name="s35-snap-24" descr="/home/user/flan777/ard-albasatin-presentation/source/pptx_build/img/s35_2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4425" y="4098925"/>
            <a:ext cx="387350" cy="387350"/>
          </a:xfrm>
          <a:prstGeom prst="rect">
            <a:avLst/>
          </a:prstGeom>
        </p:spPr>
      </p:pic>
      <p:sp>
        <p:nvSpPr>
          <p:cNvPr id="26" name="s35-text-25"/>
          <p:cNvSpPr txBox="1"/>
          <p:nvPr/>
        </p:nvSpPr>
        <p:spPr>
          <a:xfrm>
            <a:off x="424180" y="46770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4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الاستفسار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Inquiry</a:t>
            </a:r>
            <a:endParaRPr lang="ar-SA" sz="1700" dirty="0"/>
          </a:p>
        </p:txBody>
      </p:sp>
      <p:sp>
        <p:nvSpPr>
          <p:cNvPr id="27" name="s35-text-26"/>
          <p:cNvSpPr txBox="1"/>
          <p:nvPr/>
        </p:nvSpPr>
        <p:spPr>
          <a:xfrm>
            <a:off x="424180" y="5000435"/>
            <a:ext cx="370332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يتواصل العميل عبر واتساب أو الرسائل لمعرفة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السعر والمواصفات والكمية المناسبة.</a:t>
            </a:r>
            <a:endParaRPr lang="ar-SA" sz="1350" dirty="0"/>
          </a:p>
        </p:txBody>
      </p:sp>
      <p:sp>
        <p:nvSpPr>
          <p:cNvPr id="28" name="s35-shape-27"/>
          <p:cNvSpPr/>
          <p:nvPr/>
        </p:nvSpPr>
        <p:spPr>
          <a:xfrm>
            <a:off x="7251700" y="4013200"/>
            <a:ext cx="558800" cy="558800"/>
          </a:xfrm>
          <a:prstGeom prst="ellipse">
            <a:avLst/>
          </a:prstGeom>
          <a:solidFill>
            <a:srgbClr val="C3E36B"/>
          </a:solidFill>
          <a:ln/>
        </p:spPr>
      </p:sp>
      <p:pic>
        <p:nvPicPr>
          <p:cNvPr id="29" name="s35-snap-28" descr="/home/user/flan777/ard-albasatin-presentation/source/pptx_build/img/s35_2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7425" y="4098925"/>
            <a:ext cx="387350" cy="387350"/>
          </a:xfrm>
          <a:prstGeom prst="rect">
            <a:avLst/>
          </a:prstGeom>
        </p:spPr>
      </p:pic>
      <p:sp>
        <p:nvSpPr>
          <p:cNvPr id="30" name="s35-text-29"/>
          <p:cNvSpPr txBox="1"/>
          <p:nvPr/>
        </p:nvSpPr>
        <p:spPr>
          <a:xfrm>
            <a:off x="4107180" y="46770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5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الشراء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Purchase</a:t>
            </a:r>
            <a:endParaRPr lang="ar-SA" sz="1700" dirty="0"/>
          </a:p>
        </p:txBody>
      </p:sp>
      <p:sp>
        <p:nvSpPr>
          <p:cNvPr id="31" name="s35-text-30"/>
          <p:cNvSpPr txBox="1"/>
          <p:nvPr/>
        </p:nvSpPr>
        <p:spPr>
          <a:xfrm>
            <a:off x="4107180" y="5000435"/>
            <a:ext cx="370332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يختار العميل المنتج المناسب ويتم تأكيد الكمية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والسعر ومكان الاستلام أو التوصيل.</a:t>
            </a:r>
            <a:endParaRPr lang="ar-SA" sz="1350" dirty="0"/>
          </a:p>
        </p:txBody>
      </p:sp>
      <p:sp>
        <p:nvSpPr>
          <p:cNvPr id="32" name="s35-shape-31"/>
          <p:cNvSpPr/>
          <p:nvPr/>
        </p:nvSpPr>
        <p:spPr>
          <a:xfrm>
            <a:off x="10934700" y="4013200"/>
            <a:ext cx="558800" cy="558800"/>
          </a:xfrm>
          <a:prstGeom prst="ellipse">
            <a:avLst/>
          </a:prstGeom>
          <a:solidFill>
            <a:srgbClr val="0F6E6B"/>
          </a:solidFill>
          <a:ln/>
        </p:spPr>
      </p:sp>
      <p:pic>
        <p:nvPicPr>
          <p:cNvPr id="33" name="s35-snap-32" descr="/home/user/flan777/ard-albasatin-presentation/source/pptx_build/img/s35_3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20425" y="4098925"/>
            <a:ext cx="387350" cy="387350"/>
          </a:xfrm>
          <a:prstGeom prst="rect">
            <a:avLst/>
          </a:prstGeom>
        </p:spPr>
      </p:pic>
      <p:sp>
        <p:nvSpPr>
          <p:cNvPr id="34" name="s35-text-33"/>
          <p:cNvSpPr txBox="1"/>
          <p:nvPr/>
        </p:nvSpPr>
        <p:spPr>
          <a:xfrm>
            <a:off x="7790180" y="4677029"/>
            <a:ext cx="37033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ExtraLight"/>
                <a:cs typeface="Alexandria ExtraLight"/>
              </a:rPr>
              <a:t>6 </a:t>
            </a: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ما بعد البيع </a:t>
            </a:r>
            <a:r>
              <a:rPr lang="ar-SA" altLang="en-US" sz="1300" dirty="0">
                <a:solidFill>
                  <a:srgbClr val="C3E36B"/>
                </a:solidFill>
                <a:latin typeface="Alexandria Light"/>
                <a:cs typeface="Alexandria Light"/>
              </a:rPr>
              <a:t>– Loyalty</a:t>
            </a:r>
            <a:endParaRPr lang="ar-SA" sz="1700" dirty="0"/>
          </a:p>
        </p:txBody>
      </p:sp>
      <p:sp>
        <p:nvSpPr>
          <p:cNvPr id="35" name="s35-text-34"/>
          <p:cNvSpPr txBox="1"/>
          <p:nvPr/>
        </p:nvSpPr>
        <p:spPr>
          <a:xfrm>
            <a:off x="7790180" y="5000435"/>
            <a:ext cx="3703320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تتم متابعة العميل بعد الشراء وتشجيعه على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مشاركة تجربته، مما يساعد على بناء الثقة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 Light"/>
                <a:cs typeface="Alexandria Light"/>
              </a:rPr>
              <a:t>وتحويله إلى عميل متكرر.</a:t>
            </a:r>
            <a:endParaRPr lang="ar-SA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7" dur="6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9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6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9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2" dur="6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9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1" dur="63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4" grpId="0"/>
      <p:bldP spid="15" grpId="0"/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4" grpId="0"/>
      <p:bldP spid="35" grpId="0"/>
    </p:bldLst>
  </p:timing>
</p:sld>
</file>

<file path=ppt/slides/slide3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4100" y="-5778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5166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36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num"/>
          <p:cNvSpPr txBox="1"/>
          <p:nvPr/>
        </p:nvSpPr>
        <p:spPr>
          <a:xfrm>
            <a:off x="5384800" y="1038225"/>
            <a:ext cx="61722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0"/>
              </a:lnSpc>
              <a:buNone/>
            </a:pPr>
            <a:r>
              <a:rPr lang="ar-SA" altLang="en-US" sz="20000" dirty="0">
                <a:solidFill>
                  <a:srgbClr val="C3E36B"/>
                </a:solidFill>
                <a:latin typeface="Alexandria Thin"/>
                <a:cs typeface="Alexandria Thin"/>
              </a:rPr>
              <a:t>09</a:t>
            </a:r>
            <a:endParaRPr lang="ar-SA" sz="20000" dirty="0"/>
          </a:p>
        </p:txBody>
      </p:sp>
      <p:sp>
        <p:nvSpPr>
          <p:cNvPr id="7" name="!!sectitle"/>
          <p:cNvSpPr txBox="1"/>
          <p:nvPr/>
        </p:nvSpPr>
        <p:spPr>
          <a:xfrm>
            <a:off x="4224020" y="3783203"/>
            <a:ext cx="72694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خطة المحتوى</a:t>
            </a:r>
            <a:endParaRPr lang="ar-SA" sz="4400" dirty="0"/>
          </a:p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التسويقي</a:t>
            </a:r>
            <a:endParaRPr lang="ar-SA" sz="4400" dirty="0"/>
          </a:p>
        </p:txBody>
      </p:sp>
      <p:pic>
        <p:nvPicPr>
          <p:cNvPr id="8" name="s36-snap-7" descr="/home/user/flan777/ard-albasatin-presentation/source/pptx_build/img/s36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50" y="-9461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750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7-text-6"/>
          <p:cNvSpPr txBox="1"/>
          <p:nvPr/>
        </p:nvSpPr>
        <p:spPr>
          <a:xfrm>
            <a:off x="4628963" y="817372"/>
            <a:ext cx="6864537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خطة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التسويقي</a:t>
            </a:r>
            <a:endParaRPr lang="ar-SA" sz="4200" dirty="0"/>
          </a:p>
        </p:txBody>
      </p:sp>
      <p:sp>
        <p:nvSpPr>
          <p:cNvPr id="8" name="s37-text-7"/>
          <p:cNvSpPr txBox="1"/>
          <p:nvPr/>
        </p:nvSpPr>
        <p:spPr>
          <a:xfrm>
            <a:off x="-165100" y="1858264"/>
            <a:ext cx="11658600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Light"/>
                <a:cs typeface="Alexandria Light"/>
              </a:rPr>
              <a:t>تم إعداد خطة محتوى </a:t>
            </a:r>
            <a:r>
              <a:rPr lang="ar-SA" altLang="en-US" sz="1800" dirty="0">
                <a:solidFill>
                  <a:srgbClr val="01804C"/>
                </a:solidFill>
                <a:latin typeface="Alexandria ExtraBold"/>
                <a:cs typeface="Alexandria ExtraBold"/>
              </a:rPr>
              <a:t>لمدة شهر كامل (4 أسابيع) </a:t>
            </a:r>
            <a:r>
              <a:rPr lang="ar-SA" altLang="en-US" sz="1800" dirty="0">
                <a:solidFill>
                  <a:srgbClr val="0E3A3C"/>
                </a:solidFill>
                <a:latin typeface="Alexandria Light"/>
                <a:cs typeface="Alexandria Light"/>
              </a:rPr>
              <a:t>تجمع بين المحتوى التعليمي والتعريفي والتفاعلي</a:t>
            </a:r>
            <a:endParaRPr lang="ar-SA" sz="1800" dirty="0"/>
          </a:p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Light"/>
                <a:cs typeface="Alexandria Light"/>
              </a:rPr>
              <a:t>والاستعراضي والبيعي، مع التركيز على بناء علامة أرض البساتين كمتجر زراعي متنوع.</a:t>
            </a:r>
            <a:endParaRPr lang="ar-SA" sz="1800" dirty="0"/>
          </a:p>
        </p:txBody>
      </p:sp>
      <p:pic>
        <p:nvPicPr>
          <p:cNvPr id="9" name="s37-snap-8" descr="/home/user/flan777/ard-albasatin-presentation/source/pptx_build/img/s37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3467100"/>
            <a:ext cx="10464800" cy="177800"/>
          </a:xfrm>
          <a:prstGeom prst="rect">
            <a:avLst/>
          </a:prstGeom>
        </p:spPr>
      </p:pic>
      <p:sp>
        <p:nvSpPr>
          <p:cNvPr id="10" name="s37-shape-9"/>
          <p:cNvSpPr/>
          <p:nvPr/>
        </p:nvSpPr>
        <p:spPr>
          <a:xfrm>
            <a:off x="10001250" y="3365500"/>
            <a:ext cx="381000" cy="381000"/>
          </a:xfrm>
          <a:prstGeom prst="ellipse">
            <a:avLst/>
          </a:prstGeom>
          <a:solidFill>
            <a:srgbClr val="C3E36B"/>
          </a:solidFill>
          <a:ln/>
        </p:spPr>
      </p:sp>
      <p:sp>
        <p:nvSpPr>
          <p:cNvPr id="11" name="s37-text-10"/>
          <p:cNvSpPr txBox="1"/>
          <p:nvPr/>
        </p:nvSpPr>
        <p:spPr>
          <a:xfrm>
            <a:off x="9950450" y="3395980"/>
            <a:ext cx="48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013B3E"/>
                </a:solidFill>
                <a:latin typeface="Alexandria ExtraBold"/>
                <a:cs typeface="Alexandria ExtraBold"/>
              </a:rPr>
              <a:t>1</a:t>
            </a:r>
            <a:endParaRPr lang="ar-SA" sz="1500" dirty="0"/>
          </a:p>
        </p:txBody>
      </p:sp>
      <p:sp>
        <p:nvSpPr>
          <p:cNvPr id="12" name="s37-shape-11"/>
          <p:cNvSpPr/>
          <p:nvPr/>
        </p:nvSpPr>
        <p:spPr>
          <a:xfrm>
            <a:off x="8890000" y="4000500"/>
            <a:ext cx="2603500" cy="2222500"/>
          </a:xfrm>
          <a:prstGeom prst="round2DiagRect">
            <a:avLst>
              <a:gd name="adj1" fmla="val 20571"/>
              <a:gd name="adj2" fmla="val 2857"/>
            </a:avLst>
          </a:prstGeom>
          <a:solidFill>
            <a:srgbClr val="F2F9F5"/>
          </a:solidFill>
          <a:ln/>
        </p:spPr>
      </p:sp>
      <p:sp>
        <p:nvSpPr>
          <p:cNvPr id="13" name="s37-shape-12"/>
          <p:cNvSpPr/>
          <p:nvPr/>
        </p:nvSpPr>
        <p:spPr>
          <a:xfrm>
            <a:off x="10718800" y="420370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4" name="s37-snap-13" descr="/home/user/flan777/ard-albasatin-presentation/source/pptx_build/img/s37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4525" y="4289425"/>
            <a:ext cx="387350" cy="387350"/>
          </a:xfrm>
          <a:prstGeom prst="rect">
            <a:avLst/>
          </a:prstGeom>
        </p:spPr>
      </p:pic>
      <p:sp>
        <p:nvSpPr>
          <p:cNvPr id="15" name="s37-text-14"/>
          <p:cNvSpPr txBox="1"/>
          <p:nvPr/>
        </p:nvSpPr>
        <p:spPr>
          <a:xfrm>
            <a:off x="8932164" y="4945825"/>
            <a:ext cx="234543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029C3F"/>
                </a:solidFill>
                <a:latin typeface="Alexandria Medium"/>
                <a:cs typeface="Alexandria Medium"/>
              </a:rPr>
              <a:t>الأسبوع الأول</a:t>
            </a:r>
            <a:endParaRPr lang="ar-SA" sz="1350" dirty="0"/>
          </a:p>
        </p:txBody>
      </p:sp>
      <p:sp>
        <p:nvSpPr>
          <p:cNvPr id="16" name="s37-text-15"/>
          <p:cNvSpPr txBox="1"/>
          <p:nvPr/>
        </p:nvSpPr>
        <p:spPr>
          <a:xfrm>
            <a:off x="8932164" y="5210747"/>
            <a:ext cx="2345436" cy="33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التعريف وبناء الوعي</a:t>
            </a:r>
            <a:endParaRPr lang="ar-SA" sz="1650" dirty="0"/>
          </a:p>
        </p:txBody>
      </p:sp>
      <p:sp>
        <p:nvSpPr>
          <p:cNvPr id="17" name="s37-shape-16"/>
          <p:cNvSpPr/>
          <p:nvPr/>
        </p:nvSpPr>
        <p:spPr>
          <a:xfrm>
            <a:off x="7270750" y="3365500"/>
            <a:ext cx="381000" cy="381000"/>
          </a:xfrm>
          <a:prstGeom prst="ellipse">
            <a:avLst/>
          </a:prstGeom>
          <a:solidFill>
            <a:srgbClr val="35B86E"/>
          </a:solidFill>
          <a:ln/>
        </p:spPr>
      </p:sp>
      <p:sp>
        <p:nvSpPr>
          <p:cNvPr id="18" name="s37-text-17"/>
          <p:cNvSpPr txBox="1"/>
          <p:nvPr/>
        </p:nvSpPr>
        <p:spPr>
          <a:xfrm>
            <a:off x="7219950" y="3395980"/>
            <a:ext cx="48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ExtraBold"/>
                <a:cs typeface="Alexandria ExtraBold"/>
              </a:rPr>
              <a:t>2</a:t>
            </a:r>
            <a:endParaRPr lang="ar-SA" sz="1500" dirty="0"/>
          </a:p>
        </p:txBody>
      </p:sp>
      <p:sp>
        <p:nvSpPr>
          <p:cNvPr id="19" name="s37-shape-18"/>
          <p:cNvSpPr/>
          <p:nvPr/>
        </p:nvSpPr>
        <p:spPr>
          <a:xfrm>
            <a:off x="6159500" y="4000500"/>
            <a:ext cx="2603500" cy="2222500"/>
          </a:xfrm>
          <a:prstGeom prst="round2DiagRect">
            <a:avLst>
              <a:gd name="adj1" fmla="val 20571"/>
              <a:gd name="adj2" fmla="val 2857"/>
            </a:avLst>
          </a:prstGeom>
          <a:solidFill>
            <a:srgbClr val="F2F9F5"/>
          </a:solidFill>
          <a:ln/>
        </p:spPr>
      </p:sp>
      <p:sp>
        <p:nvSpPr>
          <p:cNvPr id="20" name="s37-shape-19"/>
          <p:cNvSpPr/>
          <p:nvPr/>
        </p:nvSpPr>
        <p:spPr>
          <a:xfrm>
            <a:off x="7988300" y="420370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1" name="s37-snap-20" descr="/home/user/flan777/ard-albasatin-presentation/source/pptx_build/img/s37_2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025" y="4289425"/>
            <a:ext cx="387350" cy="387350"/>
          </a:xfrm>
          <a:prstGeom prst="rect">
            <a:avLst/>
          </a:prstGeom>
        </p:spPr>
      </p:pic>
      <p:sp>
        <p:nvSpPr>
          <p:cNvPr id="22" name="s37-text-21"/>
          <p:cNvSpPr txBox="1"/>
          <p:nvPr/>
        </p:nvSpPr>
        <p:spPr>
          <a:xfrm>
            <a:off x="6201664" y="4945825"/>
            <a:ext cx="234543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029C3F"/>
                </a:solidFill>
                <a:latin typeface="Alexandria Medium"/>
                <a:cs typeface="Alexandria Medium"/>
              </a:rPr>
              <a:t>الأسبوع الثاني</a:t>
            </a:r>
            <a:endParaRPr lang="ar-SA" sz="1350" dirty="0"/>
          </a:p>
        </p:txBody>
      </p:sp>
      <p:sp>
        <p:nvSpPr>
          <p:cNvPr id="23" name="s37-text-22"/>
          <p:cNvSpPr txBox="1"/>
          <p:nvPr/>
        </p:nvSpPr>
        <p:spPr>
          <a:xfrm>
            <a:off x="6201664" y="5210747"/>
            <a:ext cx="2345436" cy="33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الجودة والمنتجات</a:t>
            </a:r>
            <a:endParaRPr lang="ar-SA" sz="1650" dirty="0"/>
          </a:p>
        </p:txBody>
      </p:sp>
      <p:sp>
        <p:nvSpPr>
          <p:cNvPr id="24" name="s37-shape-23"/>
          <p:cNvSpPr/>
          <p:nvPr/>
        </p:nvSpPr>
        <p:spPr>
          <a:xfrm>
            <a:off x="4540250" y="3365500"/>
            <a:ext cx="381000" cy="381000"/>
          </a:xfrm>
          <a:prstGeom prst="ellipse">
            <a:avLst/>
          </a:prstGeom>
          <a:solidFill>
            <a:srgbClr val="35B86E"/>
          </a:solidFill>
          <a:ln/>
        </p:spPr>
      </p:sp>
      <p:sp>
        <p:nvSpPr>
          <p:cNvPr id="25" name="s37-text-24"/>
          <p:cNvSpPr txBox="1"/>
          <p:nvPr/>
        </p:nvSpPr>
        <p:spPr>
          <a:xfrm>
            <a:off x="4489450" y="3395980"/>
            <a:ext cx="48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ExtraBold"/>
                <a:cs typeface="Alexandria ExtraBold"/>
              </a:rPr>
              <a:t>3</a:t>
            </a:r>
            <a:endParaRPr lang="ar-SA" sz="1500" dirty="0"/>
          </a:p>
        </p:txBody>
      </p:sp>
      <p:sp>
        <p:nvSpPr>
          <p:cNvPr id="26" name="s37-shape-25"/>
          <p:cNvSpPr/>
          <p:nvPr/>
        </p:nvSpPr>
        <p:spPr>
          <a:xfrm>
            <a:off x="3429000" y="4000500"/>
            <a:ext cx="2603500" cy="2222500"/>
          </a:xfrm>
          <a:prstGeom prst="round2DiagRect">
            <a:avLst>
              <a:gd name="adj1" fmla="val 20571"/>
              <a:gd name="adj2" fmla="val 2857"/>
            </a:avLst>
          </a:prstGeom>
          <a:solidFill>
            <a:srgbClr val="F2F9F5"/>
          </a:solidFill>
          <a:ln/>
        </p:spPr>
      </p:sp>
      <p:sp>
        <p:nvSpPr>
          <p:cNvPr id="27" name="s37-shape-26"/>
          <p:cNvSpPr/>
          <p:nvPr/>
        </p:nvSpPr>
        <p:spPr>
          <a:xfrm>
            <a:off x="5257800" y="420370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28" name="s37-snap-27" descr="/home/user/flan777/ard-albasatin-presentation/source/pptx_build/img/s37_2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525" y="4289425"/>
            <a:ext cx="387350" cy="387350"/>
          </a:xfrm>
          <a:prstGeom prst="rect">
            <a:avLst/>
          </a:prstGeom>
        </p:spPr>
      </p:pic>
      <p:sp>
        <p:nvSpPr>
          <p:cNvPr id="29" name="s37-text-28"/>
          <p:cNvSpPr txBox="1"/>
          <p:nvPr/>
        </p:nvSpPr>
        <p:spPr>
          <a:xfrm>
            <a:off x="3471164" y="4945825"/>
            <a:ext cx="234543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029C3F"/>
                </a:solidFill>
                <a:latin typeface="Alexandria Medium"/>
                <a:cs typeface="Alexandria Medium"/>
              </a:rPr>
              <a:t>الأسبوع الثالث</a:t>
            </a:r>
            <a:endParaRPr lang="ar-SA" sz="1350" dirty="0"/>
          </a:p>
        </p:txBody>
      </p:sp>
      <p:sp>
        <p:nvSpPr>
          <p:cNvPr id="30" name="s37-text-29"/>
          <p:cNvSpPr txBox="1"/>
          <p:nvPr/>
        </p:nvSpPr>
        <p:spPr>
          <a:xfrm>
            <a:off x="3471164" y="5210747"/>
            <a:ext cx="2345436" cy="62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 ExtraBold"/>
                <a:cs typeface="Alexandria ExtraBold"/>
              </a:rPr>
              <a:t>استهداف العملاء</a:t>
            </a:r>
            <a:endParaRPr lang="ar-SA" sz="1650" dirty="0"/>
          </a:p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0E3A3C"/>
                </a:solidFill>
                <a:latin typeface="Alexandria ExtraBold"/>
                <a:cs typeface="Alexandria ExtraBold"/>
              </a:rPr>
              <a:t>والمشاريع</a:t>
            </a:r>
            <a:endParaRPr lang="ar-SA" sz="1650" dirty="0"/>
          </a:p>
        </p:txBody>
      </p:sp>
      <p:sp>
        <p:nvSpPr>
          <p:cNvPr id="31" name="s37-shape-30"/>
          <p:cNvSpPr/>
          <p:nvPr/>
        </p:nvSpPr>
        <p:spPr>
          <a:xfrm>
            <a:off x="1809750" y="3365500"/>
            <a:ext cx="381000" cy="381000"/>
          </a:xfrm>
          <a:prstGeom prst="ellipse">
            <a:avLst/>
          </a:prstGeom>
          <a:solidFill>
            <a:srgbClr val="35B86E"/>
          </a:solidFill>
          <a:ln/>
        </p:spPr>
      </p:sp>
      <p:sp>
        <p:nvSpPr>
          <p:cNvPr id="32" name="s37-text-31"/>
          <p:cNvSpPr txBox="1"/>
          <p:nvPr/>
        </p:nvSpPr>
        <p:spPr>
          <a:xfrm>
            <a:off x="1758950" y="3395980"/>
            <a:ext cx="48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1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ExtraBold"/>
                <a:cs typeface="Alexandria ExtraBold"/>
              </a:rPr>
              <a:t>4</a:t>
            </a:r>
            <a:endParaRPr lang="ar-SA" sz="1500" dirty="0"/>
          </a:p>
        </p:txBody>
      </p:sp>
      <p:sp>
        <p:nvSpPr>
          <p:cNvPr id="33" name="s37-shape-32"/>
          <p:cNvSpPr/>
          <p:nvPr/>
        </p:nvSpPr>
        <p:spPr>
          <a:xfrm>
            <a:off x="698500" y="4000500"/>
            <a:ext cx="2603500" cy="2222500"/>
          </a:xfrm>
          <a:prstGeom prst="round2DiagRect">
            <a:avLst>
              <a:gd name="adj1" fmla="val 20571"/>
              <a:gd name="adj2" fmla="val 2857"/>
            </a:avLst>
          </a:prstGeom>
          <a:solidFill>
            <a:srgbClr val="015256"/>
          </a:solidFill>
          <a:ln/>
        </p:spPr>
      </p:sp>
      <p:sp>
        <p:nvSpPr>
          <p:cNvPr id="34" name="s37-shape-33"/>
          <p:cNvSpPr/>
          <p:nvPr/>
        </p:nvSpPr>
        <p:spPr>
          <a:xfrm>
            <a:off x="2527300" y="4203700"/>
            <a:ext cx="558800" cy="5588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35" name="s37-snap-34" descr="/home/user/flan777/ard-albasatin-presentation/source/pptx_build/img/s37_3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3025" y="4289425"/>
            <a:ext cx="387350" cy="387350"/>
          </a:xfrm>
          <a:prstGeom prst="rect">
            <a:avLst/>
          </a:prstGeom>
        </p:spPr>
      </p:pic>
      <p:sp>
        <p:nvSpPr>
          <p:cNvPr id="36" name="s37-text-35"/>
          <p:cNvSpPr txBox="1"/>
          <p:nvPr/>
        </p:nvSpPr>
        <p:spPr>
          <a:xfrm>
            <a:off x="740664" y="4945825"/>
            <a:ext cx="2345436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55"/>
              </a:lnSpc>
              <a:buNone/>
            </a:pPr>
            <a:r>
              <a:rPr lang="ar-SA" altLang="en-US" sz="1350" dirty="0">
                <a:solidFill>
                  <a:srgbClr val="C3E36B"/>
                </a:solidFill>
                <a:latin typeface="Alexandria Medium"/>
                <a:cs typeface="Alexandria Medium"/>
              </a:rPr>
              <a:t>الأسبوع الرابع</a:t>
            </a:r>
            <a:endParaRPr lang="ar-SA" sz="1350" dirty="0"/>
          </a:p>
        </p:txBody>
      </p:sp>
      <p:sp>
        <p:nvSpPr>
          <p:cNvPr id="37" name="s37-text-36"/>
          <p:cNvSpPr txBox="1"/>
          <p:nvPr/>
        </p:nvSpPr>
        <p:spPr>
          <a:xfrm>
            <a:off x="740664" y="5210747"/>
            <a:ext cx="2345436" cy="62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التحويل إلى مبيعات</a:t>
            </a:r>
            <a:endParaRPr lang="ar-SA" sz="1650" dirty="0"/>
          </a:p>
          <a:p>
            <a:pPr rtl="1" algn="r" indent="0" marL="0">
              <a:lnSpc>
                <a:spcPts val="2277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Alexandria ExtraBold"/>
                <a:cs typeface="Alexandria ExtraBold"/>
              </a:rPr>
              <a:t>وبناء الثقة</a:t>
            </a:r>
            <a:endParaRPr lang="ar-SA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/>
      <p:bldP spid="12" grpId="0" animBg="1"/>
      <p:bldP spid="15" grpId="0"/>
      <p:bldP spid="13" grpId="0" animBg="1"/>
      <p:bldP spid="16" grpId="0"/>
      <p:bldP spid="17" grpId="0" animBg="1"/>
      <p:bldP spid="18" grpId="0"/>
      <p:bldP spid="19" grpId="0" animBg="1"/>
      <p:bldP spid="22" grpId="0"/>
      <p:bldP spid="20" grpId="0" animBg="1"/>
      <p:bldP spid="23" grpId="0"/>
      <p:bldP spid="24" grpId="0" animBg="1"/>
      <p:bldP spid="25" grpId="0"/>
      <p:bldP spid="26" grpId="0" animBg="1"/>
      <p:bldP spid="29" grpId="0"/>
      <p:bldP spid="27" grpId="0" animBg="1"/>
      <p:bldP spid="30" grpId="0"/>
      <p:bldP spid="31" grpId="0" animBg="1"/>
      <p:bldP spid="32" grpId="0"/>
      <p:bldP spid="33" grpId="0" animBg="1"/>
      <p:bldP spid="36" grpId="0"/>
      <p:bldP spid="34" grpId="0" animBg="1"/>
      <p:bldP spid="37" grpId="0"/>
    </p:bldLst>
  </p:timing>
</p:sld>
</file>

<file path=ppt/slides/slide3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-12954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19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38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8-text-6"/>
          <p:cNvSpPr txBox="1"/>
          <p:nvPr/>
        </p:nvSpPr>
        <p:spPr>
          <a:xfrm>
            <a:off x="5321300" y="805180"/>
            <a:ext cx="61722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الأسبوع الأول</a:t>
            </a:r>
            <a:endParaRPr lang="ar-SA" sz="1500" dirty="0"/>
          </a:p>
        </p:txBody>
      </p:sp>
      <p:sp>
        <p:nvSpPr>
          <p:cNvPr id="8" name="s38-text-7"/>
          <p:cNvSpPr txBox="1"/>
          <p:nvPr/>
        </p:nvSpPr>
        <p:spPr>
          <a:xfrm>
            <a:off x="6643608" y="1052576"/>
            <a:ext cx="4849892" cy="63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08"/>
              </a:lnSpc>
              <a:buNone/>
            </a:pPr>
            <a:r>
              <a:rPr lang="ar-SA" altLang="en-US" sz="36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التعريف وبناء الوعي</a:t>
            </a:r>
            <a:endParaRPr lang="ar-SA" sz="3600" dirty="0"/>
          </a:p>
        </p:txBody>
      </p:sp>
      <p:sp>
        <p:nvSpPr>
          <p:cNvPr id="9" name="s38-shape-8"/>
          <p:cNvSpPr/>
          <p:nvPr/>
        </p:nvSpPr>
        <p:spPr>
          <a:xfrm>
            <a:off x="698500" y="1270000"/>
            <a:ext cx="215900" cy="215900"/>
          </a:xfrm>
          <a:prstGeom prst="ellipse">
            <a:avLst/>
          </a:prstGeom>
          <a:solidFill>
            <a:srgbClr val="01804C"/>
          </a:solidFill>
          <a:ln/>
        </p:spPr>
      </p:sp>
      <p:sp>
        <p:nvSpPr>
          <p:cNvPr id="10" name="s38-shape-9"/>
          <p:cNvSpPr/>
          <p:nvPr/>
        </p:nvSpPr>
        <p:spPr>
          <a:xfrm>
            <a:off x="10287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1" name="s38-shape-10"/>
          <p:cNvSpPr/>
          <p:nvPr/>
        </p:nvSpPr>
        <p:spPr>
          <a:xfrm>
            <a:off x="13589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2" name="s38-shape-11"/>
          <p:cNvSpPr/>
          <p:nvPr/>
        </p:nvSpPr>
        <p:spPr>
          <a:xfrm>
            <a:off x="16891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3" name="s38-text-12"/>
          <p:cNvSpPr txBox="1"/>
          <p:nvPr/>
        </p:nvSpPr>
        <p:spPr>
          <a:xfrm>
            <a:off x="10185400" y="1898269"/>
            <a:ext cx="1181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اليوم</a:t>
            </a:r>
            <a:endParaRPr lang="ar-SA" sz="1200" dirty="0"/>
          </a:p>
        </p:txBody>
      </p:sp>
      <p:sp>
        <p:nvSpPr>
          <p:cNvPr id="14" name="s38-text-13"/>
          <p:cNvSpPr txBox="1"/>
          <p:nvPr/>
        </p:nvSpPr>
        <p:spPr>
          <a:xfrm>
            <a:off x="8247380" y="189826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نوع المحتوى</a:t>
            </a:r>
            <a:endParaRPr lang="ar-SA" sz="1200" dirty="0"/>
          </a:p>
        </p:txBody>
      </p:sp>
      <p:sp>
        <p:nvSpPr>
          <p:cNvPr id="15" name="s38-text-14"/>
          <p:cNvSpPr txBox="1"/>
          <p:nvPr/>
        </p:nvSpPr>
        <p:spPr>
          <a:xfrm>
            <a:off x="457200" y="1898269"/>
            <a:ext cx="75438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فكرة المنشور</a:t>
            </a:r>
            <a:endParaRPr lang="ar-SA" sz="1200" dirty="0"/>
          </a:p>
        </p:txBody>
      </p:sp>
      <p:sp>
        <p:nvSpPr>
          <p:cNvPr id="16" name="s38-shape-15"/>
          <p:cNvSpPr/>
          <p:nvPr/>
        </p:nvSpPr>
        <p:spPr>
          <a:xfrm>
            <a:off x="698500" y="2190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17" name="s38-text-16"/>
          <p:cNvSpPr txBox="1"/>
          <p:nvPr/>
        </p:nvSpPr>
        <p:spPr>
          <a:xfrm>
            <a:off x="10121900" y="2281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السبت</a:t>
            </a:r>
            <a:endParaRPr lang="ar-SA" sz="1500" dirty="0"/>
          </a:p>
        </p:txBody>
      </p:sp>
      <p:sp>
        <p:nvSpPr>
          <p:cNvPr id="18" name="s38-shape-17"/>
          <p:cNvSpPr/>
          <p:nvPr/>
        </p:nvSpPr>
        <p:spPr>
          <a:xfrm>
            <a:off x="8318500" y="2286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5256"/>
          </a:solidFill>
          <a:ln/>
        </p:spPr>
      </p:sp>
      <p:sp>
        <p:nvSpPr>
          <p:cNvPr id="19" name="s38-text-18"/>
          <p:cNvSpPr txBox="1"/>
          <p:nvPr/>
        </p:nvSpPr>
        <p:spPr>
          <a:xfrm>
            <a:off x="8247380" y="2338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تعريفي</a:t>
            </a:r>
            <a:endParaRPr lang="ar-SA" sz="1200" dirty="0"/>
          </a:p>
        </p:txBody>
      </p:sp>
      <p:sp>
        <p:nvSpPr>
          <p:cNvPr id="20" name="s38-text-19"/>
          <p:cNvSpPr txBox="1"/>
          <p:nvPr/>
        </p:nvSpPr>
        <p:spPr>
          <a:xfrm>
            <a:off x="320040" y="2300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من هي أرض البساتين؟ وما المنتجات التي يوفرها المتجر؟</a:t>
            </a:r>
            <a:endParaRPr lang="ar-SA" sz="1400" dirty="0"/>
          </a:p>
        </p:txBody>
      </p:sp>
      <p:sp>
        <p:nvSpPr>
          <p:cNvPr id="21" name="s38-text-21"/>
          <p:cNvSpPr txBox="1"/>
          <p:nvPr/>
        </p:nvSpPr>
        <p:spPr>
          <a:xfrm>
            <a:off x="10121900" y="2853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الأحد</a:t>
            </a:r>
            <a:endParaRPr lang="ar-SA" sz="1500" dirty="0"/>
          </a:p>
        </p:txBody>
      </p:sp>
      <p:sp>
        <p:nvSpPr>
          <p:cNvPr id="22" name="s38-shape-22"/>
          <p:cNvSpPr/>
          <p:nvPr/>
        </p:nvSpPr>
        <p:spPr>
          <a:xfrm>
            <a:off x="8318500" y="2857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23" name="s38-text-23"/>
          <p:cNvSpPr txBox="1"/>
          <p:nvPr/>
        </p:nvSpPr>
        <p:spPr>
          <a:xfrm>
            <a:off x="8247380" y="2910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تعليمي</a:t>
            </a:r>
            <a:endParaRPr lang="ar-SA" sz="1200" dirty="0"/>
          </a:p>
        </p:txBody>
      </p:sp>
      <p:sp>
        <p:nvSpPr>
          <p:cNvPr id="24" name="s38-text-24"/>
          <p:cNvSpPr txBox="1"/>
          <p:nvPr/>
        </p:nvSpPr>
        <p:spPr>
          <a:xfrm>
            <a:off x="320040" y="2872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كيف تختار المنتج الزراعي المناسب لاحتياج مزرعتك؟</a:t>
            </a:r>
            <a:endParaRPr lang="ar-SA" sz="1400" dirty="0"/>
          </a:p>
        </p:txBody>
      </p:sp>
      <p:sp>
        <p:nvSpPr>
          <p:cNvPr id="25" name="s38-shape-25"/>
          <p:cNvSpPr/>
          <p:nvPr/>
        </p:nvSpPr>
        <p:spPr>
          <a:xfrm>
            <a:off x="698500" y="3333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26" name="s38-text-26"/>
          <p:cNvSpPr txBox="1"/>
          <p:nvPr/>
        </p:nvSpPr>
        <p:spPr>
          <a:xfrm>
            <a:off x="10121900" y="3424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الاثنين</a:t>
            </a:r>
            <a:endParaRPr lang="ar-SA" sz="1500" dirty="0"/>
          </a:p>
        </p:txBody>
      </p:sp>
      <p:sp>
        <p:nvSpPr>
          <p:cNvPr id="27" name="s38-shape-27"/>
          <p:cNvSpPr/>
          <p:nvPr/>
        </p:nvSpPr>
        <p:spPr>
          <a:xfrm>
            <a:off x="8318500" y="3429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35B86E"/>
          </a:solidFill>
          <a:ln/>
        </p:spPr>
      </p:sp>
      <p:sp>
        <p:nvSpPr>
          <p:cNvPr id="28" name="s38-text-28"/>
          <p:cNvSpPr txBox="1"/>
          <p:nvPr/>
        </p:nvSpPr>
        <p:spPr>
          <a:xfrm>
            <a:off x="8247380" y="3481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منتج</a:t>
            </a:r>
            <a:endParaRPr lang="ar-SA" sz="1200" dirty="0"/>
          </a:p>
        </p:txBody>
      </p:sp>
      <p:sp>
        <p:nvSpPr>
          <p:cNvPr id="29" name="s38-text-29"/>
          <p:cNvSpPr txBox="1"/>
          <p:nvPr/>
        </p:nvSpPr>
        <p:spPr>
          <a:xfrm>
            <a:off x="320040" y="3443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التعريف بأحد المنتجات الزراعية ومجالات استخدامه.</a:t>
            </a:r>
            <a:endParaRPr lang="ar-SA" sz="1400" dirty="0"/>
          </a:p>
        </p:txBody>
      </p:sp>
      <p:sp>
        <p:nvSpPr>
          <p:cNvPr id="30" name="s38-text-31"/>
          <p:cNvSpPr txBox="1"/>
          <p:nvPr/>
        </p:nvSpPr>
        <p:spPr>
          <a:xfrm>
            <a:off x="10121900" y="3996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الثلاثاء</a:t>
            </a:r>
            <a:endParaRPr lang="ar-SA" sz="1500" dirty="0"/>
          </a:p>
        </p:txBody>
      </p:sp>
      <p:sp>
        <p:nvSpPr>
          <p:cNvPr id="31" name="s38-shape-32"/>
          <p:cNvSpPr/>
          <p:nvPr/>
        </p:nvSpPr>
        <p:spPr>
          <a:xfrm>
            <a:off x="8318500" y="4000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5CC4BC"/>
          </a:solidFill>
          <a:ln/>
        </p:spPr>
      </p:sp>
      <p:sp>
        <p:nvSpPr>
          <p:cNvPr id="32" name="s38-text-33"/>
          <p:cNvSpPr txBox="1"/>
          <p:nvPr/>
        </p:nvSpPr>
        <p:spPr>
          <a:xfrm>
            <a:off x="8247380" y="4053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فيديو قصير</a:t>
            </a:r>
            <a:endParaRPr lang="ar-SA" sz="1200" dirty="0"/>
          </a:p>
        </p:txBody>
      </p:sp>
      <p:sp>
        <p:nvSpPr>
          <p:cNvPr id="33" name="s38-text-34"/>
          <p:cNvSpPr txBox="1"/>
          <p:nvPr/>
        </p:nvSpPr>
        <p:spPr>
          <a:xfrm>
            <a:off x="320040" y="4015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جولة داخل المتجر وعرض مجموعة من المنتجات.</a:t>
            </a:r>
            <a:endParaRPr lang="ar-SA" sz="1400" dirty="0"/>
          </a:p>
        </p:txBody>
      </p:sp>
      <p:sp>
        <p:nvSpPr>
          <p:cNvPr id="34" name="s38-shape-35"/>
          <p:cNvSpPr/>
          <p:nvPr/>
        </p:nvSpPr>
        <p:spPr>
          <a:xfrm>
            <a:off x="698500" y="4476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35" name="s38-text-36"/>
          <p:cNvSpPr txBox="1"/>
          <p:nvPr/>
        </p:nvSpPr>
        <p:spPr>
          <a:xfrm>
            <a:off x="10121900" y="4567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الأربعاء</a:t>
            </a:r>
            <a:endParaRPr lang="ar-SA" sz="1500" dirty="0"/>
          </a:p>
        </p:txBody>
      </p:sp>
      <p:sp>
        <p:nvSpPr>
          <p:cNvPr id="36" name="s38-shape-37"/>
          <p:cNvSpPr/>
          <p:nvPr/>
        </p:nvSpPr>
        <p:spPr>
          <a:xfrm>
            <a:off x="8318500" y="4572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37" name="s38-text-38"/>
          <p:cNvSpPr txBox="1"/>
          <p:nvPr/>
        </p:nvSpPr>
        <p:spPr>
          <a:xfrm>
            <a:off x="8247380" y="4624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تفاعلي</a:t>
            </a:r>
            <a:endParaRPr lang="ar-SA" sz="1200" dirty="0"/>
          </a:p>
        </p:txBody>
      </p:sp>
      <p:sp>
        <p:nvSpPr>
          <p:cNvPr id="38" name="s38-text-39"/>
          <p:cNvSpPr txBox="1"/>
          <p:nvPr/>
        </p:nvSpPr>
        <p:spPr>
          <a:xfrm>
            <a:off x="320040" y="4586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ما أكثر مشكلة تواجهك في مزرعتك؟</a:t>
            </a:r>
            <a:endParaRPr lang="ar-SA" sz="1400" dirty="0"/>
          </a:p>
        </p:txBody>
      </p:sp>
      <p:sp>
        <p:nvSpPr>
          <p:cNvPr id="39" name="s38-text-41"/>
          <p:cNvSpPr txBox="1"/>
          <p:nvPr/>
        </p:nvSpPr>
        <p:spPr>
          <a:xfrm>
            <a:off x="10121900" y="5139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الخميس</a:t>
            </a:r>
            <a:endParaRPr lang="ar-SA" sz="1500" dirty="0"/>
          </a:p>
        </p:txBody>
      </p:sp>
      <p:sp>
        <p:nvSpPr>
          <p:cNvPr id="40" name="s38-shape-42"/>
          <p:cNvSpPr/>
          <p:nvPr/>
        </p:nvSpPr>
        <p:spPr>
          <a:xfrm>
            <a:off x="8318500" y="5143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5256"/>
          </a:solidFill>
          <a:ln/>
        </p:spPr>
      </p:sp>
      <p:sp>
        <p:nvSpPr>
          <p:cNvPr id="41" name="s38-text-43"/>
          <p:cNvSpPr txBox="1"/>
          <p:nvPr/>
        </p:nvSpPr>
        <p:spPr>
          <a:xfrm>
            <a:off x="8247380" y="5196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تعريفي</a:t>
            </a:r>
            <a:endParaRPr lang="ar-SA" sz="1200" dirty="0"/>
          </a:p>
        </p:txBody>
      </p:sp>
      <p:sp>
        <p:nvSpPr>
          <p:cNvPr id="42" name="s38-text-44"/>
          <p:cNvSpPr txBox="1"/>
          <p:nvPr/>
        </p:nvSpPr>
        <p:spPr>
          <a:xfrm>
            <a:off x="320040" y="5158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من المتجر إلى المصنع: التعريف بدور دريب أكوا في تصنيع بعض منتجات الري والأنابيب.</a:t>
            </a:r>
            <a:endParaRPr lang="ar-SA" sz="1400" dirty="0"/>
          </a:p>
        </p:txBody>
      </p:sp>
      <p:sp>
        <p:nvSpPr>
          <p:cNvPr id="43" name="s38-shape-45"/>
          <p:cNvSpPr/>
          <p:nvPr/>
        </p:nvSpPr>
        <p:spPr>
          <a:xfrm>
            <a:off x="698500" y="5619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44" name="s38-text-46"/>
          <p:cNvSpPr txBox="1"/>
          <p:nvPr/>
        </p:nvSpPr>
        <p:spPr>
          <a:xfrm>
            <a:off x="10121900" y="5710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الجمعة</a:t>
            </a:r>
            <a:endParaRPr lang="ar-SA" sz="1500" dirty="0"/>
          </a:p>
        </p:txBody>
      </p:sp>
      <p:sp>
        <p:nvSpPr>
          <p:cNvPr id="45" name="s38-shape-47"/>
          <p:cNvSpPr/>
          <p:nvPr/>
        </p:nvSpPr>
        <p:spPr>
          <a:xfrm>
            <a:off x="8318500" y="5715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8A6142"/>
          </a:solidFill>
          <a:ln/>
        </p:spPr>
      </p:sp>
      <p:sp>
        <p:nvSpPr>
          <p:cNvPr id="46" name="s38-text-48"/>
          <p:cNvSpPr txBox="1"/>
          <p:nvPr/>
        </p:nvSpPr>
        <p:spPr>
          <a:xfrm>
            <a:off x="8247380" y="5767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بيعي</a:t>
            </a:r>
            <a:endParaRPr lang="ar-SA" sz="1200" dirty="0"/>
          </a:p>
        </p:txBody>
      </p:sp>
      <p:sp>
        <p:nvSpPr>
          <p:cNvPr id="47" name="s38-text-49"/>
          <p:cNvSpPr txBox="1"/>
          <p:nvPr/>
        </p:nvSpPr>
        <p:spPr>
          <a:xfrm>
            <a:off x="320040" y="5729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دعوة للتواصل لمعرفة المنتجات والأسعار والكميات.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92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8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92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80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80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80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92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92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3" grpId="0"/>
      <p:bldP spid="14" grpId="0"/>
      <p:bldP spid="15" grpId="0"/>
      <p:bldP spid="16" grpId="0" animBg="1"/>
      <p:bldP spid="10" grpId="0" animBg="1"/>
      <p:bldP spid="17" grpId="0"/>
      <p:bldP spid="11" grpId="0" animBg="1"/>
      <p:bldP spid="18" grpId="0" animBg="1"/>
      <p:bldP spid="19" grpId="0"/>
      <p:bldP spid="20" grpId="0"/>
      <p:bldP spid="12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 animBg="1"/>
      <p:bldP spid="37" grpId="0"/>
      <p:bldP spid="38" grpId="0"/>
      <p:bldP spid="39" grpId="0"/>
      <p:bldP spid="40" grpId="0" animBg="1"/>
      <p:bldP spid="41" grpId="0"/>
      <p:bldP spid="42" grpId="0"/>
      <p:bldP spid="43" grpId="0" animBg="1"/>
      <p:bldP spid="44" grpId="0"/>
      <p:bldP spid="45" grpId="0" animBg="1"/>
      <p:bldP spid="46" grpId="0"/>
      <p:bldP spid="47" grpId="0"/>
    </p:bldLst>
  </p:timing>
</p:sld>
</file>

<file path=ppt/slides/slide3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50" y="-15494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14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39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39-text-6"/>
          <p:cNvSpPr txBox="1"/>
          <p:nvPr/>
        </p:nvSpPr>
        <p:spPr>
          <a:xfrm>
            <a:off x="5321300" y="805180"/>
            <a:ext cx="61722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الأسبوع الثاني</a:t>
            </a:r>
            <a:endParaRPr lang="ar-SA" sz="1500" dirty="0"/>
          </a:p>
        </p:txBody>
      </p:sp>
      <p:sp>
        <p:nvSpPr>
          <p:cNvPr id="8" name="s39-text-7"/>
          <p:cNvSpPr txBox="1"/>
          <p:nvPr/>
        </p:nvSpPr>
        <p:spPr>
          <a:xfrm>
            <a:off x="7157101" y="1052576"/>
            <a:ext cx="4336399" cy="63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08"/>
              </a:lnSpc>
              <a:buNone/>
            </a:pPr>
            <a:r>
              <a:rPr lang="ar-SA" altLang="en-US" sz="36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الجودة والمنتجات</a:t>
            </a:r>
            <a:endParaRPr lang="ar-SA" sz="3600" dirty="0"/>
          </a:p>
        </p:txBody>
      </p:sp>
      <p:sp>
        <p:nvSpPr>
          <p:cNvPr id="9" name="s39-shape-8"/>
          <p:cNvSpPr/>
          <p:nvPr/>
        </p:nvSpPr>
        <p:spPr>
          <a:xfrm>
            <a:off x="6985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0" name="s39-shape-9"/>
          <p:cNvSpPr/>
          <p:nvPr/>
        </p:nvSpPr>
        <p:spPr>
          <a:xfrm>
            <a:off x="1028700" y="1270000"/>
            <a:ext cx="215900" cy="215900"/>
          </a:xfrm>
          <a:prstGeom prst="ellipse">
            <a:avLst/>
          </a:prstGeom>
          <a:solidFill>
            <a:srgbClr val="01804C"/>
          </a:solidFill>
          <a:ln/>
        </p:spPr>
      </p:sp>
      <p:sp>
        <p:nvSpPr>
          <p:cNvPr id="11" name="s39-shape-10"/>
          <p:cNvSpPr/>
          <p:nvPr/>
        </p:nvSpPr>
        <p:spPr>
          <a:xfrm>
            <a:off x="13589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2" name="s39-shape-11"/>
          <p:cNvSpPr/>
          <p:nvPr/>
        </p:nvSpPr>
        <p:spPr>
          <a:xfrm>
            <a:off x="16891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3" name="s39-text-12"/>
          <p:cNvSpPr txBox="1"/>
          <p:nvPr/>
        </p:nvSpPr>
        <p:spPr>
          <a:xfrm>
            <a:off x="10185400" y="1898269"/>
            <a:ext cx="1181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اليوم</a:t>
            </a:r>
            <a:endParaRPr lang="ar-SA" sz="1200" dirty="0"/>
          </a:p>
        </p:txBody>
      </p:sp>
      <p:sp>
        <p:nvSpPr>
          <p:cNvPr id="14" name="s39-text-13"/>
          <p:cNvSpPr txBox="1"/>
          <p:nvPr/>
        </p:nvSpPr>
        <p:spPr>
          <a:xfrm>
            <a:off x="8247380" y="189826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نوع المحتوى</a:t>
            </a:r>
            <a:endParaRPr lang="ar-SA" sz="1200" dirty="0"/>
          </a:p>
        </p:txBody>
      </p:sp>
      <p:sp>
        <p:nvSpPr>
          <p:cNvPr id="15" name="s39-text-14"/>
          <p:cNvSpPr txBox="1"/>
          <p:nvPr/>
        </p:nvSpPr>
        <p:spPr>
          <a:xfrm>
            <a:off x="457200" y="1898269"/>
            <a:ext cx="75438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فكرة المنشور</a:t>
            </a:r>
            <a:endParaRPr lang="ar-SA" sz="1200" dirty="0"/>
          </a:p>
        </p:txBody>
      </p:sp>
      <p:sp>
        <p:nvSpPr>
          <p:cNvPr id="16" name="s39-shape-15"/>
          <p:cNvSpPr/>
          <p:nvPr/>
        </p:nvSpPr>
        <p:spPr>
          <a:xfrm>
            <a:off x="698500" y="2190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17" name="s39-text-16"/>
          <p:cNvSpPr txBox="1"/>
          <p:nvPr/>
        </p:nvSpPr>
        <p:spPr>
          <a:xfrm>
            <a:off x="10121900" y="2281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السبت</a:t>
            </a:r>
            <a:endParaRPr lang="ar-SA" sz="1500" dirty="0"/>
          </a:p>
        </p:txBody>
      </p:sp>
      <p:sp>
        <p:nvSpPr>
          <p:cNvPr id="18" name="s39-shape-17"/>
          <p:cNvSpPr/>
          <p:nvPr/>
        </p:nvSpPr>
        <p:spPr>
          <a:xfrm>
            <a:off x="8318500" y="2286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19" name="s39-text-18"/>
          <p:cNvSpPr txBox="1"/>
          <p:nvPr/>
        </p:nvSpPr>
        <p:spPr>
          <a:xfrm>
            <a:off x="8247380" y="2338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تعليمي</a:t>
            </a:r>
            <a:endParaRPr lang="ar-SA" sz="1200" dirty="0"/>
          </a:p>
        </p:txBody>
      </p:sp>
      <p:sp>
        <p:nvSpPr>
          <p:cNvPr id="20" name="s39-text-19"/>
          <p:cNvSpPr txBox="1"/>
          <p:nvPr/>
        </p:nvSpPr>
        <p:spPr>
          <a:xfrm>
            <a:off x="320040" y="2300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لماذا يجب معرفة مواصفات المنتج الزراعي قبل الشراء؟</a:t>
            </a:r>
            <a:endParaRPr lang="ar-SA" sz="1400" dirty="0"/>
          </a:p>
        </p:txBody>
      </p:sp>
      <p:sp>
        <p:nvSpPr>
          <p:cNvPr id="21" name="s39-text-21"/>
          <p:cNvSpPr txBox="1"/>
          <p:nvPr/>
        </p:nvSpPr>
        <p:spPr>
          <a:xfrm>
            <a:off x="10121900" y="2853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الأحد</a:t>
            </a:r>
            <a:endParaRPr lang="ar-SA" sz="1500" dirty="0"/>
          </a:p>
        </p:txBody>
      </p:sp>
      <p:sp>
        <p:nvSpPr>
          <p:cNvPr id="22" name="s39-shape-22"/>
          <p:cNvSpPr/>
          <p:nvPr/>
        </p:nvSpPr>
        <p:spPr>
          <a:xfrm>
            <a:off x="8318500" y="2857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35B86E"/>
          </a:solidFill>
          <a:ln/>
        </p:spPr>
      </p:sp>
      <p:sp>
        <p:nvSpPr>
          <p:cNvPr id="23" name="s39-text-23"/>
          <p:cNvSpPr txBox="1"/>
          <p:nvPr/>
        </p:nvSpPr>
        <p:spPr>
          <a:xfrm>
            <a:off x="8247380" y="2910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منتج</a:t>
            </a:r>
            <a:endParaRPr lang="ar-SA" sz="1200" dirty="0"/>
          </a:p>
        </p:txBody>
      </p:sp>
      <p:sp>
        <p:nvSpPr>
          <p:cNvPr id="24" name="s39-text-24"/>
          <p:cNvSpPr txBox="1"/>
          <p:nvPr/>
        </p:nvSpPr>
        <p:spPr>
          <a:xfrm>
            <a:off x="320040" y="2872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عرض منتج من منتجات الحماية الزراعية واستخداماته.</a:t>
            </a:r>
            <a:endParaRPr lang="ar-SA" sz="1400" dirty="0"/>
          </a:p>
        </p:txBody>
      </p:sp>
      <p:sp>
        <p:nvSpPr>
          <p:cNvPr id="25" name="s39-shape-25"/>
          <p:cNvSpPr/>
          <p:nvPr/>
        </p:nvSpPr>
        <p:spPr>
          <a:xfrm>
            <a:off x="698500" y="3333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26" name="s39-text-26"/>
          <p:cNvSpPr txBox="1"/>
          <p:nvPr/>
        </p:nvSpPr>
        <p:spPr>
          <a:xfrm>
            <a:off x="10121900" y="3424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الاثنين</a:t>
            </a:r>
            <a:endParaRPr lang="ar-SA" sz="1500" dirty="0"/>
          </a:p>
        </p:txBody>
      </p:sp>
      <p:sp>
        <p:nvSpPr>
          <p:cNvPr id="27" name="s39-shape-27"/>
          <p:cNvSpPr/>
          <p:nvPr/>
        </p:nvSpPr>
        <p:spPr>
          <a:xfrm>
            <a:off x="8318500" y="3429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5CC4BC"/>
          </a:solidFill>
          <a:ln/>
        </p:spPr>
      </p:sp>
      <p:sp>
        <p:nvSpPr>
          <p:cNvPr id="28" name="s39-text-28"/>
          <p:cNvSpPr txBox="1"/>
          <p:nvPr/>
        </p:nvSpPr>
        <p:spPr>
          <a:xfrm>
            <a:off x="8247380" y="3481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فيديو</a:t>
            </a:r>
            <a:endParaRPr lang="ar-SA" sz="1200" dirty="0"/>
          </a:p>
        </p:txBody>
      </p:sp>
      <p:sp>
        <p:nvSpPr>
          <p:cNvPr id="29" name="s39-text-29"/>
          <p:cNvSpPr txBox="1"/>
          <p:nvPr/>
        </p:nvSpPr>
        <p:spPr>
          <a:xfrm>
            <a:off x="320040" y="3443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استعراض أحد منتجات الري أثناء الاستخدام.</a:t>
            </a:r>
            <a:endParaRPr lang="ar-SA" sz="1400" dirty="0"/>
          </a:p>
        </p:txBody>
      </p:sp>
      <p:sp>
        <p:nvSpPr>
          <p:cNvPr id="30" name="s39-text-31"/>
          <p:cNvSpPr txBox="1"/>
          <p:nvPr/>
        </p:nvSpPr>
        <p:spPr>
          <a:xfrm>
            <a:off x="10121900" y="3996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الثلاثاء</a:t>
            </a:r>
            <a:endParaRPr lang="ar-SA" sz="1500" dirty="0"/>
          </a:p>
        </p:txBody>
      </p:sp>
      <p:sp>
        <p:nvSpPr>
          <p:cNvPr id="31" name="s39-shape-32"/>
          <p:cNvSpPr/>
          <p:nvPr/>
        </p:nvSpPr>
        <p:spPr>
          <a:xfrm>
            <a:off x="8318500" y="4000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35B86E"/>
          </a:solidFill>
          <a:ln/>
        </p:spPr>
      </p:sp>
      <p:sp>
        <p:nvSpPr>
          <p:cNvPr id="32" name="s39-text-33"/>
          <p:cNvSpPr txBox="1"/>
          <p:nvPr/>
        </p:nvSpPr>
        <p:spPr>
          <a:xfrm>
            <a:off x="8247380" y="4053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منتج</a:t>
            </a:r>
            <a:endParaRPr lang="ar-SA" sz="1200" dirty="0"/>
          </a:p>
        </p:txBody>
      </p:sp>
      <p:sp>
        <p:nvSpPr>
          <p:cNvPr id="33" name="s39-text-34"/>
          <p:cNvSpPr txBox="1"/>
          <p:nvPr/>
        </p:nvSpPr>
        <p:spPr>
          <a:xfrm>
            <a:off x="320040" y="4015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عرض الأنابيب الرئيسية ومنتجات الري المصنّعة في دريب أكوا.</a:t>
            </a:r>
            <a:endParaRPr lang="ar-SA" sz="1400" dirty="0"/>
          </a:p>
        </p:txBody>
      </p:sp>
      <p:sp>
        <p:nvSpPr>
          <p:cNvPr id="34" name="s39-shape-35"/>
          <p:cNvSpPr/>
          <p:nvPr/>
        </p:nvSpPr>
        <p:spPr>
          <a:xfrm>
            <a:off x="698500" y="4476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35" name="s39-text-36"/>
          <p:cNvSpPr txBox="1"/>
          <p:nvPr/>
        </p:nvSpPr>
        <p:spPr>
          <a:xfrm>
            <a:off x="10121900" y="4567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الأربعاء</a:t>
            </a:r>
            <a:endParaRPr lang="ar-SA" sz="1500" dirty="0"/>
          </a:p>
        </p:txBody>
      </p:sp>
      <p:sp>
        <p:nvSpPr>
          <p:cNvPr id="36" name="s39-shape-37"/>
          <p:cNvSpPr/>
          <p:nvPr/>
        </p:nvSpPr>
        <p:spPr>
          <a:xfrm>
            <a:off x="8318500" y="4572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37" name="s39-text-38"/>
          <p:cNvSpPr txBox="1"/>
          <p:nvPr/>
        </p:nvSpPr>
        <p:spPr>
          <a:xfrm>
            <a:off x="8247380" y="4624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تفاعلي</a:t>
            </a:r>
            <a:endParaRPr lang="ar-SA" sz="1200" dirty="0"/>
          </a:p>
        </p:txBody>
      </p:sp>
      <p:sp>
        <p:nvSpPr>
          <p:cNvPr id="38" name="s39-text-39"/>
          <p:cNvSpPr txBox="1"/>
          <p:nvPr/>
        </p:nvSpPr>
        <p:spPr>
          <a:xfrm>
            <a:off x="320040" y="4586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ما المنتج الذي تريد أن نشرح طريقة استخدامه؟</a:t>
            </a:r>
            <a:endParaRPr lang="ar-SA" sz="1400" dirty="0"/>
          </a:p>
        </p:txBody>
      </p:sp>
      <p:sp>
        <p:nvSpPr>
          <p:cNvPr id="39" name="s39-text-41"/>
          <p:cNvSpPr txBox="1"/>
          <p:nvPr/>
        </p:nvSpPr>
        <p:spPr>
          <a:xfrm>
            <a:off x="10121900" y="5139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الخميس</a:t>
            </a:r>
            <a:endParaRPr lang="ar-SA" sz="1500" dirty="0"/>
          </a:p>
        </p:txBody>
      </p:sp>
      <p:sp>
        <p:nvSpPr>
          <p:cNvPr id="40" name="s39-shape-42"/>
          <p:cNvSpPr/>
          <p:nvPr/>
        </p:nvSpPr>
        <p:spPr>
          <a:xfrm>
            <a:off x="8318500" y="5143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29A74"/>
          </a:solidFill>
          <a:ln/>
        </p:spPr>
      </p:sp>
      <p:sp>
        <p:nvSpPr>
          <p:cNvPr id="41" name="s39-text-43"/>
          <p:cNvSpPr txBox="1"/>
          <p:nvPr/>
        </p:nvSpPr>
        <p:spPr>
          <a:xfrm>
            <a:off x="8247380" y="5196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توعوي</a:t>
            </a:r>
            <a:endParaRPr lang="ar-SA" sz="1200" dirty="0"/>
          </a:p>
        </p:txBody>
      </p:sp>
      <p:sp>
        <p:nvSpPr>
          <p:cNvPr id="42" name="s39-text-44"/>
          <p:cNvSpPr txBox="1"/>
          <p:nvPr/>
        </p:nvSpPr>
        <p:spPr>
          <a:xfrm>
            <a:off x="320040" y="5158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السعر ليس المعيار الوحيد عند اختيار المنتج الزراعي.</a:t>
            </a:r>
            <a:endParaRPr lang="ar-SA" sz="1400" dirty="0"/>
          </a:p>
        </p:txBody>
      </p:sp>
      <p:sp>
        <p:nvSpPr>
          <p:cNvPr id="43" name="s39-shape-45"/>
          <p:cNvSpPr/>
          <p:nvPr/>
        </p:nvSpPr>
        <p:spPr>
          <a:xfrm>
            <a:off x="698500" y="5619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44" name="s39-text-46"/>
          <p:cNvSpPr txBox="1"/>
          <p:nvPr/>
        </p:nvSpPr>
        <p:spPr>
          <a:xfrm>
            <a:off x="10121900" y="5710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الجمعة</a:t>
            </a:r>
            <a:endParaRPr lang="ar-SA" sz="1500" dirty="0"/>
          </a:p>
        </p:txBody>
      </p:sp>
      <p:sp>
        <p:nvSpPr>
          <p:cNvPr id="45" name="s39-shape-47"/>
          <p:cNvSpPr/>
          <p:nvPr/>
        </p:nvSpPr>
        <p:spPr>
          <a:xfrm>
            <a:off x="8318500" y="5715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8A6142"/>
          </a:solidFill>
          <a:ln/>
        </p:spPr>
      </p:sp>
      <p:sp>
        <p:nvSpPr>
          <p:cNvPr id="46" name="s39-text-48"/>
          <p:cNvSpPr txBox="1"/>
          <p:nvPr/>
        </p:nvSpPr>
        <p:spPr>
          <a:xfrm>
            <a:off x="8247380" y="5767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بيعي</a:t>
            </a:r>
            <a:endParaRPr lang="ar-SA" sz="1200" dirty="0"/>
          </a:p>
        </p:txBody>
      </p:sp>
      <p:sp>
        <p:nvSpPr>
          <p:cNvPr id="47" name="s39-text-49"/>
          <p:cNvSpPr txBox="1"/>
          <p:nvPr/>
        </p:nvSpPr>
        <p:spPr>
          <a:xfrm>
            <a:off x="320040" y="5729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عرض المنتجات المتوفرة وخيارات الشراء حسب الاحتياج.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8" grpId="0" animBg="1"/>
      <p:bldP spid="19" grpId="0"/>
      <p:bldP spid="20" grpId="0"/>
      <p:bldP spid="22" grpId="0" animBg="1"/>
      <p:bldP spid="23" grpId="0"/>
      <p:bldP spid="24" grpId="0"/>
      <p:bldP spid="27" grpId="0" animBg="1"/>
      <p:bldP spid="28" grpId="0"/>
      <p:bldP spid="29" grpId="0"/>
      <p:bldP spid="31" grpId="0" animBg="1"/>
      <p:bldP spid="32" grpId="0"/>
      <p:bldP spid="33" grpId="0"/>
      <p:bldP spid="38" grpId="0"/>
      <p:bldP spid="40" grpId="0" animBg="1"/>
      <p:bldP spid="41" grpId="0"/>
      <p:bldP spid="42" grpId="0"/>
      <p:bldP spid="47" grpId="0"/>
    </p:bldLst>
  </p:timing>
</p:sld>
</file>

<file path=ppt/slides/slide4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750" y="-16510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387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40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0-text-6"/>
          <p:cNvSpPr txBox="1"/>
          <p:nvPr/>
        </p:nvSpPr>
        <p:spPr>
          <a:xfrm>
            <a:off x="5321300" y="805180"/>
            <a:ext cx="61722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الأسبوع الثالث</a:t>
            </a:r>
            <a:endParaRPr lang="ar-SA" sz="1500" dirty="0"/>
          </a:p>
        </p:txBody>
      </p:sp>
      <p:sp>
        <p:nvSpPr>
          <p:cNvPr id="8" name="s40-text-7"/>
          <p:cNvSpPr txBox="1"/>
          <p:nvPr/>
        </p:nvSpPr>
        <p:spPr>
          <a:xfrm>
            <a:off x="4499626" y="1052576"/>
            <a:ext cx="6993874" cy="63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08"/>
              </a:lnSpc>
              <a:buNone/>
            </a:pPr>
            <a:r>
              <a:rPr lang="ar-SA" altLang="en-US" sz="3600" dirty="0">
                <a:solidFill>
                  <a:srgbClr val="0E3A3C"/>
                </a:solidFill>
                <a:latin typeface="Alexandria ExtraBold"/>
                <a:cs typeface="Alexandria ExtraBold"/>
              </a:rPr>
              <a:t>استهداف العملاء والمشاريع</a:t>
            </a:r>
            <a:endParaRPr lang="ar-SA" sz="3600" dirty="0"/>
          </a:p>
        </p:txBody>
      </p:sp>
      <p:sp>
        <p:nvSpPr>
          <p:cNvPr id="9" name="s40-shape-8"/>
          <p:cNvSpPr/>
          <p:nvPr/>
        </p:nvSpPr>
        <p:spPr>
          <a:xfrm>
            <a:off x="6985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0" name="s40-shape-9"/>
          <p:cNvSpPr/>
          <p:nvPr/>
        </p:nvSpPr>
        <p:spPr>
          <a:xfrm>
            <a:off x="10287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1" name="s40-shape-10"/>
          <p:cNvSpPr/>
          <p:nvPr/>
        </p:nvSpPr>
        <p:spPr>
          <a:xfrm>
            <a:off x="1358900" y="1270000"/>
            <a:ext cx="215900" cy="215900"/>
          </a:xfrm>
          <a:prstGeom prst="ellipse">
            <a:avLst/>
          </a:prstGeom>
          <a:solidFill>
            <a:srgbClr val="01804C"/>
          </a:solidFill>
          <a:ln/>
        </p:spPr>
      </p:sp>
      <p:sp>
        <p:nvSpPr>
          <p:cNvPr id="12" name="s40-shape-11"/>
          <p:cNvSpPr/>
          <p:nvPr/>
        </p:nvSpPr>
        <p:spPr>
          <a:xfrm>
            <a:off x="16891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3" name="s40-text-12"/>
          <p:cNvSpPr txBox="1"/>
          <p:nvPr/>
        </p:nvSpPr>
        <p:spPr>
          <a:xfrm>
            <a:off x="10185400" y="1898269"/>
            <a:ext cx="1181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اليوم</a:t>
            </a:r>
            <a:endParaRPr lang="ar-SA" sz="1200" dirty="0"/>
          </a:p>
        </p:txBody>
      </p:sp>
      <p:sp>
        <p:nvSpPr>
          <p:cNvPr id="14" name="s40-text-13"/>
          <p:cNvSpPr txBox="1"/>
          <p:nvPr/>
        </p:nvSpPr>
        <p:spPr>
          <a:xfrm>
            <a:off x="8247380" y="189826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نوع المحتوى</a:t>
            </a:r>
            <a:endParaRPr lang="ar-SA" sz="1200" dirty="0"/>
          </a:p>
        </p:txBody>
      </p:sp>
      <p:sp>
        <p:nvSpPr>
          <p:cNvPr id="15" name="s40-text-14"/>
          <p:cNvSpPr txBox="1"/>
          <p:nvPr/>
        </p:nvSpPr>
        <p:spPr>
          <a:xfrm>
            <a:off x="457200" y="1898269"/>
            <a:ext cx="75438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فكرة المنشور</a:t>
            </a:r>
            <a:endParaRPr lang="ar-SA" sz="1200" dirty="0"/>
          </a:p>
        </p:txBody>
      </p:sp>
      <p:sp>
        <p:nvSpPr>
          <p:cNvPr id="16" name="s40-shape-15"/>
          <p:cNvSpPr/>
          <p:nvPr/>
        </p:nvSpPr>
        <p:spPr>
          <a:xfrm>
            <a:off x="698500" y="2190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17" name="s40-text-16"/>
          <p:cNvSpPr txBox="1"/>
          <p:nvPr/>
        </p:nvSpPr>
        <p:spPr>
          <a:xfrm>
            <a:off x="10121900" y="2281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السبت</a:t>
            </a:r>
            <a:endParaRPr lang="ar-SA" sz="1500" dirty="0"/>
          </a:p>
        </p:txBody>
      </p:sp>
      <p:sp>
        <p:nvSpPr>
          <p:cNvPr id="18" name="s40-shape-17"/>
          <p:cNvSpPr/>
          <p:nvPr/>
        </p:nvSpPr>
        <p:spPr>
          <a:xfrm>
            <a:off x="8318500" y="2286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19" name="s40-text-18"/>
          <p:cNvSpPr txBox="1"/>
          <p:nvPr/>
        </p:nvSpPr>
        <p:spPr>
          <a:xfrm>
            <a:off x="8247380" y="2338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تعليمي</a:t>
            </a:r>
            <a:endParaRPr lang="ar-SA" sz="1200" dirty="0"/>
          </a:p>
        </p:txBody>
      </p:sp>
      <p:sp>
        <p:nvSpPr>
          <p:cNvPr id="20" name="s40-text-19"/>
          <p:cNvSpPr txBox="1"/>
          <p:nvPr/>
        </p:nvSpPr>
        <p:spPr>
          <a:xfrm>
            <a:off x="320040" y="2300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كيف تختار مستلزمات مشروعك الزراعي؟</a:t>
            </a:r>
            <a:endParaRPr lang="ar-SA" sz="1400" dirty="0"/>
          </a:p>
        </p:txBody>
      </p:sp>
      <p:sp>
        <p:nvSpPr>
          <p:cNvPr id="21" name="s40-text-21"/>
          <p:cNvSpPr txBox="1"/>
          <p:nvPr/>
        </p:nvSpPr>
        <p:spPr>
          <a:xfrm>
            <a:off x="10121900" y="2853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الأحد</a:t>
            </a:r>
            <a:endParaRPr lang="ar-SA" sz="1500" dirty="0"/>
          </a:p>
        </p:txBody>
      </p:sp>
      <p:sp>
        <p:nvSpPr>
          <p:cNvPr id="22" name="s40-shape-22"/>
          <p:cNvSpPr/>
          <p:nvPr/>
        </p:nvSpPr>
        <p:spPr>
          <a:xfrm>
            <a:off x="8318500" y="2857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23" name="s40-text-23"/>
          <p:cNvSpPr txBox="1"/>
          <p:nvPr/>
        </p:nvSpPr>
        <p:spPr>
          <a:xfrm>
            <a:off x="8247380" y="2910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804C"/>
                </a:solidFill>
                <a:latin typeface="Alexandria SemiBold"/>
                <a:cs typeface="Alexandria SemiBold"/>
              </a:rPr>
              <a:t>موجه للمزارعين</a:t>
            </a:r>
            <a:endParaRPr lang="ar-SA" sz="1200" dirty="0"/>
          </a:p>
        </p:txBody>
      </p:sp>
      <p:sp>
        <p:nvSpPr>
          <p:cNvPr id="24" name="s40-text-24"/>
          <p:cNvSpPr txBox="1"/>
          <p:nvPr/>
        </p:nvSpPr>
        <p:spPr>
          <a:xfrm>
            <a:off x="320040" y="2872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أهم المنتجات التي يحتاجها المزارع خلال الموسم.</a:t>
            </a:r>
            <a:endParaRPr lang="ar-SA" sz="1400" dirty="0"/>
          </a:p>
        </p:txBody>
      </p:sp>
      <p:sp>
        <p:nvSpPr>
          <p:cNvPr id="25" name="s40-shape-25"/>
          <p:cNvSpPr/>
          <p:nvPr/>
        </p:nvSpPr>
        <p:spPr>
          <a:xfrm>
            <a:off x="698500" y="3333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26" name="s40-text-26"/>
          <p:cNvSpPr txBox="1"/>
          <p:nvPr/>
        </p:nvSpPr>
        <p:spPr>
          <a:xfrm>
            <a:off x="10121900" y="3424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الاثنين</a:t>
            </a:r>
            <a:endParaRPr lang="ar-SA" sz="1500" dirty="0"/>
          </a:p>
        </p:txBody>
      </p:sp>
      <p:sp>
        <p:nvSpPr>
          <p:cNvPr id="27" name="s40-shape-27"/>
          <p:cNvSpPr/>
          <p:nvPr/>
        </p:nvSpPr>
        <p:spPr>
          <a:xfrm>
            <a:off x="8318500" y="3429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28" name="s40-text-28"/>
          <p:cNvSpPr txBox="1"/>
          <p:nvPr/>
        </p:nvSpPr>
        <p:spPr>
          <a:xfrm>
            <a:off x="8247380" y="3481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804C"/>
                </a:solidFill>
                <a:latin typeface="Alexandria SemiBold"/>
                <a:cs typeface="Alexandria SemiBold"/>
              </a:rPr>
              <a:t>موجه للتجار</a:t>
            </a:r>
            <a:endParaRPr lang="ar-SA" sz="1200" dirty="0"/>
          </a:p>
        </p:txBody>
      </p:sp>
      <p:sp>
        <p:nvSpPr>
          <p:cNvPr id="29" name="s40-text-29"/>
          <p:cNvSpPr txBox="1"/>
          <p:nvPr/>
        </p:nvSpPr>
        <p:spPr>
          <a:xfrm>
            <a:off x="320040" y="3443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مزايا التعامل مع المتجر وطلبات الكميات.</a:t>
            </a:r>
            <a:endParaRPr lang="ar-SA" sz="1400" dirty="0"/>
          </a:p>
        </p:txBody>
      </p:sp>
      <p:sp>
        <p:nvSpPr>
          <p:cNvPr id="30" name="s40-text-31"/>
          <p:cNvSpPr txBox="1"/>
          <p:nvPr/>
        </p:nvSpPr>
        <p:spPr>
          <a:xfrm>
            <a:off x="10121900" y="3996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الثلاثاء</a:t>
            </a:r>
            <a:endParaRPr lang="ar-SA" sz="1500" dirty="0"/>
          </a:p>
        </p:txBody>
      </p:sp>
      <p:sp>
        <p:nvSpPr>
          <p:cNvPr id="31" name="s40-shape-32"/>
          <p:cNvSpPr/>
          <p:nvPr/>
        </p:nvSpPr>
        <p:spPr>
          <a:xfrm>
            <a:off x="8318500" y="4000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32" name="s40-text-33"/>
          <p:cNvSpPr txBox="1"/>
          <p:nvPr/>
        </p:nvSpPr>
        <p:spPr>
          <a:xfrm>
            <a:off x="8247380" y="4053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804C"/>
                </a:solidFill>
                <a:latin typeface="Alexandria SemiBold"/>
                <a:cs typeface="Alexandria SemiBold"/>
              </a:rPr>
              <a:t>موجه للمنظمات</a:t>
            </a:r>
            <a:endParaRPr lang="ar-SA" sz="1200" dirty="0"/>
          </a:p>
        </p:txBody>
      </p:sp>
      <p:sp>
        <p:nvSpPr>
          <p:cNvPr id="33" name="s40-text-34"/>
          <p:cNvSpPr txBox="1"/>
          <p:nvPr/>
        </p:nvSpPr>
        <p:spPr>
          <a:xfrm>
            <a:off x="320040" y="4015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توفير المنتجات والمستلزمات للمشاريع الزراعية والتنموية.</a:t>
            </a:r>
            <a:endParaRPr lang="ar-SA" sz="1400" dirty="0"/>
          </a:p>
        </p:txBody>
      </p:sp>
      <p:sp>
        <p:nvSpPr>
          <p:cNvPr id="34" name="s40-shape-35"/>
          <p:cNvSpPr/>
          <p:nvPr/>
        </p:nvSpPr>
        <p:spPr>
          <a:xfrm>
            <a:off x="698500" y="4476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35" name="s40-text-36"/>
          <p:cNvSpPr txBox="1"/>
          <p:nvPr/>
        </p:nvSpPr>
        <p:spPr>
          <a:xfrm>
            <a:off x="10121900" y="4567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الأربعاء</a:t>
            </a:r>
            <a:endParaRPr lang="ar-SA" sz="1500" dirty="0"/>
          </a:p>
        </p:txBody>
      </p:sp>
      <p:sp>
        <p:nvSpPr>
          <p:cNvPr id="36" name="s40-shape-37"/>
          <p:cNvSpPr/>
          <p:nvPr/>
        </p:nvSpPr>
        <p:spPr>
          <a:xfrm>
            <a:off x="8318500" y="4572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5CC4BC"/>
          </a:solidFill>
          <a:ln/>
        </p:spPr>
      </p:sp>
      <p:sp>
        <p:nvSpPr>
          <p:cNvPr id="37" name="s40-text-38"/>
          <p:cNvSpPr txBox="1"/>
          <p:nvPr/>
        </p:nvSpPr>
        <p:spPr>
          <a:xfrm>
            <a:off x="8247380" y="4624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فيديو</a:t>
            </a:r>
            <a:endParaRPr lang="ar-SA" sz="1200" dirty="0"/>
          </a:p>
        </p:txBody>
      </p:sp>
      <p:sp>
        <p:nvSpPr>
          <p:cNvPr id="38" name="s40-text-39"/>
          <p:cNvSpPr txBox="1"/>
          <p:nvPr/>
        </p:nvSpPr>
        <p:spPr>
          <a:xfrm>
            <a:off x="320040" y="4586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من التصنيع إلى المنتج: مراحل تصنيع بعض منتجات دريب أكوا.</a:t>
            </a:r>
            <a:endParaRPr lang="ar-SA" sz="1400" dirty="0"/>
          </a:p>
        </p:txBody>
      </p:sp>
      <p:sp>
        <p:nvSpPr>
          <p:cNvPr id="39" name="s40-text-41"/>
          <p:cNvSpPr txBox="1"/>
          <p:nvPr/>
        </p:nvSpPr>
        <p:spPr>
          <a:xfrm>
            <a:off x="10121900" y="5139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الخميس</a:t>
            </a:r>
            <a:endParaRPr lang="ar-SA" sz="1500" dirty="0"/>
          </a:p>
        </p:txBody>
      </p:sp>
      <p:sp>
        <p:nvSpPr>
          <p:cNvPr id="40" name="s40-shape-42"/>
          <p:cNvSpPr/>
          <p:nvPr/>
        </p:nvSpPr>
        <p:spPr>
          <a:xfrm>
            <a:off x="8318500" y="5143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41" name="s40-text-43"/>
          <p:cNvSpPr txBox="1"/>
          <p:nvPr/>
        </p:nvSpPr>
        <p:spPr>
          <a:xfrm>
            <a:off x="8247380" y="5196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تفاعلي</a:t>
            </a:r>
            <a:endParaRPr lang="ar-SA" sz="1200" dirty="0"/>
          </a:p>
        </p:txBody>
      </p:sp>
      <p:sp>
        <p:nvSpPr>
          <p:cNvPr id="42" name="s40-text-44"/>
          <p:cNvSpPr txBox="1"/>
          <p:nvPr/>
        </p:nvSpPr>
        <p:spPr>
          <a:xfrm>
            <a:off x="320040" y="5158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«أرسل لنا احتياج مشروعك وسنساعدك في تحديد المنتجات المناسبة.»</a:t>
            </a:r>
            <a:endParaRPr lang="ar-SA" sz="1400" dirty="0"/>
          </a:p>
        </p:txBody>
      </p:sp>
      <p:sp>
        <p:nvSpPr>
          <p:cNvPr id="43" name="s40-shape-45"/>
          <p:cNvSpPr/>
          <p:nvPr/>
        </p:nvSpPr>
        <p:spPr>
          <a:xfrm>
            <a:off x="698500" y="5619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44" name="s40-text-46"/>
          <p:cNvSpPr txBox="1"/>
          <p:nvPr/>
        </p:nvSpPr>
        <p:spPr>
          <a:xfrm>
            <a:off x="10121900" y="5710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الجمعة</a:t>
            </a:r>
            <a:endParaRPr lang="ar-SA" sz="1500" dirty="0"/>
          </a:p>
        </p:txBody>
      </p:sp>
      <p:sp>
        <p:nvSpPr>
          <p:cNvPr id="45" name="s40-shape-47"/>
          <p:cNvSpPr/>
          <p:nvPr/>
        </p:nvSpPr>
        <p:spPr>
          <a:xfrm>
            <a:off x="8318500" y="5715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8A6142"/>
          </a:solidFill>
          <a:ln/>
        </p:spPr>
      </p:sp>
      <p:sp>
        <p:nvSpPr>
          <p:cNvPr id="46" name="s40-text-48"/>
          <p:cNvSpPr txBox="1"/>
          <p:nvPr/>
        </p:nvSpPr>
        <p:spPr>
          <a:xfrm>
            <a:off x="8247380" y="5767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بيعي</a:t>
            </a:r>
            <a:endParaRPr lang="ar-SA" sz="1200" dirty="0"/>
          </a:p>
        </p:txBody>
      </p:sp>
      <p:sp>
        <p:nvSpPr>
          <p:cNvPr id="47" name="s40-text-49"/>
          <p:cNvSpPr txBox="1"/>
          <p:nvPr/>
        </p:nvSpPr>
        <p:spPr>
          <a:xfrm>
            <a:off x="320040" y="5729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دعوة للتواصل وطلب الأسعار والكميات عبر واتساب.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20" grpId="0"/>
      <p:bldP spid="22" grpId="0" animBg="1"/>
      <p:bldP spid="23" grpId="0"/>
      <p:bldP spid="24" grpId="0"/>
      <p:bldP spid="27" grpId="0" animBg="1"/>
      <p:bldP spid="28" grpId="0"/>
      <p:bldP spid="29" grpId="0"/>
      <p:bldP spid="31" grpId="0" animBg="1"/>
      <p:bldP spid="32" grpId="0"/>
      <p:bldP spid="33" grpId="0"/>
      <p:bldP spid="36" grpId="0" animBg="1"/>
      <p:bldP spid="37" grpId="0"/>
      <p:bldP spid="38" grpId="0"/>
      <p:bldP spid="40" grpId="0" animBg="1"/>
      <p:bldP spid="41" grpId="0"/>
      <p:bldP spid="42" grpId="0"/>
      <p:bldP spid="47" grpId="0"/>
    </p:bldLst>
  </p:timing>
</p:sld>
</file>

<file path=ppt/slides/slide4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6750" y="-15811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1862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41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1-text-6"/>
          <p:cNvSpPr txBox="1"/>
          <p:nvPr/>
        </p:nvSpPr>
        <p:spPr>
          <a:xfrm>
            <a:off x="5321300" y="805180"/>
            <a:ext cx="61722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الأسبوع الرابع</a:t>
            </a:r>
            <a:endParaRPr lang="ar-SA" sz="1500" dirty="0"/>
          </a:p>
        </p:txBody>
      </p:sp>
      <p:sp>
        <p:nvSpPr>
          <p:cNvPr id="8" name="s41-text-7"/>
          <p:cNvSpPr txBox="1"/>
          <p:nvPr/>
        </p:nvSpPr>
        <p:spPr>
          <a:xfrm>
            <a:off x="3860117" y="1052576"/>
            <a:ext cx="7633383" cy="63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08"/>
              </a:lnSpc>
              <a:buNone/>
            </a:pPr>
            <a:r>
              <a:rPr lang="ar-SA" altLang="en-US" sz="36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التحويل إلى مبيعات وبناء الثقة</a:t>
            </a:r>
            <a:endParaRPr lang="ar-SA" sz="3600" dirty="0"/>
          </a:p>
        </p:txBody>
      </p:sp>
      <p:sp>
        <p:nvSpPr>
          <p:cNvPr id="9" name="s41-shape-8"/>
          <p:cNvSpPr/>
          <p:nvPr/>
        </p:nvSpPr>
        <p:spPr>
          <a:xfrm>
            <a:off x="6985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0" name="s41-shape-9"/>
          <p:cNvSpPr/>
          <p:nvPr/>
        </p:nvSpPr>
        <p:spPr>
          <a:xfrm>
            <a:off x="10287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1" name="s41-shape-10"/>
          <p:cNvSpPr/>
          <p:nvPr/>
        </p:nvSpPr>
        <p:spPr>
          <a:xfrm>
            <a:off x="1358900" y="1270000"/>
            <a:ext cx="215900" cy="215900"/>
          </a:xfrm>
          <a:prstGeom prst="ellipse">
            <a:avLst/>
          </a:prstGeom>
          <a:solidFill>
            <a:srgbClr val="D5E6DC"/>
          </a:solidFill>
          <a:ln/>
        </p:spPr>
      </p:sp>
      <p:sp>
        <p:nvSpPr>
          <p:cNvPr id="12" name="s41-shape-11"/>
          <p:cNvSpPr/>
          <p:nvPr/>
        </p:nvSpPr>
        <p:spPr>
          <a:xfrm>
            <a:off x="1689100" y="1270000"/>
            <a:ext cx="215900" cy="215900"/>
          </a:xfrm>
          <a:prstGeom prst="ellipse">
            <a:avLst/>
          </a:prstGeom>
          <a:solidFill>
            <a:srgbClr val="01804C"/>
          </a:solidFill>
          <a:ln/>
        </p:spPr>
      </p:sp>
      <p:sp>
        <p:nvSpPr>
          <p:cNvPr id="13" name="s41-text-12"/>
          <p:cNvSpPr txBox="1"/>
          <p:nvPr/>
        </p:nvSpPr>
        <p:spPr>
          <a:xfrm>
            <a:off x="10185400" y="1898269"/>
            <a:ext cx="1181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اليوم</a:t>
            </a:r>
            <a:endParaRPr lang="ar-SA" sz="1200" dirty="0"/>
          </a:p>
        </p:txBody>
      </p:sp>
      <p:sp>
        <p:nvSpPr>
          <p:cNvPr id="14" name="s41-text-13"/>
          <p:cNvSpPr txBox="1"/>
          <p:nvPr/>
        </p:nvSpPr>
        <p:spPr>
          <a:xfrm>
            <a:off x="8247380" y="189826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نوع المحتوى</a:t>
            </a:r>
            <a:endParaRPr lang="ar-SA" sz="1200" dirty="0"/>
          </a:p>
        </p:txBody>
      </p:sp>
      <p:sp>
        <p:nvSpPr>
          <p:cNvPr id="15" name="s41-text-14"/>
          <p:cNvSpPr txBox="1"/>
          <p:nvPr/>
        </p:nvSpPr>
        <p:spPr>
          <a:xfrm>
            <a:off x="457200" y="1898269"/>
            <a:ext cx="75438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557274"/>
                </a:solidFill>
                <a:latin typeface="Alexandria SemiBold"/>
                <a:cs typeface="Alexandria SemiBold"/>
              </a:rPr>
              <a:t>فكرة المنشور</a:t>
            </a:r>
            <a:endParaRPr lang="ar-SA" sz="1200" dirty="0"/>
          </a:p>
        </p:txBody>
      </p:sp>
      <p:sp>
        <p:nvSpPr>
          <p:cNvPr id="16" name="s41-shape-15"/>
          <p:cNvSpPr/>
          <p:nvPr/>
        </p:nvSpPr>
        <p:spPr>
          <a:xfrm>
            <a:off x="698500" y="2190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17" name="s41-text-16"/>
          <p:cNvSpPr txBox="1"/>
          <p:nvPr/>
        </p:nvSpPr>
        <p:spPr>
          <a:xfrm>
            <a:off x="10121900" y="2281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السبت</a:t>
            </a:r>
            <a:endParaRPr lang="ar-SA" sz="1500" dirty="0"/>
          </a:p>
        </p:txBody>
      </p:sp>
      <p:sp>
        <p:nvSpPr>
          <p:cNvPr id="18" name="s41-shape-17"/>
          <p:cNvSpPr/>
          <p:nvPr/>
        </p:nvSpPr>
        <p:spPr>
          <a:xfrm>
            <a:off x="8318500" y="2286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3B3E"/>
          </a:solidFill>
          <a:ln/>
        </p:spPr>
      </p:sp>
      <p:sp>
        <p:nvSpPr>
          <p:cNvPr id="19" name="s41-text-18"/>
          <p:cNvSpPr txBox="1"/>
          <p:nvPr/>
        </p:nvSpPr>
        <p:spPr>
          <a:xfrm>
            <a:off x="8247380" y="2338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C3E36B"/>
                </a:solidFill>
                <a:latin typeface="Alexandria SemiBold"/>
                <a:cs typeface="Alexandria SemiBold"/>
              </a:rPr>
              <a:t>ثقة</a:t>
            </a:r>
            <a:endParaRPr lang="ar-SA" sz="1200" dirty="0"/>
          </a:p>
        </p:txBody>
      </p:sp>
      <p:sp>
        <p:nvSpPr>
          <p:cNvPr id="20" name="s41-text-19"/>
          <p:cNvSpPr txBox="1"/>
          <p:nvPr/>
        </p:nvSpPr>
        <p:spPr>
          <a:xfrm>
            <a:off x="320040" y="2300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عرض نتائج وتجارب استخدام منتجات أرض البساتين.</a:t>
            </a:r>
            <a:endParaRPr lang="ar-SA" sz="1400" dirty="0"/>
          </a:p>
        </p:txBody>
      </p:sp>
      <p:sp>
        <p:nvSpPr>
          <p:cNvPr id="21" name="s41-text-21"/>
          <p:cNvSpPr txBox="1"/>
          <p:nvPr/>
        </p:nvSpPr>
        <p:spPr>
          <a:xfrm>
            <a:off x="10121900" y="2853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الأحد</a:t>
            </a:r>
            <a:endParaRPr lang="ar-SA" sz="1500" dirty="0"/>
          </a:p>
        </p:txBody>
      </p:sp>
      <p:sp>
        <p:nvSpPr>
          <p:cNvPr id="22" name="s41-shape-22"/>
          <p:cNvSpPr/>
          <p:nvPr/>
        </p:nvSpPr>
        <p:spPr>
          <a:xfrm>
            <a:off x="8318500" y="2857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23" name="s41-text-23"/>
          <p:cNvSpPr txBox="1"/>
          <p:nvPr/>
        </p:nvSpPr>
        <p:spPr>
          <a:xfrm>
            <a:off x="8247380" y="2910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تعليمي</a:t>
            </a:r>
            <a:endParaRPr lang="ar-SA" sz="1200" dirty="0"/>
          </a:p>
        </p:txBody>
      </p:sp>
      <p:sp>
        <p:nvSpPr>
          <p:cNvPr id="24" name="s41-text-24"/>
          <p:cNvSpPr txBox="1"/>
          <p:nvPr/>
        </p:nvSpPr>
        <p:spPr>
          <a:xfrm>
            <a:off x="320040" y="2872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أخطاء شائعة عند شراء المستلزمات الزراعية.</a:t>
            </a:r>
            <a:endParaRPr lang="ar-SA" sz="1400" dirty="0"/>
          </a:p>
        </p:txBody>
      </p:sp>
      <p:sp>
        <p:nvSpPr>
          <p:cNvPr id="25" name="s41-shape-25"/>
          <p:cNvSpPr/>
          <p:nvPr/>
        </p:nvSpPr>
        <p:spPr>
          <a:xfrm>
            <a:off x="698500" y="3333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26" name="s41-text-26"/>
          <p:cNvSpPr txBox="1"/>
          <p:nvPr/>
        </p:nvSpPr>
        <p:spPr>
          <a:xfrm>
            <a:off x="10121900" y="3424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الاثنين</a:t>
            </a:r>
            <a:endParaRPr lang="ar-SA" sz="1500" dirty="0"/>
          </a:p>
        </p:txBody>
      </p:sp>
      <p:sp>
        <p:nvSpPr>
          <p:cNvPr id="27" name="s41-shape-27"/>
          <p:cNvSpPr/>
          <p:nvPr/>
        </p:nvSpPr>
        <p:spPr>
          <a:xfrm>
            <a:off x="8318500" y="3429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29A74"/>
          </a:solidFill>
          <a:ln/>
        </p:spPr>
      </p:sp>
      <p:sp>
        <p:nvSpPr>
          <p:cNvPr id="28" name="s41-text-28"/>
          <p:cNvSpPr txBox="1"/>
          <p:nvPr/>
        </p:nvSpPr>
        <p:spPr>
          <a:xfrm>
            <a:off x="8247380" y="3481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مقارنة توعوية</a:t>
            </a:r>
            <a:endParaRPr lang="ar-SA" sz="1200" dirty="0"/>
          </a:p>
        </p:txBody>
      </p:sp>
      <p:sp>
        <p:nvSpPr>
          <p:cNvPr id="29" name="s41-text-29"/>
          <p:cNvSpPr txBox="1"/>
          <p:nvPr/>
        </p:nvSpPr>
        <p:spPr>
          <a:xfrm>
            <a:off x="320040" y="3443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كيف تفرق بين المنتج المناسب والمنتج منخفض المواصفات؟</a:t>
            </a:r>
            <a:endParaRPr lang="ar-SA" sz="1400" dirty="0"/>
          </a:p>
        </p:txBody>
      </p:sp>
      <p:sp>
        <p:nvSpPr>
          <p:cNvPr id="30" name="s41-text-31"/>
          <p:cNvSpPr txBox="1"/>
          <p:nvPr/>
        </p:nvSpPr>
        <p:spPr>
          <a:xfrm>
            <a:off x="10121900" y="3996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الثلاثاء</a:t>
            </a:r>
            <a:endParaRPr lang="ar-SA" sz="1500" dirty="0"/>
          </a:p>
        </p:txBody>
      </p:sp>
      <p:sp>
        <p:nvSpPr>
          <p:cNvPr id="31" name="s41-shape-32"/>
          <p:cNvSpPr/>
          <p:nvPr/>
        </p:nvSpPr>
        <p:spPr>
          <a:xfrm>
            <a:off x="8318500" y="4000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5CC4BC"/>
          </a:solidFill>
          <a:ln/>
        </p:spPr>
      </p:sp>
      <p:sp>
        <p:nvSpPr>
          <p:cNvPr id="32" name="s41-text-33"/>
          <p:cNvSpPr txBox="1"/>
          <p:nvPr/>
        </p:nvSpPr>
        <p:spPr>
          <a:xfrm>
            <a:off x="8247380" y="4053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فيديو</a:t>
            </a:r>
            <a:endParaRPr lang="ar-SA" sz="1200" dirty="0"/>
          </a:p>
        </p:txBody>
      </p:sp>
      <p:sp>
        <p:nvSpPr>
          <p:cNvPr id="33" name="s41-text-34"/>
          <p:cNvSpPr txBox="1"/>
          <p:nvPr/>
        </p:nvSpPr>
        <p:spPr>
          <a:xfrm>
            <a:off x="320040" y="4015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استعراض تفاصيل أحد المنتجات ومواصفاته واستخدامه.</a:t>
            </a:r>
            <a:endParaRPr lang="ar-SA" sz="1400" dirty="0"/>
          </a:p>
        </p:txBody>
      </p:sp>
      <p:sp>
        <p:nvSpPr>
          <p:cNvPr id="34" name="s41-shape-35"/>
          <p:cNvSpPr/>
          <p:nvPr/>
        </p:nvSpPr>
        <p:spPr>
          <a:xfrm>
            <a:off x="698500" y="4476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35" name="s41-text-36"/>
          <p:cNvSpPr txBox="1"/>
          <p:nvPr/>
        </p:nvSpPr>
        <p:spPr>
          <a:xfrm>
            <a:off x="10121900" y="4567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الأربعاء</a:t>
            </a:r>
            <a:endParaRPr lang="ar-SA" sz="1500" dirty="0"/>
          </a:p>
        </p:txBody>
      </p:sp>
      <p:sp>
        <p:nvSpPr>
          <p:cNvPr id="36" name="s41-shape-37"/>
          <p:cNvSpPr/>
          <p:nvPr/>
        </p:nvSpPr>
        <p:spPr>
          <a:xfrm>
            <a:off x="8318500" y="4572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37" name="s41-text-38"/>
          <p:cNvSpPr txBox="1"/>
          <p:nvPr/>
        </p:nvSpPr>
        <p:spPr>
          <a:xfrm>
            <a:off x="8247380" y="4624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013B3E"/>
                </a:solidFill>
                <a:latin typeface="Alexandria SemiBold"/>
                <a:cs typeface="Alexandria SemiBold"/>
              </a:rPr>
              <a:t>تفاعلي</a:t>
            </a:r>
            <a:endParaRPr lang="ar-SA" sz="1200" dirty="0"/>
          </a:p>
        </p:txBody>
      </p:sp>
      <p:sp>
        <p:nvSpPr>
          <p:cNvPr id="38" name="s41-text-39"/>
          <p:cNvSpPr txBox="1"/>
          <p:nvPr/>
        </p:nvSpPr>
        <p:spPr>
          <a:xfrm>
            <a:off x="320040" y="4586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استفتاء: ما نوع المنتجات التي تحتاجها أكثر؟</a:t>
            </a:r>
            <a:endParaRPr lang="ar-SA" sz="1400" dirty="0"/>
          </a:p>
        </p:txBody>
      </p:sp>
      <p:sp>
        <p:nvSpPr>
          <p:cNvPr id="39" name="s41-text-41"/>
          <p:cNvSpPr txBox="1"/>
          <p:nvPr/>
        </p:nvSpPr>
        <p:spPr>
          <a:xfrm>
            <a:off x="10121900" y="51390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الخميس</a:t>
            </a:r>
            <a:endParaRPr lang="ar-SA" sz="1500" dirty="0"/>
          </a:p>
        </p:txBody>
      </p:sp>
      <p:sp>
        <p:nvSpPr>
          <p:cNvPr id="40" name="s41-shape-42"/>
          <p:cNvSpPr/>
          <p:nvPr/>
        </p:nvSpPr>
        <p:spPr>
          <a:xfrm>
            <a:off x="8318500" y="51435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8A6142"/>
          </a:solidFill>
          <a:ln/>
        </p:spPr>
      </p:sp>
      <p:sp>
        <p:nvSpPr>
          <p:cNvPr id="41" name="s41-text-43"/>
          <p:cNvSpPr txBox="1"/>
          <p:nvPr/>
        </p:nvSpPr>
        <p:spPr>
          <a:xfrm>
            <a:off x="8247380" y="51963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عرض</a:t>
            </a:r>
            <a:endParaRPr lang="ar-SA" sz="1200" dirty="0"/>
          </a:p>
        </p:txBody>
      </p:sp>
      <p:sp>
        <p:nvSpPr>
          <p:cNvPr id="42" name="s41-text-44"/>
          <p:cNvSpPr txBox="1"/>
          <p:nvPr/>
        </p:nvSpPr>
        <p:spPr>
          <a:xfrm>
            <a:off x="320040" y="51580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عروض خاصة للكميات أو للتجار والموزعين.</a:t>
            </a:r>
            <a:endParaRPr lang="ar-SA" sz="1400" dirty="0"/>
          </a:p>
        </p:txBody>
      </p:sp>
      <p:sp>
        <p:nvSpPr>
          <p:cNvPr id="43" name="s41-shape-45"/>
          <p:cNvSpPr/>
          <p:nvPr/>
        </p:nvSpPr>
        <p:spPr>
          <a:xfrm>
            <a:off x="698500" y="5619750"/>
            <a:ext cx="10795000" cy="508000"/>
          </a:xfrm>
          <a:prstGeom prst="roundRect">
            <a:avLst>
              <a:gd name="adj" fmla="val 27500"/>
            </a:avLst>
          </a:prstGeom>
          <a:solidFill>
            <a:srgbClr val="F2F9F5"/>
          </a:solidFill>
          <a:ln/>
        </p:spPr>
      </p:sp>
      <p:sp>
        <p:nvSpPr>
          <p:cNvPr id="44" name="s41-text-46"/>
          <p:cNvSpPr txBox="1"/>
          <p:nvPr/>
        </p:nvSpPr>
        <p:spPr>
          <a:xfrm>
            <a:off x="10121900" y="5710555"/>
            <a:ext cx="118110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الجمعة</a:t>
            </a:r>
            <a:endParaRPr lang="ar-SA" sz="1500" dirty="0"/>
          </a:p>
        </p:txBody>
      </p:sp>
      <p:sp>
        <p:nvSpPr>
          <p:cNvPr id="45" name="s41-shape-47"/>
          <p:cNvSpPr/>
          <p:nvPr/>
        </p:nvSpPr>
        <p:spPr>
          <a:xfrm>
            <a:off x="8318500" y="5715000"/>
            <a:ext cx="1778000" cy="317500"/>
          </a:xfrm>
          <a:prstGeom prst="roundRect">
            <a:avLst>
              <a:gd name="adj" fmla="val 50000"/>
            </a:avLst>
          </a:prstGeom>
          <a:solidFill>
            <a:srgbClr val="8A6142"/>
          </a:solidFill>
          <a:ln/>
        </p:spPr>
      </p:sp>
      <p:sp>
        <p:nvSpPr>
          <p:cNvPr id="46" name="s41-text-48"/>
          <p:cNvSpPr txBox="1"/>
          <p:nvPr/>
        </p:nvSpPr>
        <p:spPr>
          <a:xfrm>
            <a:off x="8247380" y="5767899"/>
            <a:ext cx="19202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6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 SemiBold"/>
                <a:cs typeface="Alexandria SemiBold"/>
              </a:rPr>
              <a:t>دعوة للشراء</a:t>
            </a:r>
            <a:endParaRPr lang="ar-SA" sz="1200" dirty="0"/>
          </a:p>
        </p:txBody>
      </p:sp>
      <p:sp>
        <p:nvSpPr>
          <p:cNvPr id="47" name="s41-text-49"/>
          <p:cNvSpPr txBox="1"/>
          <p:nvPr/>
        </p:nvSpPr>
        <p:spPr>
          <a:xfrm>
            <a:off x="320040" y="5729518"/>
            <a:ext cx="7680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«احتياج مزرعتك يبدأ من المنتج المناسب… تواصل معنا الآن.»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92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9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92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92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92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92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8" grpId="0" animBg="1"/>
      <p:bldP spid="19" grpId="0"/>
      <p:bldP spid="20" grpId="0"/>
      <p:bldP spid="12" grpId="0" animBg="1"/>
      <p:bldP spid="22" grpId="0" animBg="1"/>
      <p:bldP spid="23" grpId="0"/>
      <p:bldP spid="24" grpId="0"/>
      <p:bldP spid="27" grpId="0" animBg="1"/>
      <p:bldP spid="28" grpId="0"/>
      <p:bldP spid="29" grpId="0"/>
      <p:bldP spid="31" grpId="0" animBg="1"/>
      <p:bldP spid="32" grpId="0"/>
      <p:bldP spid="33" grpId="0"/>
      <p:bldP spid="36" grpId="0" animBg="1"/>
      <p:bldP spid="37" grpId="0"/>
      <p:bldP spid="38" grpId="0"/>
      <p:bldP spid="40" grpId="0" animBg="1"/>
      <p:bldP spid="41" grpId="0"/>
      <p:bldP spid="42" grpId="0"/>
      <p:bldP spid="46" grpId="0"/>
      <p:bldP spid="47" grpId="0"/>
    </p:bldLst>
  </p:timing>
</p:sld>
</file>

<file path=ppt/slides/slide4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3350" y="-13589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067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42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2-text-6"/>
          <p:cNvSpPr txBox="1"/>
          <p:nvPr/>
        </p:nvSpPr>
        <p:spPr>
          <a:xfrm>
            <a:off x="4227878" y="817372"/>
            <a:ext cx="726562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توزيع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خلال الشهر</a:t>
            </a:r>
            <a:endParaRPr lang="ar-SA" sz="4200" dirty="0"/>
          </a:p>
        </p:txBody>
      </p:sp>
      <p:graphicFrame>
        <p:nvGraphicFramePr>
          <p:cNvPr id="8" name="s42-chart-7" descr=""/>
          <p:cNvGraphicFramePr/>
          <p:nvPr/>
        </p:nvGraphicFramePr>
        <p:xfrm>
          <a:off x="952500" y="2095500"/>
          <a:ext cx="3937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9" name="s42-asset-8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3443" y="3670300"/>
            <a:ext cx="1390650" cy="787400"/>
          </a:xfrm>
          <a:prstGeom prst="rect">
            <a:avLst/>
          </a:prstGeom>
        </p:spPr>
      </p:pic>
      <p:pic>
        <p:nvPicPr>
          <p:cNvPr id="10" name="s42-asset-9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3443" y="3670300"/>
            <a:ext cx="1390650" cy="787400"/>
          </a:xfrm>
          <a:prstGeom prst="rect">
            <a:avLst/>
          </a:prstGeom>
        </p:spPr>
      </p:pic>
      <p:sp>
        <p:nvSpPr>
          <p:cNvPr id="11" name="s42-shape-10"/>
          <p:cNvSpPr/>
          <p:nvPr/>
        </p:nvSpPr>
        <p:spPr>
          <a:xfrm>
            <a:off x="5778500" y="2768600"/>
            <a:ext cx="5715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2" name="s42-text-11"/>
          <p:cNvSpPr txBox="1"/>
          <p:nvPr/>
        </p:nvSpPr>
        <p:spPr>
          <a:xfrm>
            <a:off x="9916160" y="2046732"/>
            <a:ext cx="15773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680"/>
              </a:lnSpc>
              <a:buNone/>
            </a:pPr>
            <a:r>
              <a:rPr lang="en-US" altLang="en-US" sz="3600" dirty="0">
                <a:solidFill>
                  <a:srgbClr val="01804C"/>
                </a:solidFill>
                <a:latin typeface="Alexandria Black"/>
                <a:cs typeface="Alexandria Black"/>
              </a:rPr>
              <a:t>30%</a:t>
            </a:r>
            <a:endParaRPr lang="en-US" sz="3600" dirty="0"/>
          </a:p>
        </p:txBody>
      </p:sp>
      <p:sp>
        <p:nvSpPr>
          <p:cNvPr id="13" name="s42-text-12"/>
          <p:cNvSpPr txBox="1"/>
          <p:nvPr/>
        </p:nvSpPr>
        <p:spPr>
          <a:xfrm>
            <a:off x="5448300" y="2197989"/>
            <a:ext cx="445770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SemiBold"/>
                <a:cs typeface="Alexandria SemiBold"/>
              </a:rPr>
              <a:t>محتوى تعليمي وتوعوي</a:t>
            </a:r>
            <a:endParaRPr lang="ar-SA" sz="1700" dirty="0"/>
          </a:p>
        </p:txBody>
      </p:sp>
      <p:sp>
        <p:nvSpPr>
          <p:cNvPr id="14" name="s42-shape-13"/>
          <p:cNvSpPr/>
          <p:nvPr/>
        </p:nvSpPr>
        <p:spPr>
          <a:xfrm>
            <a:off x="5778500" y="3606800"/>
            <a:ext cx="5715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5" name="s42-text-14"/>
          <p:cNvSpPr txBox="1"/>
          <p:nvPr/>
        </p:nvSpPr>
        <p:spPr>
          <a:xfrm>
            <a:off x="9916160" y="2884932"/>
            <a:ext cx="15773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680"/>
              </a:lnSpc>
              <a:buNone/>
            </a:pPr>
            <a:r>
              <a:rPr lang="en-US" altLang="en-US" sz="3600" dirty="0">
                <a:solidFill>
                  <a:srgbClr val="35B86E"/>
                </a:solidFill>
                <a:latin typeface="Alexandria Black"/>
                <a:cs typeface="Alexandria Black"/>
              </a:rPr>
              <a:t>25%</a:t>
            </a:r>
            <a:endParaRPr lang="en-US" sz="3600" dirty="0"/>
          </a:p>
        </p:txBody>
      </p:sp>
      <p:sp>
        <p:nvSpPr>
          <p:cNvPr id="16" name="s42-text-15"/>
          <p:cNvSpPr txBox="1"/>
          <p:nvPr/>
        </p:nvSpPr>
        <p:spPr>
          <a:xfrm>
            <a:off x="5448300" y="3036189"/>
            <a:ext cx="445770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SemiBold"/>
                <a:cs typeface="Alexandria SemiBold"/>
              </a:rPr>
              <a:t>محتوى منتجات ومواصفات</a:t>
            </a:r>
            <a:endParaRPr lang="ar-SA" sz="1700" dirty="0"/>
          </a:p>
        </p:txBody>
      </p:sp>
      <p:sp>
        <p:nvSpPr>
          <p:cNvPr id="17" name="s42-shape-16"/>
          <p:cNvSpPr/>
          <p:nvPr/>
        </p:nvSpPr>
        <p:spPr>
          <a:xfrm>
            <a:off x="5778500" y="4445000"/>
            <a:ext cx="5715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18" name="s42-text-17"/>
          <p:cNvSpPr txBox="1"/>
          <p:nvPr/>
        </p:nvSpPr>
        <p:spPr>
          <a:xfrm>
            <a:off x="9916160" y="3723132"/>
            <a:ext cx="15773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680"/>
              </a:lnSpc>
              <a:buNone/>
            </a:pPr>
            <a:r>
              <a:rPr lang="en-US" altLang="en-US" sz="3600" dirty="0">
                <a:solidFill>
                  <a:srgbClr val="5CC4BC"/>
                </a:solidFill>
                <a:latin typeface="Alexandria Black"/>
                <a:cs typeface="Alexandria Black"/>
              </a:rPr>
              <a:t>20%</a:t>
            </a:r>
            <a:endParaRPr lang="en-US" sz="3600" dirty="0"/>
          </a:p>
        </p:txBody>
      </p:sp>
      <p:sp>
        <p:nvSpPr>
          <p:cNvPr id="19" name="s42-text-18"/>
          <p:cNvSpPr txBox="1"/>
          <p:nvPr/>
        </p:nvSpPr>
        <p:spPr>
          <a:xfrm>
            <a:off x="5448300" y="3874389"/>
            <a:ext cx="445770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SemiBold"/>
                <a:cs typeface="Alexandria SemiBold"/>
              </a:rPr>
              <a:t>محتوى بناء الثقة والاستعراض</a:t>
            </a:r>
            <a:endParaRPr lang="ar-SA" sz="1700" dirty="0"/>
          </a:p>
        </p:txBody>
      </p:sp>
      <p:sp>
        <p:nvSpPr>
          <p:cNvPr id="20" name="s42-shape-19"/>
          <p:cNvSpPr/>
          <p:nvPr/>
        </p:nvSpPr>
        <p:spPr>
          <a:xfrm>
            <a:off x="5778500" y="5283200"/>
            <a:ext cx="5715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1" name="s42-text-20"/>
          <p:cNvSpPr txBox="1"/>
          <p:nvPr/>
        </p:nvSpPr>
        <p:spPr>
          <a:xfrm>
            <a:off x="9916160" y="4561332"/>
            <a:ext cx="15773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680"/>
              </a:lnSpc>
              <a:buNone/>
            </a:pPr>
            <a:r>
              <a:rPr lang="en-US" altLang="en-US" sz="3600" dirty="0">
                <a:solidFill>
                  <a:srgbClr val="8DB83A"/>
                </a:solidFill>
                <a:latin typeface="Alexandria Black"/>
                <a:cs typeface="Alexandria Black"/>
              </a:rPr>
              <a:t>15%</a:t>
            </a:r>
            <a:endParaRPr lang="en-US" sz="3600" dirty="0"/>
          </a:p>
        </p:txBody>
      </p:sp>
      <p:sp>
        <p:nvSpPr>
          <p:cNvPr id="22" name="s42-text-21"/>
          <p:cNvSpPr txBox="1"/>
          <p:nvPr/>
        </p:nvSpPr>
        <p:spPr>
          <a:xfrm>
            <a:off x="5448300" y="4712589"/>
            <a:ext cx="445770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SemiBold"/>
                <a:cs typeface="Alexandria SemiBold"/>
              </a:rPr>
              <a:t>محتوى تفاعلي</a:t>
            </a:r>
            <a:endParaRPr lang="ar-SA" sz="1700" dirty="0"/>
          </a:p>
        </p:txBody>
      </p:sp>
      <p:sp>
        <p:nvSpPr>
          <p:cNvPr id="23" name="s42-shape-22"/>
          <p:cNvSpPr/>
          <p:nvPr/>
        </p:nvSpPr>
        <p:spPr>
          <a:xfrm>
            <a:off x="5778500" y="6121400"/>
            <a:ext cx="57150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4" name="s42-text-23"/>
          <p:cNvSpPr txBox="1"/>
          <p:nvPr/>
        </p:nvSpPr>
        <p:spPr>
          <a:xfrm>
            <a:off x="9916160" y="5399532"/>
            <a:ext cx="15773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680"/>
              </a:lnSpc>
              <a:buNone/>
            </a:pPr>
            <a:r>
              <a:rPr lang="en-US" altLang="en-US" sz="3600" dirty="0">
                <a:solidFill>
                  <a:srgbClr val="8A6142"/>
                </a:solidFill>
                <a:latin typeface="Alexandria Black"/>
                <a:cs typeface="Alexandria Black"/>
              </a:rPr>
              <a:t>10%</a:t>
            </a:r>
            <a:endParaRPr lang="en-US" sz="3600" dirty="0"/>
          </a:p>
        </p:txBody>
      </p:sp>
      <p:sp>
        <p:nvSpPr>
          <p:cNvPr id="25" name="s42-text-24"/>
          <p:cNvSpPr txBox="1"/>
          <p:nvPr/>
        </p:nvSpPr>
        <p:spPr>
          <a:xfrm>
            <a:off x="5448300" y="5550789"/>
            <a:ext cx="445770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80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SemiBold"/>
                <a:cs typeface="Alexandria SemiBold"/>
              </a:rPr>
              <a:t>محتوى بيعي وعروض</a:t>
            </a:r>
            <a:endParaRPr lang="ar-SA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3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3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3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3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1" dur="6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3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2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2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2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8" grpId="0">
        <p:bldAsOne/>
      </p:bldGraphic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4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84500" y="-10223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205393" y="381381"/>
            <a:ext cx="228810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Black"/>
                <a:cs typeface="Alexandria Black"/>
              </a:rPr>
              <a:t>09 </a:t>
            </a: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خطة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96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43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sp>
        <p:nvSpPr>
          <p:cNvPr id="5" name="s43-text-4"/>
          <p:cNvSpPr txBox="1"/>
          <p:nvPr/>
        </p:nvSpPr>
        <p:spPr>
          <a:xfrm>
            <a:off x="5321300" y="942467"/>
            <a:ext cx="61722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dirty="0">
                <a:solidFill>
                  <a:srgbClr val="C3E36B"/>
                </a:solidFill>
                <a:latin typeface="Alexandria SemiBold"/>
                <a:cs typeface="Alexandria SemiBold"/>
              </a:rPr>
              <a:t>الرسالة الأساسية للحملة</a:t>
            </a:r>
            <a:endParaRPr lang="ar-SA" sz="1600" dirty="0"/>
          </a:p>
        </p:txBody>
      </p:sp>
      <p:sp>
        <p:nvSpPr>
          <p:cNvPr id="6" name="s43-text-5"/>
          <p:cNvSpPr txBox="1"/>
          <p:nvPr/>
        </p:nvSpPr>
        <p:spPr>
          <a:xfrm>
            <a:off x="2578100" y="1323086"/>
            <a:ext cx="8915400" cy="122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620"/>
              </a:lnSpc>
              <a:buNone/>
            </a:pPr>
            <a:r>
              <a:rPr lang="ar-SA" altLang="en-US" sz="3300" dirty="0">
                <a:solidFill>
                  <a:srgbClr val="FFFFFF"/>
                </a:solidFill>
                <a:latin typeface="Alexandria ExtraBold"/>
                <a:cs typeface="Alexandria ExtraBold"/>
              </a:rPr>
              <a:t>أرض البساتين — منتجات زراعية مختارة</a:t>
            </a:r>
            <a:endParaRPr lang="ar-SA" sz="3300" dirty="0"/>
          </a:p>
          <a:p>
            <a:pPr rtl="1" algn="r" indent="0" marL="0">
              <a:lnSpc>
                <a:spcPts val="4620"/>
              </a:lnSpc>
              <a:buNone/>
            </a:pPr>
            <a:r>
              <a:rPr lang="ar-SA" altLang="en-US" sz="3300" dirty="0">
                <a:solidFill>
                  <a:srgbClr val="FFFFFF"/>
                </a:solidFill>
                <a:latin typeface="Alexandria ExtraBold"/>
                <a:cs typeface="Alexandria ExtraBold"/>
              </a:rPr>
              <a:t>لتخدم مزرعتك.</a:t>
            </a:r>
            <a:endParaRPr lang="ar-SA" sz="3300" dirty="0"/>
          </a:p>
        </p:txBody>
      </p:sp>
      <p:sp>
        <p:nvSpPr>
          <p:cNvPr id="7" name="s43-shape-6"/>
          <p:cNvSpPr/>
          <p:nvPr/>
        </p:nvSpPr>
        <p:spPr>
          <a:xfrm>
            <a:off x="3238500" y="2984500"/>
            <a:ext cx="8255000" cy="127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s43-text-7"/>
          <p:cNvSpPr txBox="1"/>
          <p:nvPr/>
        </p:nvSpPr>
        <p:spPr>
          <a:xfrm>
            <a:off x="2578100" y="3206496"/>
            <a:ext cx="8915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ar-SA" altLang="en-US" sz="1800" dirty="0">
                <a:solidFill>
                  <a:srgbClr val="FFFFFF"/>
                </a:solidFill>
                <a:latin typeface="Alexandria Light"/>
                <a:cs typeface="Alexandria Light"/>
              </a:rPr>
              <a:t>ومن خلال المنتجات التي يتم تصنيعها في مصنع دريب أكوا:</a:t>
            </a:r>
            <a:endParaRPr lang="ar-SA" sz="1800" dirty="0"/>
          </a:p>
        </p:txBody>
      </p:sp>
      <p:sp>
        <p:nvSpPr>
          <p:cNvPr id="9" name="s43-text-8"/>
          <p:cNvSpPr txBox="1"/>
          <p:nvPr/>
        </p:nvSpPr>
        <p:spPr>
          <a:xfrm>
            <a:off x="2578100" y="3643884"/>
            <a:ext cx="8915400" cy="77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670"/>
              </a:lnSpc>
              <a:buNone/>
            </a:pPr>
            <a:r>
              <a:rPr lang="ar-SA" altLang="en-US" sz="4200" dirty="0">
                <a:solidFill>
                  <a:srgbClr val="C3E36B"/>
                </a:solidFill>
                <a:latin typeface="Alexandria ExtraLight"/>
                <a:cs typeface="Alexandria ExtraLight"/>
              </a:rPr>
              <a:t>دقة في التصنيع… ثقة في الأداء.</a:t>
            </a:r>
            <a:endParaRPr lang="ar-SA" sz="4200" dirty="0"/>
          </a:p>
        </p:txBody>
      </p:sp>
      <p:sp>
        <p:nvSpPr>
          <p:cNvPr id="10" name="s43-text-9"/>
          <p:cNvSpPr txBox="1"/>
          <p:nvPr/>
        </p:nvSpPr>
        <p:spPr>
          <a:xfrm>
            <a:off x="3949700" y="5043805"/>
            <a:ext cx="75438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Light"/>
                <a:cs typeface="Alexandria Light"/>
              </a:rPr>
              <a:t>وتُطبّق الخطة على فيسبوك وواتساب وتيك توك وإنستغرام، مع إعادة صياغة المحتوى</a:t>
            </a:r>
            <a:endParaRPr lang="ar-SA" sz="150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Light"/>
                <a:cs typeface="Alexandria Light"/>
              </a:rPr>
              <a:t>بما يناسب طبيعة كل منصة.</a:t>
            </a:r>
            <a:endParaRPr lang="ar-SA" sz="1500" dirty="0"/>
          </a:p>
        </p:txBody>
      </p:sp>
      <p:sp>
        <p:nvSpPr>
          <p:cNvPr id="11" name="s43-shape-10"/>
          <p:cNvSpPr/>
          <p:nvPr/>
        </p:nvSpPr>
        <p:spPr>
          <a:xfrm>
            <a:off x="3111500" y="5207000"/>
            <a:ext cx="533400" cy="533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s43-snap-11" descr="/home/user/flan777/ard-albasatin-presentation/source/pptx_build/img/s43_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5286375"/>
            <a:ext cx="374650" cy="374650"/>
          </a:xfrm>
          <a:prstGeom prst="rect">
            <a:avLst/>
          </a:prstGeom>
        </p:spPr>
      </p:pic>
      <p:sp>
        <p:nvSpPr>
          <p:cNvPr id="13" name="s43-shape-12"/>
          <p:cNvSpPr/>
          <p:nvPr/>
        </p:nvSpPr>
        <p:spPr>
          <a:xfrm>
            <a:off x="2451100" y="5207000"/>
            <a:ext cx="533400" cy="533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4" name="s43-snap-13" descr="/home/user/flan777/ard-albasatin-presentation/source/pptx_build/img/s43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475" y="5286375"/>
            <a:ext cx="374650" cy="374650"/>
          </a:xfrm>
          <a:prstGeom prst="rect">
            <a:avLst/>
          </a:prstGeom>
        </p:spPr>
      </p:pic>
      <p:sp>
        <p:nvSpPr>
          <p:cNvPr id="15" name="s43-shape-14"/>
          <p:cNvSpPr/>
          <p:nvPr/>
        </p:nvSpPr>
        <p:spPr>
          <a:xfrm>
            <a:off x="1790700" y="5207000"/>
            <a:ext cx="533400" cy="533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6" name="s43-snap-15" descr="/home/user/flan777/ard-albasatin-presentation/source/pptx_build/img/s43_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075" y="5286375"/>
            <a:ext cx="374650" cy="374650"/>
          </a:xfrm>
          <a:prstGeom prst="rect">
            <a:avLst/>
          </a:prstGeom>
        </p:spPr>
      </p:pic>
      <p:sp>
        <p:nvSpPr>
          <p:cNvPr id="17" name="s43-shape-16"/>
          <p:cNvSpPr/>
          <p:nvPr/>
        </p:nvSpPr>
        <p:spPr>
          <a:xfrm>
            <a:off x="1130300" y="5207000"/>
            <a:ext cx="533400" cy="533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8" name="s43-snap-17" descr="/home/user/flan777/ard-albasatin-presentation/source/pptx_build/img/s43_1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75" y="5286375"/>
            <a:ext cx="374650" cy="374650"/>
          </a:xfrm>
          <a:prstGeom prst="rect">
            <a:avLst/>
          </a:prstGeom>
        </p:spPr>
      </p:pic>
      <p:pic>
        <p:nvPicPr>
          <p:cNvPr id="19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600000">
            <a:off x="761355" y="1016000"/>
            <a:ext cx="2921000" cy="1651000"/>
          </a:xfrm>
          <a:prstGeom prst="rect">
            <a:avLst/>
          </a:prstGeom>
        </p:spPr>
      </p:pic>
      <p:pic>
        <p:nvPicPr>
          <p:cNvPr id="20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600000">
            <a:off x="761355" y="1016000"/>
            <a:ext cx="2921000" cy="165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50000">
                                      <p:cBhvr>
                                        <p:cTn id="6" dur="1600" fill="hold" accel="50000" decel="50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120000">
                                      <p:cBhvr>
                                        <p:cTn id="8" dur="1800" fill="hold" accel="50000" decel="50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2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1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0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3" grpId="0" animBg="1"/>
      <p:bldP spid="15" grpId="0" animBg="1"/>
      <p:bldP spid="17" grpId="0" animBg="1"/>
    </p:bldLst>
  </p:timing>
</p:sld>
</file>

<file path=ppt/slides/slide4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9550" y="-65405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497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44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5095" y="2095500"/>
            <a:ext cx="5276850" cy="2984500"/>
          </a:xfrm>
          <a:prstGeom prst="rect">
            <a:avLst/>
          </a:prstGeom>
        </p:spPr>
      </p:pic>
      <p:sp>
        <p:nvSpPr>
          <p:cNvPr id="6" name="!!sectitle"/>
          <p:cNvSpPr txBox="1"/>
          <p:nvPr/>
        </p:nvSpPr>
        <p:spPr>
          <a:xfrm>
            <a:off x="4224020" y="2640203"/>
            <a:ext cx="72694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أمثلة على المحتوى</a:t>
            </a:r>
            <a:endParaRPr lang="ar-SA" sz="4400" dirty="0"/>
          </a:p>
          <a:p>
            <a:pPr rtl="1" algn="r" indent="0" marL="0">
              <a:lnSpc>
                <a:spcPts val="572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التسويقي</a:t>
            </a:r>
            <a:endParaRPr lang="ar-SA" sz="4400" dirty="0"/>
          </a:p>
        </p:txBody>
      </p:sp>
      <p:pic>
        <p:nvPicPr>
          <p:cNvPr id="7" name="s44-snap-6" descr="/home/user/flan777/ard-albasatin-presentation/source/pptx_build/img/s44_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7400" y="-3302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46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45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5-text-6"/>
          <p:cNvSpPr txBox="1"/>
          <p:nvPr/>
        </p:nvSpPr>
        <p:spPr>
          <a:xfrm>
            <a:off x="6728047" y="817372"/>
            <a:ext cx="4765453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1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تعليمي</a:t>
            </a:r>
            <a:endParaRPr lang="ar-SA" sz="4200" dirty="0"/>
          </a:p>
        </p:txBody>
      </p:sp>
      <p:sp>
        <p:nvSpPr>
          <p:cNvPr id="8" name="s45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45-snap-8" descr="/home/user/flan777/ard-albasatin-presentation/source/pptx_build/img/s45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45-shape-9"/>
          <p:cNvSpPr/>
          <p:nvPr/>
        </p:nvSpPr>
        <p:spPr>
          <a:xfrm>
            <a:off x="2286000" y="35877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45-snap-10" descr="/home/user/flan777/ard-albasatin-presentation/source/pptx_build/img/s45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775075"/>
            <a:ext cx="641350" cy="641350"/>
          </a:xfrm>
          <a:prstGeom prst="rect">
            <a:avLst/>
          </a:prstGeom>
        </p:spPr>
      </p:pic>
      <p:pic>
        <p:nvPicPr>
          <p:cNvPr id="12" name="s45-asset-11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3" name="s45-text-12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4" name="s45-text-13"/>
          <p:cNvSpPr txBox="1"/>
          <p:nvPr/>
        </p:nvSpPr>
        <p:spPr>
          <a:xfrm>
            <a:off x="4455160" y="2685923"/>
            <a:ext cx="6720840" cy="80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82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اختيار المنتج المناسب يبدأ من معرفة احتياج</a:t>
            </a:r>
            <a:endParaRPr lang="ar-SA" sz="2100" dirty="0"/>
          </a:p>
          <a:p>
            <a:pPr rtl="1" algn="r" indent="0" marL="0">
              <a:lnSpc>
                <a:spcPts val="2982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مزرعتك.</a:t>
            </a:r>
            <a:endParaRPr lang="ar-SA" sz="2100" dirty="0"/>
          </a:p>
        </p:txBody>
      </p:sp>
      <p:sp>
        <p:nvSpPr>
          <p:cNvPr id="15" name="s45-text-14"/>
          <p:cNvSpPr txBox="1"/>
          <p:nvPr/>
        </p:nvSpPr>
        <p:spPr>
          <a:xfrm>
            <a:off x="4455160" y="3571403"/>
            <a:ext cx="6720840" cy="111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سواء كنت تبحث عن مستلزمات ري، أو منتجات لحماية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المحاصيل، أو أنابيب وشبكات للري بالتقطير، فإن معرفة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مواصفات المنتج واستخدامه تساعدك على اتخاذ قرار مناسب.</a:t>
            </a:r>
            <a:endParaRPr lang="ar-SA" sz="1800" dirty="0"/>
          </a:p>
        </p:txBody>
      </p:sp>
      <p:sp>
        <p:nvSpPr>
          <p:cNvPr id="16" name="s45-text-15"/>
          <p:cNvSpPr txBox="1"/>
          <p:nvPr/>
        </p:nvSpPr>
        <p:spPr>
          <a:xfrm>
            <a:off x="4455160" y="4774132"/>
            <a:ext cx="672084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SemiBold"/>
                <a:cs typeface="Alexandria SemiBold"/>
              </a:rPr>
              <a:t>في أرض البساتين نحرص على توفير منتجات متنوعة تخدم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SemiBold"/>
                <a:cs typeface="Alexandria SemiBold"/>
              </a:rPr>
              <a:t>احتياجات المزارعين وأصحاب المشاريع الزراعية.</a:t>
            </a:r>
            <a:endParaRPr lang="ar-SA" sz="1800" dirty="0"/>
          </a:p>
        </p:txBody>
      </p:sp>
      <p:sp>
        <p:nvSpPr>
          <p:cNvPr id="17" name="s45-text-16"/>
          <p:cNvSpPr txBox="1"/>
          <p:nvPr/>
        </p:nvSpPr>
        <p:spPr>
          <a:xfrm>
            <a:off x="4455160" y="5638963"/>
            <a:ext cx="6720840" cy="38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10"/>
              </a:lnSpc>
              <a:buNone/>
            </a:pPr>
            <a:r>
              <a:rPr lang="ar-SA" altLang="en-US" sz="1800" dirty="0">
                <a:solidFill>
                  <a:srgbClr val="8A6142"/>
                </a:solidFill>
                <a:latin typeface="Alexandria ExtraBold"/>
                <a:cs typeface="Alexandria ExtraBold"/>
              </a:rPr>
              <a:t>🌱 أرض البساتين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3" grpId="0"/>
      <p:bldP spid="14" grpId="0"/>
      <p:bldP spid="10" grpId="0" animBg="1"/>
      <p:bldP spid="15" grpId="0"/>
      <p:bldP spid="16" grpId="0"/>
      <p:bldP spid="17" grpId="0"/>
    </p:bldLst>
  </p:timing>
</p:sld>
</file>

<file path=ppt/slides/slide4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8400" y="-1206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176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46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6-text-6"/>
          <p:cNvSpPr txBox="1"/>
          <p:nvPr/>
        </p:nvSpPr>
        <p:spPr>
          <a:xfrm>
            <a:off x="6884174" y="817372"/>
            <a:ext cx="460932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2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توعوي</a:t>
            </a:r>
            <a:endParaRPr lang="ar-SA" sz="4200" dirty="0"/>
          </a:p>
        </p:txBody>
      </p:sp>
      <p:sp>
        <p:nvSpPr>
          <p:cNvPr id="8" name="s46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46-snap-8" descr="/home/user/flan777/ard-albasatin-presentation/source/pptx_build/img/s46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46-shape-9"/>
          <p:cNvSpPr/>
          <p:nvPr/>
        </p:nvSpPr>
        <p:spPr>
          <a:xfrm>
            <a:off x="2286000" y="35877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46-snap-10" descr="/home/user/flan777/ard-albasatin-presentation/source/pptx_build/img/s46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775075"/>
            <a:ext cx="641350" cy="641350"/>
          </a:xfrm>
          <a:prstGeom prst="rect">
            <a:avLst/>
          </a:prstGeom>
        </p:spPr>
      </p:pic>
      <p:pic>
        <p:nvPicPr>
          <p:cNvPr id="12" name="s46-asset-11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3" name="s46-text-12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4" name="s46-text-13"/>
          <p:cNvSpPr txBox="1"/>
          <p:nvPr/>
        </p:nvSpPr>
        <p:spPr>
          <a:xfrm>
            <a:off x="4455160" y="2691384"/>
            <a:ext cx="6720840" cy="37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6"/>
              </a:lnSpc>
              <a:buNone/>
            </a:pPr>
            <a:r>
              <a:rPr lang="ar-SA" altLang="en-US" sz="1800" dirty="0">
                <a:solidFill>
                  <a:srgbClr val="01804C"/>
                </a:solidFill>
                <a:latin typeface="Alexandria ExtraBold"/>
                <a:cs typeface="Alexandria ExtraBold"/>
              </a:rPr>
              <a:t>💧 ليس كل منتج زراعي يناسب كل استخدام.</a:t>
            </a:r>
            <a:endParaRPr lang="ar-SA" sz="1800" dirty="0"/>
          </a:p>
        </p:txBody>
      </p:sp>
      <p:sp>
        <p:nvSpPr>
          <p:cNvPr id="15" name="s46-text-14"/>
          <p:cNvSpPr txBox="1"/>
          <p:nvPr/>
        </p:nvSpPr>
        <p:spPr>
          <a:xfrm>
            <a:off x="4455160" y="3145850"/>
            <a:ext cx="672084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اختيار المنتج الصحيح يعتمد على طبيعة المزرعة، ونوع المحصول، وطريقة</a:t>
            </a:r>
            <a:endParaRPr lang="ar-SA" sz="150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الاستخدام، والمواصفات المطلوبة.</a:t>
            </a:r>
            <a:endParaRPr lang="ar-SA" sz="1500" dirty="0"/>
          </a:p>
        </p:txBody>
      </p:sp>
      <p:sp>
        <p:nvSpPr>
          <p:cNvPr id="16" name="s46-text-15"/>
          <p:cNvSpPr txBox="1"/>
          <p:nvPr/>
        </p:nvSpPr>
        <p:spPr>
          <a:xfrm>
            <a:off x="4455160" y="3876100"/>
            <a:ext cx="67208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SemiBold"/>
                <a:cs typeface="Alexandria SemiBold"/>
              </a:rPr>
              <a:t>لذلك قبل الشراء اسأل عن:</a:t>
            </a:r>
            <a:endParaRPr lang="ar-SA" sz="1500" dirty="0"/>
          </a:p>
        </p:txBody>
      </p:sp>
      <p:sp>
        <p:nvSpPr>
          <p:cNvPr id="17" name="s46-text-16"/>
          <p:cNvSpPr txBox="1"/>
          <p:nvPr/>
        </p:nvSpPr>
        <p:spPr>
          <a:xfrm>
            <a:off x="7952740" y="4310694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✔️ جودة المنتج</a:t>
            </a:r>
            <a:endParaRPr lang="ar-SA" sz="1450" dirty="0"/>
          </a:p>
        </p:txBody>
      </p:sp>
      <p:sp>
        <p:nvSpPr>
          <p:cNvPr id="18" name="s46-text-17"/>
          <p:cNvSpPr txBox="1"/>
          <p:nvPr/>
        </p:nvSpPr>
        <p:spPr>
          <a:xfrm>
            <a:off x="7952740" y="4596146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✔️ المواصفات</a:t>
            </a:r>
            <a:endParaRPr lang="ar-SA" sz="1450" dirty="0"/>
          </a:p>
        </p:txBody>
      </p:sp>
      <p:sp>
        <p:nvSpPr>
          <p:cNvPr id="19" name="s46-text-18"/>
          <p:cNvSpPr txBox="1"/>
          <p:nvPr/>
        </p:nvSpPr>
        <p:spPr>
          <a:xfrm>
            <a:off x="7952740" y="4881598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✔️ الاستخدام المناسب</a:t>
            </a:r>
            <a:endParaRPr lang="ar-SA" sz="1450" dirty="0"/>
          </a:p>
        </p:txBody>
      </p:sp>
      <p:sp>
        <p:nvSpPr>
          <p:cNvPr id="20" name="s46-text-19"/>
          <p:cNvSpPr txBox="1"/>
          <p:nvPr/>
        </p:nvSpPr>
        <p:spPr>
          <a:xfrm>
            <a:off x="4841240" y="4310694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✔️ المقاس أو السماكة عند الحاجة</a:t>
            </a:r>
            <a:endParaRPr lang="ar-SA" sz="1450" dirty="0"/>
          </a:p>
        </p:txBody>
      </p:sp>
      <p:sp>
        <p:nvSpPr>
          <p:cNvPr id="21" name="s46-text-20"/>
          <p:cNvSpPr txBox="1"/>
          <p:nvPr/>
        </p:nvSpPr>
        <p:spPr>
          <a:xfrm>
            <a:off x="4841240" y="4596146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✔️ مصدر المنتج</a:t>
            </a:r>
            <a:endParaRPr lang="ar-SA" sz="1450" dirty="0"/>
          </a:p>
        </p:txBody>
      </p:sp>
      <p:sp>
        <p:nvSpPr>
          <p:cNvPr id="22" name="s46-text-21"/>
          <p:cNvSpPr txBox="1"/>
          <p:nvPr/>
        </p:nvSpPr>
        <p:spPr>
          <a:xfrm>
            <a:off x="4455160" y="5307132"/>
            <a:ext cx="67208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b="1" dirty="0">
                <a:solidFill>
                  <a:srgbClr val="0E3A3C"/>
                </a:solidFill>
                <a:latin typeface="Alexandria"/>
                <a:cs typeface="Alexandria"/>
              </a:rPr>
              <a:t>أرض البساتين يساعدك على الوصول إلى المنتج المناسب لاحتياجك.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20" grpId="0"/>
      <p:bldP spid="21" grpId="0"/>
    </p:bldLst>
  </p:timing>
</p:sld>
</file>

<file path=ppt/slides/slide4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0" y="-698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477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7-text-6"/>
          <p:cNvSpPr txBox="1"/>
          <p:nvPr/>
        </p:nvSpPr>
        <p:spPr>
          <a:xfrm>
            <a:off x="5706205" y="817372"/>
            <a:ext cx="578729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3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استعراضي</a:t>
            </a:r>
            <a:endParaRPr lang="ar-SA" sz="4200" dirty="0"/>
          </a:p>
        </p:txBody>
      </p:sp>
      <p:sp>
        <p:nvSpPr>
          <p:cNvPr id="8" name="s47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47-snap-8" descr="/home/user/flan777/ard-albasatin-presentation/source/pptx_build/img/s47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47-shape-9"/>
          <p:cNvSpPr/>
          <p:nvPr/>
        </p:nvSpPr>
        <p:spPr>
          <a:xfrm>
            <a:off x="2286000" y="32956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47-snap-10" descr="/home/user/flan777/ard-albasatin-presentation/source/pptx_build/img/s47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482975"/>
            <a:ext cx="641350" cy="641350"/>
          </a:xfrm>
          <a:prstGeom prst="rect">
            <a:avLst/>
          </a:prstGeom>
        </p:spPr>
      </p:pic>
      <p:sp>
        <p:nvSpPr>
          <p:cNvPr id="12" name="s47-text-11"/>
          <p:cNvSpPr txBox="1"/>
          <p:nvPr/>
        </p:nvSpPr>
        <p:spPr>
          <a:xfrm>
            <a:off x="1010920" y="4393505"/>
            <a:ext cx="356616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3375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lexandria Black"/>
                <a:cs typeface="Alexandria Black"/>
              </a:rPr>
              <a:t>أرض البساتين</a:t>
            </a:r>
            <a:endParaRPr lang="ar-SA" sz="2500" dirty="0"/>
          </a:p>
        </p:txBody>
      </p:sp>
      <p:sp>
        <p:nvSpPr>
          <p:cNvPr id="13" name="s47-text-12"/>
          <p:cNvSpPr txBox="1"/>
          <p:nvPr/>
        </p:nvSpPr>
        <p:spPr>
          <a:xfrm>
            <a:off x="1010920" y="4865310"/>
            <a:ext cx="356616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"/>
                <a:cs typeface="Alexandria"/>
              </a:rPr>
              <a:t>منتجات زراعية متنوعة… واحتياجاتك</a:t>
            </a:r>
            <a:endParaRPr lang="ar-SA" sz="1500" dirty="0"/>
          </a:p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"/>
                <a:cs typeface="Alexandria"/>
              </a:rPr>
              <a:t>أولويتنا.</a:t>
            </a:r>
            <a:endParaRPr lang="ar-SA" sz="1500" dirty="0"/>
          </a:p>
        </p:txBody>
      </p:sp>
      <p:pic>
        <p:nvPicPr>
          <p:cNvPr id="14" name="s47-asset-13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5" name="s47-text-14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6" name="s47-text-15"/>
          <p:cNvSpPr txBox="1"/>
          <p:nvPr/>
        </p:nvSpPr>
        <p:spPr>
          <a:xfrm>
            <a:off x="4455160" y="2685923"/>
            <a:ext cx="6720840" cy="80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82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من المنتج إلى المزرعة… الجودة تبدأ من</a:t>
            </a:r>
            <a:endParaRPr lang="ar-SA" sz="2100" dirty="0"/>
          </a:p>
          <a:p>
            <a:pPr rtl="1" algn="r" indent="0" marL="0">
              <a:lnSpc>
                <a:spcPts val="2982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الاختيار.</a:t>
            </a:r>
            <a:endParaRPr lang="ar-SA" sz="2100" dirty="0"/>
          </a:p>
        </p:txBody>
      </p:sp>
      <p:sp>
        <p:nvSpPr>
          <p:cNvPr id="17" name="s47-text-16"/>
          <p:cNvSpPr txBox="1"/>
          <p:nvPr/>
        </p:nvSpPr>
        <p:spPr>
          <a:xfrm>
            <a:off x="4455160" y="3571403"/>
            <a:ext cx="672084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في أرض البساتين نوفر مجموعة متنوعة من المنتجات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والمستلزمات الزراعية.</a:t>
            </a:r>
            <a:endParaRPr lang="ar-SA" sz="1800" dirty="0"/>
          </a:p>
        </p:txBody>
      </p:sp>
      <p:sp>
        <p:nvSpPr>
          <p:cNvPr id="18" name="s47-text-17"/>
          <p:cNvSpPr txBox="1"/>
          <p:nvPr/>
        </p:nvSpPr>
        <p:spPr>
          <a:xfrm>
            <a:off x="4455160" y="4419822"/>
            <a:ext cx="6720840" cy="111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ومن ضمن منتجاتنا منتجات الري والأنابيب التي يتم تصنيع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بعضها في مصنع دريب أكوا، مع الاهتمام بجودة التصنيع</a:t>
            </a:r>
            <a:endParaRPr lang="ar-SA" sz="1800" dirty="0"/>
          </a:p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والمواصفات.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0" grpId="0" animBg="1"/>
      <p:bldP spid="17" grpId="0"/>
      <p:bldP spid="12" grpId="0"/>
      <p:bldP spid="18" grpId="0"/>
      <p:bldP spid="13" grpId="0"/>
    </p:bldLst>
  </p:timing>
</p:sld>
</file>

<file path=ppt/slides/slide4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0" y="-1905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16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48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8-text-6"/>
          <p:cNvSpPr txBox="1"/>
          <p:nvPr/>
        </p:nvSpPr>
        <p:spPr>
          <a:xfrm>
            <a:off x="6788055" y="817372"/>
            <a:ext cx="4705445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4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تفاعلي</a:t>
            </a:r>
            <a:endParaRPr lang="ar-SA" sz="4200" dirty="0"/>
          </a:p>
        </p:txBody>
      </p:sp>
      <p:sp>
        <p:nvSpPr>
          <p:cNvPr id="8" name="s48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48-snap-8" descr="/home/user/flan777/ard-albasatin-presentation/source/pptx_build/img/s48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48-shape-9"/>
          <p:cNvSpPr/>
          <p:nvPr/>
        </p:nvSpPr>
        <p:spPr>
          <a:xfrm>
            <a:off x="2286000" y="35877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1" name="s48-snap-10" descr="/home/user/flan777/ard-albasatin-presentation/source/pptx_build/img/s48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775075"/>
            <a:ext cx="641350" cy="641350"/>
          </a:xfrm>
          <a:prstGeom prst="rect">
            <a:avLst/>
          </a:prstGeom>
        </p:spPr>
      </p:pic>
      <p:pic>
        <p:nvPicPr>
          <p:cNvPr id="12" name="s48-asset-11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3" name="s48-text-12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4" name="s48-text-13"/>
          <p:cNvSpPr txBox="1"/>
          <p:nvPr/>
        </p:nvSpPr>
        <p:spPr>
          <a:xfrm>
            <a:off x="4455160" y="2691067"/>
            <a:ext cx="6720840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11"/>
              </a:lnSpc>
              <a:buNone/>
            </a:pPr>
            <a:r>
              <a:rPr lang="ar-SA" altLang="en-US" sz="205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يا أصحاب المزارع… ما أكثر منتج تحتاجونه في</a:t>
            </a:r>
            <a:endParaRPr lang="ar-SA" sz="2050" dirty="0"/>
          </a:p>
          <a:p>
            <a:pPr rtl="1" algn="r" indent="0" marL="0">
              <a:lnSpc>
                <a:spcPts val="2911"/>
              </a:lnSpc>
              <a:buNone/>
            </a:pPr>
            <a:r>
              <a:rPr lang="ar-SA" altLang="en-US" sz="2050" dirty="0">
                <a:solidFill>
                  <a:srgbClr val="01804C"/>
                </a:solidFill>
                <a:latin typeface="Alexandria ExtraBold"/>
                <a:cs typeface="Alexandria ExtraBold"/>
              </a:rPr>
              <a:t>مزرعتكم؟</a:t>
            </a:r>
            <a:endParaRPr lang="ar-SA" sz="2050" dirty="0"/>
          </a:p>
        </p:txBody>
      </p:sp>
      <p:sp>
        <p:nvSpPr>
          <p:cNvPr id="15" name="s48-text-14"/>
          <p:cNvSpPr txBox="1"/>
          <p:nvPr/>
        </p:nvSpPr>
        <p:spPr>
          <a:xfrm>
            <a:off x="7952740" y="3559032"/>
            <a:ext cx="322326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Medium"/>
                <a:cs typeface="Alexandria Medium"/>
              </a:rPr>
              <a:t>💧 مستلزمات الري؟</a:t>
            </a:r>
            <a:endParaRPr lang="ar-SA" sz="1700" dirty="0"/>
          </a:p>
        </p:txBody>
      </p:sp>
      <p:sp>
        <p:nvSpPr>
          <p:cNvPr id="16" name="s48-text-15"/>
          <p:cNvSpPr txBox="1"/>
          <p:nvPr/>
        </p:nvSpPr>
        <p:spPr>
          <a:xfrm>
            <a:off x="7952740" y="3893598"/>
            <a:ext cx="322326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Medium"/>
                <a:cs typeface="Alexandria Medium"/>
              </a:rPr>
              <a:t>🌱 منتجات حماية المحاصيل؟</a:t>
            </a:r>
            <a:endParaRPr lang="ar-SA" sz="1700" dirty="0"/>
          </a:p>
        </p:txBody>
      </p:sp>
      <p:sp>
        <p:nvSpPr>
          <p:cNvPr id="17" name="s48-text-16"/>
          <p:cNvSpPr txBox="1"/>
          <p:nvPr/>
        </p:nvSpPr>
        <p:spPr>
          <a:xfrm>
            <a:off x="4841240" y="3559032"/>
            <a:ext cx="322326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Medium"/>
                <a:cs typeface="Alexandria Medium"/>
              </a:rPr>
              <a:t>🚜 الأنابيب وشبكات الري؟</a:t>
            </a:r>
            <a:endParaRPr lang="ar-SA" sz="1700" dirty="0"/>
          </a:p>
        </p:txBody>
      </p:sp>
      <p:sp>
        <p:nvSpPr>
          <p:cNvPr id="18" name="s48-text-17"/>
          <p:cNvSpPr txBox="1"/>
          <p:nvPr/>
        </p:nvSpPr>
        <p:spPr>
          <a:xfrm>
            <a:off x="4841240" y="3893598"/>
            <a:ext cx="322326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 Medium"/>
                <a:cs typeface="Alexandria Medium"/>
              </a:rPr>
              <a:t>🧑‍🌾 مستلزمات زراعية أخرى؟</a:t>
            </a:r>
            <a:endParaRPr lang="ar-SA" sz="1700" dirty="0"/>
          </a:p>
        </p:txBody>
      </p:sp>
      <p:sp>
        <p:nvSpPr>
          <p:cNvPr id="19" name="s48-text-18"/>
          <p:cNvSpPr txBox="1"/>
          <p:nvPr/>
        </p:nvSpPr>
        <p:spPr>
          <a:xfrm>
            <a:off x="4455160" y="4365169"/>
            <a:ext cx="672084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"/>
                <a:cs typeface="Alexandria"/>
              </a:rPr>
              <a:t>اكتب لنا في التعليقات 👇</a:t>
            </a:r>
            <a:endParaRPr lang="ar-SA" sz="1750" dirty="0"/>
          </a:p>
        </p:txBody>
      </p:sp>
      <p:sp>
        <p:nvSpPr>
          <p:cNvPr id="20" name="s48-text-19"/>
          <p:cNvSpPr txBox="1"/>
          <p:nvPr/>
        </p:nvSpPr>
        <p:spPr>
          <a:xfrm>
            <a:off x="4455160" y="4849356"/>
            <a:ext cx="672084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"/>
                <a:cs typeface="Alexandria"/>
              </a:rPr>
              <a:t>وسنخصص محتوى يشرح المنتج الذي تحتاجه.</a:t>
            </a:r>
            <a:endParaRPr lang="ar-SA" sz="1750" dirty="0"/>
          </a:p>
        </p:txBody>
      </p:sp>
      <p:sp>
        <p:nvSpPr>
          <p:cNvPr id="21" name="s48-text-20"/>
          <p:cNvSpPr txBox="1"/>
          <p:nvPr/>
        </p:nvSpPr>
        <p:spPr>
          <a:xfrm>
            <a:off x="4455160" y="5343069"/>
            <a:ext cx="6720840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38"/>
              </a:lnSpc>
              <a:buNone/>
            </a:pPr>
            <a:r>
              <a:rPr lang="ar-SA" altLang="en-US" sz="1750" dirty="0">
                <a:solidFill>
                  <a:srgbClr val="8A6142"/>
                </a:solidFill>
                <a:latin typeface="Alexandria ExtraBold"/>
                <a:cs typeface="Alexandria ExtraBold"/>
              </a:rPr>
              <a:t>أرض البساتين — قريب من احتياج المزارع.</a:t>
            </a:r>
            <a:endParaRPr lang="ar-SA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0" grpId="0" animBg="1"/>
      <p:bldP spid="15" grpId="0"/>
      <p:bldP spid="16" grpId="0"/>
      <p:bldP spid="17" grpId="0"/>
      <p:bldP spid="19" grpId="0"/>
      <p:bldP spid="18" grpId="0"/>
      <p:bldP spid="20" grpId="0"/>
      <p:bldP spid="21" grpId="0"/>
    </p:bldLst>
  </p:timing>
</p:sld>
</file>

<file path=ppt/slides/slide4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" y="-4572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166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49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49-text-6"/>
          <p:cNvSpPr txBox="1"/>
          <p:nvPr/>
        </p:nvSpPr>
        <p:spPr>
          <a:xfrm>
            <a:off x="7322122" y="817372"/>
            <a:ext cx="4171378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5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بيعي</a:t>
            </a:r>
            <a:endParaRPr lang="ar-SA" sz="4200" dirty="0"/>
          </a:p>
        </p:txBody>
      </p:sp>
      <p:sp>
        <p:nvSpPr>
          <p:cNvPr id="8" name="s49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49-snap-8" descr="/home/user/flan777/ard-albasatin-presentation/source/pptx_build/img/s49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49-shape-9"/>
          <p:cNvSpPr/>
          <p:nvPr/>
        </p:nvSpPr>
        <p:spPr>
          <a:xfrm>
            <a:off x="2286000" y="35877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49-snap-10" descr="/home/user/flan777/ard-albasatin-presentation/source/pptx_build/img/s49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775075"/>
            <a:ext cx="641350" cy="641350"/>
          </a:xfrm>
          <a:prstGeom prst="rect">
            <a:avLst/>
          </a:prstGeom>
        </p:spPr>
      </p:pic>
      <p:pic>
        <p:nvPicPr>
          <p:cNvPr id="12" name="s49-asset-11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3" name="s49-text-12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4" name="s49-text-13"/>
          <p:cNvSpPr txBox="1"/>
          <p:nvPr/>
        </p:nvSpPr>
        <p:spPr>
          <a:xfrm>
            <a:off x="4455160" y="2693352"/>
            <a:ext cx="6720840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5"/>
              </a:lnSpc>
              <a:buNone/>
            </a:pPr>
            <a:r>
              <a:rPr lang="ar-SA" altLang="en-US" sz="175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احتياجات مزرعتك في مكان واحد.</a:t>
            </a:r>
            <a:endParaRPr lang="ar-SA" sz="1750" dirty="0"/>
          </a:p>
        </p:txBody>
      </p:sp>
      <p:sp>
        <p:nvSpPr>
          <p:cNvPr id="15" name="s49-text-14"/>
          <p:cNvSpPr txBox="1"/>
          <p:nvPr/>
        </p:nvSpPr>
        <p:spPr>
          <a:xfrm>
            <a:off x="4455160" y="3136440"/>
            <a:ext cx="6720840" cy="62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في أرض البساتين نوفر مجموعة من المنتجات والمستلزمات الزراعية،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SemiBold"/>
                <a:cs typeface="Alexandria SemiBold"/>
              </a:rPr>
              <a:t>ومنها:</a:t>
            </a:r>
            <a:endParaRPr lang="ar-SA" sz="1450" dirty="0"/>
          </a:p>
        </p:txBody>
      </p:sp>
      <p:sp>
        <p:nvSpPr>
          <p:cNvPr id="16" name="s49-text-15"/>
          <p:cNvSpPr txBox="1"/>
          <p:nvPr/>
        </p:nvSpPr>
        <p:spPr>
          <a:xfrm>
            <a:off x="7952740" y="3849838"/>
            <a:ext cx="32232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✔️ منتجات الحماية الزراعية</a:t>
            </a:r>
            <a:endParaRPr lang="ar-SA" sz="1400" dirty="0"/>
          </a:p>
        </p:txBody>
      </p:sp>
      <p:sp>
        <p:nvSpPr>
          <p:cNvPr id="17" name="s49-text-16"/>
          <p:cNvSpPr txBox="1"/>
          <p:nvPr/>
        </p:nvSpPr>
        <p:spPr>
          <a:xfrm>
            <a:off x="7952740" y="4125468"/>
            <a:ext cx="32232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✔️ مستلزمات الري بالتقطير</a:t>
            </a:r>
            <a:endParaRPr lang="ar-SA" sz="1400" dirty="0"/>
          </a:p>
        </p:txBody>
      </p:sp>
      <p:sp>
        <p:nvSpPr>
          <p:cNvPr id="18" name="s49-text-17"/>
          <p:cNvSpPr txBox="1"/>
          <p:nvPr/>
        </p:nvSpPr>
        <p:spPr>
          <a:xfrm>
            <a:off x="7952740" y="4400998"/>
            <a:ext cx="32232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✔️ الأنابيب الرئيسية</a:t>
            </a:r>
            <a:endParaRPr lang="ar-SA" sz="1400" dirty="0"/>
          </a:p>
        </p:txBody>
      </p:sp>
      <p:sp>
        <p:nvSpPr>
          <p:cNvPr id="19" name="s49-text-18"/>
          <p:cNvSpPr txBox="1"/>
          <p:nvPr/>
        </p:nvSpPr>
        <p:spPr>
          <a:xfrm>
            <a:off x="4841240" y="3849838"/>
            <a:ext cx="32232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✔️ أنابيب التقطير</a:t>
            </a:r>
            <a:endParaRPr lang="ar-SA" sz="1400" dirty="0"/>
          </a:p>
        </p:txBody>
      </p:sp>
      <p:sp>
        <p:nvSpPr>
          <p:cNvPr id="20" name="s49-text-19"/>
          <p:cNvSpPr txBox="1"/>
          <p:nvPr/>
        </p:nvSpPr>
        <p:spPr>
          <a:xfrm>
            <a:off x="4841240" y="4125468"/>
            <a:ext cx="322326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Medium"/>
                <a:cs typeface="Alexandria Medium"/>
              </a:rPr>
              <a:t>✔️ منتجات زراعية متنوعة</a:t>
            </a:r>
            <a:endParaRPr lang="ar-SA" sz="1400" dirty="0"/>
          </a:p>
        </p:txBody>
      </p:sp>
      <p:sp>
        <p:nvSpPr>
          <p:cNvPr id="21" name="s49-text-20"/>
          <p:cNvSpPr txBox="1"/>
          <p:nvPr/>
        </p:nvSpPr>
        <p:spPr>
          <a:xfrm>
            <a:off x="4455160" y="4813534"/>
            <a:ext cx="67208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كما تتوفر بعض منتجات الري والأنابيب المصنّعة محليًا في مصنع دريب أكوا.</a:t>
            </a:r>
            <a:endParaRPr lang="ar-SA" sz="1450" dirty="0"/>
          </a:p>
        </p:txBody>
      </p:sp>
      <p:sp>
        <p:nvSpPr>
          <p:cNvPr id="22" name="s49-text-21"/>
          <p:cNvSpPr txBox="1"/>
          <p:nvPr/>
        </p:nvSpPr>
        <p:spPr>
          <a:xfrm>
            <a:off x="4455160" y="5238687"/>
            <a:ext cx="67208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"/>
                <a:cs typeface="Alexandria"/>
              </a:rPr>
              <a:t>📲 تواصل معنا لمعرفة المنتجات المتوفرة والأسعار والكميات.</a:t>
            </a:r>
            <a:endParaRPr lang="ar-SA" sz="1450" dirty="0"/>
          </a:p>
        </p:txBody>
      </p:sp>
      <p:sp>
        <p:nvSpPr>
          <p:cNvPr id="23" name="s49-text-22"/>
          <p:cNvSpPr txBox="1"/>
          <p:nvPr/>
        </p:nvSpPr>
        <p:spPr>
          <a:xfrm>
            <a:off x="4455160" y="5675805"/>
            <a:ext cx="6720840" cy="31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3"/>
              </a:lnSpc>
              <a:buNone/>
            </a:pPr>
            <a:r>
              <a:rPr lang="ar-SA" altLang="en-US" sz="1450" dirty="0">
                <a:solidFill>
                  <a:srgbClr val="8A6142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0" grpId="0" animBg="1"/>
      <p:bldP spid="15" grpId="0"/>
      <p:bldP spid="16" grpId="0"/>
      <p:bldP spid="17" grpId="0"/>
      <p:bldP spid="18" grpId="0"/>
      <p:bldP spid="21" grpId="0"/>
      <p:bldP spid="19" grpId="0"/>
      <p:bldP spid="20" grpId="0"/>
      <p:bldP spid="22" grpId="0"/>
      <p:bldP spid="23" grpId="0"/>
    </p:bldLst>
  </p:timing>
</p:sld>
</file>

<file path=ppt/slides/slide5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3450" y="-8064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645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50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0-text-6"/>
          <p:cNvSpPr txBox="1"/>
          <p:nvPr/>
        </p:nvSpPr>
        <p:spPr>
          <a:xfrm>
            <a:off x="5672237" y="817372"/>
            <a:ext cx="5821263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6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محتوى مباشر CTA</a:t>
            </a:r>
            <a:endParaRPr lang="ar-SA" sz="4200" dirty="0"/>
          </a:p>
        </p:txBody>
      </p:sp>
      <p:sp>
        <p:nvSpPr>
          <p:cNvPr id="8" name="s50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50-snap-8" descr="/home/user/flan777/ard-albasatin-presentation/source/pptx_build/img/s50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50-shape-9"/>
          <p:cNvSpPr/>
          <p:nvPr/>
        </p:nvSpPr>
        <p:spPr>
          <a:xfrm>
            <a:off x="2286000" y="32956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50-snap-10" descr="/home/user/flan777/ard-albasatin-presentation/source/pptx_build/img/s50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482975"/>
            <a:ext cx="641350" cy="641350"/>
          </a:xfrm>
          <a:prstGeom prst="rect">
            <a:avLst/>
          </a:prstGeom>
        </p:spPr>
      </p:pic>
      <p:sp>
        <p:nvSpPr>
          <p:cNvPr id="12" name="s50-text-11"/>
          <p:cNvSpPr txBox="1"/>
          <p:nvPr/>
        </p:nvSpPr>
        <p:spPr>
          <a:xfrm>
            <a:off x="1010920" y="4395664"/>
            <a:ext cx="3566160" cy="63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295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أرض البساتين — لكل ما يحتاجه</a:t>
            </a:r>
            <a:endParaRPr lang="ar-SA" sz="1700" dirty="0"/>
          </a:p>
          <a:p>
            <a:pPr rtl="1" algn="ctr" indent="0" marL="0">
              <a:lnSpc>
                <a:spcPts val="2295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البستان.</a:t>
            </a:r>
            <a:endParaRPr lang="ar-SA" sz="1700" dirty="0"/>
          </a:p>
        </p:txBody>
      </p:sp>
      <p:pic>
        <p:nvPicPr>
          <p:cNvPr id="13" name="s50-asset-12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4" name="s50-text-13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5" name="s50-text-14"/>
          <p:cNvSpPr txBox="1"/>
          <p:nvPr/>
        </p:nvSpPr>
        <p:spPr>
          <a:xfrm>
            <a:off x="4455160" y="2685923"/>
            <a:ext cx="6720840" cy="4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82"/>
              </a:lnSpc>
              <a:buNone/>
            </a:pPr>
            <a:r>
              <a:rPr lang="ar-SA" altLang="en-US" sz="21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تبحث عن مستلزمات لمزرعتك؟</a:t>
            </a:r>
            <a:endParaRPr lang="ar-SA" sz="2100" dirty="0"/>
          </a:p>
        </p:txBody>
      </p:sp>
      <p:sp>
        <p:nvSpPr>
          <p:cNvPr id="16" name="s50-text-15"/>
          <p:cNvSpPr txBox="1"/>
          <p:nvPr/>
        </p:nvSpPr>
        <p:spPr>
          <a:xfrm>
            <a:off x="4455160" y="3192685"/>
            <a:ext cx="6720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لا تحتار بين عشرات الخيارات.</a:t>
            </a:r>
            <a:endParaRPr lang="ar-SA" sz="1800" dirty="0"/>
          </a:p>
        </p:txBody>
      </p:sp>
      <p:sp>
        <p:nvSpPr>
          <p:cNvPr id="17" name="s50-text-16"/>
          <p:cNvSpPr txBox="1"/>
          <p:nvPr/>
        </p:nvSpPr>
        <p:spPr>
          <a:xfrm>
            <a:off x="4455160" y="3686794"/>
            <a:ext cx="6720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 SemiBold"/>
                <a:cs typeface="Alexandria SemiBold"/>
              </a:rPr>
              <a:t>أرسل لنا:</a:t>
            </a:r>
            <a:endParaRPr lang="ar-SA" sz="1800" dirty="0"/>
          </a:p>
        </p:txBody>
      </p:sp>
      <p:sp>
        <p:nvSpPr>
          <p:cNvPr id="18" name="s50-text-17"/>
          <p:cNvSpPr txBox="1"/>
          <p:nvPr/>
        </p:nvSpPr>
        <p:spPr>
          <a:xfrm>
            <a:off x="7952740" y="4183598"/>
            <a:ext cx="322326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 Medium"/>
                <a:cs typeface="Alexandria Medium"/>
              </a:rPr>
              <a:t>📍 نوع المشروع</a:t>
            </a:r>
            <a:endParaRPr lang="ar-SA" sz="1750" dirty="0"/>
          </a:p>
        </p:txBody>
      </p:sp>
      <p:sp>
        <p:nvSpPr>
          <p:cNvPr id="19" name="s50-text-18"/>
          <p:cNvSpPr txBox="1"/>
          <p:nvPr/>
        </p:nvSpPr>
        <p:spPr>
          <a:xfrm>
            <a:off x="7952740" y="4528086"/>
            <a:ext cx="322326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 Medium"/>
                <a:cs typeface="Alexandria Medium"/>
              </a:rPr>
              <a:t>📐 مساحة المزرعة</a:t>
            </a:r>
            <a:endParaRPr lang="ar-SA" sz="1750" dirty="0"/>
          </a:p>
        </p:txBody>
      </p:sp>
      <p:sp>
        <p:nvSpPr>
          <p:cNvPr id="20" name="s50-text-19"/>
          <p:cNvSpPr txBox="1"/>
          <p:nvPr/>
        </p:nvSpPr>
        <p:spPr>
          <a:xfrm>
            <a:off x="4841240" y="4183598"/>
            <a:ext cx="322326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 Medium"/>
                <a:cs typeface="Alexandria Medium"/>
              </a:rPr>
              <a:t>🌱 نوع المحصول</a:t>
            </a:r>
            <a:endParaRPr lang="ar-SA" sz="1750" dirty="0"/>
          </a:p>
        </p:txBody>
      </p:sp>
      <p:sp>
        <p:nvSpPr>
          <p:cNvPr id="21" name="s50-text-20"/>
          <p:cNvSpPr txBox="1"/>
          <p:nvPr/>
        </p:nvSpPr>
        <p:spPr>
          <a:xfrm>
            <a:off x="4841240" y="4528086"/>
            <a:ext cx="322326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13"/>
              </a:lnSpc>
              <a:buNone/>
            </a:pPr>
            <a:r>
              <a:rPr lang="ar-SA" altLang="en-US" sz="1750" dirty="0">
                <a:solidFill>
                  <a:srgbClr val="0E3A3C"/>
                </a:solidFill>
                <a:latin typeface="Alexandria Medium"/>
                <a:cs typeface="Alexandria Medium"/>
              </a:rPr>
              <a:t>🛒 والمنتجات التي تحتاجها</a:t>
            </a:r>
            <a:endParaRPr lang="ar-SA" sz="1750" dirty="0"/>
          </a:p>
        </p:txBody>
      </p:sp>
      <p:sp>
        <p:nvSpPr>
          <p:cNvPr id="22" name="s50-text-21"/>
          <p:cNvSpPr txBox="1"/>
          <p:nvPr/>
        </p:nvSpPr>
        <p:spPr>
          <a:xfrm>
            <a:off x="4455160" y="5009479"/>
            <a:ext cx="6720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dirty="0">
                <a:solidFill>
                  <a:srgbClr val="0E3A3C"/>
                </a:solidFill>
                <a:latin typeface="Alexandria"/>
                <a:cs typeface="Alexandria"/>
              </a:rPr>
              <a:t>وسنساعدك في معرفة المنتجات المناسبة والمتوفرة.</a:t>
            </a:r>
            <a:endParaRPr lang="ar-SA" sz="1800" dirty="0"/>
          </a:p>
        </p:txBody>
      </p:sp>
      <p:sp>
        <p:nvSpPr>
          <p:cNvPr id="23" name="s50-text-22"/>
          <p:cNvSpPr txBox="1"/>
          <p:nvPr/>
        </p:nvSpPr>
        <p:spPr>
          <a:xfrm>
            <a:off x="4455160" y="5503489"/>
            <a:ext cx="6720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790"/>
              </a:lnSpc>
              <a:buNone/>
            </a:pPr>
            <a:r>
              <a:rPr lang="ar-SA" altLang="en-US" sz="1800" b="1" dirty="0">
                <a:solidFill>
                  <a:srgbClr val="0E3A3C"/>
                </a:solidFill>
                <a:latin typeface="Alexandria"/>
                <a:cs typeface="Alexandria"/>
              </a:rPr>
              <a:t>📲 تواصل مع أرض البساتين الآن.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0" grpId="0" animBg="1"/>
      <p:bldP spid="16" grpId="0"/>
      <p:bldP spid="12" grpId="0"/>
      <p:bldP spid="17" grpId="0"/>
      <p:bldP spid="18" grpId="0"/>
      <p:bldP spid="19" grpId="0"/>
      <p:bldP spid="20" grpId="0"/>
      <p:bldP spid="22" grpId="0"/>
      <p:bldP spid="21" grpId="0"/>
      <p:bldP spid="23" grpId="0"/>
    </p:bldLst>
  </p:timing>
</p:sld>
</file>

<file path=ppt/slides/slide5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2450" y="-11747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2120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51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1-text-6"/>
          <p:cNvSpPr txBox="1"/>
          <p:nvPr/>
        </p:nvSpPr>
        <p:spPr>
          <a:xfrm>
            <a:off x="5567867" y="817372"/>
            <a:ext cx="5925633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محتوى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توعوي إضافي</a:t>
            </a:r>
            <a:endParaRPr lang="ar-SA" sz="4200" dirty="0"/>
          </a:p>
        </p:txBody>
      </p:sp>
      <p:sp>
        <p:nvSpPr>
          <p:cNvPr id="8" name="s51-shape-7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9" name="s51-snap-8" descr="/home/user/flan777/ard-albasatin-presentation/source/pptx_build/img/s51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0" name="s51-shape-9"/>
          <p:cNvSpPr/>
          <p:nvPr/>
        </p:nvSpPr>
        <p:spPr>
          <a:xfrm>
            <a:off x="2286000" y="32956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s51-snap-10" descr="/home/user/flan777/ard-albasatin-presentation/source/pptx_build/img/s51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482975"/>
            <a:ext cx="641350" cy="641350"/>
          </a:xfrm>
          <a:prstGeom prst="rect">
            <a:avLst/>
          </a:prstGeom>
        </p:spPr>
      </p:pic>
      <p:sp>
        <p:nvSpPr>
          <p:cNvPr id="12" name="s51-text-11"/>
          <p:cNvSpPr txBox="1"/>
          <p:nvPr/>
        </p:nvSpPr>
        <p:spPr>
          <a:xfrm>
            <a:off x="1010920" y="4393124"/>
            <a:ext cx="3566160" cy="4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970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Alexandria Black"/>
                <a:cs typeface="Alexandria Black"/>
              </a:rPr>
              <a:t>أرض البساتين</a:t>
            </a:r>
            <a:endParaRPr lang="ar-SA" sz="2200" dirty="0"/>
          </a:p>
        </p:txBody>
      </p:sp>
      <p:sp>
        <p:nvSpPr>
          <p:cNvPr id="13" name="s51-text-12"/>
          <p:cNvSpPr txBox="1"/>
          <p:nvPr/>
        </p:nvSpPr>
        <p:spPr>
          <a:xfrm>
            <a:off x="1010920" y="4810994"/>
            <a:ext cx="3566160" cy="342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295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Light"/>
                <a:cs typeface="Alexandria Light"/>
              </a:rPr>
              <a:t>دريب أكوا</a:t>
            </a:r>
            <a:endParaRPr lang="ar-SA" sz="1700" dirty="0"/>
          </a:p>
        </p:txBody>
      </p:sp>
      <p:sp>
        <p:nvSpPr>
          <p:cNvPr id="14" name="s51-text-13"/>
          <p:cNvSpPr txBox="1"/>
          <p:nvPr/>
        </p:nvSpPr>
        <p:spPr>
          <a:xfrm>
            <a:off x="1010920" y="5143421"/>
            <a:ext cx="3566160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25"/>
              </a:lnSpc>
              <a:buNone/>
            </a:pPr>
            <a:r>
              <a:rPr lang="ar-SA" altLang="en-US" sz="1500" dirty="0">
                <a:solidFill>
                  <a:srgbClr val="C3E36B"/>
                </a:solidFill>
                <a:latin typeface="Alexandria SemiBold"/>
                <a:cs typeface="Alexandria SemiBold"/>
              </a:rPr>
              <a:t>دقة في التصنيع… ثقة في الأداء.</a:t>
            </a:r>
            <a:endParaRPr lang="ar-SA" sz="1500" dirty="0"/>
          </a:p>
        </p:txBody>
      </p:sp>
      <p:pic>
        <p:nvPicPr>
          <p:cNvPr id="15" name="s51-asset-14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6" name="s51-text-15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7" name="s51-text-16"/>
          <p:cNvSpPr txBox="1"/>
          <p:nvPr/>
        </p:nvSpPr>
        <p:spPr>
          <a:xfrm>
            <a:off x="4455160" y="2695321"/>
            <a:ext cx="6720840" cy="35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14"/>
              </a:lnSpc>
              <a:buNone/>
            </a:pPr>
            <a:r>
              <a:rPr lang="ar-SA" altLang="en-US" sz="17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الجودة تبدأ من المنتج المناسب… وتظهر في الاستخدام.</a:t>
            </a:r>
            <a:endParaRPr lang="ar-SA" sz="1700" dirty="0"/>
          </a:p>
        </p:txBody>
      </p:sp>
      <p:sp>
        <p:nvSpPr>
          <p:cNvPr id="18" name="s51-text-17"/>
          <p:cNvSpPr txBox="1"/>
          <p:nvPr/>
        </p:nvSpPr>
        <p:spPr>
          <a:xfrm>
            <a:off x="4455160" y="3436791"/>
            <a:ext cx="672084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المزرعة تحتاج إلى منتجات مناسبة لطبيعة العمل والظروف الزراعية، سواء كانت</a:t>
            </a:r>
            <a:endParaRPr lang="ar-SA" sz="1400" dirty="0"/>
          </a:p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"/>
                <a:cs typeface="Alexandria"/>
              </a:rPr>
              <a:t>منتجات ري أو حماية للمحاصيل أو مستلزمات أخرى.</a:t>
            </a:r>
            <a:endParaRPr lang="ar-SA" sz="1400" dirty="0"/>
          </a:p>
        </p:txBody>
      </p:sp>
      <p:sp>
        <p:nvSpPr>
          <p:cNvPr id="19" name="s51-text-18"/>
          <p:cNvSpPr txBox="1"/>
          <p:nvPr/>
        </p:nvSpPr>
        <p:spPr>
          <a:xfrm>
            <a:off x="4455160" y="4127750"/>
            <a:ext cx="67208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SemiBold"/>
                <a:cs typeface="Alexandria SemiBold"/>
              </a:rPr>
              <a:t>لذلك عند اختيار أي منتج زراعي، انتبه إلى:</a:t>
            </a:r>
            <a:endParaRPr lang="ar-SA" sz="1400" dirty="0"/>
          </a:p>
        </p:txBody>
      </p:sp>
      <p:sp>
        <p:nvSpPr>
          <p:cNvPr id="20" name="s51-text-19"/>
          <p:cNvSpPr txBox="1"/>
          <p:nvPr/>
        </p:nvSpPr>
        <p:spPr>
          <a:xfrm>
            <a:off x="7952740" y="4545775"/>
            <a:ext cx="322326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93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 Medium"/>
                <a:cs typeface="Alexandria Medium"/>
              </a:rPr>
              <a:t>✔️ جودة التصنيع</a:t>
            </a:r>
            <a:endParaRPr lang="ar-SA" sz="1350" dirty="0"/>
          </a:p>
        </p:txBody>
      </p:sp>
      <p:sp>
        <p:nvSpPr>
          <p:cNvPr id="21" name="s51-text-20"/>
          <p:cNvSpPr txBox="1"/>
          <p:nvPr/>
        </p:nvSpPr>
        <p:spPr>
          <a:xfrm>
            <a:off x="7952740" y="4811582"/>
            <a:ext cx="322326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93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 Medium"/>
                <a:cs typeface="Alexandria Medium"/>
              </a:rPr>
              <a:t>✔️ وضوح المواصفات</a:t>
            </a:r>
            <a:endParaRPr lang="ar-SA" sz="1350" dirty="0"/>
          </a:p>
        </p:txBody>
      </p:sp>
      <p:sp>
        <p:nvSpPr>
          <p:cNvPr id="22" name="s51-text-21"/>
          <p:cNvSpPr txBox="1"/>
          <p:nvPr/>
        </p:nvSpPr>
        <p:spPr>
          <a:xfrm>
            <a:off x="7952740" y="5077289"/>
            <a:ext cx="322326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93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 Medium"/>
                <a:cs typeface="Alexandria Medium"/>
              </a:rPr>
              <a:t>✔️ الاستخدام المناسب</a:t>
            </a:r>
            <a:endParaRPr lang="ar-SA" sz="1350" dirty="0"/>
          </a:p>
        </p:txBody>
      </p:sp>
      <p:sp>
        <p:nvSpPr>
          <p:cNvPr id="23" name="s51-text-22"/>
          <p:cNvSpPr txBox="1"/>
          <p:nvPr/>
        </p:nvSpPr>
        <p:spPr>
          <a:xfrm>
            <a:off x="4841240" y="4545775"/>
            <a:ext cx="322326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93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 Medium"/>
                <a:cs typeface="Alexandria Medium"/>
              </a:rPr>
              <a:t>✔️ مصدر المنتج</a:t>
            </a:r>
            <a:endParaRPr lang="ar-SA" sz="1350" dirty="0"/>
          </a:p>
        </p:txBody>
      </p:sp>
      <p:sp>
        <p:nvSpPr>
          <p:cNvPr id="24" name="s51-text-23"/>
          <p:cNvSpPr txBox="1"/>
          <p:nvPr/>
        </p:nvSpPr>
        <p:spPr>
          <a:xfrm>
            <a:off x="4841240" y="4811582"/>
            <a:ext cx="322326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93"/>
              </a:lnSpc>
              <a:buNone/>
            </a:pPr>
            <a:r>
              <a:rPr lang="ar-SA" altLang="en-US" sz="1350" dirty="0">
                <a:solidFill>
                  <a:srgbClr val="0E3A3C"/>
                </a:solidFill>
                <a:latin typeface="Alexandria Medium"/>
                <a:cs typeface="Alexandria Medium"/>
              </a:rPr>
              <a:t>✔️ ملاءمته لاحتياج المزرعة</a:t>
            </a:r>
            <a:endParaRPr lang="ar-SA" sz="1350" dirty="0"/>
          </a:p>
        </p:txBody>
      </p:sp>
      <p:sp>
        <p:nvSpPr>
          <p:cNvPr id="25" name="s51-text-24"/>
          <p:cNvSpPr txBox="1"/>
          <p:nvPr/>
        </p:nvSpPr>
        <p:spPr>
          <a:xfrm>
            <a:off x="4455160" y="5479903"/>
            <a:ext cx="672084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SemiBold"/>
                <a:cs typeface="Alexandria SemiBold"/>
              </a:rPr>
              <a:t>وفي منتجات الري والأنابيب التي يتم تصنيعها في دريب أكوا، نركز على جودة</a:t>
            </a:r>
            <a:endParaRPr lang="ar-SA" sz="1400" dirty="0"/>
          </a:p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SemiBold"/>
                <a:cs typeface="Alexandria SemiBold"/>
              </a:rPr>
              <a:t>التصنيع ودقة المواصفات.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" dur="6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8" grpId="0"/>
      <p:bldP spid="12" grpId="0"/>
      <p:bldP spid="19" grpId="0"/>
      <p:bldP spid="13" grpId="0"/>
      <p:bldP spid="20" grpId="0"/>
      <p:bldP spid="14" grpId="0"/>
      <p:bldP spid="21" grpId="0"/>
      <p:bldP spid="22" grpId="0"/>
      <p:bldP spid="25" grpId="0"/>
      <p:bldP spid="23" grpId="0"/>
      <p:bldP spid="24" grpId="0"/>
    </p:bldLst>
  </p:timing>
</p:sld>
</file>

<file path=ppt/slides/slide5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7150" y="-14668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325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52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2-text-6"/>
          <p:cNvSpPr txBox="1"/>
          <p:nvPr/>
        </p:nvSpPr>
        <p:spPr>
          <a:xfrm>
            <a:off x="11084719" y="805180"/>
            <a:ext cx="4087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أولًا</a:t>
            </a:r>
            <a:endParaRPr lang="ar-SA" sz="1500" dirty="0"/>
          </a:p>
        </p:txBody>
      </p:sp>
      <p:sp>
        <p:nvSpPr>
          <p:cNvPr id="8" name="s52-text-7"/>
          <p:cNvSpPr txBox="1"/>
          <p:nvPr/>
        </p:nvSpPr>
        <p:spPr>
          <a:xfrm>
            <a:off x="2825738" y="1096772"/>
            <a:ext cx="866776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أمثلة على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الاستعراضي</a:t>
            </a:r>
            <a:endParaRPr lang="ar-SA" sz="4200" dirty="0"/>
          </a:p>
        </p:txBody>
      </p:sp>
      <p:sp>
        <p:nvSpPr>
          <p:cNvPr id="9" name="s52-text-8"/>
          <p:cNvSpPr txBox="1"/>
          <p:nvPr/>
        </p:nvSpPr>
        <p:spPr>
          <a:xfrm>
            <a:off x="-165100" y="2158111"/>
            <a:ext cx="1165860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557274"/>
                </a:solidFill>
                <a:latin typeface="Alexandria Light"/>
                <a:cs typeface="Alexandria Light"/>
              </a:rPr>
              <a:t>المحتوى الاستعراضي يهدف إلى إظهار تنوع المنتجات وجودتها ومصدرها واستخداماتها، مع استعراض المنتجات بطريقة واقعية</a:t>
            </a:r>
            <a:endParaRPr lang="ar-SA" sz="1550" dirty="0"/>
          </a:p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557274"/>
                </a:solidFill>
                <a:latin typeface="Alexandria Light"/>
                <a:cs typeface="Alexandria Light"/>
              </a:rPr>
              <a:t>واحترافية.</a:t>
            </a:r>
            <a:endParaRPr lang="ar-SA" sz="1550" dirty="0"/>
          </a:p>
        </p:txBody>
      </p:sp>
      <p:sp>
        <p:nvSpPr>
          <p:cNvPr id="10" name="s52-shape-9"/>
          <p:cNvSpPr/>
          <p:nvPr/>
        </p:nvSpPr>
        <p:spPr>
          <a:xfrm>
            <a:off x="698500" y="2921000"/>
            <a:ext cx="10795000" cy="3365500"/>
          </a:xfrm>
          <a:prstGeom prst="round2DiagRect">
            <a:avLst>
              <a:gd name="adj1" fmla="val 13585"/>
              <a:gd name="adj2" fmla="val 1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11" name="s52-snap-10" descr="/home/user/flan777/ard-albasatin-presentation/source/pptx_build/img/s52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3073400"/>
            <a:ext cx="3632200" cy="3060700"/>
          </a:xfrm>
          <a:prstGeom prst="rect">
            <a:avLst/>
          </a:prstGeom>
        </p:spPr>
      </p:pic>
      <p:sp>
        <p:nvSpPr>
          <p:cNvPr id="12" name="s52-shape-11"/>
          <p:cNvSpPr/>
          <p:nvPr/>
        </p:nvSpPr>
        <p:spPr>
          <a:xfrm>
            <a:off x="2286000" y="3804841"/>
            <a:ext cx="762000" cy="7620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3" name="s52-snap-12" descr="/home/user/flan777/ard-albasatin-presentation/source/pptx_build/img/s52_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3944541"/>
            <a:ext cx="482600" cy="482600"/>
          </a:xfrm>
          <a:prstGeom prst="rect">
            <a:avLst/>
          </a:prstGeom>
        </p:spPr>
      </p:pic>
      <p:sp>
        <p:nvSpPr>
          <p:cNvPr id="14" name="s52-shape-13"/>
          <p:cNvSpPr/>
          <p:nvPr/>
        </p:nvSpPr>
        <p:spPr>
          <a:xfrm>
            <a:off x="1143000" y="5715000"/>
            <a:ext cx="3048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52-shape-14"/>
          <p:cNvSpPr/>
          <p:nvPr/>
        </p:nvSpPr>
        <p:spPr>
          <a:xfrm>
            <a:off x="3032720" y="5715000"/>
            <a:ext cx="1158180" cy="381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16" name="s52-shape-15"/>
          <p:cNvSpPr/>
          <p:nvPr/>
        </p:nvSpPr>
        <p:spPr>
          <a:xfrm>
            <a:off x="3860800" y="4663380"/>
            <a:ext cx="330200" cy="3302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7" name="s52-snap-16" descr="/home/user/flan777/ard-albasatin-presentation/source/pptx_build/img/s52_1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5725" y="4698305"/>
            <a:ext cx="260350" cy="260350"/>
          </a:xfrm>
          <a:prstGeom prst="rect">
            <a:avLst/>
          </a:prstGeom>
        </p:spPr>
      </p:pic>
      <p:sp>
        <p:nvSpPr>
          <p:cNvPr id="18" name="s52-text-17"/>
          <p:cNvSpPr txBox="1"/>
          <p:nvPr/>
        </p:nvSpPr>
        <p:spPr>
          <a:xfrm>
            <a:off x="934720" y="4638869"/>
            <a:ext cx="281178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"/>
                <a:cs typeface="Alexandria"/>
              </a:rPr>
              <a:t>عرض مجموعة متنوعة من منتجات</a:t>
            </a:r>
            <a:endParaRPr lang="ar-SA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"/>
                <a:cs typeface="Alexandria"/>
              </a:rPr>
              <a:t>أرض البساتين داخل المتجر، مع التركيز</a:t>
            </a:r>
            <a:endParaRPr lang="ar-SA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"/>
                <a:cs typeface="Alexandria"/>
              </a:rPr>
              <a:t>على تنوع المنتجات وترتيبها وسهولة</a:t>
            </a:r>
            <a:endParaRPr lang="ar-SA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Alexandria"/>
                <a:cs typeface="Alexandria"/>
              </a:rPr>
              <a:t>اختيارها.</a:t>
            </a:r>
            <a:endParaRPr lang="ar-SA" sz="1200" dirty="0"/>
          </a:p>
        </p:txBody>
      </p:sp>
      <p:sp>
        <p:nvSpPr>
          <p:cNvPr id="19" name="s52-text-18"/>
          <p:cNvSpPr txBox="1"/>
          <p:nvPr/>
        </p:nvSpPr>
        <p:spPr>
          <a:xfrm>
            <a:off x="4112260" y="3148965"/>
            <a:ext cx="70637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مثال 1 – استعراض المتجر</a:t>
            </a:r>
            <a:endParaRPr lang="ar-SA" sz="2000" dirty="0"/>
          </a:p>
        </p:txBody>
      </p:sp>
      <p:sp>
        <p:nvSpPr>
          <p:cNvPr id="20" name="s52-shape-19"/>
          <p:cNvSpPr/>
          <p:nvPr/>
        </p:nvSpPr>
        <p:spPr>
          <a:xfrm>
            <a:off x="4635500" y="3683000"/>
            <a:ext cx="6540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1" name="s52-text-20"/>
          <p:cNvSpPr txBox="1"/>
          <p:nvPr/>
        </p:nvSpPr>
        <p:spPr>
          <a:xfrm>
            <a:off x="4112260" y="3835781"/>
            <a:ext cx="70637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029C3F"/>
                </a:solidFill>
                <a:latin typeface="Alexandria SemiBold"/>
                <a:cs typeface="Alexandria SemiBold"/>
              </a:rPr>
              <a:t>النص المقترح</a:t>
            </a:r>
            <a:endParaRPr lang="ar-SA" sz="1300" dirty="0"/>
          </a:p>
        </p:txBody>
      </p:sp>
      <p:sp>
        <p:nvSpPr>
          <p:cNvPr id="22" name="s52-text-21"/>
          <p:cNvSpPr txBox="1"/>
          <p:nvPr/>
        </p:nvSpPr>
        <p:spPr>
          <a:xfrm>
            <a:off x="4112260" y="4074394"/>
            <a:ext cx="7063740" cy="37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6"/>
              </a:lnSpc>
              <a:buNone/>
            </a:pPr>
            <a:r>
              <a:rPr lang="ar-SA" altLang="en-US" sz="18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كل احتياجات مزرعتك… أقرب مما تتوقع.</a:t>
            </a:r>
            <a:endParaRPr lang="ar-SA" sz="1800" dirty="0"/>
          </a:p>
        </p:txBody>
      </p:sp>
      <p:sp>
        <p:nvSpPr>
          <p:cNvPr id="23" name="s52-text-22"/>
          <p:cNvSpPr txBox="1"/>
          <p:nvPr/>
        </p:nvSpPr>
        <p:spPr>
          <a:xfrm>
            <a:off x="4112260" y="4528860"/>
            <a:ext cx="706374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في أرض البساتين نوفر مجموعة متنوعة من المنتجات والمستلزمات الزراعية</a:t>
            </a:r>
            <a:endParaRPr lang="ar-SA" sz="150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التي تخدم المزارعين وأصحاب المشاريع.</a:t>
            </a:r>
            <a:endParaRPr lang="ar-SA" sz="1500" dirty="0"/>
          </a:p>
        </p:txBody>
      </p:sp>
      <p:sp>
        <p:nvSpPr>
          <p:cNvPr id="24" name="s52-text-23"/>
          <p:cNvSpPr txBox="1"/>
          <p:nvPr/>
        </p:nvSpPr>
        <p:spPr>
          <a:xfrm>
            <a:off x="4112260" y="5259110"/>
            <a:ext cx="70637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 مستلزمات الري والحماية الزراعية إلى المنتجات الزراعية المتنوعة.</a:t>
            </a:r>
            <a:endParaRPr lang="ar-SA" sz="1500" dirty="0"/>
          </a:p>
        </p:txBody>
      </p:sp>
      <p:sp>
        <p:nvSpPr>
          <p:cNvPr id="25" name="s52-text-24"/>
          <p:cNvSpPr txBox="1"/>
          <p:nvPr/>
        </p:nvSpPr>
        <p:spPr>
          <a:xfrm>
            <a:off x="4112260" y="5706785"/>
            <a:ext cx="70637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8A6142"/>
                </a:solidFill>
                <a:latin typeface="Alexandria ExtraBold"/>
                <a:cs typeface="Alexandria ExtraBold"/>
              </a:rPr>
              <a:t>أرض البساتين.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4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6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6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9" grpId="0"/>
      <p:bldP spid="20" grpId="0" animBg="1"/>
      <p:bldP spid="12" grpId="0" animBg="1"/>
      <p:bldP spid="21" grpId="0"/>
      <p:bldP spid="14" grpId="0" animBg="1"/>
      <p:bldP spid="16" grpId="0" animBg="1"/>
      <p:bldP spid="22" grpId="0"/>
      <p:bldP spid="18" grpId="0"/>
      <p:bldP spid="15" grpId="0" animBg="1"/>
      <p:bldP spid="23" grpId="0"/>
      <p:bldP spid="24" grpId="0"/>
      <p:bldP spid="25" grpId="0"/>
    </p:bldLst>
  </p:timing>
</p:sld>
</file>

<file path=ppt/slides/slide5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800" y="-16319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26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53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3-text-6"/>
          <p:cNvSpPr txBox="1"/>
          <p:nvPr/>
        </p:nvSpPr>
        <p:spPr>
          <a:xfrm>
            <a:off x="11084719" y="805180"/>
            <a:ext cx="4087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أولًا</a:t>
            </a:r>
            <a:endParaRPr lang="ar-SA" sz="1500" dirty="0"/>
          </a:p>
        </p:txBody>
      </p:sp>
      <p:sp>
        <p:nvSpPr>
          <p:cNvPr id="8" name="s53-text-7"/>
          <p:cNvSpPr txBox="1"/>
          <p:nvPr/>
        </p:nvSpPr>
        <p:spPr>
          <a:xfrm>
            <a:off x="2825738" y="1096772"/>
            <a:ext cx="866776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أمثلة على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الاستعراضي</a:t>
            </a:r>
            <a:endParaRPr lang="ar-SA" sz="4200" dirty="0"/>
          </a:p>
        </p:txBody>
      </p:sp>
      <p:sp>
        <p:nvSpPr>
          <p:cNvPr id="9" name="s53-shape-8"/>
          <p:cNvSpPr/>
          <p:nvPr/>
        </p:nvSpPr>
        <p:spPr>
          <a:xfrm>
            <a:off x="698500" y="2190750"/>
            <a:ext cx="10795000" cy="4095750"/>
          </a:xfrm>
          <a:prstGeom prst="round2DiagRect">
            <a:avLst>
              <a:gd name="adj1" fmla="val 11163"/>
              <a:gd name="adj2" fmla="val 15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10" name="s53-snap-9" descr="/home/user/flan777/ard-albasatin-presentation/source/pptx_build/img/s53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343150"/>
            <a:ext cx="3632200" cy="3790950"/>
          </a:xfrm>
          <a:prstGeom prst="rect">
            <a:avLst/>
          </a:prstGeom>
        </p:spPr>
      </p:pic>
      <p:sp>
        <p:nvSpPr>
          <p:cNvPr id="11" name="s53-shape-10"/>
          <p:cNvSpPr/>
          <p:nvPr/>
        </p:nvSpPr>
        <p:spPr>
          <a:xfrm>
            <a:off x="2286000" y="3337520"/>
            <a:ext cx="762000" cy="7620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2" name="s53-snap-11" descr="/home/user/flan777/ard-albasatin-presentation/source/pptx_build/img/s53_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3477220"/>
            <a:ext cx="482600" cy="482600"/>
          </a:xfrm>
          <a:prstGeom prst="rect">
            <a:avLst/>
          </a:prstGeom>
        </p:spPr>
      </p:pic>
      <p:sp>
        <p:nvSpPr>
          <p:cNvPr id="13" name="s53-shape-12"/>
          <p:cNvSpPr/>
          <p:nvPr/>
        </p:nvSpPr>
        <p:spPr>
          <a:xfrm>
            <a:off x="1143000" y="5715000"/>
            <a:ext cx="3048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53-shape-13"/>
          <p:cNvSpPr/>
          <p:nvPr/>
        </p:nvSpPr>
        <p:spPr>
          <a:xfrm>
            <a:off x="3032720" y="5715000"/>
            <a:ext cx="1158180" cy="381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15" name="s53-shape-14"/>
          <p:cNvSpPr/>
          <p:nvPr/>
        </p:nvSpPr>
        <p:spPr>
          <a:xfrm>
            <a:off x="3860800" y="4312841"/>
            <a:ext cx="330200" cy="3302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6" name="s53-snap-15" descr="/home/user/flan777/ard-albasatin-presentation/source/pptx_build/img/s53_1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5725" y="4347766"/>
            <a:ext cx="260350" cy="260350"/>
          </a:xfrm>
          <a:prstGeom prst="rect">
            <a:avLst/>
          </a:prstGeom>
        </p:spPr>
      </p:pic>
      <p:sp>
        <p:nvSpPr>
          <p:cNvPr id="17" name="s53-text-16"/>
          <p:cNvSpPr txBox="1"/>
          <p:nvPr/>
        </p:nvSpPr>
        <p:spPr>
          <a:xfrm>
            <a:off x="934720" y="4284075"/>
            <a:ext cx="281178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عرض منتجات الأنابيب الرئيسية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وأنابيب التقطير أثناء التصنيع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والاستخدام، مع التركيز على جودة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التصنيع والمواصفات.</a:t>
            </a:r>
            <a:endParaRPr lang="ar-SA" sz="1350" dirty="0"/>
          </a:p>
        </p:txBody>
      </p:sp>
      <p:sp>
        <p:nvSpPr>
          <p:cNvPr id="18" name="s53-text-17"/>
          <p:cNvSpPr txBox="1"/>
          <p:nvPr/>
        </p:nvSpPr>
        <p:spPr>
          <a:xfrm>
            <a:off x="4112260" y="2418715"/>
            <a:ext cx="70637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dirty="0">
                <a:solidFill>
                  <a:srgbClr val="0E3A3C"/>
                </a:solidFill>
                <a:latin typeface="Alexandria ExtraBold"/>
                <a:cs typeface="Alexandria ExtraBold"/>
              </a:rPr>
              <a:t>مثال 2 – استعراض منتجات دريب أكوا</a:t>
            </a:r>
            <a:endParaRPr lang="ar-SA" sz="2000" dirty="0"/>
          </a:p>
        </p:txBody>
      </p:sp>
      <p:sp>
        <p:nvSpPr>
          <p:cNvPr id="19" name="s53-shape-18"/>
          <p:cNvSpPr/>
          <p:nvPr/>
        </p:nvSpPr>
        <p:spPr>
          <a:xfrm>
            <a:off x="4635500" y="2952750"/>
            <a:ext cx="6540500" cy="12700"/>
          </a:xfrm>
          <a:prstGeom prst="roundRect">
            <a:avLst>
              <a:gd name="adj" fmla="val 50000"/>
            </a:avLst>
          </a:prstGeom>
          <a:solidFill>
            <a:srgbClr val="D5E6DC"/>
          </a:solidFill>
          <a:ln/>
        </p:spPr>
      </p:sp>
      <p:sp>
        <p:nvSpPr>
          <p:cNvPr id="20" name="s53-text-19"/>
          <p:cNvSpPr txBox="1"/>
          <p:nvPr/>
        </p:nvSpPr>
        <p:spPr>
          <a:xfrm>
            <a:off x="4112260" y="3110230"/>
            <a:ext cx="706374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النص المقترح</a:t>
            </a:r>
            <a:endParaRPr lang="ar-SA" sz="1500" dirty="0"/>
          </a:p>
        </p:txBody>
      </p:sp>
      <p:sp>
        <p:nvSpPr>
          <p:cNvPr id="21" name="s53-text-20"/>
          <p:cNvSpPr txBox="1"/>
          <p:nvPr/>
        </p:nvSpPr>
        <p:spPr>
          <a:xfrm>
            <a:off x="4112260" y="3372485"/>
            <a:ext cx="7063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40"/>
              </a:lnSpc>
              <a:buNone/>
            </a:pPr>
            <a:r>
              <a:rPr lang="ar-SA" altLang="en-US" sz="2000" dirty="0">
                <a:solidFill>
                  <a:srgbClr val="01804C"/>
                </a:solidFill>
                <a:latin typeface="Alexandria ExtraBold"/>
                <a:cs typeface="Alexandria ExtraBold"/>
              </a:rPr>
              <a:t>💧 من التصنيع تبدأ الجودة.</a:t>
            </a:r>
            <a:endParaRPr lang="ar-SA" sz="2000" dirty="0"/>
          </a:p>
        </p:txBody>
      </p:sp>
      <p:sp>
        <p:nvSpPr>
          <p:cNvPr id="22" name="s53-text-21"/>
          <p:cNvSpPr txBox="1"/>
          <p:nvPr/>
        </p:nvSpPr>
        <p:spPr>
          <a:xfrm>
            <a:off x="4112260" y="3866114"/>
            <a:ext cx="70637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"/>
                <a:cs typeface="Alexandria"/>
              </a:rPr>
              <a:t>بعض منتجات الري في أرض البساتين يتم تصنيعها في مصنع دريب</a:t>
            </a:r>
            <a:endParaRPr lang="ar-SA" sz="1700" dirty="0"/>
          </a:p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0E3A3C"/>
                </a:solidFill>
                <a:latin typeface="Alexandria"/>
                <a:cs typeface="Alexandria"/>
              </a:rPr>
              <a:t>أكوا، مع الاهتمام بمراحل الإنتاج والمواصفات وجودة المنتج.</a:t>
            </a:r>
            <a:endParaRPr lang="ar-SA" sz="1700" dirty="0"/>
          </a:p>
        </p:txBody>
      </p:sp>
      <p:sp>
        <p:nvSpPr>
          <p:cNvPr id="23" name="s53-text-22"/>
          <p:cNvSpPr txBox="1"/>
          <p:nvPr/>
        </p:nvSpPr>
        <p:spPr>
          <a:xfrm>
            <a:off x="4112260" y="4683935"/>
            <a:ext cx="7063740" cy="363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65"/>
              </a:lnSpc>
              <a:buNone/>
            </a:pPr>
            <a:r>
              <a:rPr lang="ar-SA" altLang="en-US" sz="1700" dirty="0">
                <a:solidFill>
                  <a:srgbClr val="8A6142"/>
                </a:solidFill>
                <a:latin typeface="Alexandria ExtraBold"/>
                <a:cs typeface="Alexandria ExtraBold"/>
              </a:rPr>
              <a:t>دقة في التصنيع… ثقة في الأداء.</a:t>
            </a:r>
            <a:endParaRPr lang="ar-SA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6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19" grpId="0" animBg="1"/>
      <p:bldP spid="11" grpId="0" animBg="1"/>
      <p:bldP spid="20" grpId="0"/>
      <p:bldP spid="15" grpId="0" animBg="1"/>
      <p:bldP spid="21" grpId="0"/>
      <p:bldP spid="17" grpId="0"/>
      <p:bldP spid="22" grpId="0"/>
      <p:bldP spid="23" grpId="0"/>
    </p:bldLst>
  </p:timing>
</p:sld>
</file>

<file path=ppt/slides/slide5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13050" y="-16256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246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54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4-text-6"/>
          <p:cNvSpPr txBox="1"/>
          <p:nvPr/>
        </p:nvSpPr>
        <p:spPr>
          <a:xfrm>
            <a:off x="11056342" y="805180"/>
            <a:ext cx="43715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ثانيًا</a:t>
            </a:r>
            <a:endParaRPr lang="ar-SA" sz="1500" dirty="0"/>
          </a:p>
        </p:txBody>
      </p:sp>
      <p:sp>
        <p:nvSpPr>
          <p:cNvPr id="8" name="s54-text-7"/>
          <p:cNvSpPr txBox="1"/>
          <p:nvPr/>
        </p:nvSpPr>
        <p:spPr>
          <a:xfrm>
            <a:off x="4275134" y="1096772"/>
            <a:ext cx="721836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أمثلة على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القيمي</a:t>
            </a:r>
            <a:endParaRPr lang="ar-SA" sz="4200" dirty="0"/>
          </a:p>
        </p:txBody>
      </p:sp>
      <p:sp>
        <p:nvSpPr>
          <p:cNvPr id="9" name="s54-text-8"/>
          <p:cNvSpPr txBox="1"/>
          <p:nvPr/>
        </p:nvSpPr>
        <p:spPr>
          <a:xfrm>
            <a:off x="-165100" y="2155317"/>
            <a:ext cx="1165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80"/>
              </a:lnSpc>
              <a:buNone/>
            </a:pPr>
            <a:r>
              <a:rPr lang="ar-SA" altLang="en-US" sz="1600" dirty="0">
                <a:solidFill>
                  <a:srgbClr val="557274"/>
                </a:solidFill>
                <a:latin typeface="Alexandria Light"/>
                <a:cs typeface="Alexandria Light"/>
              </a:rPr>
              <a:t>المحتوى القيمي يوضح للعميل أهمية اختيار المنتجات المناسبة، وليس مجرد عرض المنتج للبيع.</a:t>
            </a:r>
            <a:endParaRPr lang="ar-SA" sz="1600" dirty="0"/>
          </a:p>
        </p:txBody>
      </p:sp>
      <p:sp>
        <p:nvSpPr>
          <p:cNvPr id="10" name="s54-shape-9"/>
          <p:cNvSpPr/>
          <p:nvPr/>
        </p:nvSpPr>
        <p:spPr>
          <a:xfrm>
            <a:off x="698500" y="2730500"/>
            <a:ext cx="10795000" cy="3556000"/>
          </a:xfrm>
          <a:prstGeom prst="round2DiagRect">
            <a:avLst>
              <a:gd name="adj1" fmla="val 12857"/>
              <a:gd name="adj2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sp>
        <p:nvSpPr>
          <p:cNvPr id="11" name="s54-shape-10"/>
          <p:cNvSpPr/>
          <p:nvPr/>
        </p:nvSpPr>
        <p:spPr>
          <a:xfrm>
            <a:off x="952500" y="2984500"/>
            <a:ext cx="762000" cy="762000"/>
          </a:xfrm>
          <a:prstGeom prst="teardrop">
            <a:avLst>
              <a:gd name="adj" fmla="val 100000"/>
            </a:avLst>
          </a:prstGeom>
          <a:solidFill>
            <a:srgbClr val="C3E36B"/>
          </a:solidFill>
          <a:ln/>
        </p:spPr>
      </p:sp>
      <p:pic>
        <p:nvPicPr>
          <p:cNvPr id="12" name="s54-snap-11" descr="/home/user/flan777/ard-albasatin-presentation/source/pptx_build/img/s54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75" y="3114675"/>
            <a:ext cx="501650" cy="501650"/>
          </a:xfrm>
          <a:prstGeom prst="rect">
            <a:avLst/>
          </a:prstGeom>
        </p:spPr>
      </p:pic>
      <p:sp>
        <p:nvSpPr>
          <p:cNvPr id="13" name="s54-text-12"/>
          <p:cNvSpPr txBox="1"/>
          <p:nvPr/>
        </p:nvSpPr>
        <p:spPr>
          <a:xfrm>
            <a:off x="9118600" y="2976118"/>
            <a:ext cx="20574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20"/>
              </a:lnSpc>
              <a:buNone/>
            </a:pPr>
            <a:r>
              <a:rPr lang="ar-SA" altLang="en-US" sz="1400" dirty="0">
                <a:solidFill>
                  <a:srgbClr val="029C3F"/>
                </a:solidFill>
                <a:latin typeface="Alexandria SemiBold"/>
                <a:cs typeface="Alexandria SemiBold"/>
              </a:rPr>
              <a:t>مثال</a:t>
            </a:r>
            <a:endParaRPr lang="ar-SA" sz="1400" dirty="0"/>
          </a:p>
        </p:txBody>
      </p:sp>
      <p:sp>
        <p:nvSpPr>
          <p:cNvPr id="14" name="s54-text-13"/>
          <p:cNvSpPr txBox="1"/>
          <p:nvPr/>
        </p:nvSpPr>
        <p:spPr>
          <a:xfrm>
            <a:off x="1369060" y="3250565"/>
            <a:ext cx="98069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ar-SA" altLang="en-US" sz="20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هل تعرف لماذا اختيار المنتج الزراعي مهم؟</a:t>
            </a:r>
            <a:endParaRPr lang="ar-SA" sz="2000" dirty="0"/>
          </a:p>
        </p:txBody>
      </p:sp>
      <p:sp>
        <p:nvSpPr>
          <p:cNvPr id="15" name="s54-text-14"/>
          <p:cNvSpPr txBox="1"/>
          <p:nvPr/>
        </p:nvSpPr>
        <p:spPr>
          <a:xfrm>
            <a:off x="1369060" y="3726561"/>
            <a:ext cx="980694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"/>
                <a:cs typeface="Alexandria"/>
              </a:rPr>
              <a:t>لأن المنتج المناسب يساعدك على تنفيذ احتياجك الزراعي بالشكل الصحيح، سواء كان في الري أو حماية</a:t>
            </a:r>
            <a:endParaRPr lang="ar-SA" sz="1550" dirty="0"/>
          </a:p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"/>
                <a:cs typeface="Alexandria"/>
              </a:rPr>
              <a:t>المحصول أو غيرها من الاستخدامات.</a:t>
            </a:r>
            <a:endParaRPr lang="ar-SA" sz="1550" dirty="0"/>
          </a:p>
        </p:txBody>
      </p:sp>
      <p:sp>
        <p:nvSpPr>
          <p:cNvPr id="16" name="s54-text-15"/>
          <p:cNvSpPr txBox="1"/>
          <p:nvPr/>
        </p:nvSpPr>
        <p:spPr>
          <a:xfrm>
            <a:off x="1369060" y="4425061"/>
            <a:ext cx="9806940" cy="35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3"/>
              </a:lnSpc>
              <a:buNone/>
            </a:pPr>
            <a:r>
              <a:rPr lang="ar-SA" altLang="en-US" sz="1550" dirty="0">
                <a:solidFill>
                  <a:srgbClr val="0E3A3C"/>
                </a:solidFill>
                <a:latin typeface="Alexandria SemiBold"/>
                <a:cs typeface="Alexandria SemiBold"/>
              </a:rPr>
              <a:t>لذلك لا تنظر إلى السعر فقط، بل اسأل عن:</a:t>
            </a:r>
            <a:endParaRPr lang="ar-SA" sz="1550" dirty="0"/>
          </a:p>
        </p:txBody>
      </p:sp>
      <p:sp>
        <p:nvSpPr>
          <p:cNvPr id="17" name="s54-shape-16"/>
          <p:cNvSpPr/>
          <p:nvPr/>
        </p:nvSpPr>
        <p:spPr>
          <a:xfrm>
            <a:off x="9461500" y="4902200"/>
            <a:ext cx="1714500" cy="444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18" name="s54-text-17"/>
          <p:cNvSpPr txBox="1"/>
          <p:nvPr/>
        </p:nvSpPr>
        <p:spPr>
          <a:xfrm>
            <a:off x="9392920" y="4993005"/>
            <a:ext cx="185166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المواصفات</a:t>
            </a:r>
            <a:endParaRPr lang="ar-SA" sz="1500" dirty="0"/>
          </a:p>
        </p:txBody>
      </p:sp>
      <p:pic>
        <p:nvPicPr>
          <p:cNvPr id="19" name="s54-snap-18" descr="/home/user/flan777/ard-albasatin-presentation/source/pptx_build/img/s54_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400" y="5035550"/>
            <a:ext cx="431800" cy="177800"/>
          </a:xfrm>
          <a:prstGeom prst="rect">
            <a:avLst/>
          </a:prstGeom>
        </p:spPr>
      </p:pic>
      <p:sp>
        <p:nvSpPr>
          <p:cNvPr id="20" name="s54-shape-19"/>
          <p:cNvSpPr/>
          <p:nvPr/>
        </p:nvSpPr>
        <p:spPr>
          <a:xfrm>
            <a:off x="7620000" y="4902200"/>
            <a:ext cx="1460500" cy="444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21" name="s54-text-20"/>
          <p:cNvSpPr txBox="1"/>
          <p:nvPr/>
        </p:nvSpPr>
        <p:spPr>
          <a:xfrm>
            <a:off x="7561580" y="4993005"/>
            <a:ext cx="157734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الجودة</a:t>
            </a:r>
            <a:endParaRPr lang="ar-SA" sz="1500" dirty="0"/>
          </a:p>
        </p:txBody>
      </p:sp>
      <p:pic>
        <p:nvPicPr>
          <p:cNvPr id="22" name="s54-snap-21" descr="/home/user/flan777/ard-albasatin-presentation/source/pptx_build/img/s54_2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5035550"/>
            <a:ext cx="431800" cy="177800"/>
          </a:xfrm>
          <a:prstGeom prst="rect">
            <a:avLst/>
          </a:prstGeom>
        </p:spPr>
      </p:pic>
      <p:sp>
        <p:nvSpPr>
          <p:cNvPr id="23" name="s54-shape-22"/>
          <p:cNvSpPr/>
          <p:nvPr/>
        </p:nvSpPr>
        <p:spPr>
          <a:xfrm>
            <a:off x="5588000" y="4902200"/>
            <a:ext cx="1651000" cy="4445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24" name="s54-text-23"/>
          <p:cNvSpPr txBox="1"/>
          <p:nvPr/>
        </p:nvSpPr>
        <p:spPr>
          <a:xfrm>
            <a:off x="5521960" y="4993005"/>
            <a:ext cx="17830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lexandria SemiBold"/>
                <a:cs typeface="Alexandria SemiBold"/>
              </a:rPr>
              <a:t>الاستخدام</a:t>
            </a:r>
            <a:endParaRPr lang="ar-SA" sz="1500" dirty="0"/>
          </a:p>
        </p:txBody>
      </p:sp>
      <p:pic>
        <p:nvPicPr>
          <p:cNvPr id="25" name="s54-snap-24" descr="/home/user/flan777/ard-albasatin-presentation/source/pptx_build/img/s54_2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900" y="5035550"/>
            <a:ext cx="431800" cy="177800"/>
          </a:xfrm>
          <a:prstGeom prst="rect">
            <a:avLst/>
          </a:prstGeom>
        </p:spPr>
      </p:pic>
      <p:sp>
        <p:nvSpPr>
          <p:cNvPr id="26" name="s54-shape-25"/>
          <p:cNvSpPr/>
          <p:nvPr/>
        </p:nvSpPr>
        <p:spPr>
          <a:xfrm>
            <a:off x="2222500" y="4902200"/>
            <a:ext cx="2984500" cy="4445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27" name="s54-text-26"/>
          <p:cNvSpPr txBox="1"/>
          <p:nvPr/>
        </p:nvSpPr>
        <p:spPr>
          <a:xfrm>
            <a:off x="2103120" y="4993005"/>
            <a:ext cx="322326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13B3E"/>
                </a:solidFill>
                <a:latin typeface="Alexandria SemiBold"/>
                <a:cs typeface="Alexandria SemiBold"/>
              </a:rPr>
              <a:t>ملاءمة المنتج لاحتياجك.</a:t>
            </a:r>
            <a:endParaRPr lang="ar-SA" sz="1500" dirty="0"/>
          </a:p>
        </p:txBody>
      </p:sp>
      <p:sp>
        <p:nvSpPr>
          <p:cNvPr id="28" name="s54-text-27"/>
          <p:cNvSpPr txBox="1"/>
          <p:nvPr/>
        </p:nvSpPr>
        <p:spPr>
          <a:xfrm>
            <a:off x="1369060" y="5585587"/>
            <a:ext cx="98069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0"/>
              </a:lnSpc>
              <a:buNone/>
            </a:pPr>
            <a:r>
              <a:rPr lang="ar-SA" altLang="en-US" sz="1600" dirty="0">
                <a:solidFill>
                  <a:srgbClr val="8A6142"/>
                </a:solidFill>
                <a:latin typeface="Alexandria ExtraBold"/>
                <a:cs typeface="Alexandria ExtraBold"/>
              </a:rPr>
              <a:t>أرض البساتين — نساعدك على اختيار ما يناسب مزرعتك.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2" dur="6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6" dur="6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92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6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3" grpId="0"/>
      <p:bldP spid="11" grpId="0" animBg="1"/>
      <p:bldP spid="14" grpId="0"/>
      <p:bldP spid="15" grpId="0"/>
      <p:bldP spid="16" grpId="0"/>
      <p:bldP spid="17" grpId="0" animBg="1"/>
      <p:bldP spid="18" grpId="0"/>
      <p:bldP spid="20" grpId="0" animBg="1"/>
      <p:bldP spid="21" grpId="0"/>
      <p:bldP spid="23" grpId="0" animBg="1"/>
      <p:bldP spid="24" grpId="0"/>
      <p:bldP spid="26" grpId="0" animBg="1"/>
      <p:bldP spid="27" grpId="0"/>
      <p:bldP spid="28" grpId="0"/>
    </p:bldLst>
  </p:timing>
</p:sld>
</file>

<file path=ppt/slides/slide5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1700" y="-14541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9132955" y="381381"/>
            <a:ext cx="23605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أمثلة على المحتوى التسويقي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504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55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5-text-6"/>
          <p:cNvSpPr txBox="1"/>
          <p:nvPr/>
        </p:nvSpPr>
        <p:spPr>
          <a:xfrm>
            <a:off x="11060212" y="805180"/>
            <a:ext cx="43328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ثالثًا</a:t>
            </a:r>
            <a:endParaRPr lang="ar-SA" sz="1500" dirty="0"/>
          </a:p>
        </p:txBody>
      </p:sp>
      <p:sp>
        <p:nvSpPr>
          <p:cNvPr id="8" name="s55-text-7"/>
          <p:cNvSpPr txBox="1"/>
          <p:nvPr/>
        </p:nvSpPr>
        <p:spPr>
          <a:xfrm>
            <a:off x="4110434" y="1096772"/>
            <a:ext cx="738306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376"/>
              </a:lnSpc>
              <a:buNone/>
            </a:pPr>
            <a:r>
              <a:rPr lang="ar-SA" altLang="en-US" sz="4200" dirty="0">
                <a:solidFill>
                  <a:srgbClr val="01804C"/>
                </a:solidFill>
                <a:latin typeface="Alexandria ExtraLight"/>
                <a:cs typeface="Alexandria ExtraLight"/>
              </a:rPr>
              <a:t>أمثلة على </a:t>
            </a:r>
            <a:r>
              <a:rPr lang="ar-SA" altLang="en-US" sz="42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المحتوى الإعلاني</a:t>
            </a:r>
            <a:endParaRPr lang="ar-SA" sz="4200" dirty="0"/>
          </a:p>
        </p:txBody>
      </p:sp>
      <p:sp>
        <p:nvSpPr>
          <p:cNvPr id="9" name="s55-shape-8"/>
          <p:cNvSpPr/>
          <p:nvPr/>
        </p:nvSpPr>
        <p:spPr>
          <a:xfrm>
            <a:off x="698500" y="1905000"/>
            <a:ext cx="10795000" cy="4381500"/>
          </a:xfrm>
          <a:prstGeom prst="round2DiagRect">
            <a:avLst>
              <a:gd name="adj1" fmla="val 10435"/>
              <a:gd name="adj2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13B3E">
                <a:alpha val="12000"/>
              </a:srgbClr>
            </a:outerShdw>
          </a:effectLst>
        </p:spPr>
      </p:sp>
      <p:pic>
        <p:nvPicPr>
          <p:cNvPr id="10" name="s55-snap-9" descr="/home/user/flan777/ard-albasatin-presentation/source/pptx_build/img/s55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2057400"/>
            <a:ext cx="3886200" cy="4076700"/>
          </a:xfrm>
          <a:prstGeom prst="rect">
            <a:avLst/>
          </a:prstGeom>
        </p:spPr>
      </p:pic>
      <p:sp>
        <p:nvSpPr>
          <p:cNvPr id="11" name="s55-shape-10"/>
          <p:cNvSpPr/>
          <p:nvPr/>
        </p:nvSpPr>
        <p:spPr>
          <a:xfrm>
            <a:off x="2286000" y="3587750"/>
            <a:ext cx="1016000" cy="1016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2" name="s55-snap-11" descr="/home/user/flan777/ard-albasatin-presentation/source/pptx_build/img/s55_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325" y="3775075"/>
            <a:ext cx="641350" cy="641350"/>
          </a:xfrm>
          <a:prstGeom prst="rect">
            <a:avLst/>
          </a:prstGeom>
        </p:spPr>
      </p:pic>
      <p:pic>
        <p:nvPicPr>
          <p:cNvPr id="13" name="s55-asset-12" descr="شعار أرض البساتي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040" y="2159000"/>
            <a:ext cx="450850" cy="457200"/>
          </a:xfrm>
          <a:prstGeom prst="rect">
            <a:avLst/>
          </a:prstGeom>
        </p:spPr>
      </p:pic>
      <p:sp>
        <p:nvSpPr>
          <p:cNvPr id="14" name="s55-text-13"/>
          <p:cNvSpPr txBox="1"/>
          <p:nvPr/>
        </p:nvSpPr>
        <p:spPr>
          <a:xfrm>
            <a:off x="7861300" y="2228088"/>
            <a:ext cx="2743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0E3A3C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400" dirty="0"/>
          </a:p>
        </p:txBody>
      </p:sp>
      <p:sp>
        <p:nvSpPr>
          <p:cNvPr id="15" name="s55-text-14"/>
          <p:cNvSpPr txBox="1"/>
          <p:nvPr/>
        </p:nvSpPr>
        <p:spPr>
          <a:xfrm>
            <a:off x="4455160" y="2691384"/>
            <a:ext cx="6720840" cy="37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6"/>
              </a:lnSpc>
              <a:buNone/>
            </a:pPr>
            <a:r>
              <a:rPr lang="ar-SA" altLang="en-US" sz="1800" dirty="0">
                <a:solidFill>
                  <a:srgbClr val="01804C"/>
                </a:solidFill>
                <a:latin typeface="Alexandria ExtraBold"/>
                <a:cs typeface="Alexandria ExtraBold"/>
              </a:rPr>
              <a:t>🌱 احتياج مزرعتك يبدأ من المنتج المناسب.</a:t>
            </a:r>
            <a:endParaRPr lang="ar-SA" sz="1800" dirty="0"/>
          </a:p>
        </p:txBody>
      </p:sp>
      <p:sp>
        <p:nvSpPr>
          <p:cNvPr id="16" name="s55-text-15"/>
          <p:cNvSpPr txBox="1"/>
          <p:nvPr/>
        </p:nvSpPr>
        <p:spPr>
          <a:xfrm>
            <a:off x="4455160" y="3145850"/>
            <a:ext cx="672084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SemiBold"/>
                <a:cs typeface="Alexandria SemiBold"/>
              </a:rPr>
              <a:t>في أرض البساتين نوفر مجموعة متنوعة من المنتجات والمستلزمات</a:t>
            </a:r>
            <a:endParaRPr lang="ar-SA" sz="150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SemiBold"/>
                <a:cs typeface="Alexandria SemiBold"/>
              </a:rPr>
              <a:t>الزراعية، لتلبية احتياجات المزارعين وأصحاب المشاريع.</a:t>
            </a:r>
            <a:endParaRPr lang="ar-SA" sz="1500" dirty="0"/>
          </a:p>
        </p:txBody>
      </p:sp>
      <p:sp>
        <p:nvSpPr>
          <p:cNvPr id="17" name="s55-text-16"/>
          <p:cNvSpPr txBox="1"/>
          <p:nvPr/>
        </p:nvSpPr>
        <p:spPr>
          <a:xfrm>
            <a:off x="7952740" y="3875719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💧 مستلزمات الري</a:t>
            </a:r>
            <a:endParaRPr lang="ar-SA" sz="1450" dirty="0"/>
          </a:p>
        </p:txBody>
      </p:sp>
      <p:sp>
        <p:nvSpPr>
          <p:cNvPr id="18" name="s55-text-17"/>
          <p:cNvSpPr txBox="1"/>
          <p:nvPr/>
        </p:nvSpPr>
        <p:spPr>
          <a:xfrm>
            <a:off x="7952740" y="4161171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🌱 منتجات الحماية الزراعية</a:t>
            </a:r>
            <a:endParaRPr lang="ar-SA" sz="1450" dirty="0"/>
          </a:p>
        </p:txBody>
      </p:sp>
      <p:sp>
        <p:nvSpPr>
          <p:cNvPr id="19" name="s55-text-18"/>
          <p:cNvSpPr txBox="1"/>
          <p:nvPr/>
        </p:nvSpPr>
        <p:spPr>
          <a:xfrm>
            <a:off x="7952740" y="4446623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🚜 الأنابيب وشبكات الري</a:t>
            </a:r>
            <a:endParaRPr lang="ar-SA" sz="1450" dirty="0"/>
          </a:p>
        </p:txBody>
      </p:sp>
      <p:sp>
        <p:nvSpPr>
          <p:cNvPr id="20" name="s55-text-19"/>
          <p:cNvSpPr txBox="1"/>
          <p:nvPr/>
        </p:nvSpPr>
        <p:spPr>
          <a:xfrm>
            <a:off x="4841240" y="3875719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💧 أنابيب التقطير</a:t>
            </a:r>
            <a:endParaRPr lang="ar-SA" sz="1450" dirty="0"/>
          </a:p>
        </p:txBody>
      </p:sp>
      <p:sp>
        <p:nvSpPr>
          <p:cNvPr id="21" name="s55-text-20"/>
          <p:cNvSpPr txBox="1"/>
          <p:nvPr/>
        </p:nvSpPr>
        <p:spPr>
          <a:xfrm>
            <a:off x="4841240" y="4161171"/>
            <a:ext cx="322326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0E3A3C"/>
                </a:solidFill>
                <a:latin typeface="Alexandria Medium"/>
                <a:cs typeface="Alexandria Medium"/>
              </a:rPr>
              <a:t>🌱 ومنتجات زراعية متنوعة</a:t>
            </a:r>
            <a:endParaRPr lang="ar-SA" sz="1450" dirty="0"/>
          </a:p>
        </p:txBody>
      </p:sp>
      <p:sp>
        <p:nvSpPr>
          <p:cNvPr id="22" name="s55-text-21"/>
          <p:cNvSpPr txBox="1"/>
          <p:nvPr/>
        </p:nvSpPr>
        <p:spPr>
          <a:xfrm>
            <a:off x="4455160" y="4872157"/>
            <a:ext cx="67208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 SemiBold"/>
                <a:cs typeface="Alexandria SemiBold"/>
              </a:rPr>
              <a:t>وبعض منتجات الري والأنابيب يتم تصنيعها في مصنع دريب أكوا.</a:t>
            </a:r>
            <a:endParaRPr lang="ar-SA" sz="1500" dirty="0"/>
          </a:p>
        </p:txBody>
      </p:sp>
      <p:sp>
        <p:nvSpPr>
          <p:cNvPr id="23" name="s55-text-22"/>
          <p:cNvSpPr txBox="1"/>
          <p:nvPr/>
        </p:nvSpPr>
        <p:spPr>
          <a:xfrm>
            <a:off x="4455160" y="5307132"/>
            <a:ext cx="6720840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📲 تواصل معنا لمعرفة المنتجات والأسعار والكميات.</a:t>
            </a:r>
            <a:endParaRPr lang="ar-SA" sz="1500" dirty="0"/>
          </a:p>
        </p:txBody>
      </p:sp>
      <p:sp>
        <p:nvSpPr>
          <p:cNvPr id="24" name="s55-text-23"/>
          <p:cNvSpPr txBox="1"/>
          <p:nvPr/>
        </p:nvSpPr>
        <p:spPr>
          <a:xfrm>
            <a:off x="4455160" y="5754807"/>
            <a:ext cx="67208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8A6142"/>
                </a:solidFill>
                <a:latin typeface="Alexandria ExtraBold"/>
                <a:cs typeface="Alexandria ExtraBold"/>
              </a:rPr>
              <a:t>أرض البساتين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6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4" grpId="0"/>
      <p:bldP spid="15" grpId="0"/>
      <p:bldP spid="11" grpId="0" animBg="1"/>
      <p:bldP spid="16" grpId="0"/>
      <p:bldP spid="17" grpId="0"/>
      <p:bldP spid="18" grpId="0"/>
      <p:bldP spid="19" grpId="0"/>
      <p:bldP spid="22" grpId="0"/>
      <p:bldP spid="20" grpId="0"/>
      <p:bldP spid="21" grpId="0"/>
      <p:bldP spid="23" grpId="0"/>
      <p:bldP spid="24" grpId="0"/>
    </p:bldLst>
  </p:timing>
</p:sld>
</file>

<file path=ppt/slides/slide5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9050" y="-1155700"/>
            <a:ext cx="18288000" cy="10287000"/>
          </a:xfrm>
          <a:prstGeom prst="rect">
            <a:avLst/>
          </a:prstGeom>
        </p:spPr>
      </p:pic>
      <p:sp>
        <p:nvSpPr>
          <p:cNvPr id="3" name="!!pg"/>
          <p:cNvSpPr txBox="1"/>
          <p:nvPr/>
        </p:nvSpPr>
        <p:spPr>
          <a:xfrm>
            <a:off x="1308100" y="381381"/>
            <a:ext cx="65444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56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4" name="!!leafL" descr="/home/user/flan777/ard-albasatin-presentation/source/pptx_build/img/asset_gen_leaf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43855" y="2286000"/>
            <a:ext cx="4718050" cy="2667000"/>
          </a:xfrm>
          <a:prstGeom prst="rect">
            <a:avLst/>
          </a:prstGeom>
        </p:spPr>
      </p:pic>
      <p:pic>
        <p:nvPicPr>
          <p:cNvPr id="5" name="!!leafR" descr="/home/user/flan777/ard-albasatin-presentation/source/pptx_build/img/asset_gen_leaf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43855" y="2286000"/>
            <a:ext cx="4718050" cy="2667000"/>
          </a:xfrm>
          <a:prstGeom prst="rect">
            <a:avLst/>
          </a:prstGeom>
        </p:spPr>
      </p:pic>
      <p:sp>
        <p:nvSpPr>
          <p:cNvPr id="6" name="s56-text-5"/>
          <p:cNvSpPr txBox="1"/>
          <p:nvPr/>
        </p:nvSpPr>
        <p:spPr>
          <a:xfrm>
            <a:off x="5504180" y="821055"/>
            <a:ext cx="2263140" cy="235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50"/>
              </a:lnSpc>
              <a:buNone/>
            </a:pPr>
            <a:r>
              <a:rPr lang="en-US" altLang="en-US" sz="16500" dirty="0">
                <a:solidFill>
                  <a:srgbClr val="FFFFFF"/>
                </a:solidFill>
                <a:latin typeface="Alexandria Black"/>
                <a:cs typeface="Alexandria Black"/>
              </a:rPr>
              <a:t>P</a:t>
            </a:r>
            <a:endParaRPr lang="en-US" sz="16500" dirty="0"/>
          </a:p>
        </p:txBody>
      </p:sp>
      <p:sp>
        <p:nvSpPr>
          <p:cNvPr id="7" name="s56-text-6"/>
          <p:cNvSpPr txBox="1"/>
          <p:nvPr/>
        </p:nvSpPr>
        <p:spPr>
          <a:xfrm>
            <a:off x="5504180" y="2975229"/>
            <a:ext cx="22631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Alexandria Light"/>
                <a:cs typeface="Alexandria Light"/>
              </a:rPr>
              <a:t>Problem</a:t>
            </a:r>
            <a:endParaRPr lang="en-US" sz="1700" dirty="0"/>
          </a:p>
        </p:txBody>
      </p:sp>
      <p:sp>
        <p:nvSpPr>
          <p:cNvPr id="8" name="s56-text-7"/>
          <p:cNvSpPr txBox="1"/>
          <p:nvPr/>
        </p:nvSpPr>
        <p:spPr>
          <a:xfrm>
            <a:off x="7409180" y="821055"/>
            <a:ext cx="2263140" cy="235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50"/>
              </a:lnSpc>
              <a:buNone/>
            </a:pPr>
            <a:r>
              <a:rPr lang="en-US" altLang="en-US" sz="16500" dirty="0">
                <a:solidFill>
                  <a:srgbClr val="C3E36B"/>
                </a:solidFill>
                <a:latin typeface="Alexandria Black"/>
                <a:cs typeface="Alexandria Black"/>
              </a:rPr>
              <a:t>A</a:t>
            </a:r>
            <a:endParaRPr lang="en-US" sz="16500" dirty="0"/>
          </a:p>
        </p:txBody>
      </p:sp>
      <p:sp>
        <p:nvSpPr>
          <p:cNvPr id="9" name="s56-text-8"/>
          <p:cNvSpPr txBox="1"/>
          <p:nvPr/>
        </p:nvSpPr>
        <p:spPr>
          <a:xfrm>
            <a:off x="7409180" y="2975229"/>
            <a:ext cx="22631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Alexandria Light"/>
                <a:cs typeface="Alexandria Light"/>
              </a:rPr>
              <a:t>Agitation</a:t>
            </a:r>
            <a:endParaRPr lang="en-US" sz="1700" dirty="0"/>
          </a:p>
        </p:txBody>
      </p:sp>
      <p:sp>
        <p:nvSpPr>
          <p:cNvPr id="10" name="s56-text-9"/>
          <p:cNvSpPr txBox="1"/>
          <p:nvPr/>
        </p:nvSpPr>
        <p:spPr>
          <a:xfrm>
            <a:off x="9314180" y="821055"/>
            <a:ext cx="2263140" cy="235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50"/>
              </a:lnSpc>
              <a:buNone/>
            </a:pPr>
            <a:r>
              <a:rPr lang="en-US" altLang="en-US" sz="16500" dirty="0">
                <a:solidFill>
                  <a:srgbClr val="FFFFFF"/>
                </a:solidFill>
                <a:latin typeface="Alexandria Black"/>
                <a:cs typeface="Alexandria Black"/>
              </a:rPr>
              <a:t>S</a:t>
            </a:r>
            <a:endParaRPr lang="en-US" sz="16500" dirty="0"/>
          </a:p>
        </p:txBody>
      </p:sp>
      <p:sp>
        <p:nvSpPr>
          <p:cNvPr id="11" name="s56-text-10"/>
          <p:cNvSpPr txBox="1"/>
          <p:nvPr/>
        </p:nvSpPr>
        <p:spPr>
          <a:xfrm>
            <a:off x="9314180" y="2975229"/>
            <a:ext cx="22631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Alexandria Light"/>
                <a:cs typeface="Alexandria Light"/>
              </a:rPr>
              <a:t>Solution</a:t>
            </a:r>
            <a:endParaRPr lang="en-US" sz="1700" dirty="0"/>
          </a:p>
        </p:txBody>
      </p:sp>
      <p:sp>
        <p:nvSpPr>
          <p:cNvPr id="12" name="!!sectitle"/>
          <p:cNvSpPr txBox="1"/>
          <p:nvPr/>
        </p:nvSpPr>
        <p:spPr>
          <a:xfrm>
            <a:off x="3949700" y="3911854"/>
            <a:ext cx="7543800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460"/>
              </a:lnSpc>
              <a:buNone/>
            </a:pPr>
            <a:r>
              <a:rPr lang="ar-SA" altLang="en-US" sz="4200" dirty="0">
                <a:solidFill>
                  <a:srgbClr val="FFFFFF"/>
                </a:solidFill>
                <a:latin typeface="Alexandria ExtraBold"/>
                <a:cs typeface="Alexandria ExtraBold"/>
              </a:rPr>
              <a:t>PAS – إعلان الأنابيب</a:t>
            </a:r>
            <a:endParaRPr lang="ar-SA" sz="4200" dirty="0"/>
          </a:p>
        </p:txBody>
      </p:sp>
      <p:pic>
        <p:nvPicPr>
          <p:cNvPr id="13" name="s56-snap-12" descr="/home/user/flan777/ard-albasatin-presentation/source/pptx_build/img/s56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07100"/>
            <a:ext cx="6908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3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3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3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2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  <p:bldP spid="10" grpId="0"/>
      <p:bldP spid="9" grpId="0"/>
      <p:bldP spid="11" grpId="0"/>
      <p:bldP spid="12" grpId="0"/>
    </p:bldLst>
  </p:timing>
</p:sld>
</file>

<file path=ppt/slides/slide5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7874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11064478" y="381381"/>
            <a:ext cx="42902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PAS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02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57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so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so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7-text-6"/>
          <p:cNvSpPr txBox="1"/>
          <p:nvPr/>
        </p:nvSpPr>
        <p:spPr>
          <a:xfrm>
            <a:off x="2578100" y="818515"/>
            <a:ext cx="89154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20"/>
              </a:lnSpc>
              <a:buNone/>
            </a:pPr>
            <a:r>
              <a:rPr lang="ar-SA" altLang="en-US" sz="4000" dirty="0">
                <a:solidFill>
                  <a:srgbClr val="8A6142"/>
                </a:solidFill>
                <a:latin typeface="Alexandria ExtraLight"/>
                <a:cs typeface="Alexandria ExtraLight"/>
              </a:rPr>
              <a:t>P — </a:t>
            </a:r>
            <a:r>
              <a:rPr lang="ar-SA" altLang="en-US" sz="4000" dirty="0">
                <a:solidFill>
                  <a:srgbClr val="0E3A3C"/>
                </a:solidFill>
                <a:latin typeface="Alexandria ExtraBold"/>
                <a:cs typeface="Alexandria ExtraBold"/>
              </a:rPr>
              <a:t>المشكلة </a:t>
            </a:r>
            <a:r>
              <a:rPr lang="ar-SA" altLang="en-US" sz="2400" dirty="0">
                <a:solidFill>
                  <a:srgbClr val="8A6142"/>
                </a:solidFill>
                <a:latin typeface="Alexandria ExtraLight"/>
                <a:cs typeface="Alexandria ExtraLight"/>
              </a:rPr>
              <a:t>Problem</a:t>
            </a:r>
            <a:endParaRPr lang="ar-SA" sz="4000" dirty="0"/>
          </a:p>
        </p:txBody>
      </p:sp>
      <p:sp>
        <p:nvSpPr>
          <p:cNvPr id="8" name="s57-text-7"/>
          <p:cNvSpPr txBox="1"/>
          <p:nvPr/>
        </p:nvSpPr>
        <p:spPr>
          <a:xfrm>
            <a:off x="281940" y="1607185"/>
            <a:ext cx="4389120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0"/>
              </a:lnSpc>
              <a:buNone/>
            </a:pPr>
            <a:r>
              <a:rPr lang="en-US" altLang="en-US" sz="38000" dirty="0">
                <a:solidFill>
                  <a:srgbClr val="C29A74"/>
                </a:solidFill>
                <a:latin typeface="Alexandria Thin"/>
                <a:cs typeface="Alexandria Thin"/>
              </a:rPr>
              <a:t>P</a:t>
            </a:r>
            <a:endParaRPr lang="en-US" sz="38000" dirty="0"/>
          </a:p>
        </p:txBody>
      </p:sp>
      <p:sp>
        <p:nvSpPr>
          <p:cNvPr id="9" name="s57-shape-8"/>
          <p:cNvSpPr/>
          <p:nvPr/>
        </p:nvSpPr>
        <p:spPr>
          <a:xfrm>
            <a:off x="1905000" y="3556000"/>
            <a:ext cx="1270000" cy="1270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0" name="s57-snap-9" descr="/home/user/flan777/ard-albasatin-presentation/source/pptx_build/img/s57_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300" y="3797300"/>
            <a:ext cx="787400" cy="787400"/>
          </a:xfrm>
          <a:prstGeom prst="rect">
            <a:avLst/>
          </a:prstGeom>
        </p:spPr>
      </p:pic>
      <p:pic>
        <p:nvPicPr>
          <p:cNvPr id="11" name="s57-snap-10" descr="/home/user/flan777/ard-albasatin-presentation/source/pptx_build/img/s57_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900" y="4787900"/>
            <a:ext cx="368300" cy="457200"/>
          </a:xfrm>
          <a:prstGeom prst="rect">
            <a:avLst/>
          </a:prstGeom>
        </p:spPr>
      </p:pic>
      <p:sp>
        <p:nvSpPr>
          <p:cNvPr id="12" name="s57-text-11"/>
          <p:cNvSpPr txBox="1"/>
          <p:nvPr/>
        </p:nvSpPr>
        <p:spPr>
          <a:xfrm>
            <a:off x="4086860" y="2046097"/>
            <a:ext cx="740664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900"/>
              </a:lnSpc>
              <a:buNone/>
            </a:pPr>
            <a:r>
              <a:rPr lang="ar-SA" altLang="en-US" sz="2600" dirty="0">
                <a:solidFill>
                  <a:srgbClr val="5E3F2A"/>
                </a:solidFill>
                <a:latin typeface="Alexandria ExtraBold"/>
                <a:cs typeface="Alexandria ExtraBold"/>
              </a:rPr>
              <a:t>💧 تستخدم أنابيب في شبكة الري، لكنك</a:t>
            </a:r>
            <a:endParaRPr lang="ar-SA" sz="2600" dirty="0"/>
          </a:p>
          <a:p>
            <a:pPr rtl="1" algn="r" indent="0" marL="0">
              <a:lnSpc>
                <a:spcPts val="3900"/>
              </a:lnSpc>
              <a:buNone/>
            </a:pPr>
            <a:r>
              <a:rPr lang="ar-SA" altLang="en-US" sz="2600" dirty="0">
                <a:solidFill>
                  <a:srgbClr val="5E3F2A"/>
                </a:solidFill>
                <a:latin typeface="Alexandria ExtraBold"/>
                <a:cs typeface="Alexandria ExtraBold"/>
              </a:rPr>
              <a:t>تخشى من ضعفها أو تلفها مع</a:t>
            </a:r>
            <a:endParaRPr lang="ar-SA" sz="2600" dirty="0"/>
          </a:p>
          <a:p>
            <a:pPr rtl="1" algn="r" indent="0" marL="0">
              <a:lnSpc>
                <a:spcPts val="3900"/>
              </a:lnSpc>
              <a:buNone/>
            </a:pPr>
            <a:r>
              <a:rPr lang="ar-SA" altLang="en-US" sz="2600" dirty="0">
                <a:solidFill>
                  <a:srgbClr val="5E3F2A"/>
                </a:solidFill>
                <a:latin typeface="Alexandria ExtraBold"/>
                <a:cs typeface="Alexandria ExtraBold"/>
              </a:rPr>
              <a:t>الاستخدام؟</a:t>
            </a:r>
            <a:endParaRPr lang="ar-SA" sz="2600" dirty="0"/>
          </a:p>
        </p:txBody>
      </p:sp>
      <p:sp>
        <p:nvSpPr>
          <p:cNvPr id="13" name="s57-shape-12"/>
          <p:cNvSpPr/>
          <p:nvPr/>
        </p:nvSpPr>
        <p:spPr>
          <a:xfrm>
            <a:off x="4635500" y="4064000"/>
            <a:ext cx="6858000" cy="12700"/>
          </a:xfrm>
          <a:prstGeom prst="roundRect">
            <a:avLst>
              <a:gd name="adj" fmla="val 50000"/>
            </a:avLst>
          </a:prstGeom>
          <a:solidFill>
            <a:srgbClr val="E0CFB8"/>
          </a:solidFill>
          <a:ln/>
        </p:spPr>
      </p:sp>
      <p:sp>
        <p:nvSpPr>
          <p:cNvPr id="14" name="s57-text-13"/>
          <p:cNvSpPr txBox="1"/>
          <p:nvPr/>
        </p:nvSpPr>
        <p:spPr>
          <a:xfrm>
            <a:off x="4086860" y="4271264"/>
            <a:ext cx="7406640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"/>
                <a:cs typeface="Alexandria"/>
              </a:rPr>
              <a:t>اختيار الأنبوب المناسب ليس مجرد اختيار مقاس أو سعر، بل يعتمد</a:t>
            </a:r>
            <a:endParaRPr lang="ar-SA" sz="1800" dirty="0"/>
          </a:p>
          <a:p>
            <a:pPr rtl="1" algn="r" indent="0" marL="0">
              <a:lnSpc>
                <a:spcPts val="2916"/>
              </a:lnSpc>
              <a:buNone/>
            </a:pPr>
            <a:r>
              <a:rPr lang="ar-SA" altLang="en-US" sz="1800" dirty="0">
                <a:solidFill>
                  <a:srgbClr val="5E3F2A"/>
                </a:solidFill>
                <a:latin typeface="Alexandria"/>
                <a:cs typeface="Alexandria"/>
              </a:rPr>
              <a:t>على جودة التصنيع والمواصفات ومدى ملاءمته للاستخدام الزراعي.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92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2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06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9" grpId="0" animBg="1"/>
      <p:bldP spid="13" grpId="0" animBg="1"/>
      <p:bldP spid="14" grpId="0"/>
    </p:bldLst>
  </p:timing>
</p:sld>
</file>

<file path=ppt/slides/slide5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550" y="-43815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11064478" y="381381"/>
            <a:ext cx="42902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PAS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474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58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so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so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8-text-6"/>
          <p:cNvSpPr txBox="1"/>
          <p:nvPr/>
        </p:nvSpPr>
        <p:spPr>
          <a:xfrm>
            <a:off x="2578100" y="818515"/>
            <a:ext cx="89154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20"/>
              </a:lnSpc>
              <a:buNone/>
            </a:pPr>
            <a:r>
              <a:rPr lang="ar-SA" altLang="en-US" sz="4000" dirty="0">
                <a:solidFill>
                  <a:srgbClr val="8A6142"/>
                </a:solidFill>
                <a:latin typeface="Alexandria ExtraLight"/>
                <a:cs typeface="Alexandria ExtraLight"/>
              </a:rPr>
              <a:t>A — </a:t>
            </a:r>
            <a:r>
              <a:rPr lang="ar-SA" altLang="en-US" sz="4000" dirty="0">
                <a:solidFill>
                  <a:srgbClr val="0E3A3C"/>
                </a:solidFill>
                <a:latin typeface="Alexandria ExtraBold"/>
                <a:cs typeface="Alexandria ExtraBold"/>
              </a:rPr>
              <a:t>تضخيم المشكلة </a:t>
            </a:r>
            <a:r>
              <a:rPr lang="ar-SA" altLang="en-US" sz="2400" dirty="0">
                <a:solidFill>
                  <a:srgbClr val="8A6142"/>
                </a:solidFill>
                <a:latin typeface="Alexandria ExtraLight"/>
                <a:cs typeface="Alexandria ExtraLight"/>
              </a:rPr>
              <a:t>Agitation</a:t>
            </a:r>
            <a:endParaRPr lang="ar-SA" sz="4000" dirty="0"/>
          </a:p>
        </p:txBody>
      </p:sp>
      <p:sp>
        <p:nvSpPr>
          <p:cNvPr id="8" name="s58-text-7"/>
          <p:cNvSpPr txBox="1"/>
          <p:nvPr/>
        </p:nvSpPr>
        <p:spPr>
          <a:xfrm>
            <a:off x="-165100" y="1803654"/>
            <a:ext cx="1165860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35"/>
              </a:lnSpc>
              <a:buNone/>
            </a:pPr>
            <a:r>
              <a:rPr lang="ar-SA" altLang="en-US" sz="1700" dirty="0">
                <a:solidFill>
                  <a:srgbClr val="5E3F2A"/>
                </a:solidFill>
                <a:latin typeface="Alexandria"/>
                <a:cs typeface="Alexandria"/>
              </a:rPr>
              <a:t>الأنبوب منخفض الجودة قد يؤدي إلى مشاكل أثناء تنفيذ شبكة الري أو تشغيلها، مثل:</a:t>
            </a:r>
            <a:endParaRPr lang="ar-SA" sz="1700" dirty="0"/>
          </a:p>
        </p:txBody>
      </p:sp>
      <p:sp>
        <p:nvSpPr>
          <p:cNvPr id="9" name="s58-shape-8"/>
          <p:cNvSpPr/>
          <p:nvPr/>
        </p:nvSpPr>
        <p:spPr>
          <a:xfrm>
            <a:off x="7981950" y="24130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10" name="s58-shape-9"/>
          <p:cNvSpPr/>
          <p:nvPr/>
        </p:nvSpPr>
        <p:spPr>
          <a:xfrm>
            <a:off x="10668000" y="26352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1" name="s58-snap-10" descr="/home/user/flan777/ard-albasatin-presentation/source/pptx_build/img/s58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9600" y="2736850"/>
            <a:ext cx="431800" cy="431800"/>
          </a:xfrm>
          <a:prstGeom prst="rect">
            <a:avLst/>
          </a:prstGeom>
        </p:spPr>
      </p:pic>
      <p:sp>
        <p:nvSpPr>
          <p:cNvPr id="12" name="s58-text-11"/>
          <p:cNvSpPr txBox="1"/>
          <p:nvPr/>
        </p:nvSpPr>
        <p:spPr>
          <a:xfrm>
            <a:off x="7988046" y="2653502"/>
            <a:ext cx="2489454" cy="60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التلف أو الانفجار مع</a:t>
            </a:r>
            <a:endParaRPr lang="ar-SA" sz="1550" dirty="0"/>
          </a:p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الضغط.</a:t>
            </a:r>
            <a:endParaRPr lang="ar-SA" sz="1550" dirty="0"/>
          </a:p>
        </p:txBody>
      </p:sp>
      <p:sp>
        <p:nvSpPr>
          <p:cNvPr id="13" name="s58-shape-12"/>
          <p:cNvSpPr/>
          <p:nvPr/>
        </p:nvSpPr>
        <p:spPr>
          <a:xfrm>
            <a:off x="4343400" y="24130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14" name="s58-shape-13"/>
          <p:cNvSpPr/>
          <p:nvPr/>
        </p:nvSpPr>
        <p:spPr>
          <a:xfrm>
            <a:off x="7029450" y="26352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5" name="s58-snap-14" descr="/home/user/flan777/ard-albasatin-presentation/source/pptx_build/img/s58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050" y="2736850"/>
            <a:ext cx="431800" cy="431800"/>
          </a:xfrm>
          <a:prstGeom prst="rect">
            <a:avLst/>
          </a:prstGeom>
        </p:spPr>
      </p:pic>
      <p:sp>
        <p:nvSpPr>
          <p:cNvPr id="16" name="s58-text-15"/>
          <p:cNvSpPr txBox="1"/>
          <p:nvPr/>
        </p:nvSpPr>
        <p:spPr>
          <a:xfrm>
            <a:off x="4349496" y="2793202"/>
            <a:ext cx="2489454" cy="33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التسربات.</a:t>
            </a:r>
            <a:endParaRPr lang="ar-SA" sz="1550" dirty="0"/>
          </a:p>
        </p:txBody>
      </p:sp>
      <p:sp>
        <p:nvSpPr>
          <p:cNvPr id="17" name="s58-shape-16"/>
          <p:cNvSpPr/>
          <p:nvPr/>
        </p:nvSpPr>
        <p:spPr>
          <a:xfrm>
            <a:off x="704850" y="24130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18" name="s58-shape-17"/>
          <p:cNvSpPr/>
          <p:nvPr/>
        </p:nvSpPr>
        <p:spPr>
          <a:xfrm>
            <a:off x="3390900" y="26352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19" name="s58-snap-18" descr="/home/user/flan777/ard-albasatin-presentation/source/pptx_build/img/s58_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500" y="2736850"/>
            <a:ext cx="431800" cy="431800"/>
          </a:xfrm>
          <a:prstGeom prst="rect">
            <a:avLst/>
          </a:prstGeom>
        </p:spPr>
      </p:pic>
      <p:sp>
        <p:nvSpPr>
          <p:cNvPr id="20" name="s58-text-19"/>
          <p:cNvSpPr txBox="1"/>
          <p:nvPr/>
        </p:nvSpPr>
        <p:spPr>
          <a:xfrm>
            <a:off x="710946" y="2653502"/>
            <a:ext cx="2489454" cy="60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الحاجة إلى الاستبدال</a:t>
            </a:r>
            <a:endParaRPr lang="ar-SA" sz="1550" dirty="0"/>
          </a:p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بشكل متكرر.</a:t>
            </a:r>
            <a:endParaRPr lang="ar-SA" sz="1550" dirty="0"/>
          </a:p>
        </p:txBody>
      </p:sp>
      <p:sp>
        <p:nvSpPr>
          <p:cNvPr id="21" name="s58-shape-20"/>
          <p:cNvSpPr/>
          <p:nvPr/>
        </p:nvSpPr>
        <p:spPr>
          <a:xfrm>
            <a:off x="7981950" y="36195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22" name="s58-shape-21"/>
          <p:cNvSpPr/>
          <p:nvPr/>
        </p:nvSpPr>
        <p:spPr>
          <a:xfrm>
            <a:off x="10668000" y="3841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23" name="s58-snap-22" descr="/home/user/flan777/ard-albasatin-presentation/source/pptx_build/img/s58_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600" y="3943350"/>
            <a:ext cx="431800" cy="431800"/>
          </a:xfrm>
          <a:prstGeom prst="rect">
            <a:avLst/>
          </a:prstGeom>
        </p:spPr>
      </p:pic>
      <p:sp>
        <p:nvSpPr>
          <p:cNvPr id="24" name="s58-text-23"/>
          <p:cNvSpPr txBox="1"/>
          <p:nvPr/>
        </p:nvSpPr>
        <p:spPr>
          <a:xfrm>
            <a:off x="7988046" y="3999702"/>
            <a:ext cx="2489454" cy="33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زيادة تكاليف الصيانة.</a:t>
            </a:r>
            <a:endParaRPr lang="ar-SA" sz="1550" dirty="0"/>
          </a:p>
        </p:txBody>
      </p:sp>
      <p:sp>
        <p:nvSpPr>
          <p:cNvPr id="25" name="s58-shape-24"/>
          <p:cNvSpPr/>
          <p:nvPr/>
        </p:nvSpPr>
        <p:spPr>
          <a:xfrm>
            <a:off x="4343400" y="36195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26" name="s58-shape-25"/>
          <p:cNvSpPr/>
          <p:nvPr/>
        </p:nvSpPr>
        <p:spPr>
          <a:xfrm>
            <a:off x="7029450" y="3841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27" name="s58-snap-26" descr="/home/user/flan777/ard-albasatin-presentation/source/pptx_build/img/s58_2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1050" y="3943350"/>
            <a:ext cx="431800" cy="431800"/>
          </a:xfrm>
          <a:prstGeom prst="rect">
            <a:avLst/>
          </a:prstGeom>
        </p:spPr>
      </p:pic>
      <p:sp>
        <p:nvSpPr>
          <p:cNvPr id="28" name="s58-text-27"/>
          <p:cNvSpPr txBox="1"/>
          <p:nvPr/>
        </p:nvSpPr>
        <p:spPr>
          <a:xfrm>
            <a:off x="4349496" y="3860002"/>
            <a:ext cx="2489454" cy="60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التأثير على كفاءة شبكة</a:t>
            </a:r>
            <a:endParaRPr lang="ar-SA" sz="1550" dirty="0"/>
          </a:p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الري.</a:t>
            </a:r>
            <a:endParaRPr lang="ar-SA" sz="1550" dirty="0"/>
          </a:p>
        </p:txBody>
      </p:sp>
      <p:sp>
        <p:nvSpPr>
          <p:cNvPr id="29" name="s58-shape-28"/>
          <p:cNvSpPr/>
          <p:nvPr/>
        </p:nvSpPr>
        <p:spPr>
          <a:xfrm>
            <a:off x="704850" y="3619500"/>
            <a:ext cx="3511550" cy="1079500"/>
          </a:xfrm>
          <a:prstGeom prst="round2DiagRect">
            <a:avLst>
              <a:gd name="adj1" fmla="val 42353"/>
              <a:gd name="adj2" fmla="val 5882"/>
            </a:avLst>
          </a:prstGeom>
          <a:solidFill>
            <a:srgbClr val="FFFFFF"/>
          </a:solidFill>
          <a:ln/>
        </p:spPr>
      </p:sp>
      <p:sp>
        <p:nvSpPr>
          <p:cNvPr id="30" name="s58-shape-29"/>
          <p:cNvSpPr/>
          <p:nvPr/>
        </p:nvSpPr>
        <p:spPr>
          <a:xfrm>
            <a:off x="3390900" y="3841750"/>
            <a:ext cx="635000" cy="635000"/>
          </a:xfrm>
          <a:prstGeom prst="teardrop">
            <a:avLst>
              <a:gd name="adj" fmla="val 100000"/>
            </a:avLst>
          </a:prstGeom>
          <a:solidFill>
            <a:srgbClr val="EBDFCF"/>
          </a:solidFill>
          <a:ln/>
        </p:spPr>
      </p:sp>
      <p:pic>
        <p:nvPicPr>
          <p:cNvPr id="31" name="s58-snap-30" descr="/home/user/flan777/ard-albasatin-presentation/source/pptx_build/img/s58_3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2500" y="3943350"/>
            <a:ext cx="431800" cy="431800"/>
          </a:xfrm>
          <a:prstGeom prst="rect">
            <a:avLst/>
          </a:prstGeom>
        </p:spPr>
      </p:pic>
      <p:sp>
        <p:nvSpPr>
          <p:cNvPr id="32" name="s58-text-31"/>
          <p:cNvSpPr txBox="1"/>
          <p:nvPr/>
        </p:nvSpPr>
        <p:spPr>
          <a:xfrm>
            <a:off x="710946" y="3860002"/>
            <a:ext cx="2489454" cy="60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خسارة الوقت والجهد</a:t>
            </a:r>
            <a:endParaRPr lang="ar-SA" sz="1550" dirty="0"/>
          </a:p>
          <a:p>
            <a:pPr rtl="1" algn="r" indent="0" marL="0">
              <a:lnSpc>
                <a:spcPts val="2201"/>
              </a:lnSpc>
              <a:buNone/>
            </a:pPr>
            <a:r>
              <a:rPr lang="ar-SA" altLang="en-US" sz="1550" dirty="0">
                <a:solidFill>
                  <a:srgbClr val="5E3F2A"/>
                </a:solidFill>
                <a:latin typeface="Alexandria SemiBold"/>
                <a:cs typeface="Alexandria SemiBold"/>
              </a:rPr>
              <a:t>أثناء تنفيذ المشروع.</a:t>
            </a:r>
            <a:endParaRPr lang="ar-SA" sz="1550" dirty="0"/>
          </a:p>
        </p:txBody>
      </p:sp>
      <p:sp>
        <p:nvSpPr>
          <p:cNvPr id="33" name="s58-shape-32"/>
          <p:cNvSpPr/>
          <p:nvPr/>
        </p:nvSpPr>
        <p:spPr>
          <a:xfrm>
            <a:off x="698500" y="4953000"/>
            <a:ext cx="10795000" cy="1270000"/>
          </a:xfrm>
          <a:prstGeom prst="round2DiagRect">
            <a:avLst>
              <a:gd name="adj1" fmla="val 36000"/>
              <a:gd name="adj2" fmla="val 5000"/>
            </a:avLst>
          </a:prstGeom>
          <a:solidFill>
            <a:srgbClr val="8A6142"/>
          </a:solidFill>
          <a:ln/>
        </p:spPr>
      </p:sp>
      <p:sp>
        <p:nvSpPr>
          <p:cNvPr id="34" name="s58-shape-33"/>
          <p:cNvSpPr/>
          <p:nvPr/>
        </p:nvSpPr>
        <p:spPr>
          <a:xfrm>
            <a:off x="10477500" y="5238750"/>
            <a:ext cx="698500" cy="6985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35" name="s58-snap-34" descr="/home/user/flan777/ard-albasatin-presentation/source/pptx_build/img/s58_3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4975" y="5356225"/>
            <a:ext cx="463550" cy="463550"/>
          </a:xfrm>
          <a:prstGeom prst="rect">
            <a:avLst/>
          </a:prstGeom>
        </p:spPr>
      </p:pic>
      <p:sp>
        <p:nvSpPr>
          <p:cNvPr id="36" name="s58-text-35"/>
          <p:cNvSpPr txBox="1"/>
          <p:nvPr/>
        </p:nvSpPr>
        <p:spPr>
          <a:xfrm>
            <a:off x="358140" y="5300218"/>
            <a:ext cx="973836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lexandria"/>
                <a:cs typeface="Alexandria"/>
              </a:rPr>
              <a:t>لذلك، شراء الأنبوب على أساس السعر فقط قد لا يكون الخيار المناسب</a:t>
            </a:r>
            <a:endParaRPr lang="ar-SA" sz="1900" dirty="0"/>
          </a:p>
          <a:p>
            <a:pPr rtl="1" algn="r" indent="0" marL="0">
              <a:lnSpc>
                <a:spcPts val="285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lexandria"/>
                <a:cs typeface="Alexandria"/>
              </a:rPr>
              <a:t>للمشروع.</a:t>
            </a:r>
            <a:endParaRPr lang="ar-SA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9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92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92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92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2" presetClass="entr" presetSubtype="2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2" dur="63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92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0" grpId="0" animBg="1"/>
      <p:bldP spid="13" grpId="0" animBg="1"/>
      <p:bldP spid="16" grpId="0"/>
      <p:bldP spid="14" grpId="0" animBg="1"/>
      <p:bldP spid="17" grpId="0" animBg="1"/>
      <p:bldP spid="20" grpId="0"/>
      <p:bldP spid="18" grpId="0" animBg="1"/>
      <p:bldP spid="21" grpId="0" animBg="1"/>
      <p:bldP spid="24" grpId="0"/>
      <p:bldP spid="22" grpId="0" animBg="1"/>
      <p:bldP spid="25" grpId="0" animBg="1"/>
      <p:bldP spid="28" grpId="0"/>
      <p:bldP spid="26" grpId="0" animBg="1"/>
      <p:bldP spid="29" grpId="0" animBg="1"/>
      <p:bldP spid="32" grpId="0"/>
      <p:bldP spid="30" grpId="0" animBg="1"/>
      <p:bldP spid="33" grpId="0" animBg="1"/>
      <p:bldP spid="36" grpId="0"/>
      <p:bldP spid="34" grpId="0" animBg="1"/>
    </p:bldLst>
  </p:timing>
</p:sld>
</file>

<file path=ppt/slides/slide5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50" y="-1778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11064478" y="381381"/>
            <a:ext cx="42902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PAS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5424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FFFFFF"/>
                </a:solidFill>
                <a:latin typeface="Alexandria Black"/>
                <a:cs typeface="Alexandria Black"/>
              </a:rPr>
              <a:t>59 </a:t>
            </a:r>
            <a:r>
              <a:rPr lang="en-US" altLang="en-US" sz="1300" dirty="0">
                <a:solidFill>
                  <a:srgbClr val="FFFFFF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59-text-6"/>
          <p:cNvSpPr txBox="1"/>
          <p:nvPr/>
        </p:nvSpPr>
        <p:spPr>
          <a:xfrm>
            <a:off x="2578100" y="818515"/>
            <a:ext cx="89154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120"/>
              </a:lnSpc>
              <a:buNone/>
            </a:pPr>
            <a:r>
              <a:rPr lang="ar-SA" altLang="en-US" sz="4000" dirty="0">
                <a:solidFill>
                  <a:srgbClr val="C3E36B"/>
                </a:solidFill>
                <a:latin typeface="Alexandria ExtraLight"/>
                <a:cs typeface="Alexandria ExtraLight"/>
              </a:rPr>
              <a:t>S — </a:t>
            </a:r>
            <a:r>
              <a:rPr lang="ar-SA" altLang="en-US" sz="4000" dirty="0">
                <a:solidFill>
                  <a:srgbClr val="FFFFFF"/>
                </a:solidFill>
                <a:latin typeface="Alexandria ExtraBold"/>
                <a:cs typeface="Alexandria ExtraBold"/>
              </a:rPr>
              <a:t>الحل </a:t>
            </a:r>
            <a:r>
              <a:rPr lang="ar-SA" altLang="en-US" sz="2400" dirty="0">
                <a:solidFill>
                  <a:srgbClr val="C3E36B"/>
                </a:solidFill>
                <a:latin typeface="Alexandria ExtraLight"/>
                <a:cs typeface="Alexandria ExtraLight"/>
              </a:rPr>
              <a:t>Solution</a:t>
            </a:r>
            <a:endParaRPr lang="ar-SA" sz="4000" dirty="0"/>
          </a:p>
        </p:txBody>
      </p:sp>
      <p:sp>
        <p:nvSpPr>
          <p:cNvPr id="8" name="s59-text-7"/>
          <p:cNvSpPr txBox="1"/>
          <p:nvPr/>
        </p:nvSpPr>
        <p:spPr>
          <a:xfrm>
            <a:off x="3606800" y="1864106"/>
            <a:ext cx="78867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450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ExtraBold"/>
                <a:cs typeface="Alexandria ExtraBold"/>
              </a:rPr>
              <a:t>💧 الحل يبدأ من اختيار أنبوب مصنوع بمواصفات</a:t>
            </a:r>
            <a:endParaRPr lang="ar-SA" sz="2300" dirty="0"/>
          </a:p>
          <a:p>
            <a:pPr rtl="1" algn="r" indent="0" marL="0">
              <a:lnSpc>
                <a:spcPts val="3450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ExtraBold"/>
                <a:cs typeface="Alexandria ExtraBold"/>
              </a:rPr>
              <a:t>مناسبة وجودة تصنيع موثوقة.</a:t>
            </a:r>
            <a:endParaRPr lang="ar-SA" sz="2300" dirty="0"/>
          </a:p>
        </p:txBody>
      </p:sp>
      <p:sp>
        <p:nvSpPr>
          <p:cNvPr id="9" name="s59-text-8"/>
          <p:cNvSpPr txBox="1"/>
          <p:nvPr/>
        </p:nvSpPr>
        <p:spPr>
          <a:xfrm>
            <a:off x="3606800" y="2849181"/>
            <a:ext cx="7886700" cy="100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 Light"/>
                <a:cs typeface="Alexandria Light"/>
              </a:rPr>
              <a:t>في أرض البساتين تتوفر الأنابيب الرئيسية وأنابيب الري لمختلف الاحتياجات الزراعية، كما يتم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 Light"/>
                <a:cs typeface="Alexandria Light"/>
              </a:rPr>
              <a:t>تصنيع بعض منتجات الأنابيب في مصنع دريب أكوا مع الاهتمام بمراحل التصنيع وجودة</a:t>
            </a:r>
            <a:endParaRPr lang="ar-SA" sz="1550" dirty="0"/>
          </a:p>
          <a:p>
            <a:pPr rtl="1" algn="r" indent="0" marL="0">
              <a:lnSpc>
                <a:spcPts val="2511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Alexandria Light"/>
                <a:cs typeface="Alexandria Light"/>
              </a:rPr>
              <a:t>المنتج والمواصفات.</a:t>
            </a:r>
            <a:endParaRPr lang="ar-SA" sz="1550" dirty="0"/>
          </a:p>
        </p:txBody>
      </p:sp>
      <p:sp>
        <p:nvSpPr>
          <p:cNvPr id="10" name="s59-shape-9"/>
          <p:cNvSpPr/>
          <p:nvPr/>
        </p:nvSpPr>
        <p:spPr>
          <a:xfrm>
            <a:off x="4191000" y="4826000"/>
            <a:ext cx="7302500" cy="1397000"/>
          </a:xfrm>
          <a:prstGeom prst="round2DiagRect">
            <a:avLst>
              <a:gd name="adj1" fmla="val 32727"/>
              <a:gd name="adj2" fmla="val 4545"/>
            </a:avLst>
          </a:prstGeom>
          <a:solidFill>
            <a:srgbClr val="C3E36B"/>
          </a:solidFill>
          <a:ln/>
        </p:spPr>
      </p:sp>
      <p:sp>
        <p:nvSpPr>
          <p:cNvPr id="11" name="s59-shape-10"/>
          <p:cNvSpPr/>
          <p:nvPr/>
        </p:nvSpPr>
        <p:spPr>
          <a:xfrm>
            <a:off x="10477500" y="5143500"/>
            <a:ext cx="762000" cy="762000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/>
        </p:spPr>
      </p:sp>
      <p:pic>
        <p:nvPicPr>
          <p:cNvPr id="12" name="s59-snap-11" descr="/home/user/flan777/ard-albasatin-presentation/source/pptx_build/img/s59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675" y="5273675"/>
            <a:ext cx="501650" cy="501650"/>
          </a:xfrm>
          <a:prstGeom prst="rect">
            <a:avLst/>
          </a:prstGeom>
        </p:spPr>
      </p:pic>
      <p:sp>
        <p:nvSpPr>
          <p:cNvPr id="13" name="s59-text-12"/>
          <p:cNvSpPr txBox="1"/>
          <p:nvPr/>
        </p:nvSpPr>
        <p:spPr>
          <a:xfrm>
            <a:off x="4061460" y="5057394"/>
            <a:ext cx="6035040" cy="4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970"/>
              </a:lnSpc>
              <a:buNone/>
            </a:pPr>
            <a:r>
              <a:rPr lang="ar-SA" altLang="en-US" sz="2200" dirty="0">
                <a:solidFill>
                  <a:srgbClr val="013B3E"/>
                </a:solidFill>
                <a:latin typeface="Alexandria Black"/>
                <a:cs typeface="Alexandria Black"/>
              </a:rPr>
              <a:t>دريب أكوا</a:t>
            </a:r>
            <a:endParaRPr lang="ar-SA" sz="2200" dirty="0"/>
          </a:p>
        </p:txBody>
      </p:sp>
      <p:sp>
        <p:nvSpPr>
          <p:cNvPr id="14" name="s59-text-13"/>
          <p:cNvSpPr txBox="1"/>
          <p:nvPr/>
        </p:nvSpPr>
        <p:spPr>
          <a:xfrm>
            <a:off x="4061460" y="5468874"/>
            <a:ext cx="60350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080"/>
              </a:lnSpc>
              <a:buNone/>
            </a:pPr>
            <a:r>
              <a:rPr lang="ar-SA" altLang="en-US" sz="2200" dirty="0">
                <a:solidFill>
                  <a:srgbClr val="01804C"/>
                </a:solidFill>
                <a:latin typeface="Alexandria Light"/>
                <a:cs typeface="Alexandria Light"/>
              </a:rPr>
              <a:t>دقة في التصنيع… ثقة في الأداء.</a:t>
            </a:r>
            <a:endParaRPr lang="ar-SA" sz="2200" dirty="0"/>
          </a:p>
        </p:txBody>
      </p:sp>
      <p:pic>
        <p:nvPicPr>
          <p:cNvPr id="15" name="s59-asset-14" descr="/home/user/flan777/ard-albasatin-presentation/source/pptx_build/img/asset_gen_leafL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360000">
            <a:off x="951508" y="1905000"/>
            <a:ext cx="2247900" cy="1270000"/>
          </a:xfrm>
          <a:prstGeom prst="rect">
            <a:avLst/>
          </a:prstGeom>
        </p:spPr>
      </p:pic>
      <p:pic>
        <p:nvPicPr>
          <p:cNvPr id="16" name="s59-asset-15" descr="/home/user/flan777/ard-albasatin-presentation/source/pptx_build/img/asset_gen_leafR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60000">
            <a:off x="951508" y="1905000"/>
            <a:ext cx="2247900" cy="1270000"/>
          </a:xfrm>
          <a:prstGeom prst="rect">
            <a:avLst/>
          </a:prstGeom>
        </p:spPr>
      </p:pic>
      <p:sp>
        <p:nvSpPr>
          <p:cNvPr id="17" name="s59-text-16"/>
          <p:cNvSpPr txBox="1"/>
          <p:nvPr/>
        </p:nvSpPr>
        <p:spPr>
          <a:xfrm>
            <a:off x="434340" y="3526853"/>
            <a:ext cx="356616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lexandria"/>
                <a:cs typeface="Alexandria"/>
              </a:rPr>
              <a:t>🌱 أرض البساتين — منتجات زراعية</a:t>
            </a:r>
            <a:endParaRPr lang="ar-SA" sz="1550" dirty="0"/>
          </a:p>
          <a:p>
            <a:pPr rtl="1" algn="r" indent="0" marL="0">
              <a:lnSpc>
                <a:spcPts val="2325"/>
              </a:lnSpc>
              <a:buNone/>
            </a:pPr>
            <a:r>
              <a:rPr lang="ar-SA" altLang="en-US" sz="1550" b="1" dirty="0">
                <a:solidFill>
                  <a:srgbClr val="FFFFFF"/>
                </a:solidFill>
                <a:latin typeface="Alexandria"/>
                <a:cs typeface="Alexandria"/>
              </a:rPr>
              <a:t>مختارة لتخدم مزرعتك.</a:t>
            </a:r>
            <a:endParaRPr lang="ar-SA" sz="1550" dirty="0"/>
          </a:p>
        </p:txBody>
      </p:sp>
      <p:sp>
        <p:nvSpPr>
          <p:cNvPr id="18" name="s59-text-17"/>
          <p:cNvSpPr txBox="1"/>
          <p:nvPr/>
        </p:nvSpPr>
        <p:spPr>
          <a:xfrm>
            <a:off x="434340" y="4538218"/>
            <a:ext cx="356616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lexandria"/>
                <a:cs typeface="Alexandria"/>
              </a:rPr>
              <a:t>📲 تواصل معنا لمعرفة المقاسات</a:t>
            </a:r>
            <a:endParaRPr lang="ar-SA" sz="1400" dirty="0"/>
          </a:p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lexandria"/>
                <a:cs typeface="Alexandria"/>
              </a:rPr>
              <a:t>والمواصفات والكميات المتوفرة.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" dur="6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2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9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3" grpId="0"/>
      <p:bldP spid="11" grpId="0" animBg="1"/>
      <p:bldP spid="14" grpId="0"/>
      <p:bldP spid="17" grpId="0"/>
      <p:bldP spid="18" grpId="0"/>
    </p:bldLst>
  </p:timing>
</p:sld>
</file>

<file path=ppt/slides/slide6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5500" y="-635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679470" y="381381"/>
            <a:ext cx="28140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Buyer Persona – شخصية المشتري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6585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60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60-text-6"/>
          <p:cNvSpPr txBox="1"/>
          <p:nvPr/>
        </p:nvSpPr>
        <p:spPr>
          <a:xfrm>
            <a:off x="10810081" y="805180"/>
            <a:ext cx="68341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خامسًا</a:t>
            </a:r>
            <a:endParaRPr lang="ar-SA" sz="1500" dirty="0"/>
          </a:p>
        </p:txBody>
      </p:sp>
      <p:sp>
        <p:nvSpPr>
          <p:cNvPr id="8" name="s60-text-7"/>
          <p:cNvSpPr txBox="1"/>
          <p:nvPr/>
        </p:nvSpPr>
        <p:spPr>
          <a:xfrm>
            <a:off x="2795413" y="1102233"/>
            <a:ext cx="8698087" cy="66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64"/>
              </a:lnSpc>
              <a:buNone/>
            </a:pPr>
            <a:r>
              <a:rPr lang="ar-SA" altLang="en-US" sz="3800" dirty="0">
                <a:solidFill>
                  <a:srgbClr val="01804C"/>
                </a:solidFill>
                <a:latin typeface="Alexandria ExtraLight"/>
                <a:cs typeface="Alexandria ExtraLight"/>
              </a:rPr>
              <a:t>Buyer Persona </a:t>
            </a:r>
            <a:r>
              <a:rPr lang="ar-SA" altLang="en-US" sz="3800" dirty="0">
                <a:solidFill>
                  <a:srgbClr val="0E3A3C"/>
                </a:solidFill>
                <a:latin typeface="Alexandria ExtraBold"/>
                <a:cs typeface="Alexandria ExtraBold"/>
              </a:rPr>
              <a:t>– شخصية المشتري</a:t>
            </a:r>
            <a:endParaRPr lang="ar-SA" sz="3800" dirty="0"/>
          </a:p>
        </p:txBody>
      </p:sp>
      <p:sp>
        <p:nvSpPr>
          <p:cNvPr id="9" name="s60-shape-8"/>
          <p:cNvSpPr/>
          <p:nvPr/>
        </p:nvSpPr>
        <p:spPr>
          <a:xfrm>
            <a:off x="698500" y="2095500"/>
            <a:ext cx="4572000" cy="4127500"/>
          </a:xfrm>
          <a:prstGeom prst="round2DiagRect">
            <a:avLst>
              <a:gd name="adj1" fmla="val 11077"/>
              <a:gd name="adj2" fmla="val 1538"/>
            </a:avLst>
          </a:prstGeom>
          <a:solidFill>
            <a:srgbClr val="015256"/>
          </a:solidFill>
          <a:ln/>
        </p:spPr>
      </p:sp>
      <p:sp>
        <p:nvSpPr>
          <p:cNvPr id="10" name="s60-shape-9"/>
          <p:cNvSpPr/>
          <p:nvPr/>
        </p:nvSpPr>
        <p:spPr>
          <a:xfrm>
            <a:off x="952500" y="2349500"/>
            <a:ext cx="952500" cy="952500"/>
          </a:xfrm>
          <a:prstGeom prst="ellipse">
            <a:avLst/>
          </a:prstGeom>
          <a:solidFill>
            <a:srgbClr val="C3E36B"/>
          </a:solidFill>
          <a:ln/>
        </p:spPr>
      </p:sp>
      <p:pic>
        <p:nvPicPr>
          <p:cNvPr id="11" name="s60-snap-10" descr="/home/user/flan777/ard-albasatin-presentation/source/pptx_build/img/s60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2520950"/>
            <a:ext cx="609600" cy="609600"/>
          </a:xfrm>
          <a:prstGeom prst="rect">
            <a:avLst/>
          </a:prstGeom>
        </p:spPr>
      </p:pic>
      <p:sp>
        <p:nvSpPr>
          <p:cNvPr id="12" name="s60-text-11"/>
          <p:cNvSpPr txBox="1"/>
          <p:nvPr/>
        </p:nvSpPr>
        <p:spPr>
          <a:xfrm>
            <a:off x="1861820" y="2400681"/>
            <a:ext cx="31546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C3E36B"/>
                </a:solidFill>
                <a:latin typeface="Alexandria Medium"/>
                <a:cs typeface="Alexandria Medium"/>
              </a:rPr>
              <a:t>الاسم الافتراضي</a:t>
            </a:r>
            <a:endParaRPr lang="ar-SA" sz="1300" dirty="0"/>
          </a:p>
        </p:txBody>
      </p:sp>
      <p:sp>
        <p:nvSpPr>
          <p:cNvPr id="13" name="s60-text-12"/>
          <p:cNvSpPr txBox="1"/>
          <p:nvPr/>
        </p:nvSpPr>
        <p:spPr>
          <a:xfrm>
            <a:off x="1861820" y="2645283"/>
            <a:ext cx="315468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420"/>
              </a:lnSpc>
              <a:buNone/>
            </a:pPr>
            <a:r>
              <a:rPr lang="ar-SA" altLang="en-US" sz="3400" dirty="0">
                <a:solidFill>
                  <a:srgbClr val="FFFFFF"/>
                </a:solidFill>
                <a:latin typeface="Alexandria Black"/>
                <a:cs typeface="Alexandria Black"/>
              </a:rPr>
              <a:t>أبو محمد</a:t>
            </a:r>
            <a:endParaRPr lang="ar-SA" sz="3400" dirty="0"/>
          </a:p>
        </p:txBody>
      </p:sp>
      <p:sp>
        <p:nvSpPr>
          <p:cNvPr id="14" name="s60-text-13"/>
          <p:cNvSpPr txBox="1"/>
          <p:nvPr/>
        </p:nvSpPr>
        <p:spPr>
          <a:xfrm>
            <a:off x="627380" y="3548062"/>
            <a:ext cx="43891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C3E36B"/>
                </a:solidFill>
                <a:latin typeface="Alexandria SemiBold"/>
                <a:cs typeface="Alexandria SemiBold"/>
              </a:rPr>
              <a:t>العمر</a:t>
            </a:r>
            <a:endParaRPr lang="ar-SA" sz="1250" dirty="0"/>
          </a:p>
        </p:txBody>
      </p:sp>
      <p:sp>
        <p:nvSpPr>
          <p:cNvPr id="15" name="s60-text-14"/>
          <p:cNvSpPr txBox="1"/>
          <p:nvPr/>
        </p:nvSpPr>
        <p:spPr>
          <a:xfrm>
            <a:off x="627380" y="3751199"/>
            <a:ext cx="438912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55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lexandria ExtraBold"/>
                <a:cs typeface="Alexandria ExtraBold"/>
              </a:rPr>
              <a:t>35–55 سنة</a:t>
            </a:r>
            <a:endParaRPr lang="ar-SA" sz="1700" dirty="0"/>
          </a:p>
        </p:txBody>
      </p:sp>
      <p:sp>
        <p:nvSpPr>
          <p:cNvPr id="16" name="s60-text-15"/>
          <p:cNvSpPr txBox="1"/>
          <p:nvPr/>
        </p:nvSpPr>
        <p:spPr>
          <a:xfrm>
            <a:off x="627380" y="4246563"/>
            <a:ext cx="43891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C3E36B"/>
                </a:solidFill>
                <a:latin typeface="Alexandria SemiBold"/>
                <a:cs typeface="Alexandria SemiBold"/>
              </a:rPr>
              <a:t>المهنة</a:t>
            </a:r>
            <a:endParaRPr lang="ar-SA" sz="1250" dirty="0"/>
          </a:p>
        </p:txBody>
      </p:sp>
      <p:sp>
        <p:nvSpPr>
          <p:cNvPr id="17" name="s60-text-16"/>
          <p:cNvSpPr txBox="1"/>
          <p:nvPr/>
        </p:nvSpPr>
        <p:spPr>
          <a:xfrm>
            <a:off x="627380" y="4454335"/>
            <a:ext cx="438912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مزارع، مالك مشروع زراعي، تاجر مستلزمات زراعية،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مقاول أو فني شبكات ري.</a:t>
            </a:r>
            <a:endParaRPr lang="ar-SA" sz="1350" dirty="0"/>
          </a:p>
        </p:txBody>
      </p:sp>
      <p:sp>
        <p:nvSpPr>
          <p:cNvPr id="18" name="s60-text-17"/>
          <p:cNvSpPr txBox="1"/>
          <p:nvPr/>
        </p:nvSpPr>
        <p:spPr>
          <a:xfrm>
            <a:off x="627380" y="5173663"/>
            <a:ext cx="43891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25"/>
              </a:lnSpc>
              <a:buNone/>
            </a:pPr>
            <a:r>
              <a:rPr lang="ar-SA" altLang="en-US" sz="1250" dirty="0">
                <a:solidFill>
                  <a:srgbClr val="C3E36B"/>
                </a:solidFill>
                <a:latin typeface="Alexandria SemiBold"/>
                <a:cs typeface="Alexandria SemiBold"/>
              </a:rPr>
              <a:t>الموقع</a:t>
            </a:r>
            <a:endParaRPr lang="ar-SA" sz="1250" dirty="0"/>
          </a:p>
        </p:txBody>
      </p:sp>
      <p:sp>
        <p:nvSpPr>
          <p:cNvPr id="19" name="s60-text-18"/>
          <p:cNvSpPr txBox="1"/>
          <p:nvPr/>
        </p:nvSpPr>
        <p:spPr>
          <a:xfrm>
            <a:off x="627380" y="5381435"/>
            <a:ext cx="438912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المناطق الزراعية في اليمن، مع التركيز على صنعاء</a:t>
            </a:r>
            <a:endParaRPr lang="ar-SA" sz="1350" dirty="0"/>
          </a:p>
          <a:p>
            <a:pPr rtl="1" algn="r" indent="0" marL="0">
              <a:lnSpc>
                <a:spcPts val="2025"/>
              </a:lnSpc>
              <a:buNone/>
            </a:pPr>
            <a:r>
              <a:rPr lang="ar-SA" altLang="en-US" sz="1350" dirty="0">
                <a:solidFill>
                  <a:srgbClr val="FFFFFF"/>
                </a:solidFill>
                <a:latin typeface="Alexandria"/>
                <a:cs typeface="Alexandria"/>
              </a:rPr>
              <a:t>وذمار والحديدة والمناطق الزراعية الأخرى.</a:t>
            </a:r>
            <a:endParaRPr lang="ar-SA" sz="1350" dirty="0"/>
          </a:p>
        </p:txBody>
      </p:sp>
      <p:sp>
        <p:nvSpPr>
          <p:cNvPr id="20" name="s60-text-19"/>
          <p:cNvSpPr txBox="1"/>
          <p:nvPr/>
        </p:nvSpPr>
        <p:spPr>
          <a:xfrm>
            <a:off x="5321300" y="2113915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ar-SA" altLang="en-US" sz="2000" dirty="0">
                <a:solidFill>
                  <a:srgbClr val="0E3A3C"/>
                </a:solidFill>
                <a:latin typeface="Alexandria ExtraBold"/>
                <a:cs typeface="Alexandria ExtraBold"/>
              </a:rPr>
              <a:t>احتياجاته</a:t>
            </a:r>
            <a:endParaRPr lang="ar-SA" sz="2000" dirty="0"/>
          </a:p>
        </p:txBody>
      </p:sp>
      <p:sp>
        <p:nvSpPr>
          <p:cNvPr id="21" name="s60-shape-20"/>
          <p:cNvSpPr/>
          <p:nvPr/>
        </p:nvSpPr>
        <p:spPr>
          <a:xfrm>
            <a:off x="11379200" y="26860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2" name="s60-text-21"/>
          <p:cNvSpPr txBox="1"/>
          <p:nvPr/>
        </p:nvSpPr>
        <p:spPr>
          <a:xfrm>
            <a:off x="5204460" y="2580005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منتجات زراعية موثوقة.</a:t>
            </a:r>
            <a:endParaRPr lang="ar-SA" sz="1500" dirty="0"/>
          </a:p>
        </p:txBody>
      </p:sp>
      <p:sp>
        <p:nvSpPr>
          <p:cNvPr id="23" name="s60-shape-22"/>
          <p:cNvSpPr/>
          <p:nvPr/>
        </p:nvSpPr>
        <p:spPr>
          <a:xfrm>
            <a:off x="11379200" y="30861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4" name="s60-text-23"/>
          <p:cNvSpPr txBox="1"/>
          <p:nvPr/>
        </p:nvSpPr>
        <p:spPr>
          <a:xfrm>
            <a:off x="5204460" y="2983230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مستلزمات متنوعة للمزرعة.</a:t>
            </a:r>
            <a:endParaRPr lang="ar-SA" sz="1500" dirty="0"/>
          </a:p>
        </p:txBody>
      </p:sp>
      <p:sp>
        <p:nvSpPr>
          <p:cNvPr id="25" name="s60-shape-24"/>
          <p:cNvSpPr/>
          <p:nvPr/>
        </p:nvSpPr>
        <p:spPr>
          <a:xfrm>
            <a:off x="11379200" y="34925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6" name="s60-text-25"/>
          <p:cNvSpPr txBox="1"/>
          <p:nvPr/>
        </p:nvSpPr>
        <p:spPr>
          <a:xfrm>
            <a:off x="5204460" y="3386455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منتجات حماية للمحاصيل.</a:t>
            </a:r>
            <a:endParaRPr lang="ar-SA" sz="1500" dirty="0"/>
          </a:p>
        </p:txBody>
      </p:sp>
      <p:sp>
        <p:nvSpPr>
          <p:cNvPr id="27" name="s60-shape-26"/>
          <p:cNvSpPr/>
          <p:nvPr/>
        </p:nvSpPr>
        <p:spPr>
          <a:xfrm>
            <a:off x="11379200" y="38925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28" name="s60-text-27"/>
          <p:cNvSpPr txBox="1"/>
          <p:nvPr/>
        </p:nvSpPr>
        <p:spPr>
          <a:xfrm>
            <a:off x="5204460" y="3789680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مستلزمات ري جيدة.</a:t>
            </a:r>
            <a:endParaRPr lang="ar-SA" sz="1500" dirty="0"/>
          </a:p>
        </p:txBody>
      </p:sp>
      <p:sp>
        <p:nvSpPr>
          <p:cNvPr id="29" name="s60-shape-28"/>
          <p:cNvSpPr/>
          <p:nvPr/>
        </p:nvSpPr>
        <p:spPr>
          <a:xfrm>
            <a:off x="11379200" y="42989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0" name="s60-text-29"/>
          <p:cNvSpPr txBox="1"/>
          <p:nvPr/>
        </p:nvSpPr>
        <p:spPr>
          <a:xfrm>
            <a:off x="5204460" y="4192905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أنابيب ذات جودة تصنيع عالية.</a:t>
            </a:r>
            <a:endParaRPr lang="ar-SA" sz="1500" dirty="0"/>
          </a:p>
        </p:txBody>
      </p:sp>
      <p:sp>
        <p:nvSpPr>
          <p:cNvPr id="31" name="s60-shape-30"/>
          <p:cNvSpPr/>
          <p:nvPr/>
        </p:nvSpPr>
        <p:spPr>
          <a:xfrm>
            <a:off x="11379200" y="46990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2" name="s60-text-31"/>
          <p:cNvSpPr txBox="1"/>
          <p:nvPr/>
        </p:nvSpPr>
        <p:spPr>
          <a:xfrm>
            <a:off x="5204460" y="4596130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مواصفات واضحة وثابتة.</a:t>
            </a:r>
            <a:endParaRPr lang="ar-SA" sz="1500" dirty="0"/>
          </a:p>
        </p:txBody>
      </p:sp>
      <p:sp>
        <p:nvSpPr>
          <p:cNvPr id="33" name="s60-shape-32"/>
          <p:cNvSpPr/>
          <p:nvPr/>
        </p:nvSpPr>
        <p:spPr>
          <a:xfrm>
            <a:off x="11379200" y="510540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4" name="s60-text-33"/>
          <p:cNvSpPr txBox="1"/>
          <p:nvPr/>
        </p:nvSpPr>
        <p:spPr>
          <a:xfrm>
            <a:off x="5204460" y="4999355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منتجات مناسبة لطبيعة مشروعه.</a:t>
            </a:r>
            <a:endParaRPr lang="ar-SA" sz="1500" dirty="0"/>
          </a:p>
        </p:txBody>
      </p:sp>
      <p:sp>
        <p:nvSpPr>
          <p:cNvPr id="35" name="s60-shape-34"/>
          <p:cNvSpPr/>
          <p:nvPr/>
        </p:nvSpPr>
        <p:spPr>
          <a:xfrm>
            <a:off x="11379200" y="55054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6" name="s60-text-35"/>
          <p:cNvSpPr txBox="1"/>
          <p:nvPr/>
        </p:nvSpPr>
        <p:spPr>
          <a:xfrm>
            <a:off x="5204460" y="5402580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مورد قادر على توفير الكميات المطلوبة.</a:t>
            </a:r>
            <a:endParaRPr lang="ar-SA" sz="1500" dirty="0"/>
          </a:p>
        </p:txBody>
      </p:sp>
      <p:sp>
        <p:nvSpPr>
          <p:cNvPr id="37" name="s60-shape-36"/>
          <p:cNvSpPr/>
          <p:nvPr/>
        </p:nvSpPr>
        <p:spPr>
          <a:xfrm>
            <a:off x="11379200" y="5911850"/>
            <a:ext cx="114300" cy="114300"/>
          </a:xfrm>
          <a:prstGeom prst="teardrop">
            <a:avLst>
              <a:gd name="adj" fmla="val 100000"/>
            </a:avLst>
          </a:prstGeom>
          <a:solidFill>
            <a:srgbClr val="35B86E"/>
          </a:solidFill>
          <a:ln/>
        </p:spPr>
      </p:sp>
      <p:sp>
        <p:nvSpPr>
          <p:cNvPr id="38" name="s60-text-37"/>
          <p:cNvSpPr txBox="1"/>
          <p:nvPr/>
        </p:nvSpPr>
        <p:spPr>
          <a:xfrm>
            <a:off x="5204460" y="5805805"/>
            <a:ext cx="6035040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5"/>
              </a:lnSpc>
              <a:buNone/>
            </a:pPr>
            <a:r>
              <a:rPr lang="ar-SA" altLang="en-US" sz="1500" dirty="0">
                <a:solidFill>
                  <a:srgbClr val="0E3A3C"/>
                </a:solidFill>
                <a:latin typeface="Alexandria"/>
                <a:cs typeface="Alexandria"/>
              </a:rPr>
              <a:t>سهولة التواصل والشراء.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7" dur="6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92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92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92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9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92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92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92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92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20" grpId="0"/>
      <p:bldP spid="12" grpId="0"/>
      <p:bldP spid="13" grpId="0"/>
      <p:bldP spid="21" grpId="0" animBg="1"/>
      <p:bldP spid="22" grpId="0"/>
      <p:bldP spid="23" grpId="0" animBg="1"/>
      <p:bldP spid="14" grpId="0"/>
      <p:bldP spid="24" grpId="0"/>
      <p:bldP spid="15" grpId="0"/>
      <p:bldP spid="25" grpId="0" animBg="1"/>
      <p:bldP spid="26" grpId="0"/>
      <p:bldP spid="16" grpId="0"/>
      <p:bldP spid="27" grpId="0" animBg="1"/>
      <p:bldP spid="28" grpId="0"/>
      <p:bldP spid="17" grpId="0"/>
      <p:bldP spid="29" grpId="0" animBg="1"/>
      <p:bldP spid="30" grpId="0"/>
      <p:bldP spid="18" grpId="0"/>
      <p:bldP spid="31" grpId="0" animBg="1"/>
      <p:bldP spid="19" grpId="0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</p:bldLst>
  </p:timing>
</p:sld>
</file>

<file path=ppt/slides/slide6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1800" y="-127000"/>
            <a:ext cx="18288000" cy="10287000"/>
          </a:xfrm>
          <a:prstGeom prst="rect">
            <a:avLst/>
          </a:prstGeom>
        </p:spPr>
      </p:pic>
      <p:sp>
        <p:nvSpPr>
          <p:cNvPr id="3" name="!!kick"/>
          <p:cNvSpPr txBox="1"/>
          <p:nvPr/>
        </p:nvSpPr>
        <p:spPr>
          <a:xfrm>
            <a:off x="8679470" y="381381"/>
            <a:ext cx="28140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90"/>
              </a:lnSpc>
              <a:buNone/>
            </a:pPr>
            <a:r>
              <a:rPr lang="ar-SA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Buyer Persona – شخصية المشتري</a:t>
            </a:r>
            <a:endParaRPr lang="ar-SA" sz="1300" dirty="0"/>
          </a:p>
        </p:txBody>
      </p:sp>
      <p:sp>
        <p:nvSpPr>
          <p:cNvPr id="4" name="!!pg"/>
          <p:cNvSpPr txBox="1"/>
          <p:nvPr/>
        </p:nvSpPr>
        <p:spPr>
          <a:xfrm>
            <a:off x="1308100" y="381381"/>
            <a:ext cx="62061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0E3A3C"/>
                </a:solidFill>
                <a:latin typeface="Alexandria Black"/>
                <a:cs typeface="Alexandria Black"/>
              </a:rPr>
              <a:t>61 </a:t>
            </a:r>
            <a:r>
              <a:rPr lang="en-US" altLang="en-US" sz="1300" dirty="0">
                <a:solidFill>
                  <a:srgbClr val="557274"/>
                </a:solidFill>
                <a:latin typeface="Alexandria"/>
                <a:cs typeface="Alexandria"/>
              </a:rPr>
              <a:t>/ 62</a:t>
            </a:r>
            <a:endParaRPr lang="en-US" sz="1300" dirty="0"/>
          </a:p>
        </p:txBody>
      </p:sp>
      <p:pic>
        <p:nvPicPr>
          <p:cNvPr id="5" name="!!leafL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pic>
        <p:nvPicPr>
          <p:cNvPr id="6" name="!!leafR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8" y="393700"/>
            <a:ext cx="381000" cy="215900"/>
          </a:xfrm>
          <a:prstGeom prst="rect">
            <a:avLst/>
          </a:prstGeom>
        </p:spPr>
      </p:pic>
      <p:sp>
        <p:nvSpPr>
          <p:cNvPr id="7" name="s61-text-6"/>
          <p:cNvSpPr txBox="1"/>
          <p:nvPr/>
        </p:nvSpPr>
        <p:spPr>
          <a:xfrm>
            <a:off x="10810081" y="805180"/>
            <a:ext cx="68341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50"/>
              </a:lnSpc>
              <a:buNone/>
            </a:pPr>
            <a:r>
              <a:rPr lang="ar-SA" altLang="en-US" sz="1500" dirty="0">
                <a:solidFill>
                  <a:srgbClr val="029C3F"/>
                </a:solidFill>
                <a:latin typeface="Alexandria SemiBold"/>
                <a:cs typeface="Alexandria SemiBold"/>
              </a:rPr>
              <a:t>خامسًا</a:t>
            </a:r>
            <a:endParaRPr lang="ar-SA" sz="1500" dirty="0"/>
          </a:p>
        </p:txBody>
      </p:sp>
      <p:sp>
        <p:nvSpPr>
          <p:cNvPr id="8" name="s61-text-7"/>
          <p:cNvSpPr txBox="1"/>
          <p:nvPr/>
        </p:nvSpPr>
        <p:spPr>
          <a:xfrm>
            <a:off x="2795413" y="1102233"/>
            <a:ext cx="8698087" cy="66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864"/>
              </a:lnSpc>
              <a:buNone/>
            </a:pPr>
            <a:r>
              <a:rPr lang="ar-SA" altLang="en-US" sz="3800" dirty="0">
                <a:solidFill>
                  <a:srgbClr val="01804C"/>
                </a:solidFill>
                <a:latin typeface="Alexandria ExtraLight"/>
                <a:cs typeface="Alexandria ExtraLight"/>
              </a:rPr>
              <a:t>Buyer Persona </a:t>
            </a:r>
            <a:r>
              <a:rPr lang="ar-SA" altLang="en-US" sz="3800" dirty="0">
                <a:solidFill>
                  <a:srgbClr val="0E3A3C"/>
                </a:solidFill>
                <a:latin typeface="Alexandria ExtraBold"/>
                <a:cs typeface="Alexandria ExtraBold"/>
              </a:rPr>
              <a:t>– شخصية المشتري</a:t>
            </a:r>
            <a:endParaRPr lang="ar-SA" sz="3800" dirty="0"/>
          </a:p>
        </p:txBody>
      </p:sp>
      <p:sp>
        <p:nvSpPr>
          <p:cNvPr id="9" name="s61-text-8"/>
          <p:cNvSpPr txBox="1"/>
          <p:nvPr/>
        </p:nvSpPr>
        <p:spPr>
          <a:xfrm>
            <a:off x="-165100" y="1894967"/>
            <a:ext cx="116586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80"/>
              </a:lnSpc>
              <a:buNone/>
            </a:pPr>
            <a:r>
              <a:rPr lang="ar-SA" altLang="en-US" sz="1600" b="1" dirty="0">
                <a:solidFill>
                  <a:srgbClr val="029C3F"/>
                </a:solidFill>
                <a:latin typeface="Alexandria"/>
                <a:cs typeface="Alexandria"/>
              </a:rPr>
              <a:t>أهم ما يبحث عنه عند الشراء</a:t>
            </a:r>
            <a:endParaRPr lang="ar-SA" sz="1600" dirty="0"/>
          </a:p>
        </p:txBody>
      </p:sp>
      <p:sp>
        <p:nvSpPr>
          <p:cNvPr id="10" name="s61-shape-9"/>
          <p:cNvSpPr/>
          <p:nvPr/>
        </p:nvSpPr>
        <p:spPr>
          <a:xfrm>
            <a:off x="9525000" y="2286000"/>
            <a:ext cx="1968500" cy="469900"/>
          </a:xfrm>
          <a:prstGeom prst="roundRect">
            <a:avLst>
              <a:gd name="adj" fmla="val 50000"/>
            </a:avLst>
          </a:prstGeom>
          <a:solidFill>
            <a:srgbClr val="01804C"/>
          </a:solidFill>
          <a:ln/>
        </p:spPr>
      </p:sp>
      <p:sp>
        <p:nvSpPr>
          <p:cNvPr id="11" name="s61-text-10"/>
          <p:cNvSpPr txBox="1"/>
          <p:nvPr/>
        </p:nvSpPr>
        <p:spPr>
          <a:xfrm>
            <a:off x="9446260" y="2389505"/>
            <a:ext cx="21259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exandria"/>
                <a:cs typeface="Alexandria"/>
              </a:rPr>
              <a:t>الجودة</a:t>
            </a:r>
            <a:endParaRPr lang="ar-SA" sz="1500" dirty="0"/>
          </a:p>
        </p:txBody>
      </p:sp>
      <p:pic>
        <p:nvPicPr>
          <p:cNvPr id="12" name="s61-snap-11" descr="/home/user/flan777/ard-albasatin-presentation/source/pptx_build/img/s61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432050"/>
            <a:ext cx="368300" cy="177800"/>
          </a:xfrm>
          <a:prstGeom prst="rect">
            <a:avLst/>
          </a:prstGeom>
        </p:spPr>
      </p:pic>
      <p:sp>
        <p:nvSpPr>
          <p:cNvPr id="13" name="s61-shape-12"/>
          <p:cNvSpPr/>
          <p:nvPr/>
        </p:nvSpPr>
        <p:spPr>
          <a:xfrm>
            <a:off x="7321550" y="2286000"/>
            <a:ext cx="1968500" cy="4699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14" name="s61-text-13"/>
          <p:cNvSpPr txBox="1"/>
          <p:nvPr/>
        </p:nvSpPr>
        <p:spPr>
          <a:xfrm>
            <a:off x="7242810" y="2389505"/>
            <a:ext cx="21259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01804C"/>
                </a:solidFill>
                <a:latin typeface="Alexandria"/>
                <a:cs typeface="Alexandria"/>
              </a:rPr>
              <a:t>المواصفات</a:t>
            </a:r>
            <a:endParaRPr lang="ar-SA" sz="1500" dirty="0"/>
          </a:p>
        </p:txBody>
      </p:sp>
      <p:pic>
        <p:nvPicPr>
          <p:cNvPr id="15" name="s61-snap-14" descr="/home/user/flan777/ard-albasatin-presentation/source/pptx_build/img/s61_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750" y="2432050"/>
            <a:ext cx="368300" cy="177800"/>
          </a:xfrm>
          <a:prstGeom prst="rect">
            <a:avLst/>
          </a:prstGeom>
        </p:spPr>
      </p:pic>
      <p:sp>
        <p:nvSpPr>
          <p:cNvPr id="16" name="s61-shape-15"/>
          <p:cNvSpPr/>
          <p:nvPr/>
        </p:nvSpPr>
        <p:spPr>
          <a:xfrm>
            <a:off x="5118100" y="2286000"/>
            <a:ext cx="1968500" cy="4699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17" name="s61-text-16"/>
          <p:cNvSpPr txBox="1"/>
          <p:nvPr/>
        </p:nvSpPr>
        <p:spPr>
          <a:xfrm>
            <a:off x="5039360" y="2389505"/>
            <a:ext cx="21259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01804C"/>
                </a:solidFill>
                <a:latin typeface="Alexandria"/>
                <a:cs typeface="Alexandria"/>
              </a:rPr>
              <a:t>ملاءمة المنتج</a:t>
            </a:r>
            <a:endParaRPr lang="ar-SA" sz="1500" dirty="0"/>
          </a:p>
        </p:txBody>
      </p:sp>
      <p:pic>
        <p:nvPicPr>
          <p:cNvPr id="18" name="s61-snap-17" descr="/home/user/flan777/ard-albasatin-presentation/source/pptx_build/img/s61_1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300" y="2432050"/>
            <a:ext cx="368300" cy="177800"/>
          </a:xfrm>
          <a:prstGeom prst="rect">
            <a:avLst/>
          </a:prstGeom>
        </p:spPr>
      </p:pic>
      <p:sp>
        <p:nvSpPr>
          <p:cNvPr id="19" name="s61-shape-18"/>
          <p:cNvSpPr/>
          <p:nvPr/>
        </p:nvSpPr>
        <p:spPr>
          <a:xfrm>
            <a:off x="2914650" y="2286000"/>
            <a:ext cx="1968500" cy="46990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20" name="s61-text-19"/>
          <p:cNvSpPr txBox="1"/>
          <p:nvPr/>
        </p:nvSpPr>
        <p:spPr>
          <a:xfrm>
            <a:off x="2835910" y="2389505"/>
            <a:ext cx="21259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01804C"/>
                </a:solidFill>
                <a:latin typeface="Alexandria"/>
                <a:cs typeface="Alexandria"/>
              </a:rPr>
              <a:t>الثقة</a:t>
            </a:r>
            <a:endParaRPr lang="ar-SA" sz="1500" dirty="0"/>
          </a:p>
        </p:txBody>
      </p:sp>
      <p:pic>
        <p:nvPicPr>
          <p:cNvPr id="21" name="s61-snap-20" descr="/home/user/flan777/ard-albasatin-presentation/source/pptx_build/img/s61_2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9850" y="2432050"/>
            <a:ext cx="368300" cy="177800"/>
          </a:xfrm>
          <a:prstGeom prst="rect">
            <a:avLst/>
          </a:prstGeom>
        </p:spPr>
      </p:pic>
      <p:sp>
        <p:nvSpPr>
          <p:cNvPr id="22" name="s61-shape-21"/>
          <p:cNvSpPr/>
          <p:nvPr/>
        </p:nvSpPr>
        <p:spPr>
          <a:xfrm>
            <a:off x="711200" y="2286000"/>
            <a:ext cx="1968500" cy="469900"/>
          </a:xfrm>
          <a:prstGeom prst="roundRect">
            <a:avLst>
              <a:gd name="adj" fmla="val 50000"/>
            </a:avLst>
          </a:prstGeom>
          <a:solidFill>
            <a:srgbClr val="C3E36B"/>
          </a:solidFill>
          <a:ln/>
        </p:spPr>
      </p:sp>
      <p:sp>
        <p:nvSpPr>
          <p:cNvPr id="23" name="s61-text-22"/>
          <p:cNvSpPr txBox="1"/>
          <p:nvPr/>
        </p:nvSpPr>
        <p:spPr>
          <a:xfrm>
            <a:off x="632460" y="2389505"/>
            <a:ext cx="212598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950"/>
              </a:lnSpc>
              <a:buNone/>
            </a:pPr>
            <a:r>
              <a:rPr lang="ar-SA" altLang="en-US" sz="1500" b="1" dirty="0">
                <a:solidFill>
                  <a:srgbClr val="013B3E"/>
                </a:solidFill>
                <a:latin typeface="Alexandria"/>
                <a:cs typeface="Alexandria"/>
              </a:rPr>
              <a:t>السعر المناسب.</a:t>
            </a:r>
            <a:endParaRPr lang="ar-SA" sz="1500" dirty="0"/>
          </a:p>
        </p:txBody>
      </p:sp>
      <p:sp>
        <p:nvSpPr>
          <p:cNvPr id="24" name="s61-shape-23"/>
          <p:cNvSpPr/>
          <p:nvPr/>
        </p:nvSpPr>
        <p:spPr>
          <a:xfrm>
            <a:off x="6159500" y="3048000"/>
            <a:ext cx="5334000" cy="3175000"/>
          </a:xfrm>
          <a:prstGeom prst="round2DiagRect">
            <a:avLst>
              <a:gd name="adj1" fmla="val 14400"/>
              <a:gd name="adj2" fmla="val 2000"/>
            </a:avLst>
          </a:prstGeom>
          <a:solidFill>
            <a:srgbClr val="F6EFE6"/>
          </a:solidFill>
          <a:ln/>
        </p:spPr>
      </p:sp>
      <p:sp>
        <p:nvSpPr>
          <p:cNvPr id="25" name="s61-text-24"/>
          <p:cNvSpPr txBox="1"/>
          <p:nvPr/>
        </p:nvSpPr>
        <p:spPr>
          <a:xfrm>
            <a:off x="6027420" y="3248088"/>
            <a:ext cx="521208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550" dirty="0">
                <a:solidFill>
                  <a:srgbClr val="8A6142"/>
                </a:solidFill>
                <a:latin typeface="Alexandria ExtraBold"/>
                <a:cs typeface="Alexandria ExtraBold"/>
              </a:rPr>
              <a:t>المشكلة التي يعالجها أرض البساتين</a:t>
            </a:r>
            <a:endParaRPr lang="ar-SA" sz="1550" dirty="0"/>
          </a:p>
        </p:txBody>
      </p:sp>
      <p:sp>
        <p:nvSpPr>
          <p:cNvPr id="26" name="s61-text-25"/>
          <p:cNvSpPr txBox="1"/>
          <p:nvPr/>
        </p:nvSpPr>
        <p:spPr>
          <a:xfrm>
            <a:off x="6027420" y="3646424"/>
            <a:ext cx="5212080" cy="62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5E3F2A"/>
                </a:solidFill>
                <a:latin typeface="Alexandria Medium"/>
                <a:cs typeface="Alexandria Medium"/>
              </a:rPr>
              <a:t>تعدد مصادر المنتجات الزراعية وصعوبة معرفة المنتج</a:t>
            </a:r>
            <a:endParaRPr lang="ar-SA" sz="1450" dirty="0"/>
          </a:p>
          <a:p>
            <a:pPr rtl="1" algn="r" indent="0" marL="0">
              <a:lnSpc>
                <a:spcPts val="2248"/>
              </a:lnSpc>
              <a:buNone/>
            </a:pPr>
            <a:r>
              <a:rPr lang="ar-SA" altLang="en-US" sz="1450" dirty="0">
                <a:solidFill>
                  <a:srgbClr val="5E3F2A"/>
                </a:solidFill>
                <a:latin typeface="Alexandria Medium"/>
                <a:cs typeface="Alexandria Medium"/>
              </a:rPr>
              <a:t>المناسب، مع تفاوت المواصفات والجودة في السوق.</a:t>
            </a:r>
            <a:endParaRPr lang="ar-SA" sz="1450" dirty="0"/>
          </a:p>
        </p:txBody>
      </p:sp>
      <p:sp>
        <p:nvSpPr>
          <p:cNvPr id="27" name="s61-shape-26"/>
          <p:cNvSpPr/>
          <p:nvPr/>
        </p:nvSpPr>
        <p:spPr>
          <a:xfrm>
            <a:off x="6413500" y="4667250"/>
            <a:ext cx="4826000" cy="12700"/>
          </a:xfrm>
          <a:prstGeom prst="roundRect">
            <a:avLst>
              <a:gd name="adj" fmla="val 50000"/>
            </a:avLst>
          </a:prstGeom>
          <a:solidFill>
            <a:srgbClr val="E3D3BD"/>
          </a:solidFill>
          <a:ln/>
        </p:spPr>
      </p:sp>
      <p:sp>
        <p:nvSpPr>
          <p:cNvPr id="28" name="s61-text-27"/>
          <p:cNvSpPr txBox="1"/>
          <p:nvPr/>
        </p:nvSpPr>
        <p:spPr>
          <a:xfrm>
            <a:off x="6027420" y="4760468"/>
            <a:ext cx="5212080" cy="8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5E3F2A"/>
                </a:solidFill>
                <a:latin typeface="Alexandria"/>
                <a:cs typeface="Alexandria"/>
              </a:rPr>
              <a:t>ويقدم أرض البساتين للعميل متجرًا متخصصًا يوفر مجموعة</a:t>
            </a:r>
            <a:endParaRPr lang="ar-SA" sz="1400" dirty="0"/>
          </a:p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5E3F2A"/>
                </a:solidFill>
                <a:latin typeface="Alexandria"/>
                <a:cs typeface="Alexandria"/>
              </a:rPr>
              <a:t>متنوعة من المنتجات الزراعية، مع معلومات أوضح عن</a:t>
            </a:r>
            <a:endParaRPr lang="ar-SA" sz="1400" dirty="0"/>
          </a:p>
          <a:p>
            <a:pPr rtl="1" algn="r" indent="0" marL="0">
              <a:lnSpc>
                <a:spcPts val="2170"/>
              </a:lnSpc>
              <a:buNone/>
            </a:pPr>
            <a:r>
              <a:rPr lang="ar-SA" altLang="en-US" sz="1400" dirty="0">
                <a:solidFill>
                  <a:srgbClr val="5E3F2A"/>
                </a:solidFill>
                <a:latin typeface="Alexandria"/>
                <a:cs typeface="Alexandria"/>
              </a:rPr>
              <a:t>المنتجات ومجالات استخدامها.</a:t>
            </a:r>
            <a:endParaRPr lang="ar-SA" sz="1400" dirty="0"/>
          </a:p>
        </p:txBody>
      </p:sp>
      <p:sp>
        <p:nvSpPr>
          <p:cNvPr id="29" name="s61-shape-28"/>
          <p:cNvSpPr/>
          <p:nvPr/>
        </p:nvSpPr>
        <p:spPr>
          <a:xfrm>
            <a:off x="698500" y="3048000"/>
            <a:ext cx="5207000" cy="3175000"/>
          </a:xfrm>
          <a:prstGeom prst="round2DiagRect">
            <a:avLst>
              <a:gd name="adj1" fmla="val 14400"/>
              <a:gd name="adj2" fmla="val 2000"/>
            </a:avLst>
          </a:prstGeom>
          <a:solidFill>
            <a:srgbClr val="015256"/>
          </a:solidFill>
          <a:ln/>
        </p:spPr>
      </p:sp>
      <p:sp>
        <p:nvSpPr>
          <p:cNvPr id="30" name="s61-text-29"/>
          <p:cNvSpPr txBox="1"/>
          <p:nvPr/>
        </p:nvSpPr>
        <p:spPr>
          <a:xfrm>
            <a:off x="576580" y="3250438"/>
            <a:ext cx="5074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60"/>
              </a:lnSpc>
              <a:buNone/>
            </a:pPr>
            <a:r>
              <a:rPr lang="ar-SA" altLang="en-US" sz="1400" dirty="0">
                <a:solidFill>
                  <a:srgbClr val="C3E36B"/>
                </a:solidFill>
                <a:latin typeface="Alexandria SemiBold"/>
                <a:cs typeface="Alexandria SemiBold"/>
              </a:rPr>
              <a:t>الرسالة التسويقية الموجهة له</a:t>
            </a:r>
            <a:endParaRPr lang="ar-SA" sz="1400" dirty="0"/>
          </a:p>
        </p:txBody>
      </p:sp>
      <p:sp>
        <p:nvSpPr>
          <p:cNvPr id="31" name="s61-text-30"/>
          <p:cNvSpPr txBox="1"/>
          <p:nvPr/>
        </p:nvSpPr>
        <p:spPr>
          <a:xfrm>
            <a:off x="576580" y="3610737"/>
            <a:ext cx="5074920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150"/>
              </a:lnSpc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Alexandria"/>
                <a:cs typeface="Alexandria"/>
              </a:rPr>
              <a:t>«احتياج مزرعتك يبدأ من المنتج</a:t>
            </a:r>
            <a:endParaRPr lang="ar-SA" sz="2100" dirty="0"/>
          </a:p>
          <a:p>
            <a:pPr rtl="1" algn="r" indent="0" marL="0">
              <a:lnSpc>
                <a:spcPts val="3150"/>
              </a:lnSpc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Alexandria"/>
                <a:cs typeface="Alexandria"/>
              </a:rPr>
              <a:t>المناسب… وأرض البساتين أقرب</a:t>
            </a:r>
            <a:endParaRPr lang="ar-SA" sz="2100" dirty="0"/>
          </a:p>
          <a:p>
            <a:pPr rtl="1" algn="r" indent="0" marL="0">
              <a:lnSpc>
                <a:spcPts val="3150"/>
              </a:lnSpc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Alexandria"/>
                <a:cs typeface="Alexandria"/>
              </a:rPr>
              <a:t>لاحتياجك.»</a:t>
            </a:r>
            <a:endParaRPr lang="ar-SA" sz="2100" dirty="0"/>
          </a:p>
        </p:txBody>
      </p:sp>
      <p:sp>
        <p:nvSpPr>
          <p:cNvPr id="32" name="s61-text-31"/>
          <p:cNvSpPr txBox="1"/>
          <p:nvPr/>
        </p:nvSpPr>
        <p:spPr>
          <a:xfrm>
            <a:off x="576580" y="5578729"/>
            <a:ext cx="507492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10"/>
              </a:lnSpc>
              <a:buNone/>
            </a:pPr>
            <a:r>
              <a:rPr lang="ar-SA" altLang="en-US" sz="1700" dirty="0">
                <a:solidFill>
                  <a:srgbClr val="C3E36B"/>
                </a:solidFill>
                <a:latin typeface="Alexandria Light"/>
                <a:cs typeface="Alexandria Light"/>
              </a:rPr>
              <a:t>أرض البساتين</a:t>
            </a:r>
            <a:endParaRPr lang="ar-SA" sz="1700" dirty="0"/>
          </a:p>
        </p:txBody>
      </p:sp>
      <p:pic>
        <p:nvPicPr>
          <p:cNvPr id="33" name="s61-asset-32" descr="/home/user/flan777/ard-albasatin-presentation/source/pptx_build/img/asset_gen_leafL_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095" y="5556250"/>
            <a:ext cx="717550" cy="406400"/>
          </a:xfrm>
          <a:prstGeom prst="rect">
            <a:avLst/>
          </a:prstGeom>
        </p:spPr>
      </p:pic>
      <p:pic>
        <p:nvPicPr>
          <p:cNvPr id="34" name="s61-asset-33" descr="/home/user/flan777/ard-albasatin-presentation/source/pptx_build/img/asset_gen_leafR_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095" y="5556250"/>
            <a:ext cx="71755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1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92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92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92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9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5" dur="6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92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92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9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9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92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6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92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92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2" dur="6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1" dur="6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63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3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2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2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2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31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2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2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2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3" grpId="0" animBg="1"/>
      <p:bldP spid="14" grpId="0"/>
      <p:bldP spid="16" grpId="0" animBg="1"/>
      <p:bldP spid="17" grpId="0"/>
      <p:bldP spid="19" grpId="0" animBg="1"/>
      <p:bldP spid="20" grpId="0"/>
      <p:bldP spid="22" grpId="0" animBg="1"/>
      <p:bldP spid="24" grpId="0" animBg="1"/>
      <p:bldP spid="23" grpId="0"/>
      <p:bldP spid="25" grpId="0"/>
      <p:bldP spid="26" grpId="0"/>
      <p:bldP spid="27" grpId="0" animBg="1"/>
      <p:bldP spid="28" grpId="0"/>
      <p:bldP spid="29" grpId="0" animBg="1"/>
      <p:bldP spid="30" grpId="0"/>
      <p:bldP spid="31" grpId="0"/>
      <p:bldP spid="32" grpId="0"/>
    </p:bldLst>
  </p:timing>
</p:sld>
</file>

<file path=ppt/slides/slide6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topo" descr="/home/user/flan777/ard-albasatin-presentation/source/pptx_build/img/asset_top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8250" y="-342900"/>
            <a:ext cx="18288000" cy="10287000"/>
          </a:xfrm>
          <a:prstGeom prst="rect">
            <a:avLst/>
          </a:prstGeom>
        </p:spPr>
      </p:pic>
      <p:sp>
        <p:nvSpPr>
          <p:cNvPr id="3" name="!!halo"/>
          <p:cNvSpPr/>
          <p:nvPr/>
        </p:nvSpPr>
        <p:spPr>
          <a:xfrm>
            <a:off x="952500" y="1206500"/>
            <a:ext cx="4064000" cy="4064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!!ring" descr="/home/user/flan777/ard-albasatin-presentation/source/pptx_build/img/s6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977900"/>
            <a:ext cx="4521200" cy="4521200"/>
          </a:xfrm>
          <a:prstGeom prst="rect">
            <a:avLst/>
          </a:prstGeom>
        </p:spPr>
      </p:pic>
      <p:pic>
        <p:nvPicPr>
          <p:cNvPr id="5" name="!!logo" descr="شعار أرض البساتي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651000"/>
            <a:ext cx="3149600" cy="3175000"/>
          </a:xfrm>
          <a:prstGeom prst="rect">
            <a:avLst/>
          </a:prstGeom>
        </p:spPr>
      </p:pic>
      <p:sp>
        <p:nvSpPr>
          <p:cNvPr id="6" name="!!t1"/>
          <p:cNvSpPr txBox="1"/>
          <p:nvPr/>
        </p:nvSpPr>
        <p:spPr>
          <a:xfrm>
            <a:off x="4673600" y="137795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4000"/>
              </a:lnSpc>
              <a:buNone/>
            </a:pPr>
            <a:r>
              <a:rPr lang="ar-SA" altLang="en-US" sz="12500" dirty="0">
                <a:solidFill>
                  <a:srgbClr val="FFFFFF"/>
                </a:solidFill>
                <a:latin typeface="Alexandria Black"/>
                <a:cs typeface="Alexandria Black"/>
              </a:rPr>
              <a:t>أرض</a:t>
            </a:r>
            <a:endParaRPr lang="ar-SA" sz="12500" dirty="0"/>
          </a:p>
        </p:txBody>
      </p:sp>
      <p:sp>
        <p:nvSpPr>
          <p:cNvPr id="7" name="!!t2"/>
          <p:cNvSpPr txBox="1"/>
          <p:nvPr/>
        </p:nvSpPr>
        <p:spPr>
          <a:xfrm>
            <a:off x="4673600" y="3175000"/>
            <a:ext cx="6858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1000"/>
              </a:lnSpc>
              <a:buNone/>
            </a:pPr>
            <a:r>
              <a:rPr lang="ar-SA" altLang="en-US" sz="10000" dirty="0">
                <a:solidFill>
                  <a:srgbClr val="C3E36B"/>
                </a:solidFill>
                <a:latin typeface="Alexandria Thin"/>
                <a:cs typeface="Alexandria Thin"/>
              </a:rPr>
              <a:t>البساتين</a:t>
            </a:r>
            <a:endParaRPr lang="ar-SA" sz="10000" dirty="0"/>
          </a:p>
        </p:txBody>
      </p:sp>
      <p:sp>
        <p:nvSpPr>
          <p:cNvPr id="8" name="s62-text-7"/>
          <p:cNvSpPr txBox="1"/>
          <p:nvPr/>
        </p:nvSpPr>
        <p:spPr>
          <a:xfrm>
            <a:off x="4635500" y="4985766"/>
            <a:ext cx="685800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3220"/>
              </a:lnSpc>
              <a:buNone/>
            </a:pPr>
            <a:r>
              <a:rPr lang="ar-SA" altLang="en-US" sz="2300" dirty="0">
                <a:solidFill>
                  <a:srgbClr val="FFFFFF"/>
                </a:solidFill>
                <a:latin typeface="Alexandria Light"/>
                <a:cs typeface="Alexandria Light"/>
              </a:rPr>
              <a:t>— منتجات زراعية مختارة لتخدم مزرعتك.</a:t>
            </a:r>
            <a:endParaRPr lang="ar-SA" sz="2300" dirty="0"/>
          </a:p>
        </p:txBody>
      </p:sp>
      <p:pic>
        <p:nvPicPr>
          <p:cNvPr id="9" name="!!drip" descr="/home/user/flan777/ard-albasatin-presentation/source/pptx_build/img/s62_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324600"/>
            <a:ext cx="10972800" cy="17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21600000">
                                      <p:cBhvr>
                                        <p:cTn id="11" dur="6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exandria ExtraBold"/>
        <a:ea typeface=""/>
        <a:cs typeface="Alexandria ExtraBold"/>
        <a:font script="Jpan" typeface="游ゴシック Light"/>
        <a:font script="Hang" typeface="맑은 고딕"/>
        <a:font script="Hans" typeface="等线 Light"/>
        <a:font script="Hant" typeface="新細明體"/>
        <a:font script="Arab" typeface="Alexandria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exandria"/>
        <a:ea typeface=""/>
        <a:cs typeface="Alexandria"/>
        <a:font script="Jpan" typeface="游ゴシック"/>
        <a:font script="Hang" typeface="맑은 고딕"/>
        <a:font script="Hans" typeface="等线"/>
        <a:font script="Hant" typeface="新細明體"/>
        <a:font script="Arab" typeface="Alexandri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بصمة وعي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أرض البساتين — الخطة التسويقية</dc:title>
  <dc:subject>PptxGenJS Presentation</dc:subject>
  <dc:creator>حمير بشبر علي غالب زايد</dc:creator>
  <cp:lastModifiedBy>حمير بشبر علي غالب زايد</cp:lastModifiedBy>
  <cp:revision>1</cp:revision>
  <dcterms:created xsi:type="dcterms:W3CDTF">2026-10-02T18:34:13Z</dcterms:created>
  <dcterms:modified xsi:type="dcterms:W3CDTF">2026-10-02T18:34:13Z</dcterms:modified>
</cp:coreProperties>
</file>